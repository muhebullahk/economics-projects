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jpeg" ContentType="image/jpeg"/>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66"/>
  </p:notesMasterIdLst>
  <p:handoutMasterIdLst>
    <p:handoutMasterId r:id="rId67"/>
  </p:handoutMasterIdLst>
  <p:sldIdLst>
    <p:sldId id="330" r:id="rId3"/>
    <p:sldId id="331" r:id="rId4"/>
    <p:sldId id="336" r:id="rId5"/>
    <p:sldId id="337" r:id="rId6"/>
    <p:sldId id="338" r:id="rId7"/>
    <p:sldId id="340" r:id="rId8"/>
    <p:sldId id="341" r:id="rId9"/>
    <p:sldId id="342" r:id="rId10"/>
    <p:sldId id="343" r:id="rId11"/>
    <p:sldId id="339" r:id="rId12"/>
    <p:sldId id="344" r:id="rId13"/>
    <p:sldId id="345" r:id="rId14"/>
    <p:sldId id="346" r:id="rId15"/>
    <p:sldId id="347" r:id="rId16"/>
    <p:sldId id="334" r:id="rId17"/>
    <p:sldId id="348" r:id="rId18"/>
    <p:sldId id="349" r:id="rId19"/>
    <p:sldId id="352" r:id="rId20"/>
    <p:sldId id="351" r:id="rId21"/>
    <p:sldId id="350" r:id="rId22"/>
    <p:sldId id="353" r:id="rId23"/>
    <p:sldId id="354" r:id="rId24"/>
    <p:sldId id="355" r:id="rId25"/>
    <p:sldId id="356" r:id="rId26"/>
    <p:sldId id="358" r:id="rId27"/>
    <p:sldId id="359" r:id="rId28"/>
    <p:sldId id="360" r:id="rId29"/>
    <p:sldId id="357" r:id="rId30"/>
    <p:sldId id="361" r:id="rId31"/>
    <p:sldId id="362" r:id="rId32"/>
    <p:sldId id="363" r:id="rId33"/>
    <p:sldId id="364" r:id="rId34"/>
    <p:sldId id="365" r:id="rId35"/>
    <p:sldId id="392" r:id="rId36"/>
    <p:sldId id="394" r:id="rId37"/>
    <p:sldId id="395" r:id="rId38"/>
    <p:sldId id="396" r:id="rId39"/>
    <p:sldId id="393" r:id="rId40"/>
    <p:sldId id="381" r:id="rId41"/>
    <p:sldId id="382" r:id="rId42"/>
    <p:sldId id="384" r:id="rId43"/>
    <p:sldId id="387" r:id="rId44"/>
    <p:sldId id="388" r:id="rId45"/>
    <p:sldId id="389" r:id="rId46"/>
    <p:sldId id="390" r:id="rId47"/>
    <p:sldId id="385" r:id="rId48"/>
    <p:sldId id="386" r:id="rId49"/>
    <p:sldId id="383" r:id="rId50"/>
    <p:sldId id="398" r:id="rId51"/>
    <p:sldId id="376" r:id="rId52"/>
    <p:sldId id="377" r:id="rId53"/>
    <p:sldId id="397" r:id="rId54"/>
    <p:sldId id="379" r:id="rId55"/>
    <p:sldId id="380" r:id="rId56"/>
    <p:sldId id="369" r:id="rId57"/>
    <p:sldId id="370" r:id="rId58"/>
    <p:sldId id="372" r:id="rId59"/>
    <p:sldId id="373" r:id="rId60"/>
    <p:sldId id="374" r:id="rId61"/>
    <p:sldId id="371" r:id="rId62"/>
    <p:sldId id="367" r:id="rId63"/>
    <p:sldId id="368" r:id="rId64"/>
    <p:sldId id="298" r:id="rId65"/>
  </p:sldIdLst>
  <p:sldSz cx="9144000" cy="6858000" type="screen4x3"/>
  <p:notesSz cx="6858000" cy="9144000"/>
  <p:embeddedFontLst>
    <p:embeddedFont>
      <p:font typeface="Calibri" panose="020F0502020204030204" pitchFamily="34" charset="0"/>
      <p:regular r:id="rId68"/>
      <p:bold r:id="rId69"/>
      <p:italic r:id="rId70"/>
      <p:boldItalic r:id="rId71"/>
    </p:embeddedFont>
    <p:embeddedFont>
      <p:font typeface="SimSun-ExtB" panose="02010609060101010101" pitchFamily="49" charset="-122"/>
      <p:regular r:id="rId72"/>
    </p:embeddedFont>
    <p:embeddedFont>
      <p:font typeface="Verdana" panose="020B0604030504040204" pitchFamily="34" charset="0"/>
      <p:regular r:id="rId73"/>
      <p:bold r:id="rId74"/>
      <p:italic r:id="rId75"/>
      <p:boldItalic r:id="rId76"/>
    </p:embeddedFont>
    <p:embeddedFont>
      <p:font typeface="Noto Sans Symbols" panose="020B0604020202020204" charset="0"/>
      <p:regular r:id="rId77"/>
      <p:bold r:id="rId78"/>
      <p:italic r:id="rId79"/>
      <p:boldItalic r:id="rId80"/>
    </p:embeddedFont>
    <p:embeddedFont>
      <p:font typeface="Times" panose="02020603050405020304" pitchFamily="18" charset="0"/>
      <p:regular r:id="rId81"/>
      <p:bold r:id="rId82"/>
      <p:italic r:id="rId83"/>
      <p:boldItalic r:id="rId8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86" autoAdjust="0"/>
    <p:restoredTop sz="83241" autoAdjust="0"/>
  </p:normalViewPr>
  <p:slideViewPr>
    <p:cSldViewPr snapToGrid="0" snapToObjects="1">
      <p:cViewPr varScale="1">
        <p:scale>
          <a:sx n="81" d="100"/>
          <a:sy n="81" d="100"/>
        </p:scale>
        <p:origin x="1632" y="90"/>
      </p:cViewPr>
      <p:guideLst>
        <p:guide orient="horz" pos="3997"/>
        <p:guide pos="295"/>
        <p:guide orient="horz" pos="4178"/>
        <p:guide orient="horz" pos="119"/>
        <p:guide orient="horz" pos="709"/>
        <p:guide orient="horz" pos="1071"/>
        <p:guide pos="635"/>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font" Target="fonts/font1.fntdata"/><Relationship Id="rId76" Type="http://schemas.openxmlformats.org/officeDocument/2006/relationships/font" Target="fonts/font9.fntdata"/><Relationship Id="rId84" Type="http://schemas.openxmlformats.org/officeDocument/2006/relationships/font" Target="fonts/font17.fntdata"/><Relationship Id="rId89"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74" Type="http://schemas.openxmlformats.org/officeDocument/2006/relationships/font" Target="fonts/font7.fntdata"/><Relationship Id="rId79" Type="http://schemas.openxmlformats.org/officeDocument/2006/relationships/font" Target="fonts/font12.fntdata"/><Relationship Id="rId87"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font" Target="fonts/font15.fntdata"/><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font" Target="fonts/font2.fntdata"/><Relationship Id="rId77" Type="http://schemas.openxmlformats.org/officeDocument/2006/relationships/font" Target="fonts/font10.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5.fntdata"/><Relationship Id="rId80" Type="http://schemas.openxmlformats.org/officeDocument/2006/relationships/font" Target="fonts/font13.fntdata"/><Relationship Id="rId85"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3.fntdata"/><Relationship Id="rId75" Type="http://schemas.openxmlformats.org/officeDocument/2006/relationships/font" Target="fonts/font8.fntdata"/><Relationship Id="rId83" Type="http://schemas.openxmlformats.org/officeDocument/2006/relationships/font" Target="fonts/font16.fntdata"/><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6.fntdata"/><Relationship Id="rId78" Type="http://schemas.openxmlformats.org/officeDocument/2006/relationships/font" Target="fonts/font11.fntdata"/><Relationship Id="rId81" Type="http://schemas.openxmlformats.org/officeDocument/2006/relationships/font" Target="fonts/font14.fntdata"/><Relationship Id="rId86"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image" Target="../media/image18.wmf"/><Relationship Id="rId3" Type="http://schemas.openxmlformats.org/officeDocument/2006/relationships/image" Target="../media/image8.wmf"/><Relationship Id="rId7" Type="http://schemas.openxmlformats.org/officeDocument/2006/relationships/image" Target="../media/image12.wmf"/><Relationship Id="rId12" Type="http://schemas.openxmlformats.org/officeDocument/2006/relationships/image" Target="../media/image17.wmf"/><Relationship Id="rId2" Type="http://schemas.openxmlformats.org/officeDocument/2006/relationships/image" Target="../media/image7.wmf"/><Relationship Id="rId1" Type="http://schemas.openxmlformats.org/officeDocument/2006/relationships/image" Target="../media/image6.wmf"/><Relationship Id="rId6" Type="http://schemas.openxmlformats.org/officeDocument/2006/relationships/image" Target="../media/image11.wmf"/><Relationship Id="rId11" Type="http://schemas.openxmlformats.org/officeDocument/2006/relationships/image" Target="../media/image16.wmf"/><Relationship Id="rId5" Type="http://schemas.openxmlformats.org/officeDocument/2006/relationships/image" Target="../media/image10.wmf"/><Relationship Id="rId15" Type="http://schemas.openxmlformats.org/officeDocument/2006/relationships/image" Target="../media/image20.wmf"/><Relationship Id="rId10" Type="http://schemas.openxmlformats.org/officeDocument/2006/relationships/image" Target="../media/image15.wmf"/><Relationship Id="rId4" Type="http://schemas.openxmlformats.org/officeDocument/2006/relationships/image" Target="../media/image9.wmf"/><Relationship Id="rId9" Type="http://schemas.openxmlformats.org/officeDocument/2006/relationships/image" Target="../media/image14.wmf"/><Relationship Id="rId14"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image" Target="../media/image33.wmf"/><Relationship Id="rId18" Type="http://schemas.openxmlformats.org/officeDocument/2006/relationships/image" Target="../media/image38.wmf"/><Relationship Id="rId3" Type="http://schemas.openxmlformats.org/officeDocument/2006/relationships/image" Target="../media/image23.wmf"/><Relationship Id="rId7" Type="http://schemas.openxmlformats.org/officeDocument/2006/relationships/image" Target="../media/image27.wmf"/><Relationship Id="rId12" Type="http://schemas.openxmlformats.org/officeDocument/2006/relationships/image" Target="../media/image32.wmf"/><Relationship Id="rId17" Type="http://schemas.openxmlformats.org/officeDocument/2006/relationships/image" Target="../media/image37.wmf"/><Relationship Id="rId2" Type="http://schemas.openxmlformats.org/officeDocument/2006/relationships/image" Target="../media/image22.wmf"/><Relationship Id="rId16" Type="http://schemas.openxmlformats.org/officeDocument/2006/relationships/image" Target="../media/image36.wmf"/><Relationship Id="rId20" Type="http://schemas.openxmlformats.org/officeDocument/2006/relationships/image" Target="../media/image40.wmf"/><Relationship Id="rId1" Type="http://schemas.openxmlformats.org/officeDocument/2006/relationships/image" Target="../media/image21.wmf"/><Relationship Id="rId6" Type="http://schemas.openxmlformats.org/officeDocument/2006/relationships/image" Target="../media/image26.wmf"/><Relationship Id="rId11" Type="http://schemas.openxmlformats.org/officeDocument/2006/relationships/image" Target="../media/image31.wmf"/><Relationship Id="rId5" Type="http://schemas.openxmlformats.org/officeDocument/2006/relationships/image" Target="../media/image25.wmf"/><Relationship Id="rId15" Type="http://schemas.openxmlformats.org/officeDocument/2006/relationships/image" Target="../media/image35.wmf"/><Relationship Id="rId10" Type="http://schemas.openxmlformats.org/officeDocument/2006/relationships/image" Target="../media/image30.wmf"/><Relationship Id="rId19" Type="http://schemas.openxmlformats.org/officeDocument/2006/relationships/image" Target="../media/image39.wmf"/><Relationship Id="rId4" Type="http://schemas.openxmlformats.org/officeDocument/2006/relationships/image" Target="../media/image24.wmf"/><Relationship Id="rId9" Type="http://schemas.openxmlformats.org/officeDocument/2006/relationships/image" Target="../media/image29.wmf"/><Relationship Id="rId14" Type="http://schemas.openxmlformats.org/officeDocument/2006/relationships/image" Target="../media/image34.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48.wmf"/><Relationship Id="rId13" Type="http://schemas.openxmlformats.org/officeDocument/2006/relationships/image" Target="../media/image53.wmf"/><Relationship Id="rId18" Type="http://schemas.openxmlformats.org/officeDocument/2006/relationships/image" Target="../media/image58.wmf"/><Relationship Id="rId3" Type="http://schemas.openxmlformats.org/officeDocument/2006/relationships/image" Target="../media/image43.wmf"/><Relationship Id="rId21" Type="http://schemas.openxmlformats.org/officeDocument/2006/relationships/image" Target="../media/image61.wmf"/><Relationship Id="rId7" Type="http://schemas.openxmlformats.org/officeDocument/2006/relationships/image" Target="../media/image47.wmf"/><Relationship Id="rId12" Type="http://schemas.openxmlformats.org/officeDocument/2006/relationships/image" Target="../media/image52.wmf"/><Relationship Id="rId17" Type="http://schemas.openxmlformats.org/officeDocument/2006/relationships/image" Target="../media/image57.wmf"/><Relationship Id="rId25" Type="http://schemas.openxmlformats.org/officeDocument/2006/relationships/image" Target="../media/image65.wmf"/><Relationship Id="rId2" Type="http://schemas.openxmlformats.org/officeDocument/2006/relationships/image" Target="../media/image42.wmf"/><Relationship Id="rId16" Type="http://schemas.openxmlformats.org/officeDocument/2006/relationships/image" Target="../media/image56.wmf"/><Relationship Id="rId20" Type="http://schemas.openxmlformats.org/officeDocument/2006/relationships/image" Target="../media/image60.wmf"/><Relationship Id="rId1" Type="http://schemas.openxmlformats.org/officeDocument/2006/relationships/image" Target="../media/image41.wmf"/><Relationship Id="rId6" Type="http://schemas.openxmlformats.org/officeDocument/2006/relationships/image" Target="../media/image46.wmf"/><Relationship Id="rId11" Type="http://schemas.openxmlformats.org/officeDocument/2006/relationships/image" Target="../media/image51.wmf"/><Relationship Id="rId24" Type="http://schemas.openxmlformats.org/officeDocument/2006/relationships/image" Target="../media/image64.wmf"/><Relationship Id="rId5" Type="http://schemas.openxmlformats.org/officeDocument/2006/relationships/image" Target="../media/image45.wmf"/><Relationship Id="rId15" Type="http://schemas.openxmlformats.org/officeDocument/2006/relationships/image" Target="../media/image55.wmf"/><Relationship Id="rId23" Type="http://schemas.openxmlformats.org/officeDocument/2006/relationships/image" Target="../media/image63.wmf"/><Relationship Id="rId10" Type="http://schemas.openxmlformats.org/officeDocument/2006/relationships/image" Target="../media/image50.wmf"/><Relationship Id="rId19" Type="http://schemas.openxmlformats.org/officeDocument/2006/relationships/image" Target="../media/image59.wmf"/><Relationship Id="rId4" Type="http://schemas.openxmlformats.org/officeDocument/2006/relationships/image" Target="../media/image44.wmf"/><Relationship Id="rId9" Type="http://schemas.openxmlformats.org/officeDocument/2006/relationships/image" Target="../media/image49.wmf"/><Relationship Id="rId14" Type="http://schemas.openxmlformats.org/officeDocument/2006/relationships/image" Target="../media/image54.wmf"/><Relationship Id="rId22" Type="http://schemas.openxmlformats.org/officeDocument/2006/relationships/image" Target="../media/image62.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image" Target="../media/image68.wmf"/><Relationship Id="rId7" Type="http://schemas.openxmlformats.org/officeDocument/2006/relationships/image" Target="../media/image72.wmf"/><Relationship Id="rId2" Type="http://schemas.openxmlformats.org/officeDocument/2006/relationships/image" Target="../media/image67.wmf"/><Relationship Id="rId1" Type="http://schemas.openxmlformats.org/officeDocument/2006/relationships/image" Target="../media/image66.wmf"/><Relationship Id="rId6" Type="http://schemas.openxmlformats.org/officeDocument/2006/relationships/image" Target="../media/image71.wmf"/><Relationship Id="rId11" Type="http://schemas.openxmlformats.org/officeDocument/2006/relationships/image" Target="../media/image76.wmf"/><Relationship Id="rId5" Type="http://schemas.openxmlformats.org/officeDocument/2006/relationships/image" Target="../media/image70.wmf"/><Relationship Id="rId10" Type="http://schemas.openxmlformats.org/officeDocument/2006/relationships/image" Target="../media/image75.wmf"/><Relationship Id="rId4" Type="http://schemas.openxmlformats.org/officeDocument/2006/relationships/image" Target="../media/image69.wmf"/><Relationship Id="rId9" Type="http://schemas.openxmlformats.org/officeDocument/2006/relationships/image" Target="../media/image74.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image" Target="../media/image79.wmf"/><Relationship Id="rId7" Type="http://schemas.openxmlformats.org/officeDocument/2006/relationships/image" Target="../media/image83.wmf"/><Relationship Id="rId2" Type="http://schemas.openxmlformats.org/officeDocument/2006/relationships/image" Target="../media/image78.wmf"/><Relationship Id="rId1" Type="http://schemas.openxmlformats.org/officeDocument/2006/relationships/image" Target="../media/image77.wmf"/><Relationship Id="rId6" Type="http://schemas.openxmlformats.org/officeDocument/2006/relationships/image" Target="../media/image82.wmf"/><Relationship Id="rId5" Type="http://schemas.openxmlformats.org/officeDocument/2006/relationships/image" Target="../media/image81.wmf"/><Relationship Id="rId4" Type="http://schemas.openxmlformats.org/officeDocument/2006/relationships/image" Target="../media/image8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8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88.wmf"/><Relationship Id="rId1" Type="http://schemas.openxmlformats.org/officeDocument/2006/relationships/image" Target="../media/image87.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90.wmf"/><Relationship Id="rId1" Type="http://schemas.openxmlformats.org/officeDocument/2006/relationships/image" Target="../media/image8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9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7.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 Id="rId6" Type="http://schemas.openxmlformats.org/officeDocument/2006/relationships/image" Target="../media/image104.wmf"/><Relationship Id="rId5" Type="http://schemas.openxmlformats.org/officeDocument/2006/relationships/image" Target="../media/image103.wmf"/><Relationship Id="rId4" Type="http://schemas.openxmlformats.org/officeDocument/2006/relationships/image" Target="../media/image102.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106.wmf"/><Relationship Id="rId1" Type="http://schemas.openxmlformats.org/officeDocument/2006/relationships/image" Target="../media/image105.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11.wmf"/><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114.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1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18.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image" Target="../media/image120.wmf"/><Relationship Id="rId1" Type="http://schemas.openxmlformats.org/officeDocument/2006/relationships/image" Target="../media/image119.wmf"/><Relationship Id="rId6" Type="http://schemas.openxmlformats.org/officeDocument/2006/relationships/image" Target="../media/image124.wmf"/><Relationship Id="rId5" Type="http://schemas.openxmlformats.org/officeDocument/2006/relationships/image" Target="../media/image123.wmf"/><Relationship Id="rId4" Type="http://schemas.openxmlformats.org/officeDocument/2006/relationships/image" Target="../media/image122.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25.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29.wmf"/><Relationship Id="rId1" Type="http://schemas.openxmlformats.org/officeDocument/2006/relationships/image" Target="../media/image128.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31.wmf"/><Relationship Id="rId1" Type="http://schemas.openxmlformats.org/officeDocument/2006/relationships/image" Target="../media/image129.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33.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136.wmf"/><Relationship Id="rId1" Type="http://schemas.openxmlformats.org/officeDocument/2006/relationships/image" Target="../media/image135.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44.wmf"/><Relationship Id="rId3" Type="http://schemas.openxmlformats.org/officeDocument/2006/relationships/image" Target="../media/image139.wmf"/><Relationship Id="rId7" Type="http://schemas.openxmlformats.org/officeDocument/2006/relationships/image" Target="../media/image143.wmf"/><Relationship Id="rId2" Type="http://schemas.openxmlformats.org/officeDocument/2006/relationships/image" Target="../media/image138.wmf"/><Relationship Id="rId1" Type="http://schemas.openxmlformats.org/officeDocument/2006/relationships/image" Target="../media/image137.wmf"/><Relationship Id="rId6" Type="http://schemas.openxmlformats.org/officeDocument/2006/relationships/image" Target="../media/image142.wmf"/><Relationship Id="rId5" Type="http://schemas.openxmlformats.org/officeDocument/2006/relationships/image" Target="../media/image141.wmf"/><Relationship Id="rId4" Type="http://schemas.openxmlformats.org/officeDocument/2006/relationships/image" Target="../media/image140.wmf"/><Relationship Id="rId9" Type="http://schemas.openxmlformats.org/officeDocument/2006/relationships/image" Target="../media/image145.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46.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49.wmf"/><Relationship Id="rId1" Type="http://schemas.openxmlformats.org/officeDocument/2006/relationships/image" Target="../media/image14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11/10/2021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dirty="0"/>
              <a:t>Slides in this presentation contain hyperlinks. JAWS users should be able to get a list of links by using INSERT+F7</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40787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spot and forward exchange rates, with dollar relative to the pound, are graphed versus year, 19 83 to 20 20. The plots for both rates fluctuate between 1.08 and 2.1 and track closely with each other. The plot for forward rate generally rises from (19 83, 1.5) to (19 89, 1.95), falls to (2000, 1.35), rises again to (2006, 2.1), and then falls again to (20 15, 1.48). The plot then rises to (20 18, 1.4) and then falls to (20 20, 1.25). The plot for spot rate generally follows the same path, with some variations, including a peak to 1.98 in 19 89.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13970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 double line graph plots interest rates for deposits of dollars and yen versus year, 19 78 to 20 20. The plot for dollar rate generally rises from (19 78, 9) to (19 81, 20) and then generally falls through (19 89, 11) and (2000, 7) to (20 04, 1). The plot then rises to (2006, 6), falls to (2009, 2), rises to 20 19, 4), and ends at (20 20, 2). The plot for yen rate generally rises from (19 78, 2) to (19 81, 6) and then generally falls through (19 89, 5) and (2000, 0) to (20 20, 0).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81663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breakdown of this equation is as follows, in order: R sub dollars is the expected rate of return = interest rate on dollar deposits. This combined with everything that follows is the expected rate of return on euro deposits. Minus R sub euros is the interest rate on euro deposits. The expected exchange rate is minus open parenthesis E to the power of lowercase E sub the division of dollars by sub euros. The current exchange rate is minus E sub the division of dollars by euros, close parenthesis, divided by E sub the division of dollars by euros. Together, these are the expected rate of appreciation of the euro.</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89058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plot falls from through 5 points from right to left: as follows: (0.031, 1.07), (0.048, 1.05), (0.069, 1.03), (0.79, 1.02) and (0.1, 1). All values estimated. </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40472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falls with decreasing steepness, noted as the expected return on euro deposits. 3 points are plotted on the curve with 3 different exchange rates. From the highest on the curve to the lowest, points are 2, 1, and 3. Point 1 is the return on dollar deposits with coordinates (R sub dollars, Exchange rate super 1).</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34944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falls with decreasing steepness through point 1, (R sub dollars super 1, E sub dollars to euros, super 1). The dollar return is shifted from R sub dollars super 1 to R sub dollars super 2, and the plot passes through and point 2, (R sub dollars super 2, E sub dollars to euros, super 2). Point 1 prime is above point 2, at y = E sub dollars to euros super 1.</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14133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 plot falls with decreasing steepness, noted as the euro return, through point 1, at (R sub dollars, E sub dollars to euros super 1). The plot is shifted to the right to indicate a rise in euro interest rate. The shifted plot falls through point 2, at (R sub dollars, E sub dollars to euros super 2).</a:t>
            </a:r>
            <a:endParaRPr lang="en-IN" dirty="0"/>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587126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double line graph depicts cumulative investment return versus year, 2006 to 20 20, with plots for the Australian dollar and the Japanese yen. The plot for Japanese yen remains almost entirely flat, rising from (2006, 100) to (20 20, 101). The plot for the Australian dollar generally rises from 100 in 2006, to 210 in at the end of 2007. A dip in 2008 drops to 125. The dollar then rises to 250 in 20 13, drops to 210 in 20 16, rises to 160 in 20 18, and dips to 135 in 20 20.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951729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257190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triple line graph depicts basis points versus year, 2002 to 20 20, with plots for the euro, pound, and yen. The plot for yen remains almost entirely flat, rising from (2002, 0) to (2007, 0), then makes a sudden dip at (2008, negative 300) and fluctuates in the range of negative 75 to negative 25 from 20 10 to 20 20. The plot for the pound is generally a flat line around 0 basis points from 2002 to 20 20, with slight fluctuations at times reaching negative 25. The plot for euro generally rises from 0 in 2002 to negative 25 at the end of 2008. A dip in 20 12 drops to negative 125. The euro then rises to 0 in 20 13 and then drops to negative 25 in 20 17 and again rises to 0 in 20 20.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498055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63</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4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Text Placeholder 2"/>
          <p:cNvSpPr>
            <a:spLocks noGrp="1"/>
          </p:cNvSpPr>
          <p:nvPr>
            <p:ph type="body" sz="quarter" idx="17"/>
          </p:nvPr>
        </p:nvSpPr>
        <p:spPr>
          <a:xfrm>
            <a:off x="6803378" y="1552349"/>
            <a:ext cx="1883421" cy="44388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228357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image" Target="../media/image1.jpg"/><Relationship Id="rId2" Type="http://schemas.openxmlformats.org/officeDocument/2006/relationships/slideLayout" Target="../slideLayouts/slideLayout3.xml"/><Relationship Id="rId16"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7"/>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3" r:id="rId8"/>
    <p:sldLayoutId id="2147483680" r:id="rId9"/>
    <p:sldLayoutId id="2147483681" r:id="rId10"/>
    <p:sldLayoutId id="2147483671" r:id="rId11"/>
    <p:sldLayoutId id="2147483673" r:id="rId12"/>
    <p:sldLayoutId id="2147483670" r:id="rId13"/>
    <p:sldLayoutId id="2147483669" r:id="rId14"/>
    <p:sldLayoutId id="214748365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0.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9.bin"/><Relationship Id="rId18" Type="http://schemas.openxmlformats.org/officeDocument/2006/relationships/image" Target="../media/image13.wmf"/><Relationship Id="rId26" Type="http://schemas.openxmlformats.org/officeDocument/2006/relationships/image" Target="../media/image17.wmf"/><Relationship Id="rId3" Type="http://schemas.openxmlformats.org/officeDocument/2006/relationships/oleObject" Target="../embeddings/oleObject4.bin"/><Relationship Id="rId21" Type="http://schemas.openxmlformats.org/officeDocument/2006/relationships/oleObject" Target="../embeddings/oleObject13.bin"/><Relationship Id="rId7" Type="http://schemas.openxmlformats.org/officeDocument/2006/relationships/oleObject" Target="../embeddings/oleObject6.bin"/><Relationship Id="rId12" Type="http://schemas.openxmlformats.org/officeDocument/2006/relationships/image" Target="../media/image10.wmf"/><Relationship Id="rId17" Type="http://schemas.openxmlformats.org/officeDocument/2006/relationships/oleObject" Target="../embeddings/oleObject11.bin"/><Relationship Id="rId25" Type="http://schemas.openxmlformats.org/officeDocument/2006/relationships/oleObject" Target="../embeddings/oleObject15.bin"/><Relationship Id="rId2" Type="http://schemas.openxmlformats.org/officeDocument/2006/relationships/slideLayout" Target="../slideLayouts/slideLayout4.xml"/><Relationship Id="rId16" Type="http://schemas.openxmlformats.org/officeDocument/2006/relationships/image" Target="../media/image12.wmf"/><Relationship Id="rId20" Type="http://schemas.openxmlformats.org/officeDocument/2006/relationships/image" Target="../media/image14.wmf"/><Relationship Id="rId29" Type="http://schemas.openxmlformats.org/officeDocument/2006/relationships/oleObject" Target="../embeddings/oleObject17.bin"/><Relationship Id="rId1" Type="http://schemas.openxmlformats.org/officeDocument/2006/relationships/vmlDrawing" Target="../drawings/vmlDrawing2.vml"/><Relationship Id="rId6" Type="http://schemas.openxmlformats.org/officeDocument/2006/relationships/image" Target="../media/image7.wmf"/><Relationship Id="rId11" Type="http://schemas.openxmlformats.org/officeDocument/2006/relationships/oleObject" Target="../embeddings/oleObject8.bin"/><Relationship Id="rId24" Type="http://schemas.openxmlformats.org/officeDocument/2006/relationships/image" Target="../media/image16.wmf"/><Relationship Id="rId32" Type="http://schemas.openxmlformats.org/officeDocument/2006/relationships/image" Target="../media/image20.wmf"/><Relationship Id="rId5" Type="http://schemas.openxmlformats.org/officeDocument/2006/relationships/oleObject" Target="../embeddings/oleObject5.bin"/><Relationship Id="rId15" Type="http://schemas.openxmlformats.org/officeDocument/2006/relationships/oleObject" Target="../embeddings/oleObject10.bin"/><Relationship Id="rId23" Type="http://schemas.openxmlformats.org/officeDocument/2006/relationships/oleObject" Target="../embeddings/oleObject14.bin"/><Relationship Id="rId28" Type="http://schemas.openxmlformats.org/officeDocument/2006/relationships/image" Target="../media/image18.wmf"/><Relationship Id="rId10" Type="http://schemas.openxmlformats.org/officeDocument/2006/relationships/image" Target="../media/image9.wmf"/><Relationship Id="rId19" Type="http://schemas.openxmlformats.org/officeDocument/2006/relationships/oleObject" Target="../embeddings/oleObject12.bin"/><Relationship Id="rId31" Type="http://schemas.openxmlformats.org/officeDocument/2006/relationships/oleObject" Target="../embeddings/oleObject18.bin"/><Relationship Id="rId4" Type="http://schemas.openxmlformats.org/officeDocument/2006/relationships/image" Target="../media/image6.wmf"/><Relationship Id="rId9" Type="http://schemas.openxmlformats.org/officeDocument/2006/relationships/oleObject" Target="../embeddings/oleObject7.bin"/><Relationship Id="rId14" Type="http://schemas.openxmlformats.org/officeDocument/2006/relationships/image" Target="../media/image11.wmf"/><Relationship Id="rId22" Type="http://schemas.openxmlformats.org/officeDocument/2006/relationships/image" Target="../media/image15.wmf"/><Relationship Id="rId27" Type="http://schemas.openxmlformats.org/officeDocument/2006/relationships/oleObject" Target="../embeddings/oleObject16.bin"/><Relationship Id="rId30" Type="http://schemas.openxmlformats.org/officeDocument/2006/relationships/image" Target="../media/image19.wmf"/></Relationships>
</file>

<file path=ppt/slides/_rels/slide6.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24.bin"/><Relationship Id="rId18" Type="http://schemas.openxmlformats.org/officeDocument/2006/relationships/image" Target="../media/image28.wmf"/><Relationship Id="rId26" Type="http://schemas.openxmlformats.org/officeDocument/2006/relationships/image" Target="../media/image32.wmf"/><Relationship Id="rId39" Type="http://schemas.openxmlformats.org/officeDocument/2006/relationships/oleObject" Target="../embeddings/oleObject37.bin"/><Relationship Id="rId3" Type="http://schemas.openxmlformats.org/officeDocument/2006/relationships/oleObject" Target="../embeddings/oleObject19.bin"/><Relationship Id="rId21" Type="http://schemas.openxmlformats.org/officeDocument/2006/relationships/oleObject" Target="../embeddings/oleObject28.bin"/><Relationship Id="rId34" Type="http://schemas.openxmlformats.org/officeDocument/2006/relationships/image" Target="../media/image36.wmf"/><Relationship Id="rId42" Type="http://schemas.openxmlformats.org/officeDocument/2006/relationships/image" Target="../media/image40.wmf"/><Relationship Id="rId7" Type="http://schemas.openxmlformats.org/officeDocument/2006/relationships/oleObject" Target="../embeddings/oleObject21.bin"/><Relationship Id="rId12" Type="http://schemas.openxmlformats.org/officeDocument/2006/relationships/image" Target="../media/image25.wmf"/><Relationship Id="rId17" Type="http://schemas.openxmlformats.org/officeDocument/2006/relationships/oleObject" Target="../embeddings/oleObject26.bin"/><Relationship Id="rId25" Type="http://schemas.openxmlformats.org/officeDocument/2006/relationships/oleObject" Target="../embeddings/oleObject30.bin"/><Relationship Id="rId33" Type="http://schemas.openxmlformats.org/officeDocument/2006/relationships/oleObject" Target="../embeddings/oleObject34.bin"/><Relationship Id="rId38" Type="http://schemas.openxmlformats.org/officeDocument/2006/relationships/image" Target="../media/image38.wmf"/><Relationship Id="rId2" Type="http://schemas.openxmlformats.org/officeDocument/2006/relationships/slideLayout" Target="../slideLayouts/slideLayout4.xml"/><Relationship Id="rId16" Type="http://schemas.openxmlformats.org/officeDocument/2006/relationships/image" Target="../media/image27.wmf"/><Relationship Id="rId20" Type="http://schemas.openxmlformats.org/officeDocument/2006/relationships/image" Target="../media/image29.wmf"/><Relationship Id="rId29" Type="http://schemas.openxmlformats.org/officeDocument/2006/relationships/oleObject" Target="../embeddings/oleObject32.bin"/><Relationship Id="rId41" Type="http://schemas.openxmlformats.org/officeDocument/2006/relationships/oleObject" Target="../embeddings/oleObject38.bin"/><Relationship Id="rId1" Type="http://schemas.openxmlformats.org/officeDocument/2006/relationships/vmlDrawing" Target="../drawings/vmlDrawing3.vml"/><Relationship Id="rId6" Type="http://schemas.openxmlformats.org/officeDocument/2006/relationships/image" Target="../media/image22.wmf"/><Relationship Id="rId11" Type="http://schemas.openxmlformats.org/officeDocument/2006/relationships/oleObject" Target="../embeddings/oleObject23.bin"/><Relationship Id="rId24" Type="http://schemas.openxmlformats.org/officeDocument/2006/relationships/image" Target="../media/image31.wmf"/><Relationship Id="rId32" Type="http://schemas.openxmlformats.org/officeDocument/2006/relationships/image" Target="../media/image35.wmf"/><Relationship Id="rId37" Type="http://schemas.openxmlformats.org/officeDocument/2006/relationships/oleObject" Target="../embeddings/oleObject36.bin"/><Relationship Id="rId40" Type="http://schemas.openxmlformats.org/officeDocument/2006/relationships/image" Target="../media/image39.wmf"/><Relationship Id="rId5" Type="http://schemas.openxmlformats.org/officeDocument/2006/relationships/oleObject" Target="../embeddings/oleObject20.bin"/><Relationship Id="rId15" Type="http://schemas.openxmlformats.org/officeDocument/2006/relationships/oleObject" Target="../embeddings/oleObject25.bin"/><Relationship Id="rId23" Type="http://schemas.openxmlformats.org/officeDocument/2006/relationships/oleObject" Target="../embeddings/oleObject29.bin"/><Relationship Id="rId28" Type="http://schemas.openxmlformats.org/officeDocument/2006/relationships/image" Target="../media/image33.wmf"/><Relationship Id="rId36" Type="http://schemas.openxmlformats.org/officeDocument/2006/relationships/image" Target="../media/image37.wmf"/><Relationship Id="rId10" Type="http://schemas.openxmlformats.org/officeDocument/2006/relationships/image" Target="../media/image24.wmf"/><Relationship Id="rId19" Type="http://schemas.openxmlformats.org/officeDocument/2006/relationships/oleObject" Target="../embeddings/oleObject27.bin"/><Relationship Id="rId31" Type="http://schemas.openxmlformats.org/officeDocument/2006/relationships/oleObject" Target="../embeddings/oleObject33.bin"/><Relationship Id="rId4" Type="http://schemas.openxmlformats.org/officeDocument/2006/relationships/image" Target="../media/image21.wmf"/><Relationship Id="rId9" Type="http://schemas.openxmlformats.org/officeDocument/2006/relationships/oleObject" Target="../embeddings/oleObject22.bin"/><Relationship Id="rId14" Type="http://schemas.openxmlformats.org/officeDocument/2006/relationships/image" Target="../media/image26.wmf"/><Relationship Id="rId22" Type="http://schemas.openxmlformats.org/officeDocument/2006/relationships/image" Target="../media/image30.wmf"/><Relationship Id="rId27" Type="http://schemas.openxmlformats.org/officeDocument/2006/relationships/oleObject" Target="../embeddings/oleObject31.bin"/><Relationship Id="rId30" Type="http://schemas.openxmlformats.org/officeDocument/2006/relationships/image" Target="../media/image34.wmf"/><Relationship Id="rId35" Type="http://schemas.openxmlformats.org/officeDocument/2006/relationships/oleObject" Target="../embeddings/oleObject35.bin"/></Relationships>
</file>

<file path=ppt/slides/_rels/slide7.xml.rels><?xml version="1.0" encoding="UTF-8" standalone="yes"?>
<Relationships xmlns="http://schemas.openxmlformats.org/package/2006/relationships"><Relationship Id="rId13" Type="http://schemas.openxmlformats.org/officeDocument/2006/relationships/oleObject" Target="../embeddings/oleObject44.bin"/><Relationship Id="rId18" Type="http://schemas.openxmlformats.org/officeDocument/2006/relationships/image" Target="../media/image48.wmf"/><Relationship Id="rId26" Type="http://schemas.openxmlformats.org/officeDocument/2006/relationships/image" Target="../media/image52.wmf"/><Relationship Id="rId39" Type="http://schemas.openxmlformats.org/officeDocument/2006/relationships/oleObject" Target="../embeddings/oleObject57.bin"/><Relationship Id="rId3" Type="http://schemas.openxmlformats.org/officeDocument/2006/relationships/oleObject" Target="../embeddings/oleObject39.bin"/><Relationship Id="rId21" Type="http://schemas.openxmlformats.org/officeDocument/2006/relationships/oleObject" Target="../embeddings/oleObject48.bin"/><Relationship Id="rId34" Type="http://schemas.openxmlformats.org/officeDocument/2006/relationships/image" Target="../media/image56.wmf"/><Relationship Id="rId42" Type="http://schemas.openxmlformats.org/officeDocument/2006/relationships/image" Target="../media/image60.wmf"/><Relationship Id="rId47" Type="http://schemas.openxmlformats.org/officeDocument/2006/relationships/oleObject" Target="../embeddings/oleObject61.bin"/><Relationship Id="rId50" Type="http://schemas.openxmlformats.org/officeDocument/2006/relationships/image" Target="../media/image64.wmf"/><Relationship Id="rId7" Type="http://schemas.openxmlformats.org/officeDocument/2006/relationships/oleObject" Target="../embeddings/oleObject41.bin"/><Relationship Id="rId12" Type="http://schemas.openxmlformats.org/officeDocument/2006/relationships/image" Target="../media/image45.wmf"/><Relationship Id="rId17" Type="http://schemas.openxmlformats.org/officeDocument/2006/relationships/oleObject" Target="../embeddings/oleObject46.bin"/><Relationship Id="rId25" Type="http://schemas.openxmlformats.org/officeDocument/2006/relationships/oleObject" Target="../embeddings/oleObject50.bin"/><Relationship Id="rId33" Type="http://schemas.openxmlformats.org/officeDocument/2006/relationships/oleObject" Target="../embeddings/oleObject54.bin"/><Relationship Id="rId38" Type="http://schemas.openxmlformats.org/officeDocument/2006/relationships/image" Target="../media/image58.wmf"/><Relationship Id="rId46" Type="http://schemas.openxmlformats.org/officeDocument/2006/relationships/image" Target="../media/image62.wmf"/><Relationship Id="rId2" Type="http://schemas.openxmlformats.org/officeDocument/2006/relationships/slideLayout" Target="../slideLayouts/slideLayout4.xml"/><Relationship Id="rId16" Type="http://schemas.openxmlformats.org/officeDocument/2006/relationships/image" Target="../media/image47.wmf"/><Relationship Id="rId20" Type="http://schemas.openxmlformats.org/officeDocument/2006/relationships/image" Target="../media/image49.wmf"/><Relationship Id="rId29" Type="http://schemas.openxmlformats.org/officeDocument/2006/relationships/oleObject" Target="../embeddings/oleObject52.bin"/><Relationship Id="rId41" Type="http://schemas.openxmlformats.org/officeDocument/2006/relationships/oleObject" Target="../embeddings/oleObject58.bin"/><Relationship Id="rId1" Type="http://schemas.openxmlformats.org/officeDocument/2006/relationships/vmlDrawing" Target="../drawings/vmlDrawing4.vml"/><Relationship Id="rId6" Type="http://schemas.openxmlformats.org/officeDocument/2006/relationships/image" Target="../media/image42.wmf"/><Relationship Id="rId11" Type="http://schemas.openxmlformats.org/officeDocument/2006/relationships/oleObject" Target="../embeddings/oleObject43.bin"/><Relationship Id="rId24" Type="http://schemas.openxmlformats.org/officeDocument/2006/relationships/image" Target="../media/image51.wmf"/><Relationship Id="rId32" Type="http://schemas.openxmlformats.org/officeDocument/2006/relationships/image" Target="../media/image55.wmf"/><Relationship Id="rId37" Type="http://schemas.openxmlformats.org/officeDocument/2006/relationships/oleObject" Target="../embeddings/oleObject56.bin"/><Relationship Id="rId40" Type="http://schemas.openxmlformats.org/officeDocument/2006/relationships/image" Target="../media/image59.wmf"/><Relationship Id="rId45" Type="http://schemas.openxmlformats.org/officeDocument/2006/relationships/oleObject" Target="../embeddings/oleObject60.bin"/><Relationship Id="rId5" Type="http://schemas.openxmlformats.org/officeDocument/2006/relationships/oleObject" Target="../embeddings/oleObject40.bin"/><Relationship Id="rId15" Type="http://schemas.openxmlformats.org/officeDocument/2006/relationships/oleObject" Target="../embeddings/oleObject45.bin"/><Relationship Id="rId23" Type="http://schemas.openxmlformats.org/officeDocument/2006/relationships/oleObject" Target="../embeddings/oleObject49.bin"/><Relationship Id="rId28" Type="http://schemas.openxmlformats.org/officeDocument/2006/relationships/image" Target="../media/image53.wmf"/><Relationship Id="rId36" Type="http://schemas.openxmlformats.org/officeDocument/2006/relationships/image" Target="../media/image57.wmf"/><Relationship Id="rId49" Type="http://schemas.openxmlformats.org/officeDocument/2006/relationships/oleObject" Target="../embeddings/oleObject62.bin"/><Relationship Id="rId10" Type="http://schemas.openxmlformats.org/officeDocument/2006/relationships/image" Target="../media/image44.wmf"/><Relationship Id="rId19" Type="http://schemas.openxmlformats.org/officeDocument/2006/relationships/oleObject" Target="../embeddings/oleObject47.bin"/><Relationship Id="rId31" Type="http://schemas.openxmlformats.org/officeDocument/2006/relationships/oleObject" Target="../embeddings/oleObject53.bin"/><Relationship Id="rId44" Type="http://schemas.openxmlformats.org/officeDocument/2006/relationships/image" Target="../media/image61.wmf"/><Relationship Id="rId52" Type="http://schemas.openxmlformats.org/officeDocument/2006/relationships/image" Target="../media/image65.wmf"/><Relationship Id="rId4" Type="http://schemas.openxmlformats.org/officeDocument/2006/relationships/image" Target="../media/image41.wmf"/><Relationship Id="rId9" Type="http://schemas.openxmlformats.org/officeDocument/2006/relationships/oleObject" Target="../embeddings/oleObject42.bin"/><Relationship Id="rId14" Type="http://schemas.openxmlformats.org/officeDocument/2006/relationships/image" Target="../media/image46.wmf"/><Relationship Id="rId22" Type="http://schemas.openxmlformats.org/officeDocument/2006/relationships/image" Target="../media/image50.wmf"/><Relationship Id="rId27" Type="http://schemas.openxmlformats.org/officeDocument/2006/relationships/oleObject" Target="../embeddings/oleObject51.bin"/><Relationship Id="rId30" Type="http://schemas.openxmlformats.org/officeDocument/2006/relationships/image" Target="../media/image54.wmf"/><Relationship Id="rId35" Type="http://schemas.openxmlformats.org/officeDocument/2006/relationships/oleObject" Target="../embeddings/oleObject55.bin"/><Relationship Id="rId43" Type="http://schemas.openxmlformats.org/officeDocument/2006/relationships/oleObject" Target="../embeddings/oleObject59.bin"/><Relationship Id="rId48" Type="http://schemas.openxmlformats.org/officeDocument/2006/relationships/image" Target="../media/image63.wmf"/><Relationship Id="rId8" Type="http://schemas.openxmlformats.org/officeDocument/2006/relationships/image" Target="../media/image43.wmf"/><Relationship Id="rId51" Type="http://schemas.openxmlformats.org/officeDocument/2006/relationships/oleObject" Target="../embeddings/oleObject63.bin"/></Relationships>
</file>

<file path=ppt/slides/_rels/slide8.xml.rels><?xml version="1.0" encoding="UTF-8" standalone="yes"?>
<Relationships xmlns="http://schemas.openxmlformats.org/package/2006/relationships"><Relationship Id="rId8" Type="http://schemas.openxmlformats.org/officeDocument/2006/relationships/image" Target="../media/image68.wmf"/><Relationship Id="rId13" Type="http://schemas.openxmlformats.org/officeDocument/2006/relationships/oleObject" Target="../embeddings/oleObject69.bin"/><Relationship Id="rId18" Type="http://schemas.openxmlformats.org/officeDocument/2006/relationships/image" Target="../media/image73.wmf"/><Relationship Id="rId3" Type="http://schemas.openxmlformats.org/officeDocument/2006/relationships/oleObject" Target="../embeddings/oleObject64.bin"/><Relationship Id="rId21" Type="http://schemas.openxmlformats.org/officeDocument/2006/relationships/oleObject" Target="../embeddings/oleObject73.bin"/><Relationship Id="rId7" Type="http://schemas.openxmlformats.org/officeDocument/2006/relationships/oleObject" Target="../embeddings/oleObject66.bin"/><Relationship Id="rId12" Type="http://schemas.openxmlformats.org/officeDocument/2006/relationships/image" Target="../media/image70.wmf"/><Relationship Id="rId17" Type="http://schemas.openxmlformats.org/officeDocument/2006/relationships/oleObject" Target="../embeddings/oleObject71.bin"/><Relationship Id="rId2" Type="http://schemas.openxmlformats.org/officeDocument/2006/relationships/slideLayout" Target="../slideLayouts/slideLayout4.xml"/><Relationship Id="rId16" Type="http://schemas.openxmlformats.org/officeDocument/2006/relationships/image" Target="../media/image72.wmf"/><Relationship Id="rId20" Type="http://schemas.openxmlformats.org/officeDocument/2006/relationships/image" Target="../media/image74.wmf"/><Relationship Id="rId1" Type="http://schemas.openxmlformats.org/officeDocument/2006/relationships/vmlDrawing" Target="../drawings/vmlDrawing5.vml"/><Relationship Id="rId6" Type="http://schemas.openxmlformats.org/officeDocument/2006/relationships/image" Target="../media/image67.wmf"/><Relationship Id="rId11" Type="http://schemas.openxmlformats.org/officeDocument/2006/relationships/oleObject" Target="../embeddings/oleObject68.bin"/><Relationship Id="rId24" Type="http://schemas.openxmlformats.org/officeDocument/2006/relationships/image" Target="../media/image76.wmf"/><Relationship Id="rId5" Type="http://schemas.openxmlformats.org/officeDocument/2006/relationships/oleObject" Target="../embeddings/oleObject65.bin"/><Relationship Id="rId15" Type="http://schemas.openxmlformats.org/officeDocument/2006/relationships/oleObject" Target="../embeddings/oleObject70.bin"/><Relationship Id="rId23" Type="http://schemas.openxmlformats.org/officeDocument/2006/relationships/oleObject" Target="../embeddings/oleObject74.bin"/><Relationship Id="rId10" Type="http://schemas.openxmlformats.org/officeDocument/2006/relationships/image" Target="../media/image69.wmf"/><Relationship Id="rId19" Type="http://schemas.openxmlformats.org/officeDocument/2006/relationships/oleObject" Target="../embeddings/oleObject72.bin"/><Relationship Id="rId4" Type="http://schemas.openxmlformats.org/officeDocument/2006/relationships/image" Target="../media/image66.wmf"/><Relationship Id="rId9" Type="http://schemas.openxmlformats.org/officeDocument/2006/relationships/oleObject" Target="../embeddings/oleObject67.bin"/><Relationship Id="rId14" Type="http://schemas.openxmlformats.org/officeDocument/2006/relationships/image" Target="../media/image71.wmf"/><Relationship Id="rId22" Type="http://schemas.openxmlformats.org/officeDocument/2006/relationships/image" Target="../media/image75.wmf"/></Relationships>
</file>

<file path=ppt/slides/_rels/slide9.xml.rels><?xml version="1.0" encoding="UTF-8" standalone="yes"?>
<Relationships xmlns="http://schemas.openxmlformats.org/package/2006/relationships"><Relationship Id="rId8" Type="http://schemas.openxmlformats.org/officeDocument/2006/relationships/image" Target="../media/image79.wmf"/><Relationship Id="rId13" Type="http://schemas.openxmlformats.org/officeDocument/2006/relationships/oleObject" Target="../embeddings/oleObject80.bin"/><Relationship Id="rId18" Type="http://schemas.openxmlformats.org/officeDocument/2006/relationships/image" Target="../media/image84.wmf"/><Relationship Id="rId3" Type="http://schemas.openxmlformats.org/officeDocument/2006/relationships/oleObject" Target="../embeddings/oleObject75.bin"/><Relationship Id="rId7" Type="http://schemas.openxmlformats.org/officeDocument/2006/relationships/oleObject" Target="../embeddings/oleObject77.bin"/><Relationship Id="rId12" Type="http://schemas.openxmlformats.org/officeDocument/2006/relationships/image" Target="../media/image81.wmf"/><Relationship Id="rId17" Type="http://schemas.openxmlformats.org/officeDocument/2006/relationships/oleObject" Target="../embeddings/oleObject82.bin"/><Relationship Id="rId2" Type="http://schemas.openxmlformats.org/officeDocument/2006/relationships/slideLayout" Target="../slideLayouts/slideLayout9.xml"/><Relationship Id="rId16" Type="http://schemas.openxmlformats.org/officeDocument/2006/relationships/image" Target="../media/image83.wmf"/><Relationship Id="rId1" Type="http://schemas.openxmlformats.org/officeDocument/2006/relationships/vmlDrawing" Target="../drawings/vmlDrawing6.vml"/><Relationship Id="rId6" Type="http://schemas.openxmlformats.org/officeDocument/2006/relationships/image" Target="../media/image78.wmf"/><Relationship Id="rId11" Type="http://schemas.openxmlformats.org/officeDocument/2006/relationships/oleObject" Target="../embeddings/oleObject79.bin"/><Relationship Id="rId5" Type="http://schemas.openxmlformats.org/officeDocument/2006/relationships/oleObject" Target="../embeddings/oleObject76.bin"/><Relationship Id="rId15" Type="http://schemas.openxmlformats.org/officeDocument/2006/relationships/oleObject" Target="../embeddings/oleObject81.bin"/><Relationship Id="rId10" Type="http://schemas.openxmlformats.org/officeDocument/2006/relationships/image" Target="../media/image80.wmf"/><Relationship Id="rId19" Type="http://schemas.openxmlformats.org/officeDocument/2006/relationships/hyperlink" Target="http://www.ft.com/marketsdata" TargetMode="External"/><Relationship Id="rId4" Type="http://schemas.openxmlformats.org/officeDocument/2006/relationships/image" Target="../media/image77.wmf"/><Relationship Id="rId9" Type="http://schemas.openxmlformats.org/officeDocument/2006/relationships/oleObject" Target="../embeddings/oleObject78.bin"/><Relationship Id="rId14" Type="http://schemas.openxmlformats.org/officeDocument/2006/relationships/image" Target="../media/image82.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Layout" Target="../slideLayouts/slideLayout10.xml"/><Relationship Id="rId1" Type="http://schemas.openxmlformats.org/officeDocument/2006/relationships/vmlDrawing" Target="../drawings/vmlDrawing7.vml"/><Relationship Id="rId4" Type="http://schemas.openxmlformats.org/officeDocument/2006/relationships/image" Target="../media/image85.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10.xml"/><Relationship Id="rId1" Type="http://schemas.openxmlformats.org/officeDocument/2006/relationships/vmlDrawing" Target="../drawings/vmlDrawing8.vml"/><Relationship Id="rId4" Type="http://schemas.openxmlformats.org/officeDocument/2006/relationships/image" Target="../media/image86.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10.xml"/><Relationship Id="rId1" Type="http://schemas.openxmlformats.org/officeDocument/2006/relationships/vmlDrawing" Target="../drawings/vmlDrawing9.vml"/><Relationship Id="rId6" Type="http://schemas.openxmlformats.org/officeDocument/2006/relationships/image" Target="../media/image88.wmf"/><Relationship Id="rId5" Type="http://schemas.openxmlformats.org/officeDocument/2006/relationships/oleObject" Target="../embeddings/oleObject86.bin"/><Relationship Id="rId4" Type="http://schemas.openxmlformats.org/officeDocument/2006/relationships/image" Target="../media/image87.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Layout" Target="../slideLayouts/slideLayout10.xml"/><Relationship Id="rId1" Type="http://schemas.openxmlformats.org/officeDocument/2006/relationships/vmlDrawing" Target="../drawings/vmlDrawing10.vml"/><Relationship Id="rId6" Type="http://schemas.openxmlformats.org/officeDocument/2006/relationships/image" Target="../media/image90.wmf"/><Relationship Id="rId5" Type="http://schemas.openxmlformats.org/officeDocument/2006/relationships/oleObject" Target="../embeddings/oleObject88.bin"/><Relationship Id="rId4" Type="http://schemas.openxmlformats.org/officeDocument/2006/relationships/image" Target="../media/image89.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oleObject" Target="../embeddings/oleObject89.bin"/><Relationship Id="rId7" Type="http://schemas.openxmlformats.org/officeDocument/2006/relationships/oleObject" Target="../embeddings/oleObject91.bin"/><Relationship Id="rId2" Type="http://schemas.openxmlformats.org/officeDocument/2006/relationships/slideLayout" Target="../slideLayouts/slideLayout8.xml"/><Relationship Id="rId1" Type="http://schemas.openxmlformats.org/officeDocument/2006/relationships/vmlDrawing" Target="../drawings/vmlDrawing11.vml"/><Relationship Id="rId6" Type="http://schemas.openxmlformats.org/officeDocument/2006/relationships/image" Target="../media/image92.wmf"/><Relationship Id="rId5" Type="http://schemas.openxmlformats.org/officeDocument/2006/relationships/oleObject" Target="../embeddings/oleObject90.bin"/><Relationship Id="rId4" Type="http://schemas.openxmlformats.org/officeDocument/2006/relationships/image" Target="../media/image91.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Layout" Target="../slideLayouts/slideLayout8.xml"/><Relationship Id="rId1" Type="http://schemas.openxmlformats.org/officeDocument/2006/relationships/vmlDrawing" Target="../drawings/vmlDrawing12.vml"/><Relationship Id="rId6" Type="http://schemas.openxmlformats.org/officeDocument/2006/relationships/image" Target="../media/image96.wmf"/><Relationship Id="rId5" Type="http://schemas.openxmlformats.org/officeDocument/2006/relationships/oleObject" Target="../embeddings/oleObject93.bin"/><Relationship Id="rId4" Type="http://schemas.openxmlformats.org/officeDocument/2006/relationships/image" Target="../media/image95.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10.xml"/><Relationship Id="rId1" Type="http://schemas.openxmlformats.org/officeDocument/2006/relationships/vmlDrawing" Target="../drawings/vmlDrawing13.vml"/><Relationship Id="rId4" Type="http://schemas.openxmlformats.org/officeDocument/2006/relationships/image" Target="../media/image97.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8" Type="http://schemas.openxmlformats.org/officeDocument/2006/relationships/image" Target="../media/image101.wmf"/><Relationship Id="rId13" Type="http://schemas.openxmlformats.org/officeDocument/2006/relationships/oleObject" Target="../embeddings/oleObject100.bin"/><Relationship Id="rId3" Type="http://schemas.openxmlformats.org/officeDocument/2006/relationships/oleObject" Target="../embeddings/oleObject95.bin"/><Relationship Id="rId7" Type="http://schemas.openxmlformats.org/officeDocument/2006/relationships/oleObject" Target="../embeddings/oleObject97.bin"/><Relationship Id="rId12" Type="http://schemas.openxmlformats.org/officeDocument/2006/relationships/image" Target="../media/image103.wmf"/><Relationship Id="rId2" Type="http://schemas.openxmlformats.org/officeDocument/2006/relationships/slideLayout" Target="../slideLayouts/slideLayout10.xml"/><Relationship Id="rId1" Type="http://schemas.openxmlformats.org/officeDocument/2006/relationships/vmlDrawing" Target="../drawings/vmlDrawing14.vml"/><Relationship Id="rId6" Type="http://schemas.openxmlformats.org/officeDocument/2006/relationships/image" Target="../media/image100.wmf"/><Relationship Id="rId11" Type="http://schemas.openxmlformats.org/officeDocument/2006/relationships/oleObject" Target="../embeddings/oleObject99.bin"/><Relationship Id="rId5" Type="http://schemas.openxmlformats.org/officeDocument/2006/relationships/oleObject" Target="../embeddings/oleObject96.bin"/><Relationship Id="rId10" Type="http://schemas.openxmlformats.org/officeDocument/2006/relationships/image" Target="../media/image102.wmf"/><Relationship Id="rId4" Type="http://schemas.openxmlformats.org/officeDocument/2006/relationships/image" Target="../media/image99.wmf"/><Relationship Id="rId9" Type="http://schemas.openxmlformats.org/officeDocument/2006/relationships/oleObject" Target="../embeddings/oleObject98.bin"/><Relationship Id="rId14" Type="http://schemas.openxmlformats.org/officeDocument/2006/relationships/image" Target="../media/image104.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Layout" Target="../slideLayouts/slideLayout10.xml"/><Relationship Id="rId1" Type="http://schemas.openxmlformats.org/officeDocument/2006/relationships/vmlDrawing" Target="../drawings/vmlDrawing15.vml"/><Relationship Id="rId6" Type="http://schemas.openxmlformats.org/officeDocument/2006/relationships/image" Target="../media/image106.wmf"/><Relationship Id="rId5" Type="http://schemas.openxmlformats.org/officeDocument/2006/relationships/oleObject" Target="../embeddings/oleObject102.bin"/><Relationship Id="rId4" Type="http://schemas.openxmlformats.org/officeDocument/2006/relationships/image" Target="../media/image105.wmf"/></Relationships>
</file>

<file path=ppt/slides/_rels/slide36.xml.rels><?xml version="1.0" encoding="UTF-8" standalone="yes"?>
<Relationships xmlns="http://schemas.openxmlformats.org/package/2006/relationships"><Relationship Id="rId8" Type="http://schemas.openxmlformats.org/officeDocument/2006/relationships/image" Target="../media/image109.wmf"/><Relationship Id="rId3" Type="http://schemas.openxmlformats.org/officeDocument/2006/relationships/oleObject" Target="../embeddings/oleObject103.bin"/><Relationship Id="rId7" Type="http://schemas.openxmlformats.org/officeDocument/2006/relationships/oleObject" Target="../embeddings/oleObject105.bin"/><Relationship Id="rId2" Type="http://schemas.openxmlformats.org/officeDocument/2006/relationships/slideLayout" Target="../slideLayouts/slideLayout10.xml"/><Relationship Id="rId1" Type="http://schemas.openxmlformats.org/officeDocument/2006/relationships/vmlDrawing" Target="../drawings/vmlDrawing16.vml"/><Relationship Id="rId6" Type="http://schemas.openxmlformats.org/officeDocument/2006/relationships/image" Target="../media/image108.wmf"/><Relationship Id="rId5" Type="http://schemas.openxmlformats.org/officeDocument/2006/relationships/oleObject" Target="../embeddings/oleObject104.bin"/><Relationship Id="rId4" Type="http://schemas.openxmlformats.org/officeDocument/2006/relationships/image" Target="../media/image107.wmf"/></Relationships>
</file>

<file path=ppt/slides/_rels/slide37.xml.rels><?xml version="1.0" encoding="UTF-8" standalone="yes"?>
<Relationships xmlns="http://schemas.openxmlformats.org/package/2006/relationships"><Relationship Id="rId3" Type="http://schemas.openxmlformats.org/officeDocument/2006/relationships/image" Target="../media/image110.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8" Type="http://schemas.openxmlformats.org/officeDocument/2006/relationships/image" Target="../media/image113.wmf"/><Relationship Id="rId13" Type="http://schemas.openxmlformats.org/officeDocument/2006/relationships/oleObject" Target="../embeddings/oleObject111.bin"/><Relationship Id="rId3" Type="http://schemas.openxmlformats.org/officeDocument/2006/relationships/oleObject" Target="../embeddings/oleObject106.bin"/><Relationship Id="rId7" Type="http://schemas.openxmlformats.org/officeDocument/2006/relationships/oleObject" Target="../embeddings/oleObject108.bin"/><Relationship Id="rId12" Type="http://schemas.openxmlformats.org/officeDocument/2006/relationships/image" Target="../media/image115.wmf"/><Relationship Id="rId2" Type="http://schemas.openxmlformats.org/officeDocument/2006/relationships/slideLayout" Target="../slideLayouts/slideLayout3.xml"/><Relationship Id="rId1" Type="http://schemas.openxmlformats.org/officeDocument/2006/relationships/vmlDrawing" Target="../drawings/vmlDrawing17.vml"/><Relationship Id="rId6" Type="http://schemas.openxmlformats.org/officeDocument/2006/relationships/image" Target="../media/image112.wmf"/><Relationship Id="rId11" Type="http://schemas.openxmlformats.org/officeDocument/2006/relationships/oleObject" Target="../embeddings/oleObject110.bin"/><Relationship Id="rId5" Type="http://schemas.openxmlformats.org/officeDocument/2006/relationships/oleObject" Target="../embeddings/oleObject107.bin"/><Relationship Id="rId10" Type="http://schemas.openxmlformats.org/officeDocument/2006/relationships/image" Target="../media/image114.wmf"/><Relationship Id="rId4" Type="http://schemas.openxmlformats.org/officeDocument/2006/relationships/image" Target="../media/image111.wmf"/><Relationship Id="rId9" Type="http://schemas.openxmlformats.org/officeDocument/2006/relationships/oleObject" Target="../embeddings/oleObject109.bin"/><Relationship Id="rId14" Type="http://schemas.openxmlformats.org/officeDocument/2006/relationships/image" Target="../media/image116.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12.bin"/><Relationship Id="rId2" Type="http://schemas.openxmlformats.org/officeDocument/2006/relationships/slideLayout" Target="../slideLayouts/slideLayout3.xml"/><Relationship Id="rId1" Type="http://schemas.openxmlformats.org/officeDocument/2006/relationships/vmlDrawing" Target="../drawings/vmlDrawing18.vml"/><Relationship Id="rId4" Type="http://schemas.openxmlformats.org/officeDocument/2006/relationships/image" Target="../media/image117.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13.bin"/><Relationship Id="rId2" Type="http://schemas.openxmlformats.org/officeDocument/2006/relationships/slideLayout" Target="../slideLayouts/slideLayout4.xml"/><Relationship Id="rId1" Type="http://schemas.openxmlformats.org/officeDocument/2006/relationships/vmlDrawing" Target="../drawings/vmlDrawing19.vml"/><Relationship Id="rId4" Type="http://schemas.openxmlformats.org/officeDocument/2006/relationships/image" Target="../media/image118.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8" Type="http://schemas.openxmlformats.org/officeDocument/2006/relationships/image" Target="../media/image121.wmf"/><Relationship Id="rId13" Type="http://schemas.openxmlformats.org/officeDocument/2006/relationships/oleObject" Target="../embeddings/oleObject119.bin"/><Relationship Id="rId3" Type="http://schemas.openxmlformats.org/officeDocument/2006/relationships/oleObject" Target="../embeddings/oleObject114.bin"/><Relationship Id="rId7" Type="http://schemas.openxmlformats.org/officeDocument/2006/relationships/oleObject" Target="../embeddings/oleObject116.bin"/><Relationship Id="rId12" Type="http://schemas.openxmlformats.org/officeDocument/2006/relationships/image" Target="../media/image123.wmf"/><Relationship Id="rId2" Type="http://schemas.openxmlformats.org/officeDocument/2006/relationships/slideLayout" Target="../slideLayouts/slideLayout3.xml"/><Relationship Id="rId1" Type="http://schemas.openxmlformats.org/officeDocument/2006/relationships/vmlDrawing" Target="../drawings/vmlDrawing20.vml"/><Relationship Id="rId6" Type="http://schemas.openxmlformats.org/officeDocument/2006/relationships/image" Target="../media/image120.wmf"/><Relationship Id="rId11" Type="http://schemas.openxmlformats.org/officeDocument/2006/relationships/oleObject" Target="../embeddings/oleObject118.bin"/><Relationship Id="rId5" Type="http://schemas.openxmlformats.org/officeDocument/2006/relationships/oleObject" Target="../embeddings/oleObject115.bin"/><Relationship Id="rId10" Type="http://schemas.openxmlformats.org/officeDocument/2006/relationships/image" Target="../media/image122.wmf"/><Relationship Id="rId4" Type="http://schemas.openxmlformats.org/officeDocument/2006/relationships/image" Target="../media/image119.wmf"/><Relationship Id="rId9" Type="http://schemas.openxmlformats.org/officeDocument/2006/relationships/oleObject" Target="../embeddings/oleObject117.bin"/><Relationship Id="rId14" Type="http://schemas.openxmlformats.org/officeDocument/2006/relationships/image" Target="../media/image124.wmf"/></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xml"/><Relationship Id="rId1" Type="http://schemas.openxmlformats.org/officeDocument/2006/relationships/vmlDrawing" Target="../drawings/vmlDrawing21.vml"/><Relationship Id="rId6" Type="http://schemas.openxmlformats.org/officeDocument/2006/relationships/image" Target="../media/image125.wmf"/><Relationship Id="rId5" Type="http://schemas.openxmlformats.org/officeDocument/2006/relationships/oleObject" Target="../embeddings/oleObject120.bin"/><Relationship Id="rId4" Type="http://schemas.openxmlformats.org/officeDocument/2006/relationships/image" Target="../media/image126.PNG"/></Relationships>
</file>

<file path=ppt/slides/_rels/slide46.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notesSlide" Target="../notesSlides/notesSlide8.xml"/><Relationship Id="rId7" Type="http://schemas.openxmlformats.org/officeDocument/2006/relationships/oleObject" Target="../embeddings/oleObject122.bin"/><Relationship Id="rId2" Type="http://schemas.openxmlformats.org/officeDocument/2006/relationships/slideLayout" Target="../slideLayouts/slideLayout8.xml"/><Relationship Id="rId1" Type="http://schemas.openxmlformats.org/officeDocument/2006/relationships/vmlDrawing" Target="../drawings/vmlDrawing22.vml"/><Relationship Id="rId6" Type="http://schemas.openxmlformats.org/officeDocument/2006/relationships/image" Target="../media/image128.wmf"/><Relationship Id="rId5" Type="http://schemas.openxmlformats.org/officeDocument/2006/relationships/oleObject" Target="../embeddings/oleObject121.bin"/><Relationship Id="rId4" Type="http://schemas.openxmlformats.org/officeDocument/2006/relationships/image" Target="../media/image130.PNG"/></Relationships>
</file>

<file path=ppt/slides/_rels/slide49.xml.rels><?xml version="1.0" encoding="UTF-8" standalone="yes"?>
<Relationships xmlns="http://schemas.openxmlformats.org/package/2006/relationships"><Relationship Id="rId8" Type="http://schemas.openxmlformats.org/officeDocument/2006/relationships/image" Target="../media/image131.wmf"/><Relationship Id="rId3" Type="http://schemas.openxmlformats.org/officeDocument/2006/relationships/notesSlide" Target="../notesSlides/notesSlide9.xml"/><Relationship Id="rId7" Type="http://schemas.openxmlformats.org/officeDocument/2006/relationships/oleObject" Target="../embeddings/oleObject124.bin"/><Relationship Id="rId2" Type="http://schemas.openxmlformats.org/officeDocument/2006/relationships/slideLayout" Target="../slideLayouts/slideLayout10.xml"/><Relationship Id="rId1" Type="http://schemas.openxmlformats.org/officeDocument/2006/relationships/vmlDrawing" Target="../drawings/vmlDrawing23.vml"/><Relationship Id="rId6" Type="http://schemas.openxmlformats.org/officeDocument/2006/relationships/image" Target="../media/image129.wmf"/><Relationship Id="rId5" Type="http://schemas.openxmlformats.org/officeDocument/2006/relationships/oleObject" Target="../embeddings/oleObject123.bin"/><Relationship Id="rId4" Type="http://schemas.openxmlformats.org/officeDocument/2006/relationships/image" Target="../media/image13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vmlDrawing" Target="../drawings/vmlDrawing24.vml"/><Relationship Id="rId6" Type="http://schemas.openxmlformats.org/officeDocument/2006/relationships/image" Target="../media/image133.wmf"/><Relationship Id="rId5" Type="http://schemas.openxmlformats.org/officeDocument/2006/relationships/oleObject" Target="../embeddings/oleObject125.bin"/><Relationship Id="rId4" Type="http://schemas.openxmlformats.org/officeDocument/2006/relationships/image" Target="../media/image134.PNG"/></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26.bin"/><Relationship Id="rId2" Type="http://schemas.openxmlformats.org/officeDocument/2006/relationships/slideLayout" Target="../slideLayouts/slideLayout10.xml"/><Relationship Id="rId1" Type="http://schemas.openxmlformats.org/officeDocument/2006/relationships/vmlDrawing" Target="../drawings/vmlDrawing25.vml"/><Relationship Id="rId6" Type="http://schemas.openxmlformats.org/officeDocument/2006/relationships/image" Target="../media/image136.wmf"/><Relationship Id="rId5" Type="http://schemas.openxmlformats.org/officeDocument/2006/relationships/oleObject" Target="../embeddings/oleObject127.bin"/><Relationship Id="rId4" Type="http://schemas.openxmlformats.org/officeDocument/2006/relationships/image" Target="../media/image135.wmf"/></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130.bin"/><Relationship Id="rId13" Type="http://schemas.openxmlformats.org/officeDocument/2006/relationships/image" Target="../media/image141.wmf"/><Relationship Id="rId18" Type="http://schemas.openxmlformats.org/officeDocument/2006/relationships/oleObject" Target="../embeddings/oleObject135.bin"/><Relationship Id="rId3" Type="http://schemas.openxmlformats.org/officeDocument/2006/relationships/notesSlide" Target="../notesSlides/notesSlide11.xml"/><Relationship Id="rId21" Type="http://schemas.openxmlformats.org/officeDocument/2006/relationships/image" Target="../media/image145.wmf"/><Relationship Id="rId7" Type="http://schemas.openxmlformats.org/officeDocument/2006/relationships/image" Target="../media/image138.wmf"/><Relationship Id="rId12" Type="http://schemas.openxmlformats.org/officeDocument/2006/relationships/oleObject" Target="../embeddings/oleObject132.bin"/><Relationship Id="rId17" Type="http://schemas.openxmlformats.org/officeDocument/2006/relationships/image" Target="../media/image143.wmf"/><Relationship Id="rId2" Type="http://schemas.openxmlformats.org/officeDocument/2006/relationships/slideLayout" Target="../slideLayouts/slideLayout11.xml"/><Relationship Id="rId16" Type="http://schemas.openxmlformats.org/officeDocument/2006/relationships/oleObject" Target="../embeddings/oleObject134.bin"/><Relationship Id="rId20" Type="http://schemas.openxmlformats.org/officeDocument/2006/relationships/oleObject" Target="../embeddings/oleObject136.bin"/><Relationship Id="rId1" Type="http://schemas.openxmlformats.org/officeDocument/2006/relationships/vmlDrawing" Target="../drawings/vmlDrawing26.vml"/><Relationship Id="rId6" Type="http://schemas.openxmlformats.org/officeDocument/2006/relationships/oleObject" Target="../embeddings/oleObject129.bin"/><Relationship Id="rId11" Type="http://schemas.openxmlformats.org/officeDocument/2006/relationships/image" Target="../media/image140.wmf"/><Relationship Id="rId5" Type="http://schemas.openxmlformats.org/officeDocument/2006/relationships/image" Target="../media/image137.wmf"/><Relationship Id="rId15" Type="http://schemas.openxmlformats.org/officeDocument/2006/relationships/image" Target="../media/image142.wmf"/><Relationship Id="rId10" Type="http://schemas.openxmlformats.org/officeDocument/2006/relationships/oleObject" Target="../embeddings/oleObject131.bin"/><Relationship Id="rId19" Type="http://schemas.openxmlformats.org/officeDocument/2006/relationships/image" Target="../media/image144.wmf"/><Relationship Id="rId4" Type="http://schemas.openxmlformats.org/officeDocument/2006/relationships/oleObject" Target="../embeddings/oleObject128.bin"/><Relationship Id="rId9" Type="http://schemas.openxmlformats.org/officeDocument/2006/relationships/image" Target="../media/image139.wmf"/><Relationship Id="rId14" Type="http://schemas.openxmlformats.org/officeDocument/2006/relationships/oleObject" Target="../embeddings/oleObject133.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37.bin"/><Relationship Id="rId2" Type="http://schemas.openxmlformats.org/officeDocument/2006/relationships/slideLayout" Target="../slideLayouts/slideLayout4.xml"/><Relationship Id="rId1" Type="http://schemas.openxmlformats.org/officeDocument/2006/relationships/vmlDrawing" Target="../drawings/vmlDrawing27.vml"/><Relationship Id="rId4" Type="http://schemas.openxmlformats.org/officeDocument/2006/relationships/image" Target="../media/image146.w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38.bin"/><Relationship Id="rId2" Type="http://schemas.openxmlformats.org/officeDocument/2006/relationships/slideLayout" Target="../slideLayouts/slideLayout10.xml"/><Relationship Id="rId1" Type="http://schemas.openxmlformats.org/officeDocument/2006/relationships/vmlDrawing" Target="../drawings/vmlDrawing28.vml"/><Relationship Id="rId6" Type="http://schemas.openxmlformats.org/officeDocument/2006/relationships/image" Target="../media/image149.wmf"/><Relationship Id="rId5" Type="http://schemas.openxmlformats.org/officeDocument/2006/relationships/oleObject" Target="../embeddings/oleObject139.bin"/><Relationship Id="rId4" Type="http://schemas.openxmlformats.org/officeDocument/2006/relationships/image" Target="../media/image148.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5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xmlns="" val="1"/>
              </a:ext>
            </a:extLst>
          </p:cNvPr>
          <p:cNvSpPr>
            <a:spLocks noGrp="1"/>
          </p:cNvSpPr>
          <p:nvPr>
            <p:ph type="title"/>
          </p:nvPr>
        </p:nvSpPr>
        <p:spPr>
          <a:xfrm>
            <a:off x="457199" y="143692"/>
            <a:ext cx="8229601" cy="987333"/>
          </a:xfrm>
        </p:spPr>
        <p:txBody>
          <a:bodyPr anchor="ctr"/>
          <a:lstStyle/>
          <a:p>
            <a:r>
              <a:rPr lang="en-US" sz="320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xmlns="" val="1"/>
              </a:ext>
            </a:extLst>
          </p:cNvPr>
          <p:cNvSpPr>
            <a:spLocks noGrp="1"/>
          </p:cNvSpPr>
          <p:nvPr>
            <p:ph type="body" idx="1"/>
          </p:nvPr>
        </p:nvSpPr>
        <p:spPr>
          <a:xfrm>
            <a:off x="457200" y="1212419"/>
            <a:ext cx="8229600" cy="413524"/>
          </a:xfrm>
        </p:spPr>
        <p:txBody>
          <a:bodyPr anchor="ctr"/>
          <a:lstStyle/>
          <a:p>
            <a:r>
              <a:rPr lang="en-US"/>
              <a:t>Twelfth</a:t>
            </a:r>
            <a:r>
              <a:rPr lang="en-US">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xmlns="" val="1"/>
              </a:ext>
            </a:extLst>
          </p:cNvPr>
          <p:cNvSpPr>
            <a:spLocks noGrp="1"/>
          </p:cNvSpPr>
          <p:nvPr>
            <p:ph sz="quarter" idx="14"/>
          </p:nvPr>
        </p:nvSpPr>
        <p:spPr>
          <a:xfrm>
            <a:off x="5029200" y="1906104"/>
            <a:ext cx="3657600" cy="1186345"/>
          </a:xfrm>
        </p:spPr>
        <p:txBody>
          <a:bodyPr/>
          <a:lstStyle/>
          <a:p>
            <a:pPr marL="0" algn="ctr"/>
            <a:r>
              <a:rPr lang="en-US" b="1">
                <a:latin typeface="+mn-lt"/>
              </a:rPr>
              <a:t>Chapter 14</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xmlns="" val="1"/>
              </a:ext>
            </a:extLst>
          </p:cNvPr>
          <p:cNvSpPr>
            <a:spLocks noGrp="1"/>
          </p:cNvSpPr>
          <p:nvPr>
            <p:ph sz="quarter" idx="15"/>
          </p:nvPr>
        </p:nvSpPr>
        <p:spPr>
          <a:xfrm>
            <a:off x="5029200" y="3252789"/>
            <a:ext cx="3657600" cy="1201019"/>
          </a:xfrm>
        </p:spPr>
        <p:txBody>
          <a:bodyPr/>
          <a:lstStyle/>
          <a:p>
            <a:r>
              <a:rPr lang="en-US" altLang="en-US"/>
              <a:t>Exchange Rates and the Foreign Exchange Market: An Asset Approach</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xmlns="" val="1"/>
              </a:ext>
            </a:extLst>
          </p:cNvPr>
          <p:cNvSpPr>
            <a:spLocks noGrp="1"/>
          </p:cNvSpPr>
          <p:nvPr>
            <p:ph sz="quarter" idx="17"/>
          </p:nvPr>
        </p:nvSpPr>
        <p:spPr>
          <a:xfrm>
            <a:off x="2173000" y="6415232"/>
            <a:ext cx="6589712" cy="228600"/>
          </a:xfrm>
        </p:spPr>
        <p:txBody>
          <a:bodyPr/>
          <a:lstStyle/>
          <a:p>
            <a:pPr marL="0" indent="0"/>
            <a:r>
              <a:rPr lang="en-US" altLang="en-US" sz="1200" b="0">
                <a:latin typeface="Verdana"/>
                <a:ea typeface="Verdana" panose="020B0604030504040204" pitchFamily="34" charset="0"/>
                <a:cs typeface="Verdana" panose="020B0604030504040204" pitchFamily="34" charset="0"/>
              </a:rPr>
              <a:t>Copyright © </a:t>
            </a:r>
            <a:r>
              <a:rPr lang="en-US"/>
              <a:t>2022, 2018, 2015 </a:t>
            </a:r>
            <a:r>
              <a:rPr lang="en-US" altLang="en-US" sz="1200" b="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Verdana" panose="020B0604030504040204" pitchFamily="34" charset="0"/>
              </a:rPr>
              <a:t>Learning Objectives</a:t>
            </a:r>
            <a:endParaRPr lang="en-IN" dirty="0"/>
          </a:p>
        </p:txBody>
      </p:sp>
      <p:sp>
        <p:nvSpPr>
          <p:cNvPr id="4" name="Content Placeholder 3"/>
          <p:cNvSpPr>
            <a:spLocks noGrp="1"/>
          </p:cNvSpPr>
          <p:nvPr>
            <p:ph sz="quarter" idx="13"/>
          </p:nvPr>
        </p:nvSpPr>
        <p:spPr/>
        <p:txBody>
          <a:bodyPr/>
          <a:lstStyle/>
          <a:p>
            <a:pPr marL="432" indent="0">
              <a:buNone/>
            </a:pPr>
            <a:r>
              <a:rPr lang="en-US" b="1" dirty="0">
                <a:solidFill>
                  <a:srgbClr val="007FA3"/>
                </a:solidFill>
                <a:latin typeface="Arial (Body)"/>
                <a:ea typeface="Verdana" panose="020B0604030504040204" pitchFamily="34" charset="0"/>
                <a:cs typeface="Verdana" panose="020B0604030504040204" pitchFamily="34" charset="0"/>
              </a:rPr>
              <a:t>14.1</a:t>
            </a:r>
            <a:r>
              <a:rPr lang="en-US" dirty="0">
                <a:latin typeface="Arial (Body)"/>
                <a:ea typeface="Verdana" panose="020B0604030504040204" pitchFamily="34" charset="0"/>
                <a:cs typeface="Verdana" panose="020B0604030504040204" pitchFamily="34" charset="0"/>
              </a:rPr>
              <a:t> </a:t>
            </a:r>
            <a:r>
              <a:rPr lang="en-US" dirty="0">
                <a:latin typeface="Arial (Body)"/>
              </a:rPr>
              <a:t>Relate exchange rate changes to changes in the relative prices of countries’ exports.</a:t>
            </a:r>
          </a:p>
          <a:p>
            <a:pPr marL="432" indent="0">
              <a:buNone/>
            </a:pPr>
            <a:r>
              <a:rPr lang="en-US" b="1" dirty="0">
                <a:solidFill>
                  <a:srgbClr val="007FA3"/>
                </a:solidFill>
                <a:latin typeface="Arial (Body)"/>
                <a:ea typeface="Verdana" panose="020B0604030504040204" pitchFamily="34" charset="0"/>
                <a:cs typeface="Verdana" panose="020B0604030504040204" pitchFamily="34" charset="0"/>
              </a:rPr>
              <a:t>14.2 </a:t>
            </a:r>
            <a:r>
              <a:rPr lang="en-US" dirty="0">
                <a:latin typeface="Arial (Body)"/>
              </a:rPr>
              <a:t>Describe the structure and functions of the foreign exchange market.</a:t>
            </a:r>
          </a:p>
          <a:p>
            <a:pPr marL="432" indent="0">
              <a:buNone/>
            </a:pPr>
            <a:r>
              <a:rPr lang="en-US" b="1" dirty="0">
                <a:solidFill>
                  <a:srgbClr val="007FA3"/>
                </a:solidFill>
                <a:latin typeface="Arial (Body)"/>
                <a:ea typeface="Verdana" panose="020B0604030504040204" pitchFamily="34" charset="0"/>
                <a:cs typeface="Verdana" panose="020B0604030504040204" pitchFamily="34" charset="0"/>
              </a:rPr>
              <a:t>14.3</a:t>
            </a:r>
            <a:r>
              <a:rPr lang="en-US" b="1" dirty="0">
                <a:solidFill>
                  <a:schemeClr val="accent1"/>
                </a:solidFill>
                <a:latin typeface="Arial (Body)"/>
                <a:ea typeface="Verdana" panose="020B0604030504040204" pitchFamily="34" charset="0"/>
                <a:cs typeface="Verdana" panose="020B0604030504040204" pitchFamily="34" charset="0"/>
              </a:rPr>
              <a:t> </a:t>
            </a:r>
            <a:r>
              <a:rPr lang="en-US" dirty="0">
                <a:latin typeface="Arial (Body)"/>
              </a:rPr>
              <a:t>Use exchange rates to calculate and compare returns on assets denominated in different currencies.</a:t>
            </a:r>
          </a:p>
          <a:p>
            <a:pPr marL="432" indent="0">
              <a:buNone/>
            </a:pPr>
            <a:r>
              <a:rPr lang="en-US" b="1" dirty="0">
                <a:solidFill>
                  <a:srgbClr val="007FA3"/>
                </a:solidFill>
                <a:latin typeface="Arial (Body)"/>
                <a:ea typeface="Verdana" panose="020B0604030504040204" pitchFamily="34" charset="0"/>
                <a:cs typeface="Verdana" panose="020B0604030504040204" pitchFamily="34" charset="0"/>
              </a:rPr>
              <a:t>14.4</a:t>
            </a:r>
            <a:r>
              <a:rPr lang="en-US" b="1" dirty="0">
                <a:solidFill>
                  <a:schemeClr val="accent1"/>
                </a:solidFill>
                <a:latin typeface="Arial (Body)"/>
                <a:ea typeface="Verdana" panose="020B0604030504040204" pitchFamily="34" charset="0"/>
                <a:cs typeface="Verdana" panose="020B0604030504040204" pitchFamily="34" charset="0"/>
              </a:rPr>
              <a:t> </a:t>
            </a:r>
            <a:r>
              <a:rPr lang="en-US" dirty="0">
                <a:latin typeface="Arial (Body)"/>
              </a:rPr>
              <a:t>Apply the interest parity condition to find equilibrium exchange rates.</a:t>
            </a:r>
          </a:p>
          <a:p>
            <a:pPr marL="432" indent="0">
              <a:buNone/>
            </a:pPr>
            <a:r>
              <a:rPr lang="en-US" b="1" dirty="0">
                <a:solidFill>
                  <a:srgbClr val="007FA3"/>
                </a:solidFill>
                <a:latin typeface="Arial (Body)"/>
                <a:ea typeface="Verdana" panose="020B0604030504040204" pitchFamily="34" charset="0"/>
                <a:cs typeface="Verdana" panose="020B0604030504040204" pitchFamily="34" charset="0"/>
              </a:rPr>
              <a:t>14.5</a:t>
            </a:r>
            <a:r>
              <a:rPr lang="en-US" dirty="0">
                <a:latin typeface="Arial (Body)"/>
              </a:rPr>
              <a:t> Find the effects of interest rates and expectation shifts on exchange rates.</a:t>
            </a: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SimSun-ExtB" panose="02010609060101010101" pitchFamily="49" charset="-122"/>
              </a:rPr>
              <a:t>Preview</a:t>
            </a:r>
            <a:endParaRPr lang="en-IN" dirty="0">
              <a:ea typeface="SimSun-ExtB" panose="02010609060101010101" pitchFamily="49" charset="-122"/>
            </a:endParaRPr>
          </a:p>
        </p:txBody>
      </p:sp>
      <p:sp>
        <p:nvSpPr>
          <p:cNvPr id="3" name="Content Placeholder 2"/>
          <p:cNvSpPr>
            <a:spLocks noGrp="1"/>
          </p:cNvSpPr>
          <p:nvPr>
            <p:ph sz="quarter" idx="13"/>
          </p:nvPr>
        </p:nvSpPr>
        <p:spPr/>
        <p:txBody>
          <a:bodyPr/>
          <a:lstStyle/>
          <a:p>
            <a:pPr eaLnBrk="1" hangingPunct="1"/>
            <a:r>
              <a:rPr lang="en-US" altLang="en-US" dirty="0">
                <a:latin typeface="Arial (Body)"/>
              </a:rPr>
              <a:t>The basics of exchange rates</a:t>
            </a:r>
          </a:p>
          <a:p>
            <a:pPr eaLnBrk="1" hangingPunct="1"/>
            <a:r>
              <a:rPr lang="en-US" altLang="en-US" dirty="0">
                <a:latin typeface="Arial (Body)"/>
              </a:rPr>
              <a:t>Exchange rates and international relative prices</a:t>
            </a:r>
          </a:p>
          <a:p>
            <a:pPr eaLnBrk="1" hangingPunct="1"/>
            <a:r>
              <a:rPr lang="en-US" altLang="en-US" dirty="0">
                <a:latin typeface="Arial (Body)"/>
              </a:rPr>
              <a:t>Demand and equilibrium in the foreign exchange market</a:t>
            </a:r>
          </a:p>
          <a:p>
            <a:pPr eaLnBrk="1" hangingPunct="1"/>
            <a:r>
              <a:rPr lang="en-US" altLang="en-US" dirty="0">
                <a:latin typeface="Arial (Body)"/>
              </a:rPr>
              <a:t>The demand of currency and other assets</a:t>
            </a:r>
          </a:p>
          <a:p>
            <a:pPr eaLnBrk="1" hangingPunct="1"/>
            <a:r>
              <a:rPr lang="en-US" altLang="en-US" dirty="0">
                <a:latin typeface="Arial (Body)"/>
              </a:rPr>
              <a:t>A model of foreign exchange markets</a:t>
            </a:r>
          </a:p>
          <a:p>
            <a:pPr lvl="1" eaLnBrk="1" hangingPunct="1"/>
            <a:r>
              <a:rPr lang="en-US" altLang="en-US" dirty="0">
                <a:latin typeface="Arial (Body)"/>
              </a:rPr>
              <a:t>role of interest rates on currency deposits/bonds</a:t>
            </a:r>
          </a:p>
          <a:p>
            <a:pPr lvl="1" eaLnBrk="1" hangingPunct="1"/>
            <a:r>
              <a:rPr lang="en-US" altLang="en-US" dirty="0">
                <a:latin typeface="Arial (Body)"/>
              </a:rPr>
              <a:t>role of expectations of exchange rates</a:t>
            </a:r>
          </a:p>
          <a:p>
            <a:pPr lvl="1" eaLnBrk="1" hangingPunct="1"/>
            <a:r>
              <a:rPr lang="en-US" altLang="en-US" dirty="0">
                <a:latin typeface="Arial (Body)"/>
              </a:rPr>
              <a:t>forward exchange rates and covered interest parity</a:t>
            </a:r>
          </a:p>
        </p:txBody>
      </p:sp>
    </p:spTree>
    <p:extLst>
      <p:ext uri="{BB962C8B-B14F-4D97-AF65-F5344CB8AC3E}">
        <p14:creationId xmlns:p14="http://schemas.microsoft.com/office/powerpoint/2010/main" val="1342669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Definitions of Exchange Rates</a:t>
            </a:r>
            <a:endParaRPr lang="en-IN" dirty="0"/>
          </a:p>
        </p:txBody>
      </p:sp>
      <p:sp>
        <p:nvSpPr>
          <p:cNvPr id="5" name="Content Placeholder 4"/>
          <p:cNvSpPr>
            <a:spLocks noGrp="1"/>
          </p:cNvSpPr>
          <p:nvPr>
            <p:ph sz="quarter" idx="13"/>
          </p:nvPr>
        </p:nvSpPr>
        <p:spPr>
          <a:xfrm>
            <a:off x="457200" y="1552575"/>
            <a:ext cx="8229600" cy="1452564"/>
          </a:xfrm>
        </p:spPr>
        <p:txBody>
          <a:bodyPr lIns="0" tIns="0" rIns="0" bIns="0"/>
          <a:lstStyle/>
          <a:p>
            <a:r>
              <a:rPr lang="en-US" altLang="en-US" sz="2200" dirty="0">
                <a:latin typeface="Arial (Body)"/>
              </a:rPr>
              <a:t>Exchange rates are quoted as foreign currency per unit of domestic currency or domestic currency per unit of foreign currency.</a:t>
            </a:r>
          </a:p>
          <a:p>
            <a:pPr lvl="1"/>
            <a:r>
              <a:rPr lang="en-US" altLang="en-US" sz="2200" dirty="0">
                <a:latin typeface="Arial (Body)"/>
              </a:rPr>
              <a:t>How much can be exchanged for one dollar?</a:t>
            </a:r>
            <a:endParaRPr lang="en-US" sz="2200" dirty="0"/>
          </a:p>
        </p:txBody>
      </p:sp>
      <p:sp>
        <p:nvSpPr>
          <p:cNvPr id="6" name="Content Placeholder 5"/>
          <p:cNvSpPr>
            <a:spLocks noGrp="1"/>
          </p:cNvSpPr>
          <p:nvPr>
            <p:ph sz="quarter" idx="14"/>
          </p:nvPr>
        </p:nvSpPr>
        <p:spPr>
          <a:xfrm>
            <a:off x="457201" y="3195833"/>
            <a:ext cx="6248400" cy="395200"/>
          </a:xfrm>
        </p:spPr>
        <p:txBody>
          <a:bodyPr lIns="0" tIns="0" rIns="0" bIns="0"/>
          <a:lstStyle/>
          <a:p>
            <a:pPr lvl="1"/>
            <a:r>
              <a:rPr lang="en-US" altLang="en-US" sz="2200" dirty="0">
                <a:latin typeface="Arial (Body)"/>
              </a:rPr>
              <a:t>How much can be exchanged for one yen?</a:t>
            </a:r>
          </a:p>
        </p:txBody>
      </p:sp>
      <p:graphicFrame>
        <p:nvGraphicFramePr>
          <p:cNvPr id="19" name="Object 18" descr="Start fraction $0.01027 over yen end fraction"/>
          <p:cNvGraphicFramePr>
            <a:graphicFrameLocks noChangeAspect="1"/>
          </p:cNvGraphicFramePr>
          <p:nvPr>
            <p:extLst>
              <p:ext uri="{D42A27DB-BD31-4B8C-83A1-F6EECF244321}">
                <p14:modId xmlns:p14="http://schemas.microsoft.com/office/powerpoint/2010/main" val="843837914"/>
              </p:ext>
            </p:extLst>
          </p:nvPr>
        </p:nvGraphicFramePr>
        <p:xfrm>
          <a:off x="6748101" y="3074622"/>
          <a:ext cx="1145395" cy="634059"/>
        </p:xfrm>
        <a:graphic>
          <a:graphicData uri="http://schemas.openxmlformats.org/presentationml/2006/ole">
            <mc:AlternateContent xmlns:mc="http://schemas.openxmlformats.org/markup-compatibility/2006">
              <mc:Choice xmlns:v="urn:schemas-microsoft-com:vml" Requires="v">
                <p:oleObj spid="_x0000_s1041" name="Equation" r:id="rId3" imgW="711000" imgH="393480" progId="Equation.DSMT4">
                  <p:embed/>
                </p:oleObj>
              </mc:Choice>
              <mc:Fallback>
                <p:oleObj name="Equation" r:id="rId3" imgW="711000" imgH="393480" progId="Equation.DSMT4">
                  <p:embed/>
                  <p:pic>
                    <p:nvPicPr>
                      <p:cNvPr id="0" name=""/>
                      <p:cNvPicPr/>
                      <p:nvPr/>
                    </p:nvPicPr>
                    <p:blipFill>
                      <a:blip r:embed="rId4"/>
                      <a:stretch>
                        <a:fillRect/>
                      </a:stretch>
                    </p:blipFill>
                    <p:spPr>
                      <a:xfrm>
                        <a:off x="6748101" y="3074622"/>
                        <a:ext cx="1145395" cy="634059"/>
                      </a:xfrm>
                      <a:prstGeom prst="rect">
                        <a:avLst/>
                      </a:prstGeom>
                    </p:spPr>
                  </p:pic>
                </p:oleObj>
              </mc:Fallback>
            </mc:AlternateContent>
          </a:graphicData>
        </a:graphic>
      </p:graphicFrame>
      <p:sp>
        <p:nvSpPr>
          <p:cNvPr id="7" name="Content Placeholder 6"/>
          <p:cNvSpPr>
            <a:spLocks noGrp="1"/>
          </p:cNvSpPr>
          <p:nvPr>
            <p:ph sz="quarter" idx="15"/>
          </p:nvPr>
        </p:nvSpPr>
        <p:spPr>
          <a:xfrm>
            <a:off x="457200" y="3804019"/>
            <a:ext cx="8229600" cy="734208"/>
          </a:xfrm>
        </p:spPr>
        <p:txBody>
          <a:bodyPr lIns="0" tIns="0" rIns="0" bIns="0"/>
          <a:lstStyle/>
          <a:p>
            <a:r>
              <a:rPr lang="en-US" altLang="en-US" sz="2200" dirty="0">
                <a:latin typeface="Arial (Body)"/>
              </a:rPr>
              <a:t>Exchange rates allow us to denominate the cost or price of a good or service in a common currency. </a:t>
            </a:r>
          </a:p>
        </p:txBody>
      </p:sp>
      <p:sp>
        <p:nvSpPr>
          <p:cNvPr id="8" name="Content Placeholder 7"/>
          <p:cNvSpPr>
            <a:spLocks noGrp="1"/>
          </p:cNvSpPr>
          <p:nvPr>
            <p:ph sz="quarter" idx="16"/>
          </p:nvPr>
        </p:nvSpPr>
        <p:spPr>
          <a:xfrm>
            <a:off x="457201" y="4632009"/>
            <a:ext cx="4800600" cy="374258"/>
          </a:xfrm>
        </p:spPr>
        <p:txBody>
          <a:bodyPr lIns="0" tIns="0" rIns="0" bIns="0"/>
          <a:lstStyle/>
          <a:p>
            <a:pPr lvl="1"/>
            <a:r>
              <a:rPr lang="en-US" altLang="en-US" sz="2200" dirty="0">
                <a:latin typeface="Arial (Body)"/>
              </a:rPr>
              <a:t>How much does a Nissan cost?</a:t>
            </a:r>
            <a:endParaRPr lang="en-IN" sz="2200" dirty="0"/>
          </a:p>
        </p:txBody>
      </p:sp>
      <p:graphicFrame>
        <p:nvGraphicFramePr>
          <p:cNvPr id="20" name="Object 19" descr="2,500,000 Yen"/>
          <p:cNvGraphicFramePr>
            <a:graphicFrameLocks noChangeAspect="1"/>
          </p:cNvGraphicFramePr>
          <p:nvPr>
            <p:extLst>
              <p:ext uri="{D42A27DB-BD31-4B8C-83A1-F6EECF244321}">
                <p14:modId xmlns:p14="http://schemas.microsoft.com/office/powerpoint/2010/main" val="3797259315"/>
              </p:ext>
            </p:extLst>
          </p:nvPr>
        </p:nvGraphicFramePr>
        <p:xfrm>
          <a:off x="5353939" y="4685115"/>
          <a:ext cx="1349929" cy="306803"/>
        </p:xfrm>
        <a:graphic>
          <a:graphicData uri="http://schemas.openxmlformats.org/presentationml/2006/ole">
            <mc:AlternateContent xmlns:mc="http://schemas.openxmlformats.org/markup-compatibility/2006">
              <mc:Choice xmlns:v="urn:schemas-microsoft-com:vml" Requires="v">
                <p:oleObj spid="_x0000_s1042" name="Equation" r:id="rId5" imgW="838080" imgH="190440" progId="Equation.DSMT4">
                  <p:embed/>
                </p:oleObj>
              </mc:Choice>
              <mc:Fallback>
                <p:oleObj name="Equation" r:id="rId5" imgW="838080" imgH="190440" progId="Equation.DSMT4">
                  <p:embed/>
                  <p:pic>
                    <p:nvPicPr>
                      <p:cNvPr id="0" name=""/>
                      <p:cNvPicPr/>
                      <p:nvPr/>
                    </p:nvPicPr>
                    <p:blipFill>
                      <a:blip r:embed="rId6"/>
                      <a:stretch>
                        <a:fillRect/>
                      </a:stretch>
                    </p:blipFill>
                    <p:spPr>
                      <a:xfrm>
                        <a:off x="5353939" y="4685115"/>
                        <a:ext cx="1349929" cy="306803"/>
                      </a:xfrm>
                      <a:prstGeom prst="rect">
                        <a:avLst/>
                      </a:prstGeom>
                    </p:spPr>
                  </p:pic>
                </p:oleObj>
              </mc:Fallback>
            </mc:AlternateContent>
          </a:graphicData>
        </a:graphic>
      </p:graphicFrame>
      <p:sp>
        <p:nvSpPr>
          <p:cNvPr id="9" name="Content Placeholder 8"/>
          <p:cNvSpPr>
            <a:spLocks noGrp="1"/>
          </p:cNvSpPr>
          <p:nvPr>
            <p:ph sz="quarter" idx="17"/>
          </p:nvPr>
        </p:nvSpPr>
        <p:spPr>
          <a:xfrm>
            <a:off x="457201" y="5164455"/>
            <a:ext cx="1247774" cy="382270"/>
          </a:xfrm>
        </p:spPr>
        <p:txBody>
          <a:bodyPr lIns="0" tIns="0" rIns="0" bIns="0"/>
          <a:lstStyle/>
          <a:p>
            <a:pPr lvl="1"/>
            <a:r>
              <a:rPr lang="en-US" altLang="en-US" sz="2200" dirty="0">
                <a:latin typeface="Arial (Body)"/>
              </a:rPr>
              <a:t>Or,</a:t>
            </a:r>
          </a:p>
        </p:txBody>
      </p:sp>
      <p:graphicFrame>
        <p:nvGraphicFramePr>
          <p:cNvPr id="21" name="Object 20" descr="Start fraction 2,500,000 yen times $0.01027 over yen end fraction = $25,672.50"/>
          <p:cNvGraphicFramePr>
            <a:graphicFrameLocks noChangeAspect="1"/>
          </p:cNvGraphicFramePr>
          <p:nvPr>
            <p:extLst>
              <p:ext uri="{D42A27DB-BD31-4B8C-83A1-F6EECF244321}">
                <p14:modId xmlns:p14="http://schemas.microsoft.com/office/powerpoint/2010/main" val="3745431919"/>
              </p:ext>
            </p:extLst>
          </p:nvPr>
        </p:nvGraphicFramePr>
        <p:xfrm>
          <a:off x="1963554" y="5164455"/>
          <a:ext cx="4476750" cy="698500"/>
        </p:xfrm>
        <a:graphic>
          <a:graphicData uri="http://schemas.openxmlformats.org/presentationml/2006/ole">
            <mc:AlternateContent xmlns:mc="http://schemas.openxmlformats.org/markup-compatibility/2006">
              <mc:Choice xmlns:v="urn:schemas-microsoft-com:vml" Requires="v">
                <p:oleObj spid="_x0000_s1043" name="Equation" r:id="rId7" imgW="2527200" imgH="393480" progId="Equation.DSMT4">
                  <p:embed/>
                </p:oleObj>
              </mc:Choice>
              <mc:Fallback>
                <p:oleObj name="Equation" r:id="rId7" imgW="2527200" imgH="393480" progId="Equation.DSMT4">
                  <p:embed/>
                  <p:pic>
                    <p:nvPicPr>
                      <p:cNvPr id="0" name=""/>
                      <p:cNvPicPr/>
                      <p:nvPr/>
                    </p:nvPicPr>
                    <p:blipFill>
                      <a:blip r:embed="rId8"/>
                      <a:stretch>
                        <a:fillRect/>
                      </a:stretch>
                    </p:blipFill>
                    <p:spPr>
                      <a:xfrm>
                        <a:off x="1963554" y="5164455"/>
                        <a:ext cx="4476750" cy="698500"/>
                      </a:xfrm>
                      <a:prstGeom prst="rect">
                        <a:avLst/>
                      </a:prstGeom>
                    </p:spPr>
                  </p:pic>
                </p:oleObj>
              </mc:Fallback>
            </mc:AlternateContent>
          </a:graphicData>
        </a:graphic>
      </p:graphicFrame>
    </p:spTree>
    <p:extLst>
      <p:ext uri="{BB962C8B-B14F-4D97-AF65-F5344CB8AC3E}">
        <p14:creationId xmlns:p14="http://schemas.microsoft.com/office/powerpoint/2010/main" val="2036938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smtClean="0"/>
              <a:t>Table 14.1 Exchange Rate Quotations </a:t>
            </a:r>
            <a:r>
              <a:rPr lang="en-US" altLang="en-US" sz="2000" b="0" dirty="0" smtClean="0"/>
              <a:t>(1 of 5)</a:t>
            </a:r>
            <a:endParaRPr lang="en-US" dirty="0"/>
          </a:p>
        </p:txBody>
      </p:sp>
      <p:sp>
        <p:nvSpPr>
          <p:cNvPr id="4" name="Content Placeholder 3"/>
          <p:cNvSpPr>
            <a:spLocks noGrp="1"/>
          </p:cNvSpPr>
          <p:nvPr>
            <p:ph sz="quarter" idx="13"/>
          </p:nvPr>
        </p:nvSpPr>
        <p:spPr>
          <a:xfrm>
            <a:off x="457200" y="1556327"/>
            <a:ext cx="1487714" cy="301502"/>
          </a:xfrm>
        </p:spPr>
        <p:txBody>
          <a:bodyPr lIns="0" tIns="0" rIns="0" bIns="0"/>
          <a:lstStyle/>
          <a:p>
            <a:pPr marL="432" indent="0">
              <a:buNone/>
            </a:pPr>
            <a:r>
              <a:rPr lang="en-US" sz="1600" b="1" dirty="0" smtClean="0">
                <a:latin typeface="Arial (Body)"/>
              </a:rPr>
              <a:t>Currencies</a:t>
            </a:r>
            <a:endParaRPr lang="en-US" sz="1600" dirty="0"/>
          </a:p>
        </p:txBody>
      </p:sp>
      <p:graphicFrame>
        <p:nvGraphicFramePr>
          <p:cNvPr id="6" name="Content Placeholder 5"/>
          <p:cNvGraphicFramePr>
            <a:graphicFrameLocks noGrp="1"/>
          </p:cNvGraphicFramePr>
          <p:nvPr>
            <p:ph sz="quarter" idx="14"/>
            <p:extLst>
              <p:ext uri="{D42A27DB-BD31-4B8C-83A1-F6EECF244321}">
                <p14:modId xmlns:p14="http://schemas.microsoft.com/office/powerpoint/2010/main" val="3416962065"/>
              </p:ext>
            </p:extLst>
          </p:nvPr>
        </p:nvGraphicFramePr>
        <p:xfrm>
          <a:off x="457199" y="2012496"/>
          <a:ext cx="8181728" cy="4014720"/>
        </p:xfrm>
        <a:graphic>
          <a:graphicData uri="http://schemas.openxmlformats.org/drawingml/2006/table">
            <a:tbl>
              <a:tblPr firstRow="1" bandRow="1">
                <a:tableStyleId>{40F9630F-82C1-40B7-BC3A-925EFCFF5E92}</a:tableStyleId>
              </a:tblPr>
              <a:tblGrid>
                <a:gridCol w="1079058">
                  <a:extLst>
                    <a:ext uri="{9D8B030D-6E8A-4147-A177-3AD203B41FA5}">
                      <a16:colId xmlns:a16="http://schemas.microsoft.com/office/drawing/2014/main" val="2158364159"/>
                    </a:ext>
                  </a:extLst>
                </a:gridCol>
                <a:gridCol w="1277505">
                  <a:extLst>
                    <a:ext uri="{9D8B030D-6E8A-4147-A177-3AD203B41FA5}">
                      <a16:colId xmlns:a16="http://schemas.microsoft.com/office/drawing/2014/main" val="3854539076"/>
                    </a:ext>
                  </a:extLst>
                </a:gridCol>
                <a:gridCol w="986046">
                  <a:extLst>
                    <a:ext uri="{9D8B030D-6E8A-4147-A177-3AD203B41FA5}">
                      <a16:colId xmlns:a16="http://schemas.microsoft.com/office/drawing/2014/main" val="329971916"/>
                    </a:ext>
                  </a:extLst>
                </a:gridCol>
                <a:gridCol w="1000548">
                  <a:extLst>
                    <a:ext uri="{9D8B030D-6E8A-4147-A177-3AD203B41FA5}">
                      <a16:colId xmlns:a16="http://schemas.microsoft.com/office/drawing/2014/main" val="490364007"/>
                    </a:ext>
                  </a:extLst>
                </a:gridCol>
                <a:gridCol w="908404">
                  <a:extLst>
                    <a:ext uri="{9D8B030D-6E8A-4147-A177-3AD203B41FA5}">
                      <a16:colId xmlns:a16="http://schemas.microsoft.com/office/drawing/2014/main" val="113416755"/>
                    </a:ext>
                  </a:extLst>
                </a:gridCol>
                <a:gridCol w="1044995">
                  <a:extLst>
                    <a:ext uri="{9D8B030D-6E8A-4147-A177-3AD203B41FA5}">
                      <a16:colId xmlns:a16="http://schemas.microsoft.com/office/drawing/2014/main" val="3760073308"/>
                    </a:ext>
                  </a:extLst>
                </a:gridCol>
                <a:gridCol w="946116">
                  <a:extLst>
                    <a:ext uri="{9D8B030D-6E8A-4147-A177-3AD203B41FA5}">
                      <a16:colId xmlns:a16="http://schemas.microsoft.com/office/drawing/2014/main" val="889847359"/>
                    </a:ext>
                  </a:extLst>
                </a:gridCol>
                <a:gridCol w="939056">
                  <a:extLst>
                    <a:ext uri="{9D8B030D-6E8A-4147-A177-3AD203B41FA5}">
                      <a16:colId xmlns:a16="http://schemas.microsoft.com/office/drawing/2014/main" val="2970760308"/>
                    </a:ext>
                  </a:extLst>
                </a:gridCol>
              </a:tblGrid>
              <a:tr h="2795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noProof="0" dirty="0">
                          <a:latin typeface="+mn-lt"/>
                          <a:cs typeface="Arial" panose="020B0604020202020204" pitchFamily="34" charset="0"/>
                        </a:rPr>
                        <a:t>Jun</a:t>
                      </a:r>
                      <a:r>
                        <a:rPr lang="en-US" sz="1200" b="0" baseline="0" noProof="0" dirty="0">
                          <a:latin typeface="+mn-lt"/>
                          <a:cs typeface="Arial" panose="020B0604020202020204" pitchFamily="34" charset="0"/>
                        </a:rPr>
                        <a:t> 3</a:t>
                      </a:r>
                      <a:endParaRPr lang="en-US" sz="1200" b="0" noProof="0" dirty="0">
                        <a:latin typeface="+mn-lt"/>
                        <a:cs typeface="Arial" panose="020B0604020202020204" pitchFamily="34"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0" noProof="0" dirty="0">
                          <a:latin typeface="+mn-lt"/>
                          <a:cs typeface="Arial" panose="020B0604020202020204" pitchFamily="34" charset="0"/>
                        </a:rPr>
                        <a:t>Currency</a:t>
                      </a:r>
                      <a:endParaRPr lang="en-US" sz="1200" noProof="0" dirty="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a:latin typeface="+mn-lt"/>
                          <a:cs typeface="Arial" panose="020B0604020202020204" pitchFamily="34" charset="0"/>
                        </a:rPr>
                        <a:t>DOLLAR</a:t>
                      </a:r>
                    </a:p>
                    <a:p>
                      <a:pPr algn="ctr"/>
                      <a:r>
                        <a:rPr lang="en-US" sz="1200" b="0" noProof="0">
                          <a:latin typeface="+mn-lt"/>
                          <a:cs typeface="Arial" panose="020B0604020202020204" pitchFamily="34" charset="0"/>
                        </a:rPr>
                        <a:t>Closing</a:t>
                      </a:r>
                      <a:r>
                        <a:rPr lang="en-US" sz="1200" b="0" baseline="0" noProof="0">
                          <a:latin typeface="+mn-lt"/>
                          <a:cs typeface="Arial" panose="020B0604020202020204" pitchFamily="34" charset="0"/>
                        </a:rPr>
                        <a:t> Mid</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Arial" panose="020B0604020202020204" pitchFamily="34" charset="0"/>
                        </a:rPr>
                        <a:t>DOLLAR</a:t>
                      </a:r>
                    </a:p>
                    <a:p>
                      <a:pPr algn="ctr"/>
                      <a:r>
                        <a:rPr lang="en-US" sz="1200" b="0" noProof="0" dirty="0">
                          <a:latin typeface="+mn-lt"/>
                          <a:cs typeface="Arial" panose="020B0604020202020204" pitchFamily="34" charset="0"/>
                        </a:rPr>
                        <a:t>Day’s Change</a:t>
                      </a:r>
                      <a:endParaRPr lang="en-US" sz="1200" noProof="0" dirty="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a:latin typeface="+mn-lt"/>
                          <a:cs typeface="Arial" panose="020B0604020202020204" pitchFamily="34" charset="0"/>
                        </a:rPr>
                        <a:t>EURO</a:t>
                      </a:r>
                    </a:p>
                    <a:p>
                      <a:pPr algn="ctr"/>
                      <a:r>
                        <a:rPr lang="en-US" sz="1200" b="0" noProof="0">
                          <a:latin typeface="+mn-lt"/>
                          <a:cs typeface="Arial" panose="020B0604020202020204" pitchFamily="34" charset="0"/>
                        </a:rPr>
                        <a:t>Closing</a:t>
                      </a:r>
                      <a:r>
                        <a:rPr lang="en-US" sz="1200" b="0" baseline="0" noProof="0">
                          <a:latin typeface="+mn-lt"/>
                          <a:cs typeface="Arial" panose="020B0604020202020204" pitchFamily="34" charset="0"/>
                        </a:rPr>
                        <a:t> Mid</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a:latin typeface="+mn-lt"/>
                          <a:cs typeface="Arial" panose="020B0604020202020204" pitchFamily="34" charset="0"/>
                        </a:rPr>
                        <a:t>EURO</a:t>
                      </a:r>
                    </a:p>
                    <a:p>
                      <a:pPr algn="ctr"/>
                      <a:r>
                        <a:rPr lang="en-US" sz="1200" b="0" noProof="0">
                          <a:latin typeface="+mn-lt"/>
                          <a:cs typeface="Arial" panose="020B0604020202020204" pitchFamily="34" charset="0"/>
                        </a:rPr>
                        <a:t>Day’s</a:t>
                      </a:r>
                      <a:r>
                        <a:rPr lang="en-US" sz="1200" b="0" baseline="0" noProof="0">
                          <a:latin typeface="+mn-lt"/>
                          <a:cs typeface="Arial" panose="020B0604020202020204" pitchFamily="34" charset="0"/>
                        </a:rPr>
                        <a:t> </a:t>
                      </a:r>
                      <a:r>
                        <a:rPr lang="en-US" sz="1200" b="0" noProof="0">
                          <a:latin typeface="+mn-lt"/>
                          <a:cs typeface="Arial" panose="020B0604020202020204" pitchFamily="34" charset="0"/>
                        </a:rPr>
                        <a:t>Change</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a:latin typeface="+mn-lt"/>
                          <a:cs typeface="Arial" panose="020B0604020202020204" pitchFamily="34" charset="0"/>
                        </a:rPr>
                        <a:t>POUND</a:t>
                      </a:r>
                    </a:p>
                    <a:p>
                      <a:pPr algn="ctr"/>
                      <a:r>
                        <a:rPr lang="en-US" sz="1200" b="0" noProof="0">
                          <a:latin typeface="+mn-lt"/>
                          <a:cs typeface="Arial" panose="020B0604020202020204" pitchFamily="34" charset="0"/>
                        </a:rPr>
                        <a:t>Closing</a:t>
                      </a:r>
                      <a:r>
                        <a:rPr lang="en-US" sz="1200" b="0" baseline="0" noProof="0">
                          <a:latin typeface="+mn-lt"/>
                          <a:cs typeface="Arial" panose="020B0604020202020204" pitchFamily="34" charset="0"/>
                        </a:rPr>
                        <a:t> Mid</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a:latin typeface="+mn-lt"/>
                          <a:cs typeface="Arial" panose="020B0604020202020204" pitchFamily="34" charset="0"/>
                        </a:rPr>
                        <a:t>POUND</a:t>
                      </a:r>
                    </a:p>
                    <a:p>
                      <a:pPr algn="ctr"/>
                      <a:r>
                        <a:rPr lang="en-US" sz="1200" b="0" noProof="0">
                          <a:latin typeface="+mn-lt"/>
                          <a:cs typeface="Arial" panose="020B0604020202020204" pitchFamily="34" charset="0"/>
                        </a:rPr>
                        <a:t>Day’s Change</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61048629"/>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Argentina</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Argentine Peso</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dirty="0">
                          <a:solidFill>
                            <a:srgbClr val="231F20"/>
                          </a:solidFill>
                          <a:effectLst/>
                          <a:latin typeface="+mn-lt"/>
                          <a:ea typeface="Times New Roman" panose="02020603050405020304" pitchFamily="18" charset="0"/>
                          <a:cs typeface="Times New Roman" panose="02020603050405020304" pitchFamily="18" charset="0"/>
                        </a:rPr>
                        <a:t>68.8026</a:t>
                      </a:r>
                      <a:endParaRPr lang="en-US" sz="1200" noProof="0" dirty="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0.0953</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77.1927</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0.3569</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86.6673</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0.3917</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09643016"/>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Australia</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Australian Dollar</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1.4423</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0.0088</a:t>
                      </a:r>
                      <a:endParaRPr lang="en-US" sz="1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1.6181</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0.0046</a:t>
                      </a:r>
                      <a:endParaRPr lang="en-US" sz="1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1.8168</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0.0053</a:t>
                      </a:r>
                      <a:endParaRPr lang="en-US" sz="1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61690950"/>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Bahrain</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Bahraini Dinar</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0.3772</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0.0000</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0.4231</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0.0013</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0.4751</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0.0014</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2702447"/>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Bolivia</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Bolivian Boliviano</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6.9100</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noProof="0">
                          <a:latin typeface="+mn-lt"/>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7.7526</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0.0251</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8.7042</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0.0273</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5972935"/>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Brazil</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Brazilian Real</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5.0281</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0.1935</a:t>
                      </a:r>
                      <a:endParaRPr lang="en-US" sz="1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5.6412</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0.1981</a:t>
                      </a:r>
                      <a:endParaRPr lang="en-US" sz="1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6.3336</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0.2231</a:t>
                      </a:r>
                      <a:endParaRPr lang="en-US" sz="1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040725"/>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Canada</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Canadian Dollar</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1.3489</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0.0001</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1.5133</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0.0050</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1.6991</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0.0055</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0071369"/>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Chile</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Chilean Peso</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764.9900</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15.2950</a:t>
                      </a:r>
                      <a:endParaRPr lang="en-US" sz="1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858.2761</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14.3210</a:t>
                      </a:r>
                      <a:endParaRPr lang="en-US" sz="1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963.6213</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16.1809</a:t>
                      </a:r>
                      <a:endParaRPr lang="en-US" sz="1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23901461"/>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China</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dirty="0">
                          <a:solidFill>
                            <a:srgbClr val="231F20"/>
                          </a:solidFill>
                          <a:effectLst/>
                          <a:latin typeface="+mn-lt"/>
                          <a:ea typeface="Times New Roman" panose="02020603050405020304" pitchFamily="18" charset="0"/>
                          <a:cs typeface="Times New Roman" panose="02020603050405020304" pitchFamily="18" charset="0"/>
                        </a:rPr>
                        <a:t>Chinese Yuan</a:t>
                      </a:r>
                      <a:endParaRPr lang="en-US" sz="1200" noProof="0" dirty="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7.1099</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0.0006</a:t>
                      </a:r>
                      <a:endParaRPr lang="en-US" sz="1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7.9769</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0.0252</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8.9560</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0.0274</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5527092"/>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Colombia</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Colombian Peso</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3579.3300</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46.9050</a:t>
                      </a:r>
                      <a:endParaRPr lang="en-US" sz="1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4015.8094</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39.4294</a:t>
                      </a:r>
                      <a:endParaRPr lang="en-US" sz="1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4508.7106</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44.7456</a:t>
                      </a:r>
                      <a:endParaRPr lang="en-US" sz="1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9459209"/>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Costa Rica</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Costa Rican Colon</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577.1050</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1.7850</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647.4796</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4.0960</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726.9515</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4.5235</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231351"/>
                  </a:ext>
                </a:extLst>
              </a:tr>
              <a:tr h="199650">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Czech Republic</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Czech Koruna</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23.7213</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0.0004</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26.6139</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0.0868</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29.8805</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0.0943</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8164647"/>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Denmark</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Danish Krone</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6.6449</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lnSpc>
                          <a:spcPct val="107000"/>
                        </a:lnSpc>
                        <a:spcAft>
                          <a:spcPts val="800"/>
                        </a:spcAft>
                      </a:pPr>
                      <a:r>
                        <a:rPr lang="en-US" sz="100" noProof="0">
                          <a:effectLst/>
                          <a:latin typeface="Times New Roman" panose="02020603050405020304" pitchFamily="18" charset="0"/>
                          <a:ea typeface="Calibri" panose="020F0502020204030204" pitchFamily="34" charset="0"/>
                          <a:cs typeface="Times New Roman" panose="02020603050405020304" pitchFamily="18" charset="0"/>
                        </a:rPr>
                        <a:t>Negative 0.0199</a:t>
                      </a:r>
                      <a:endParaRPr lang="en-US" sz="100" noProof="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7.4552</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0.0019</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8.3702</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0.0012</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2181590"/>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Egypt</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Egyptian Pound</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16.0836</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0.1097</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18.0449</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0.1812</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20.2598</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0.2014</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14283077"/>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Hong Kong</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Hong Kong Dollar</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7.7503</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0.0002</a:t>
                      </a:r>
                      <a:endParaRPr lang="en-US" sz="1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8.6953</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0.0279</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9.7626</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dirty="0">
                          <a:solidFill>
                            <a:srgbClr val="231F20"/>
                          </a:solidFill>
                          <a:effectLst/>
                          <a:latin typeface="+mn-lt"/>
                          <a:ea typeface="Times New Roman" panose="02020603050405020304" pitchFamily="18" charset="0"/>
                          <a:cs typeface="Times New Roman" panose="02020603050405020304" pitchFamily="18" charset="0"/>
                        </a:rPr>
                        <a:t>0.0303</a:t>
                      </a:r>
                      <a:endParaRPr lang="en-US" sz="1200" noProof="0" dirty="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2638985"/>
                  </a:ext>
                </a:extLst>
              </a:tr>
            </a:tbl>
          </a:graphicData>
        </a:graphic>
      </p:graphicFrame>
      <p:graphicFrame>
        <p:nvGraphicFramePr>
          <p:cNvPr id="3" name="Object 2">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574856499"/>
              </p:ext>
            </p:extLst>
          </p:nvPr>
        </p:nvGraphicFramePr>
        <p:xfrm>
          <a:off x="4152902" y="2857509"/>
          <a:ext cx="635000" cy="177800"/>
        </p:xfrm>
        <a:graphic>
          <a:graphicData uri="http://schemas.openxmlformats.org/presentationml/2006/ole">
            <mc:AlternateContent xmlns:mc="http://schemas.openxmlformats.org/markup-compatibility/2006">
              <mc:Choice xmlns:v="urn:schemas-microsoft-com:vml" Requires="v">
                <p:oleObj spid="_x0000_s2125" name="Equation" r:id="rId3" imgW="634680" imgH="177480" progId="Equation.DSMT4">
                  <p:embed/>
                </p:oleObj>
              </mc:Choice>
              <mc:Fallback>
                <p:oleObj name="Equation" r:id="rId3" imgW="634680" imgH="177480" progId="Equation.DSMT4">
                  <p:embed/>
                  <p:pic>
                    <p:nvPicPr>
                      <p:cNvPr id="0" name=""/>
                      <p:cNvPicPr/>
                      <p:nvPr/>
                    </p:nvPicPr>
                    <p:blipFill>
                      <a:blip r:embed="rId4"/>
                      <a:stretch>
                        <a:fillRect/>
                      </a:stretch>
                    </p:blipFill>
                    <p:spPr>
                      <a:xfrm>
                        <a:off x="4152902" y="2857509"/>
                        <a:ext cx="635000" cy="177800"/>
                      </a:xfrm>
                      <a:prstGeom prst="rect">
                        <a:avLst/>
                      </a:prstGeom>
                      <a:solidFill>
                        <a:schemeClr val="bg1"/>
                      </a:solidFill>
                    </p:spPr>
                  </p:pic>
                </p:oleObj>
              </mc:Fallback>
            </mc:AlternateContent>
          </a:graphicData>
        </a:graphic>
      </p:graphicFrame>
      <p:graphicFrame>
        <p:nvGraphicFramePr>
          <p:cNvPr id="5" name="Object 4">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729297240"/>
              </p:ext>
            </p:extLst>
          </p:nvPr>
        </p:nvGraphicFramePr>
        <p:xfrm>
          <a:off x="6110298" y="2865445"/>
          <a:ext cx="635000" cy="177800"/>
        </p:xfrm>
        <a:graphic>
          <a:graphicData uri="http://schemas.openxmlformats.org/presentationml/2006/ole">
            <mc:AlternateContent xmlns:mc="http://schemas.openxmlformats.org/markup-compatibility/2006">
              <mc:Choice xmlns:v="urn:schemas-microsoft-com:vml" Requires="v">
                <p:oleObj spid="_x0000_s2126" name="Equation" r:id="rId5" imgW="634680" imgH="177480" progId="Equation.DSMT4">
                  <p:embed/>
                </p:oleObj>
              </mc:Choice>
              <mc:Fallback>
                <p:oleObj name="Equation" r:id="rId5" imgW="634680" imgH="177480" progId="Equation.DSMT4">
                  <p:embed/>
                  <p:pic>
                    <p:nvPicPr>
                      <p:cNvPr id="0" name=""/>
                      <p:cNvPicPr/>
                      <p:nvPr/>
                    </p:nvPicPr>
                    <p:blipFill>
                      <a:blip r:embed="rId6"/>
                      <a:stretch>
                        <a:fillRect/>
                      </a:stretch>
                    </p:blipFill>
                    <p:spPr>
                      <a:xfrm>
                        <a:off x="6110298" y="2865445"/>
                        <a:ext cx="635000" cy="177800"/>
                      </a:xfrm>
                      <a:prstGeom prst="rect">
                        <a:avLst/>
                      </a:prstGeom>
                      <a:solidFill>
                        <a:schemeClr val="bg1"/>
                      </a:solidFill>
                    </p:spPr>
                  </p:pic>
                </p:oleObj>
              </mc:Fallback>
            </mc:AlternateContent>
          </a:graphicData>
        </a:graphic>
      </p:graphicFrame>
      <p:graphicFrame>
        <p:nvGraphicFramePr>
          <p:cNvPr id="7" name="Object 6">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208362894"/>
              </p:ext>
            </p:extLst>
          </p:nvPr>
        </p:nvGraphicFramePr>
        <p:xfrm>
          <a:off x="7981973" y="2857502"/>
          <a:ext cx="635000" cy="177800"/>
        </p:xfrm>
        <a:graphic>
          <a:graphicData uri="http://schemas.openxmlformats.org/presentationml/2006/ole">
            <mc:AlternateContent xmlns:mc="http://schemas.openxmlformats.org/markup-compatibility/2006">
              <mc:Choice xmlns:v="urn:schemas-microsoft-com:vml" Requires="v">
                <p:oleObj spid="_x0000_s2127" name="Equation" r:id="rId7" imgW="634680" imgH="177480" progId="Equation.DSMT4">
                  <p:embed/>
                </p:oleObj>
              </mc:Choice>
              <mc:Fallback>
                <p:oleObj name="Equation" r:id="rId7" imgW="634680" imgH="177480" progId="Equation.DSMT4">
                  <p:embed/>
                  <p:pic>
                    <p:nvPicPr>
                      <p:cNvPr id="0" name=""/>
                      <p:cNvPicPr/>
                      <p:nvPr/>
                    </p:nvPicPr>
                    <p:blipFill>
                      <a:blip r:embed="rId8"/>
                      <a:stretch>
                        <a:fillRect/>
                      </a:stretch>
                    </p:blipFill>
                    <p:spPr>
                      <a:xfrm>
                        <a:off x="7981973" y="2857502"/>
                        <a:ext cx="635000" cy="177800"/>
                      </a:xfrm>
                      <a:prstGeom prst="rect">
                        <a:avLst/>
                      </a:prstGeom>
                      <a:solidFill>
                        <a:schemeClr val="bg1"/>
                      </a:solidFill>
                    </p:spPr>
                  </p:pic>
                </p:oleObj>
              </mc:Fallback>
            </mc:AlternateContent>
          </a:graphicData>
        </a:graphic>
      </p:graphicFrame>
      <p:graphicFrame>
        <p:nvGraphicFramePr>
          <p:cNvPr id="9" name="Object 8">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767222599"/>
              </p:ext>
            </p:extLst>
          </p:nvPr>
        </p:nvGraphicFramePr>
        <p:xfrm>
          <a:off x="4157655" y="3519501"/>
          <a:ext cx="635000" cy="177800"/>
        </p:xfrm>
        <a:graphic>
          <a:graphicData uri="http://schemas.openxmlformats.org/presentationml/2006/ole">
            <mc:AlternateContent xmlns:mc="http://schemas.openxmlformats.org/markup-compatibility/2006">
              <mc:Choice xmlns:v="urn:schemas-microsoft-com:vml" Requires="v">
                <p:oleObj spid="_x0000_s2128" name="Equation" r:id="rId9" imgW="634680" imgH="177480" progId="Equation.DSMT4">
                  <p:embed/>
                </p:oleObj>
              </mc:Choice>
              <mc:Fallback>
                <p:oleObj name="Equation" r:id="rId9" imgW="634680" imgH="177480" progId="Equation.DSMT4">
                  <p:embed/>
                  <p:pic>
                    <p:nvPicPr>
                      <p:cNvPr id="0" name=""/>
                      <p:cNvPicPr/>
                      <p:nvPr/>
                    </p:nvPicPr>
                    <p:blipFill>
                      <a:blip r:embed="rId10"/>
                      <a:stretch>
                        <a:fillRect/>
                      </a:stretch>
                    </p:blipFill>
                    <p:spPr>
                      <a:xfrm>
                        <a:off x="4157655" y="3519501"/>
                        <a:ext cx="635000" cy="177800"/>
                      </a:xfrm>
                      <a:prstGeom prst="rect">
                        <a:avLst/>
                      </a:prstGeom>
                      <a:solidFill>
                        <a:schemeClr val="bg1"/>
                      </a:solidFill>
                    </p:spPr>
                  </p:pic>
                </p:oleObj>
              </mc:Fallback>
            </mc:AlternateContent>
          </a:graphicData>
        </a:graphic>
      </p:graphicFrame>
      <p:graphicFrame>
        <p:nvGraphicFramePr>
          <p:cNvPr id="10" name="Object 9">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354611882"/>
              </p:ext>
            </p:extLst>
          </p:nvPr>
        </p:nvGraphicFramePr>
        <p:xfrm>
          <a:off x="6108716" y="3514746"/>
          <a:ext cx="609600" cy="177800"/>
        </p:xfrm>
        <a:graphic>
          <a:graphicData uri="http://schemas.openxmlformats.org/presentationml/2006/ole">
            <mc:AlternateContent xmlns:mc="http://schemas.openxmlformats.org/markup-compatibility/2006">
              <mc:Choice xmlns:v="urn:schemas-microsoft-com:vml" Requires="v">
                <p:oleObj spid="_x0000_s2129" name="Equation" r:id="rId11" imgW="609480" imgH="177480" progId="Equation.DSMT4">
                  <p:embed/>
                </p:oleObj>
              </mc:Choice>
              <mc:Fallback>
                <p:oleObj name="Equation" r:id="rId11" imgW="609480" imgH="177480" progId="Equation.DSMT4">
                  <p:embed/>
                  <p:pic>
                    <p:nvPicPr>
                      <p:cNvPr id="0" name=""/>
                      <p:cNvPicPr/>
                      <p:nvPr/>
                    </p:nvPicPr>
                    <p:blipFill>
                      <a:blip r:embed="rId12"/>
                      <a:stretch>
                        <a:fillRect/>
                      </a:stretch>
                    </p:blipFill>
                    <p:spPr>
                      <a:xfrm>
                        <a:off x="6108716" y="3514746"/>
                        <a:ext cx="609600" cy="177800"/>
                      </a:xfrm>
                      <a:prstGeom prst="rect">
                        <a:avLst/>
                      </a:prstGeom>
                      <a:solidFill>
                        <a:schemeClr val="bg1"/>
                      </a:solidFill>
                    </p:spPr>
                  </p:pic>
                </p:oleObj>
              </mc:Fallback>
            </mc:AlternateContent>
          </a:graphicData>
        </a:graphic>
      </p:graphicFrame>
      <p:graphicFrame>
        <p:nvGraphicFramePr>
          <p:cNvPr id="11" name="Object 10">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142016740"/>
              </p:ext>
            </p:extLst>
          </p:nvPr>
        </p:nvGraphicFramePr>
        <p:xfrm>
          <a:off x="7996262" y="3519501"/>
          <a:ext cx="609600" cy="177800"/>
        </p:xfrm>
        <a:graphic>
          <a:graphicData uri="http://schemas.openxmlformats.org/presentationml/2006/ole">
            <mc:AlternateContent xmlns:mc="http://schemas.openxmlformats.org/markup-compatibility/2006">
              <mc:Choice xmlns:v="urn:schemas-microsoft-com:vml" Requires="v">
                <p:oleObj spid="_x0000_s2130" name="Equation" r:id="rId13" imgW="609480" imgH="177480" progId="Equation.DSMT4">
                  <p:embed/>
                </p:oleObj>
              </mc:Choice>
              <mc:Fallback>
                <p:oleObj name="Equation" r:id="rId13" imgW="609480" imgH="177480" progId="Equation.DSMT4">
                  <p:embed/>
                  <p:pic>
                    <p:nvPicPr>
                      <p:cNvPr id="0" name=""/>
                      <p:cNvPicPr/>
                      <p:nvPr/>
                    </p:nvPicPr>
                    <p:blipFill>
                      <a:blip r:embed="rId14"/>
                      <a:stretch>
                        <a:fillRect/>
                      </a:stretch>
                    </p:blipFill>
                    <p:spPr>
                      <a:xfrm>
                        <a:off x="7996262" y="3519501"/>
                        <a:ext cx="609600" cy="177800"/>
                      </a:xfrm>
                      <a:prstGeom prst="rect">
                        <a:avLst/>
                      </a:prstGeom>
                      <a:solidFill>
                        <a:schemeClr val="bg1"/>
                      </a:solidFill>
                    </p:spPr>
                  </p:pic>
                </p:oleObj>
              </mc:Fallback>
            </mc:AlternateContent>
          </a:graphicData>
        </a:graphic>
      </p:graphicFrame>
      <p:graphicFrame>
        <p:nvGraphicFramePr>
          <p:cNvPr id="12" name="Object 11">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257479483"/>
              </p:ext>
            </p:extLst>
          </p:nvPr>
        </p:nvGraphicFramePr>
        <p:xfrm>
          <a:off x="4083054" y="3957662"/>
          <a:ext cx="711200" cy="177800"/>
        </p:xfrm>
        <a:graphic>
          <a:graphicData uri="http://schemas.openxmlformats.org/presentationml/2006/ole">
            <mc:AlternateContent xmlns:mc="http://schemas.openxmlformats.org/markup-compatibility/2006">
              <mc:Choice xmlns:v="urn:schemas-microsoft-com:vml" Requires="v">
                <p:oleObj spid="_x0000_s2131" name="Equation" r:id="rId15" imgW="711000" imgH="177480" progId="Equation.DSMT4">
                  <p:embed/>
                </p:oleObj>
              </mc:Choice>
              <mc:Fallback>
                <p:oleObj name="Equation" r:id="rId15" imgW="711000" imgH="177480" progId="Equation.DSMT4">
                  <p:embed/>
                  <p:pic>
                    <p:nvPicPr>
                      <p:cNvPr id="0" name=""/>
                      <p:cNvPicPr/>
                      <p:nvPr/>
                    </p:nvPicPr>
                    <p:blipFill>
                      <a:blip r:embed="rId16"/>
                      <a:stretch>
                        <a:fillRect/>
                      </a:stretch>
                    </p:blipFill>
                    <p:spPr>
                      <a:xfrm>
                        <a:off x="4083054" y="3957662"/>
                        <a:ext cx="711200" cy="177800"/>
                      </a:xfrm>
                      <a:prstGeom prst="rect">
                        <a:avLst/>
                      </a:prstGeom>
                      <a:solidFill>
                        <a:schemeClr val="bg1"/>
                      </a:solidFill>
                    </p:spPr>
                  </p:pic>
                </p:oleObj>
              </mc:Fallback>
            </mc:AlternateContent>
          </a:graphicData>
        </a:graphic>
      </p:graphicFrame>
      <p:graphicFrame>
        <p:nvGraphicFramePr>
          <p:cNvPr id="13" name="Object 12">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340840500"/>
              </p:ext>
            </p:extLst>
          </p:nvPr>
        </p:nvGraphicFramePr>
        <p:xfrm>
          <a:off x="6029346" y="3957659"/>
          <a:ext cx="711200" cy="177800"/>
        </p:xfrm>
        <a:graphic>
          <a:graphicData uri="http://schemas.openxmlformats.org/presentationml/2006/ole">
            <mc:AlternateContent xmlns:mc="http://schemas.openxmlformats.org/markup-compatibility/2006">
              <mc:Choice xmlns:v="urn:schemas-microsoft-com:vml" Requires="v">
                <p:oleObj spid="_x0000_s2132" name="Equation" r:id="rId17" imgW="711000" imgH="177480" progId="Equation.DSMT4">
                  <p:embed/>
                </p:oleObj>
              </mc:Choice>
              <mc:Fallback>
                <p:oleObj name="Equation" r:id="rId17" imgW="711000" imgH="177480" progId="Equation.DSMT4">
                  <p:embed/>
                  <p:pic>
                    <p:nvPicPr>
                      <p:cNvPr id="0" name=""/>
                      <p:cNvPicPr/>
                      <p:nvPr/>
                    </p:nvPicPr>
                    <p:blipFill>
                      <a:blip r:embed="rId18"/>
                      <a:stretch>
                        <a:fillRect/>
                      </a:stretch>
                    </p:blipFill>
                    <p:spPr>
                      <a:xfrm>
                        <a:off x="6029346" y="3957659"/>
                        <a:ext cx="711200" cy="177800"/>
                      </a:xfrm>
                      <a:prstGeom prst="rect">
                        <a:avLst/>
                      </a:prstGeom>
                      <a:solidFill>
                        <a:schemeClr val="bg1"/>
                      </a:solidFill>
                    </p:spPr>
                  </p:pic>
                </p:oleObj>
              </mc:Fallback>
            </mc:AlternateContent>
          </a:graphicData>
        </a:graphic>
      </p:graphicFrame>
      <p:graphicFrame>
        <p:nvGraphicFramePr>
          <p:cNvPr id="14" name="Object 13">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786011943"/>
              </p:ext>
            </p:extLst>
          </p:nvPr>
        </p:nvGraphicFramePr>
        <p:xfrm>
          <a:off x="7918201" y="3957662"/>
          <a:ext cx="711200" cy="177800"/>
        </p:xfrm>
        <a:graphic>
          <a:graphicData uri="http://schemas.openxmlformats.org/presentationml/2006/ole">
            <mc:AlternateContent xmlns:mc="http://schemas.openxmlformats.org/markup-compatibility/2006">
              <mc:Choice xmlns:v="urn:schemas-microsoft-com:vml" Requires="v">
                <p:oleObj spid="_x0000_s2133" name="Equation" r:id="rId19" imgW="711000" imgH="177480" progId="Equation.DSMT4">
                  <p:embed/>
                </p:oleObj>
              </mc:Choice>
              <mc:Fallback>
                <p:oleObj name="Equation" r:id="rId19" imgW="711000" imgH="177480" progId="Equation.DSMT4">
                  <p:embed/>
                  <p:pic>
                    <p:nvPicPr>
                      <p:cNvPr id="0" name=""/>
                      <p:cNvPicPr/>
                      <p:nvPr/>
                    </p:nvPicPr>
                    <p:blipFill>
                      <a:blip r:embed="rId20"/>
                      <a:stretch>
                        <a:fillRect/>
                      </a:stretch>
                    </p:blipFill>
                    <p:spPr>
                      <a:xfrm>
                        <a:off x="7918201" y="3957662"/>
                        <a:ext cx="711200" cy="177800"/>
                      </a:xfrm>
                      <a:prstGeom prst="rect">
                        <a:avLst/>
                      </a:prstGeom>
                      <a:solidFill>
                        <a:schemeClr val="bg1"/>
                      </a:solidFill>
                    </p:spPr>
                  </p:pic>
                </p:oleObj>
              </mc:Fallback>
            </mc:AlternateContent>
          </a:graphicData>
        </a:graphic>
      </p:graphicFrame>
      <p:graphicFrame>
        <p:nvGraphicFramePr>
          <p:cNvPr id="15" name="Object 14">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769852974"/>
              </p:ext>
            </p:extLst>
          </p:nvPr>
        </p:nvGraphicFramePr>
        <p:xfrm>
          <a:off x="4157665" y="4169587"/>
          <a:ext cx="635000" cy="177800"/>
        </p:xfrm>
        <a:graphic>
          <a:graphicData uri="http://schemas.openxmlformats.org/presentationml/2006/ole">
            <mc:AlternateContent xmlns:mc="http://schemas.openxmlformats.org/markup-compatibility/2006">
              <mc:Choice xmlns:v="urn:schemas-microsoft-com:vml" Requires="v">
                <p:oleObj spid="_x0000_s2134" name="Equation" r:id="rId21" imgW="634680" imgH="177480" progId="Equation.DSMT4">
                  <p:embed/>
                </p:oleObj>
              </mc:Choice>
              <mc:Fallback>
                <p:oleObj name="Equation" r:id="rId21" imgW="634680" imgH="177480" progId="Equation.DSMT4">
                  <p:embed/>
                  <p:pic>
                    <p:nvPicPr>
                      <p:cNvPr id="0" name=""/>
                      <p:cNvPicPr/>
                      <p:nvPr/>
                    </p:nvPicPr>
                    <p:blipFill>
                      <a:blip r:embed="rId22"/>
                      <a:stretch>
                        <a:fillRect/>
                      </a:stretch>
                    </p:blipFill>
                    <p:spPr>
                      <a:xfrm>
                        <a:off x="4157665" y="4169587"/>
                        <a:ext cx="635000" cy="177800"/>
                      </a:xfrm>
                      <a:prstGeom prst="rect">
                        <a:avLst/>
                      </a:prstGeom>
                      <a:solidFill>
                        <a:schemeClr val="bg1"/>
                      </a:solidFill>
                    </p:spPr>
                  </p:pic>
                </p:oleObj>
              </mc:Fallback>
            </mc:AlternateContent>
          </a:graphicData>
        </a:graphic>
      </p:graphicFrame>
      <p:graphicFrame>
        <p:nvGraphicFramePr>
          <p:cNvPr id="16" name="Object 15">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264773184"/>
              </p:ext>
            </p:extLst>
          </p:nvPr>
        </p:nvGraphicFramePr>
        <p:xfrm>
          <a:off x="4062415" y="4395823"/>
          <a:ext cx="723900" cy="177800"/>
        </p:xfrm>
        <a:graphic>
          <a:graphicData uri="http://schemas.openxmlformats.org/presentationml/2006/ole">
            <mc:AlternateContent xmlns:mc="http://schemas.openxmlformats.org/markup-compatibility/2006">
              <mc:Choice xmlns:v="urn:schemas-microsoft-com:vml" Requires="v">
                <p:oleObj spid="_x0000_s2135" name="Equation" r:id="rId23" imgW="723600" imgH="177480" progId="Equation.DSMT4">
                  <p:embed/>
                </p:oleObj>
              </mc:Choice>
              <mc:Fallback>
                <p:oleObj name="Equation" r:id="rId23" imgW="723600" imgH="177480" progId="Equation.DSMT4">
                  <p:embed/>
                  <p:pic>
                    <p:nvPicPr>
                      <p:cNvPr id="0" name=""/>
                      <p:cNvPicPr/>
                      <p:nvPr/>
                    </p:nvPicPr>
                    <p:blipFill>
                      <a:blip r:embed="rId24"/>
                      <a:stretch>
                        <a:fillRect/>
                      </a:stretch>
                    </p:blipFill>
                    <p:spPr>
                      <a:xfrm>
                        <a:off x="4062415" y="4395823"/>
                        <a:ext cx="723900" cy="177800"/>
                      </a:xfrm>
                      <a:prstGeom prst="rect">
                        <a:avLst/>
                      </a:prstGeom>
                      <a:solidFill>
                        <a:schemeClr val="bg1"/>
                      </a:solidFill>
                    </p:spPr>
                  </p:pic>
                </p:oleObj>
              </mc:Fallback>
            </mc:AlternateContent>
          </a:graphicData>
        </a:graphic>
      </p:graphicFrame>
      <p:graphicFrame>
        <p:nvGraphicFramePr>
          <p:cNvPr id="17" name="Object 16">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737783873"/>
              </p:ext>
            </p:extLst>
          </p:nvPr>
        </p:nvGraphicFramePr>
        <p:xfrm>
          <a:off x="6029346" y="4392392"/>
          <a:ext cx="723900" cy="177800"/>
        </p:xfrm>
        <a:graphic>
          <a:graphicData uri="http://schemas.openxmlformats.org/presentationml/2006/ole">
            <mc:AlternateContent xmlns:mc="http://schemas.openxmlformats.org/markup-compatibility/2006">
              <mc:Choice xmlns:v="urn:schemas-microsoft-com:vml" Requires="v">
                <p:oleObj spid="_x0000_s2136" name="Equation" r:id="rId25" imgW="723600" imgH="177480" progId="Equation.DSMT4">
                  <p:embed/>
                </p:oleObj>
              </mc:Choice>
              <mc:Fallback>
                <p:oleObj name="Equation" r:id="rId25" imgW="723600" imgH="177480" progId="Equation.DSMT4">
                  <p:embed/>
                  <p:pic>
                    <p:nvPicPr>
                      <p:cNvPr id="0" name=""/>
                      <p:cNvPicPr/>
                      <p:nvPr/>
                    </p:nvPicPr>
                    <p:blipFill>
                      <a:blip r:embed="rId26"/>
                      <a:stretch>
                        <a:fillRect/>
                      </a:stretch>
                    </p:blipFill>
                    <p:spPr>
                      <a:xfrm>
                        <a:off x="6029346" y="4392392"/>
                        <a:ext cx="723900" cy="177800"/>
                      </a:xfrm>
                      <a:prstGeom prst="rect">
                        <a:avLst/>
                      </a:prstGeom>
                      <a:solidFill>
                        <a:schemeClr val="bg1"/>
                      </a:solidFill>
                    </p:spPr>
                  </p:pic>
                </p:oleObj>
              </mc:Fallback>
            </mc:AlternateContent>
          </a:graphicData>
        </a:graphic>
      </p:graphicFrame>
      <p:graphicFrame>
        <p:nvGraphicFramePr>
          <p:cNvPr id="18" name="Object 17">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731016409"/>
              </p:ext>
            </p:extLst>
          </p:nvPr>
        </p:nvGraphicFramePr>
        <p:xfrm>
          <a:off x="7905501" y="4395823"/>
          <a:ext cx="723900" cy="177800"/>
        </p:xfrm>
        <a:graphic>
          <a:graphicData uri="http://schemas.openxmlformats.org/presentationml/2006/ole">
            <mc:AlternateContent xmlns:mc="http://schemas.openxmlformats.org/markup-compatibility/2006">
              <mc:Choice xmlns:v="urn:schemas-microsoft-com:vml" Requires="v">
                <p:oleObj spid="_x0000_s2137" name="Equation" r:id="rId27" imgW="723600" imgH="177480" progId="Equation.DSMT4">
                  <p:embed/>
                </p:oleObj>
              </mc:Choice>
              <mc:Fallback>
                <p:oleObj name="Equation" r:id="rId27" imgW="723600" imgH="177480" progId="Equation.DSMT4">
                  <p:embed/>
                  <p:pic>
                    <p:nvPicPr>
                      <p:cNvPr id="0" name=""/>
                      <p:cNvPicPr/>
                      <p:nvPr/>
                    </p:nvPicPr>
                    <p:blipFill>
                      <a:blip r:embed="rId28"/>
                      <a:stretch>
                        <a:fillRect/>
                      </a:stretch>
                    </p:blipFill>
                    <p:spPr>
                      <a:xfrm>
                        <a:off x="7905501" y="4395823"/>
                        <a:ext cx="723900" cy="177800"/>
                      </a:xfrm>
                      <a:prstGeom prst="rect">
                        <a:avLst/>
                      </a:prstGeom>
                      <a:solidFill>
                        <a:schemeClr val="bg1"/>
                      </a:solidFill>
                    </p:spPr>
                  </p:pic>
                </p:oleObj>
              </mc:Fallback>
            </mc:AlternateContent>
          </a:graphicData>
        </a:graphic>
      </p:graphicFrame>
      <p:graphicFrame>
        <p:nvGraphicFramePr>
          <p:cNvPr id="19" name="Object 18">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128416444"/>
              </p:ext>
            </p:extLst>
          </p:nvPr>
        </p:nvGraphicFramePr>
        <p:xfrm>
          <a:off x="4157655" y="5418636"/>
          <a:ext cx="635000" cy="177800"/>
        </p:xfrm>
        <a:graphic>
          <a:graphicData uri="http://schemas.openxmlformats.org/presentationml/2006/ole">
            <mc:AlternateContent xmlns:mc="http://schemas.openxmlformats.org/markup-compatibility/2006">
              <mc:Choice xmlns:v="urn:schemas-microsoft-com:vml" Requires="v">
                <p:oleObj spid="_x0000_s2138" name="Equation" r:id="rId29" imgW="634680" imgH="177480" progId="Equation.DSMT4">
                  <p:embed/>
                </p:oleObj>
              </mc:Choice>
              <mc:Fallback>
                <p:oleObj name="Equation" r:id="rId29" imgW="634680" imgH="177480" progId="Equation.DSMT4">
                  <p:embed/>
                  <p:pic>
                    <p:nvPicPr>
                      <p:cNvPr id="0" name=""/>
                      <p:cNvPicPr/>
                      <p:nvPr/>
                    </p:nvPicPr>
                    <p:blipFill>
                      <a:blip r:embed="rId30"/>
                      <a:stretch>
                        <a:fillRect/>
                      </a:stretch>
                    </p:blipFill>
                    <p:spPr>
                      <a:xfrm>
                        <a:off x="4157655" y="5418636"/>
                        <a:ext cx="635000" cy="177800"/>
                      </a:xfrm>
                      <a:prstGeom prst="rect">
                        <a:avLst/>
                      </a:prstGeom>
                      <a:solidFill>
                        <a:schemeClr val="bg1"/>
                      </a:solidFill>
                    </p:spPr>
                  </p:pic>
                </p:oleObj>
              </mc:Fallback>
            </mc:AlternateContent>
          </a:graphicData>
        </a:graphic>
      </p:graphicFrame>
      <p:graphicFrame>
        <p:nvGraphicFramePr>
          <p:cNvPr id="20" name="Object 19">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961298835"/>
              </p:ext>
            </p:extLst>
          </p:nvPr>
        </p:nvGraphicFramePr>
        <p:xfrm>
          <a:off x="4188408" y="5844798"/>
          <a:ext cx="577273" cy="161636"/>
        </p:xfrm>
        <a:graphic>
          <a:graphicData uri="http://schemas.openxmlformats.org/presentationml/2006/ole">
            <mc:AlternateContent xmlns:mc="http://schemas.openxmlformats.org/markup-compatibility/2006">
              <mc:Choice xmlns:v="urn:schemas-microsoft-com:vml" Requires="v">
                <p:oleObj spid="_x0000_s2139" name="Equation" r:id="rId31" imgW="634680" imgH="177480" progId="Equation.DSMT4">
                  <p:embed/>
                </p:oleObj>
              </mc:Choice>
              <mc:Fallback>
                <p:oleObj name="Equation" r:id="rId31" imgW="634680" imgH="177480" progId="Equation.DSMT4">
                  <p:embed/>
                  <p:pic>
                    <p:nvPicPr>
                      <p:cNvPr id="0" name=""/>
                      <p:cNvPicPr/>
                      <p:nvPr/>
                    </p:nvPicPr>
                    <p:blipFill>
                      <a:blip r:embed="rId32"/>
                      <a:stretch>
                        <a:fillRect/>
                      </a:stretch>
                    </p:blipFill>
                    <p:spPr>
                      <a:xfrm>
                        <a:off x="4188408" y="5844798"/>
                        <a:ext cx="577273" cy="161636"/>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057259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a:t>Table 14.1 Exchange Rate Quotations </a:t>
            </a:r>
            <a:r>
              <a:rPr lang="en-US" altLang="en-US" sz="2000" b="0"/>
              <a:t>(2 of 5)</a:t>
            </a:r>
            <a:endParaRPr lang="en-IN" dirty="0"/>
          </a:p>
        </p:txBody>
      </p:sp>
      <p:graphicFrame>
        <p:nvGraphicFramePr>
          <p:cNvPr id="6" name="Content Placeholder 5"/>
          <p:cNvGraphicFramePr>
            <a:graphicFrameLocks noGrp="1"/>
          </p:cNvGraphicFramePr>
          <p:nvPr>
            <p:ph sz="quarter" idx="14"/>
            <p:extLst>
              <p:ext uri="{D42A27DB-BD31-4B8C-83A1-F6EECF244321}">
                <p14:modId xmlns:p14="http://schemas.microsoft.com/office/powerpoint/2010/main" val="3620654604"/>
              </p:ext>
            </p:extLst>
          </p:nvPr>
        </p:nvGraphicFramePr>
        <p:xfrm>
          <a:off x="457199" y="2012496"/>
          <a:ext cx="8181728" cy="4050720"/>
        </p:xfrm>
        <a:graphic>
          <a:graphicData uri="http://schemas.openxmlformats.org/drawingml/2006/table">
            <a:tbl>
              <a:tblPr firstRow="1" bandRow="1">
                <a:tableStyleId>{40F9630F-82C1-40B7-BC3A-925EFCFF5E92}</a:tableStyleId>
              </a:tblPr>
              <a:tblGrid>
                <a:gridCol w="1079058">
                  <a:extLst>
                    <a:ext uri="{9D8B030D-6E8A-4147-A177-3AD203B41FA5}">
                      <a16:colId xmlns:a16="http://schemas.microsoft.com/office/drawing/2014/main" val="2158364159"/>
                    </a:ext>
                  </a:extLst>
                </a:gridCol>
                <a:gridCol w="1277505">
                  <a:extLst>
                    <a:ext uri="{9D8B030D-6E8A-4147-A177-3AD203B41FA5}">
                      <a16:colId xmlns:a16="http://schemas.microsoft.com/office/drawing/2014/main" val="3854539076"/>
                    </a:ext>
                  </a:extLst>
                </a:gridCol>
                <a:gridCol w="986046">
                  <a:extLst>
                    <a:ext uri="{9D8B030D-6E8A-4147-A177-3AD203B41FA5}">
                      <a16:colId xmlns:a16="http://schemas.microsoft.com/office/drawing/2014/main" val="329971916"/>
                    </a:ext>
                  </a:extLst>
                </a:gridCol>
                <a:gridCol w="1000548">
                  <a:extLst>
                    <a:ext uri="{9D8B030D-6E8A-4147-A177-3AD203B41FA5}">
                      <a16:colId xmlns:a16="http://schemas.microsoft.com/office/drawing/2014/main" val="490364007"/>
                    </a:ext>
                  </a:extLst>
                </a:gridCol>
                <a:gridCol w="908404">
                  <a:extLst>
                    <a:ext uri="{9D8B030D-6E8A-4147-A177-3AD203B41FA5}">
                      <a16:colId xmlns:a16="http://schemas.microsoft.com/office/drawing/2014/main" val="113416755"/>
                    </a:ext>
                  </a:extLst>
                </a:gridCol>
                <a:gridCol w="1044995">
                  <a:extLst>
                    <a:ext uri="{9D8B030D-6E8A-4147-A177-3AD203B41FA5}">
                      <a16:colId xmlns:a16="http://schemas.microsoft.com/office/drawing/2014/main" val="3760073308"/>
                    </a:ext>
                  </a:extLst>
                </a:gridCol>
                <a:gridCol w="946116">
                  <a:extLst>
                    <a:ext uri="{9D8B030D-6E8A-4147-A177-3AD203B41FA5}">
                      <a16:colId xmlns:a16="http://schemas.microsoft.com/office/drawing/2014/main" val="889847359"/>
                    </a:ext>
                  </a:extLst>
                </a:gridCol>
                <a:gridCol w="939056">
                  <a:extLst>
                    <a:ext uri="{9D8B030D-6E8A-4147-A177-3AD203B41FA5}">
                      <a16:colId xmlns:a16="http://schemas.microsoft.com/office/drawing/2014/main" val="2970760308"/>
                    </a:ext>
                  </a:extLst>
                </a:gridCol>
              </a:tblGrid>
              <a:tr h="2795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noProof="0" dirty="0">
                          <a:latin typeface="+mn-lt"/>
                          <a:cs typeface="Arial" panose="020B0604020202020204" pitchFamily="34" charset="0"/>
                        </a:rPr>
                        <a:t>Jun</a:t>
                      </a:r>
                      <a:r>
                        <a:rPr lang="en-US" sz="1200" b="0" baseline="0" noProof="0" dirty="0">
                          <a:latin typeface="+mn-lt"/>
                          <a:cs typeface="Arial" panose="020B0604020202020204" pitchFamily="34" charset="0"/>
                        </a:rPr>
                        <a:t> 3</a:t>
                      </a:r>
                      <a:endParaRPr lang="en-US" sz="1200" b="0" noProof="0" dirty="0">
                        <a:latin typeface="+mn-lt"/>
                        <a:cs typeface="Arial" panose="020B0604020202020204" pitchFamily="34"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0" noProof="0">
                          <a:latin typeface="+mn-lt"/>
                          <a:cs typeface="Arial" panose="020B0604020202020204" pitchFamily="34" charset="0"/>
                        </a:rPr>
                        <a:t>Currency</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a:latin typeface="+mn-lt"/>
                          <a:cs typeface="Arial" panose="020B0604020202020204" pitchFamily="34" charset="0"/>
                        </a:rPr>
                        <a:t>DOLLAR</a:t>
                      </a:r>
                    </a:p>
                    <a:p>
                      <a:pPr algn="ctr"/>
                      <a:r>
                        <a:rPr lang="en-US" sz="1200" b="0" noProof="0">
                          <a:latin typeface="+mn-lt"/>
                          <a:cs typeface="Arial" panose="020B0604020202020204" pitchFamily="34" charset="0"/>
                        </a:rPr>
                        <a:t>Closing</a:t>
                      </a:r>
                      <a:r>
                        <a:rPr lang="en-US" sz="1200" b="0" baseline="0" noProof="0">
                          <a:latin typeface="+mn-lt"/>
                          <a:cs typeface="Arial" panose="020B0604020202020204" pitchFamily="34" charset="0"/>
                        </a:rPr>
                        <a:t> Mid</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dirty="0">
                          <a:latin typeface="+mn-lt"/>
                          <a:cs typeface="Arial" panose="020B0604020202020204" pitchFamily="34" charset="0"/>
                        </a:rPr>
                        <a:t>DOLLAR</a:t>
                      </a:r>
                    </a:p>
                    <a:p>
                      <a:pPr algn="ctr"/>
                      <a:r>
                        <a:rPr lang="en-US" sz="1200" b="0" noProof="0" dirty="0">
                          <a:latin typeface="+mn-lt"/>
                          <a:cs typeface="Arial" panose="020B0604020202020204" pitchFamily="34" charset="0"/>
                        </a:rPr>
                        <a:t>Day’s Change</a:t>
                      </a:r>
                      <a:endParaRPr lang="en-US" sz="1200" noProof="0" dirty="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a:latin typeface="+mn-lt"/>
                          <a:cs typeface="Arial" panose="020B0604020202020204" pitchFamily="34" charset="0"/>
                        </a:rPr>
                        <a:t>EURO</a:t>
                      </a:r>
                    </a:p>
                    <a:p>
                      <a:pPr algn="ctr"/>
                      <a:r>
                        <a:rPr lang="en-US" sz="1200" b="0" noProof="0">
                          <a:latin typeface="+mn-lt"/>
                          <a:cs typeface="Arial" panose="020B0604020202020204" pitchFamily="34" charset="0"/>
                        </a:rPr>
                        <a:t>Closing</a:t>
                      </a:r>
                      <a:r>
                        <a:rPr lang="en-US" sz="1200" b="0" baseline="0" noProof="0">
                          <a:latin typeface="+mn-lt"/>
                          <a:cs typeface="Arial" panose="020B0604020202020204" pitchFamily="34" charset="0"/>
                        </a:rPr>
                        <a:t> Mid</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a:latin typeface="+mn-lt"/>
                          <a:cs typeface="Arial" panose="020B0604020202020204" pitchFamily="34" charset="0"/>
                        </a:rPr>
                        <a:t>EURO</a:t>
                      </a:r>
                    </a:p>
                    <a:p>
                      <a:pPr algn="ctr"/>
                      <a:r>
                        <a:rPr lang="en-US" sz="1200" b="0" noProof="0">
                          <a:latin typeface="+mn-lt"/>
                          <a:cs typeface="Arial" panose="020B0604020202020204" pitchFamily="34" charset="0"/>
                        </a:rPr>
                        <a:t>Day’s</a:t>
                      </a:r>
                      <a:r>
                        <a:rPr lang="en-US" sz="1200" b="0" baseline="0" noProof="0">
                          <a:latin typeface="+mn-lt"/>
                          <a:cs typeface="Arial" panose="020B0604020202020204" pitchFamily="34" charset="0"/>
                        </a:rPr>
                        <a:t> </a:t>
                      </a:r>
                      <a:r>
                        <a:rPr lang="en-US" sz="1200" b="0" noProof="0">
                          <a:latin typeface="+mn-lt"/>
                          <a:cs typeface="Arial" panose="020B0604020202020204" pitchFamily="34" charset="0"/>
                        </a:rPr>
                        <a:t>Change</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a:latin typeface="+mn-lt"/>
                          <a:cs typeface="Arial" panose="020B0604020202020204" pitchFamily="34" charset="0"/>
                        </a:rPr>
                        <a:t>POUND</a:t>
                      </a:r>
                    </a:p>
                    <a:p>
                      <a:pPr algn="ctr"/>
                      <a:r>
                        <a:rPr lang="en-US" sz="1200" b="0" noProof="0">
                          <a:latin typeface="+mn-lt"/>
                          <a:cs typeface="Arial" panose="020B0604020202020204" pitchFamily="34" charset="0"/>
                        </a:rPr>
                        <a:t>Closing</a:t>
                      </a:r>
                      <a:r>
                        <a:rPr lang="en-US" sz="1200" b="0" baseline="0" noProof="0">
                          <a:latin typeface="+mn-lt"/>
                          <a:cs typeface="Arial" panose="020B0604020202020204" pitchFamily="34" charset="0"/>
                        </a:rPr>
                        <a:t> Mid</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a:latin typeface="+mn-lt"/>
                          <a:cs typeface="Arial" panose="020B0604020202020204" pitchFamily="34" charset="0"/>
                        </a:rPr>
                        <a:t>POUND</a:t>
                      </a:r>
                    </a:p>
                    <a:p>
                      <a:pPr algn="ctr"/>
                      <a:r>
                        <a:rPr lang="en-US" sz="1200" b="0" noProof="0">
                          <a:latin typeface="+mn-lt"/>
                          <a:cs typeface="Arial" panose="020B0604020202020204" pitchFamily="34" charset="0"/>
                        </a:rPr>
                        <a:t>Day’s Change</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61048629"/>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Hungary</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Hungarian Forint</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306.7205</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2.1010</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344.1232</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1</a:t>
                      </a:r>
                    </a:p>
                    <a:p>
                      <a:pPr algn="r"/>
                      <a:endParaRPr lang="en-US" sz="100" b="0" i="0" u="none" strike="noStrike" cap="none" noProof="0">
                        <a:solidFill>
                          <a:schemeClr val="dk1"/>
                        </a:solidFill>
                        <a:effectLst/>
                        <a:latin typeface="Arial"/>
                        <a:ea typeface="Arial"/>
                        <a:cs typeface="Arial"/>
                        <a:sym typeface="Arial"/>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386.3611</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1.4253</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09643016"/>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India</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Indian Rupee</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75.4700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0.1075</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84.6731</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0.3948</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95.0659</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0.4334</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61690950"/>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Indonesia</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Indonesian Rupiah</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14110.0000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lnSpc>
                          <a:spcPct val="107000"/>
                        </a:lnSpc>
                        <a:spcBef>
                          <a:spcPts val="1500"/>
                        </a:spcBef>
                        <a:spcAft>
                          <a:spcPts val="800"/>
                        </a:spcAft>
                      </a:pPr>
                      <a:r>
                        <a:rPr lang="en-US" sz="100" noProof="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Negative 322.5000</a:t>
                      </a:r>
                      <a:endParaRPr lang="en-US" sz="100" noProof="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15830.6500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309.3157</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17773.7017</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349.1678</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2702447"/>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Israel</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Israeli Shekel</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3.4763</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0.0030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3.9002</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0.0161</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4.3789</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0.0176</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5972935"/>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Japan</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Japanese Yen</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108.8250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0.2400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122.0956</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0.6644</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137.0816</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0.7317</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040725"/>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..One Month</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noProof="0">
                          <a:latin typeface="+mn-lt"/>
                        </a:rPr>
                        <a:t>Blank</a:t>
                      </a: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108.8249</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0.2399</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122.0956</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0.6644</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137.0816</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0.7316</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0071369"/>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..Three Month</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latin typeface="+mn-lt"/>
                          <a:ea typeface="Arial"/>
                          <a:cs typeface="Arial"/>
                          <a:sym typeface="Arial"/>
                        </a:rPr>
                        <a:t>Blank</a:t>
                      </a:r>
                      <a:endParaRPr lang="en-US" sz="1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108.8248</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0.2397</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122.0956</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0.6645</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137.0815</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0.7314</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23901461"/>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..One Year</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latin typeface="+mn-lt"/>
                          <a:ea typeface="Arial"/>
                          <a:cs typeface="Arial"/>
                          <a:sym typeface="Arial"/>
                        </a:rPr>
                        <a:t>Blank</a:t>
                      </a:r>
                      <a:endParaRPr lang="en-US" sz="1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108.8242</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0.2384</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122.0957</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0.6647</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137.0816</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0.7309</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5527092"/>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Kenya</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Kenyan Shilling</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106.1000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0.3500</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119.0383</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0.0054</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133.6491</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0.0199</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9459209"/>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Kuwait</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Kuwaiti Dinar</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0.3081</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0.0002</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0.3457</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0.0010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0.3881</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0.0010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231351"/>
                  </a:ext>
                </a:extLst>
              </a:tr>
              <a:tr h="199650">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Malaysia</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Malaysian Ringgit</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4.2625</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0.0150</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4.7823</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0.0013</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5.3693</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0.0020</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8164647"/>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Mexico</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Mexican Peso</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21.5950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0.0380</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24.2284</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0.0361</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27.2022</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0.0377</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2181590"/>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New Zealand</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New Zealand</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1.5570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0.0139</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1.7469</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lnSpc>
                          <a:spcPct val="107000"/>
                        </a:lnSpc>
                        <a:spcBef>
                          <a:spcPts val="1500"/>
                        </a:spcBef>
                        <a:spcAft>
                          <a:spcPts val="800"/>
                        </a:spcAft>
                      </a:pPr>
                      <a:r>
                        <a:rPr lang="en-US" sz="100" noProof="0">
                          <a:effectLst/>
                          <a:latin typeface="Times New Roman" panose="02020603050405020304" pitchFamily="18" charset="0"/>
                          <a:ea typeface="Calibri" panose="020F0502020204030204" pitchFamily="34" charset="0"/>
                          <a:cs typeface="Times New Roman" panose="02020603050405020304" pitchFamily="18" charset="0"/>
                        </a:rPr>
                        <a:t>Negative 0.0099</a:t>
                      </a:r>
                      <a:endParaRPr lang="en-US" sz="100" noProof="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1.9613</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0.0113</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14283077"/>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Nigeria</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Nigerian Naira</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388.1800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1.4300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435.5163</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3.0116</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488.9718</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3.3307</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2638985"/>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Norway</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Norwegian Krone</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9.4775</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0.0501</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10.6332</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0.0215</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11.9384</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dirty="0">
                          <a:solidFill>
                            <a:schemeClr val="dk1"/>
                          </a:solidFill>
                          <a:effectLst/>
                          <a:latin typeface="Arial"/>
                          <a:ea typeface="Arial"/>
                          <a:cs typeface="Arial"/>
                          <a:sym typeface="Arial"/>
                        </a:rPr>
                        <a:t>Negative 0.0254</a:t>
                      </a:r>
                      <a:endParaRPr lang="en-US" sz="100" noProof="0" dirty="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56515926"/>
                  </a:ext>
                </a:extLst>
              </a:tr>
            </a:tbl>
          </a:graphicData>
        </a:graphic>
      </p:graphicFrame>
      <p:graphicFrame>
        <p:nvGraphicFramePr>
          <p:cNvPr id="3" name="Object 2">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634747969"/>
              </p:ext>
            </p:extLst>
          </p:nvPr>
        </p:nvGraphicFramePr>
        <p:xfrm>
          <a:off x="4181764" y="2661747"/>
          <a:ext cx="577273" cy="161636"/>
        </p:xfrm>
        <a:graphic>
          <a:graphicData uri="http://schemas.openxmlformats.org/presentationml/2006/ole">
            <mc:AlternateContent xmlns:mc="http://schemas.openxmlformats.org/markup-compatibility/2006">
              <mc:Choice xmlns:v="urn:schemas-microsoft-com:vml" Requires="v">
                <p:oleObj spid="_x0000_s3174" name="Equation" r:id="rId3" imgW="634680" imgH="177480" progId="Equation.DSMT4">
                  <p:embed/>
                </p:oleObj>
              </mc:Choice>
              <mc:Fallback>
                <p:oleObj name="Equation" r:id="rId3" imgW="634680" imgH="177480" progId="Equation.DSMT4">
                  <p:embed/>
                  <p:pic>
                    <p:nvPicPr>
                      <p:cNvPr id="0" name=""/>
                      <p:cNvPicPr/>
                      <p:nvPr/>
                    </p:nvPicPr>
                    <p:blipFill>
                      <a:blip r:embed="rId4"/>
                      <a:stretch>
                        <a:fillRect/>
                      </a:stretch>
                    </p:blipFill>
                    <p:spPr>
                      <a:xfrm>
                        <a:off x="4181764" y="2661747"/>
                        <a:ext cx="577273" cy="161636"/>
                      </a:xfrm>
                      <a:prstGeom prst="rect">
                        <a:avLst/>
                      </a:prstGeom>
                      <a:solidFill>
                        <a:schemeClr val="bg1"/>
                      </a:solidFill>
                    </p:spPr>
                  </p:pic>
                </p:oleObj>
              </mc:Fallback>
            </mc:AlternateContent>
          </a:graphicData>
        </a:graphic>
      </p:graphicFrame>
      <p:graphicFrame>
        <p:nvGraphicFramePr>
          <p:cNvPr id="5" name="Object 4">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621323392"/>
              </p:ext>
            </p:extLst>
          </p:nvPr>
        </p:nvGraphicFramePr>
        <p:xfrm>
          <a:off x="6145877" y="2654127"/>
          <a:ext cx="565727" cy="161636"/>
        </p:xfrm>
        <a:graphic>
          <a:graphicData uri="http://schemas.openxmlformats.org/presentationml/2006/ole">
            <mc:AlternateContent xmlns:mc="http://schemas.openxmlformats.org/markup-compatibility/2006">
              <mc:Choice xmlns:v="urn:schemas-microsoft-com:vml" Requires="v">
                <p:oleObj spid="_x0000_s3175" name="Equation" r:id="rId5" imgW="622080" imgH="177480" progId="Equation.DSMT4">
                  <p:embed/>
                </p:oleObj>
              </mc:Choice>
              <mc:Fallback>
                <p:oleObj name="Equation" r:id="rId5" imgW="622080" imgH="177480" progId="Equation.DSMT4">
                  <p:embed/>
                  <p:pic>
                    <p:nvPicPr>
                      <p:cNvPr id="0" name=""/>
                      <p:cNvPicPr/>
                      <p:nvPr/>
                    </p:nvPicPr>
                    <p:blipFill>
                      <a:blip r:embed="rId6"/>
                      <a:stretch>
                        <a:fillRect/>
                      </a:stretch>
                    </p:blipFill>
                    <p:spPr>
                      <a:xfrm>
                        <a:off x="6145877" y="2654127"/>
                        <a:ext cx="565727" cy="161636"/>
                      </a:xfrm>
                      <a:prstGeom prst="rect">
                        <a:avLst/>
                      </a:prstGeom>
                      <a:solidFill>
                        <a:schemeClr val="bg1"/>
                      </a:solidFill>
                    </p:spPr>
                  </p:pic>
                </p:oleObj>
              </mc:Fallback>
            </mc:AlternateContent>
          </a:graphicData>
        </a:graphic>
      </p:graphicFrame>
      <p:graphicFrame>
        <p:nvGraphicFramePr>
          <p:cNvPr id="7" name="Object 6">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964139576"/>
              </p:ext>
            </p:extLst>
          </p:nvPr>
        </p:nvGraphicFramePr>
        <p:xfrm>
          <a:off x="8040717" y="2661747"/>
          <a:ext cx="565727" cy="161636"/>
        </p:xfrm>
        <a:graphic>
          <a:graphicData uri="http://schemas.openxmlformats.org/presentationml/2006/ole">
            <mc:AlternateContent xmlns:mc="http://schemas.openxmlformats.org/markup-compatibility/2006">
              <mc:Choice xmlns:v="urn:schemas-microsoft-com:vml" Requires="v">
                <p:oleObj spid="_x0000_s3176" name="Equation" r:id="rId7" imgW="622080" imgH="177480" progId="Equation.DSMT4">
                  <p:embed/>
                </p:oleObj>
              </mc:Choice>
              <mc:Fallback>
                <p:oleObj name="Equation" r:id="rId7" imgW="622080" imgH="177480" progId="Equation.DSMT4">
                  <p:embed/>
                  <p:pic>
                    <p:nvPicPr>
                      <p:cNvPr id="0" name=""/>
                      <p:cNvPicPr/>
                      <p:nvPr/>
                    </p:nvPicPr>
                    <p:blipFill>
                      <a:blip r:embed="rId8"/>
                      <a:stretch>
                        <a:fillRect/>
                      </a:stretch>
                    </p:blipFill>
                    <p:spPr>
                      <a:xfrm>
                        <a:off x="8040717" y="2661747"/>
                        <a:ext cx="565727" cy="161636"/>
                      </a:xfrm>
                      <a:prstGeom prst="rect">
                        <a:avLst/>
                      </a:prstGeom>
                      <a:solidFill>
                        <a:schemeClr val="bg1"/>
                      </a:solidFill>
                    </p:spPr>
                  </p:pic>
                </p:oleObj>
              </mc:Fallback>
            </mc:AlternateContent>
          </a:graphicData>
        </a:graphic>
      </p:graphicFrame>
      <p:graphicFrame>
        <p:nvGraphicFramePr>
          <p:cNvPr id="8" name="Object 7">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396469514"/>
              </p:ext>
            </p:extLst>
          </p:nvPr>
        </p:nvGraphicFramePr>
        <p:xfrm>
          <a:off x="4008131" y="3147362"/>
          <a:ext cx="756898" cy="168199"/>
        </p:xfrm>
        <a:graphic>
          <a:graphicData uri="http://schemas.openxmlformats.org/presentationml/2006/ole">
            <mc:AlternateContent xmlns:mc="http://schemas.openxmlformats.org/markup-compatibility/2006">
              <mc:Choice xmlns:v="urn:schemas-microsoft-com:vml" Requires="v">
                <p:oleObj spid="_x0000_s3177" name="Equation" r:id="rId9" imgW="799920" imgH="177480" progId="Equation.DSMT4">
                  <p:embed/>
                </p:oleObj>
              </mc:Choice>
              <mc:Fallback>
                <p:oleObj name="Equation" r:id="rId9" imgW="799920" imgH="177480" progId="Equation.DSMT4">
                  <p:embed/>
                  <p:pic>
                    <p:nvPicPr>
                      <p:cNvPr id="0" name=""/>
                      <p:cNvPicPr/>
                      <p:nvPr/>
                    </p:nvPicPr>
                    <p:blipFill>
                      <a:blip r:embed="rId10"/>
                      <a:stretch>
                        <a:fillRect/>
                      </a:stretch>
                    </p:blipFill>
                    <p:spPr>
                      <a:xfrm>
                        <a:off x="4008131" y="3147362"/>
                        <a:ext cx="756898" cy="168199"/>
                      </a:xfrm>
                      <a:prstGeom prst="rect">
                        <a:avLst/>
                      </a:prstGeom>
                      <a:solidFill>
                        <a:schemeClr val="bg1"/>
                      </a:solidFill>
                    </p:spPr>
                  </p:pic>
                </p:oleObj>
              </mc:Fallback>
            </mc:AlternateContent>
          </a:graphicData>
        </a:graphic>
      </p:graphicFrame>
      <p:graphicFrame>
        <p:nvGraphicFramePr>
          <p:cNvPr id="9" name="Object 8">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916161151"/>
              </p:ext>
            </p:extLst>
          </p:nvPr>
        </p:nvGraphicFramePr>
        <p:xfrm>
          <a:off x="5937250" y="3167961"/>
          <a:ext cx="800100" cy="177800"/>
        </p:xfrm>
        <a:graphic>
          <a:graphicData uri="http://schemas.openxmlformats.org/presentationml/2006/ole">
            <mc:AlternateContent xmlns:mc="http://schemas.openxmlformats.org/markup-compatibility/2006">
              <mc:Choice xmlns:v="urn:schemas-microsoft-com:vml" Requires="v">
                <p:oleObj spid="_x0000_s3178" name="Equation" r:id="rId11" imgW="799920" imgH="177480" progId="Equation.DSMT4">
                  <p:embed/>
                </p:oleObj>
              </mc:Choice>
              <mc:Fallback>
                <p:oleObj name="Equation" r:id="rId11" imgW="799920" imgH="177480" progId="Equation.DSMT4">
                  <p:embed/>
                  <p:pic>
                    <p:nvPicPr>
                      <p:cNvPr id="0" name=""/>
                      <p:cNvPicPr/>
                      <p:nvPr/>
                    </p:nvPicPr>
                    <p:blipFill>
                      <a:blip r:embed="rId12"/>
                      <a:stretch>
                        <a:fillRect/>
                      </a:stretch>
                    </p:blipFill>
                    <p:spPr>
                      <a:xfrm>
                        <a:off x="5937250" y="3167961"/>
                        <a:ext cx="800100" cy="177800"/>
                      </a:xfrm>
                      <a:prstGeom prst="rect">
                        <a:avLst/>
                      </a:prstGeom>
                      <a:solidFill>
                        <a:schemeClr val="bg1"/>
                      </a:solidFill>
                    </p:spPr>
                  </p:pic>
                </p:oleObj>
              </mc:Fallback>
            </mc:AlternateContent>
          </a:graphicData>
        </a:graphic>
      </p:graphicFrame>
      <p:graphicFrame>
        <p:nvGraphicFramePr>
          <p:cNvPr id="10" name="Object 9">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29971026"/>
              </p:ext>
            </p:extLst>
          </p:nvPr>
        </p:nvGraphicFramePr>
        <p:xfrm>
          <a:off x="7834827" y="3141210"/>
          <a:ext cx="808101" cy="179578"/>
        </p:xfrm>
        <a:graphic>
          <a:graphicData uri="http://schemas.openxmlformats.org/presentationml/2006/ole">
            <mc:AlternateContent xmlns:mc="http://schemas.openxmlformats.org/markup-compatibility/2006">
              <mc:Choice xmlns:v="urn:schemas-microsoft-com:vml" Requires="v">
                <p:oleObj spid="_x0000_s3179" name="Equation" r:id="rId13" imgW="799920" imgH="177480" progId="Equation.DSMT4">
                  <p:embed/>
                </p:oleObj>
              </mc:Choice>
              <mc:Fallback>
                <p:oleObj name="Equation" r:id="rId13" imgW="799920" imgH="177480" progId="Equation.DSMT4">
                  <p:embed/>
                  <p:pic>
                    <p:nvPicPr>
                      <p:cNvPr id="0" name=""/>
                      <p:cNvPicPr/>
                      <p:nvPr/>
                    </p:nvPicPr>
                    <p:blipFill>
                      <a:blip r:embed="rId14"/>
                      <a:stretch>
                        <a:fillRect/>
                      </a:stretch>
                    </p:blipFill>
                    <p:spPr>
                      <a:xfrm>
                        <a:off x="7834827" y="3141210"/>
                        <a:ext cx="808101" cy="179578"/>
                      </a:xfrm>
                      <a:prstGeom prst="rect">
                        <a:avLst/>
                      </a:prstGeom>
                      <a:solidFill>
                        <a:schemeClr val="bg1"/>
                      </a:solidFill>
                    </p:spPr>
                  </p:pic>
                </p:oleObj>
              </mc:Fallback>
            </mc:AlternateContent>
          </a:graphicData>
        </a:graphic>
      </p:graphicFrame>
      <p:graphicFrame>
        <p:nvGraphicFramePr>
          <p:cNvPr id="11" name="Object 10">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979967926"/>
              </p:ext>
            </p:extLst>
          </p:nvPr>
        </p:nvGraphicFramePr>
        <p:xfrm>
          <a:off x="4188114" y="4614372"/>
          <a:ext cx="577273" cy="161636"/>
        </p:xfrm>
        <a:graphic>
          <a:graphicData uri="http://schemas.openxmlformats.org/presentationml/2006/ole">
            <mc:AlternateContent xmlns:mc="http://schemas.openxmlformats.org/markup-compatibility/2006">
              <mc:Choice xmlns:v="urn:schemas-microsoft-com:vml" Requires="v">
                <p:oleObj spid="_x0000_s3180" name="Equation" r:id="rId15" imgW="634680" imgH="177480" progId="Equation.DSMT4">
                  <p:embed/>
                </p:oleObj>
              </mc:Choice>
              <mc:Fallback>
                <p:oleObj name="Equation" r:id="rId15" imgW="634680" imgH="177480" progId="Equation.DSMT4">
                  <p:embed/>
                  <p:pic>
                    <p:nvPicPr>
                      <p:cNvPr id="0" name=""/>
                      <p:cNvPicPr/>
                      <p:nvPr/>
                    </p:nvPicPr>
                    <p:blipFill>
                      <a:blip r:embed="rId16"/>
                      <a:stretch>
                        <a:fillRect/>
                      </a:stretch>
                    </p:blipFill>
                    <p:spPr>
                      <a:xfrm>
                        <a:off x="4188114" y="4614372"/>
                        <a:ext cx="577273" cy="161636"/>
                      </a:xfrm>
                      <a:prstGeom prst="rect">
                        <a:avLst/>
                      </a:prstGeom>
                      <a:solidFill>
                        <a:schemeClr val="bg1"/>
                      </a:solidFill>
                    </p:spPr>
                  </p:pic>
                </p:oleObj>
              </mc:Fallback>
            </mc:AlternateContent>
          </a:graphicData>
        </a:graphic>
      </p:graphicFrame>
      <p:graphicFrame>
        <p:nvGraphicFramePr>
          <p:cNvPr id="12" name="Object 11">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326219309"/>
              </p:ext>
            </p:extLst>
          </p:nvPr>
        </p:nvGraphicFramePr>
        <p:xfrm>
          <a:off x="6137564" y="4592147"/>
          <a:ext cx="577273" cy="161636"/>
        </p:xfrm>
        <a:graphic>
          <a:graphicData uri="http://schemas.openxmlformats.org/presentationml/2006/ole">
            <mc:AlternateContent xmlns:mc="http://schemas.openxmlformats.org/markup-compatibility/2006">
              <mc:Choice xmlns:v="urn:schemas-microsoft-com:vml" Requires="v">
                <p:oleObj spid="_x0000_s3181" name="Equation" r:id="rId17" imgW="634680" imgH="177480" progId="Equation.DSMT4">
                  <p:embed/>
                </p:oleObj>
              </mc:Choice>
              <mc:Fallback>
                <p:oleObj name="Equation" r:id="rId17" imgW="634680" imgH="177480" progId="Equation.DSMT4">
                  <p:embed/>
                  <p:pic>
                    <p:nvPicPr>
                      <p:cNvPr id="0" name=""/>
                      <p:cNvPicPr/>
                      <p:nvPr/>
                    </p:nvPicPr>
                    <p:blipFill>
                      <a:blip r:embed="rId18"/>
                      <a:stretch>
                        <a:fillRect/>
                      </a:stretch>
                    </p:blipFill>
                    <p:spPr>
                      <a:xfrm>
                        <a:off x="6137564" y="4592147"/>
                        <a:ext cx="577273" cy="161636"/>
                      </a:xfrm>
                      <a:prstGeom prst="rect">
                        <a:avLst/>
                      </a:prstGeom>
                      <a:solidFill>
                        <a:schemeClr val="bg1"/>
                      </a:solidFill>
                    </p:spPr>
                  </p:pic>
                </p:oleObj>
              </mc:Fallback>
            </mc:AlternateContent>
          </a:graphicData>
        </a:graphic>
      </p:graphicFrame>
      <p:graphicFrame>
        <p:nvGraphicFramePr>
          <p:cNvPr id="13" name="Object 12">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204143471"/>
              </p:ext>
            </p:extLst>
          </p:nvPr>
        </p:nvGraphicFramePr>
        <p:xfrm>
          <a:off x="8029864" y="4603577"/>
          <a:ext cx="577273" cy="161636"/>
        </p:xfrm>
        <a:graphic>
          <a:graphicData uri="http://schemas.openxmlformats.org/presentationml/2006/ole">
            <mc:AlternateContent xmlns:mc="http://schemas.openxmlformats.org/markup-compatibility/2006">
              <mc:Choice xmlns:v="urn:schemas-microsoft-com:vml" Requires="v">
                <p:oleObj spid="_x0000_s3182" name="Equation" r:id="rId19" imgW="634680" imgH="177480" progId="Equation.DSMT4">
                  <p:embed/>
                </p:oleObj>
              </mc:Choice>
              <mc:Fallback>
                <p:oleObj name="Equation" r:id="rId19" imgW="634680" imgH="177480" progId="Equation.DSMT4">
                  <p:embed/>
                  <p:pic>
                    <p:nvPicPr>
                      <p:cNvPr id="0" name=""/>
                      <p:cNvPicPr/>
                      <p:nvPr/>
                    </p:nvPicPr>
                    <p:blipFill>
                      <a:blip r:embed="rId20"/>
                      <a:stretch>
                        <a:fillRect/>
                      </a:stretch>
                    </p:blipFill>
                    <p:spPr>
                      <a:xfrm>
                        <a:off x="8029864" y="4603577"/>
                        <a:ext cx="577273" cy="161636"/>
                      </a:xfrm>
                      <a:prstGeom prst="rect">
                        <a:avLst/>
                      </a:prstGeom>
                      <a:solidFill>
                        <a:schemeClr val="bg1"/>
                      </a:solidFill>
                    </p:spPr>
                  </p:pic>
                </p:oleObj>
              </mc:Fallback>
            </mc:AlternateContent>
          </a:graphicData>
        </a:graphic>
      </p:graphicFrame>
      <p:graphicFrame>
        <p:nvGraphicFramePr>
          <p:cNvPr id="14" name="Object 13">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822401496"/>
              </p:ext>
            </p:extLst>
          </p:nvPr>
        </p:nvGraphicFramePr>
        <p:xfrm>
          <a:off x="4184939" y="4804872"/>
          <a:ext cx="577273" cy="161636"/>
        </p:xfrm>
        <a:graphic>
          <a:graphicData uri="http://schemas.openxmlformats.org/presentationml/2006/ole">
            <mc:AlternateContent xmlns:mc="http://schemas.openxmlformats.org/markup-compatibility/2006">
              <mc:Choice xmlns:v="urn:schemas-microsoft-com:vml" Requires="v">
                <p:oleObj spid="_x0000_s3183" name="Equation" r:id="rId21" imgW="634680" imgH="177480" progId="Equation.DSMT4">
                  <p:embed/>
                </p:oleObj>
              </mc:Choice>
              <mc:Fallback>
                <p:oleObj name="Equation" r:id="rId21" imgW="634680" imgH="177480" progId="Equation.DSMT4">
                  <p:embed/>
                  <p:pic>
                    <p:nvPicPr>
                      <p:cNvPr id="0" name=""/>
                      <p:cNvPicPr/>
                      <p:nvPr/>
                    </p:nvPicPr>
                    <p:blipFill>
                      <a:blip r:embed="rId22"/>
                      <a:stretch>
                        <a:fillRect/>
                      </a:stretch>
                    </p:blipFill>
                    <p:spPr>
                      <a:xfrm>
                        <a:off x="4184939" y="4804872"/>
                        <a:ext cx="577273" cy="161636"/>
                      </a:xfrm>
                      <a:prstGeom prst="rect">
                        <a:avLst/>
                      </a:prstGeom>
                      <a:solidFill>
                        <a:schemeClr val="bg1"/>
                      </a:solidFill>
                    </p:spPr>
                  </p:pic>
                </p:oleObj>
              </mc:Fallback>
            </mc:AlternateContent>
          </a:graphicData>
        </a:graphic>
      </p:graphicFrame>
      <p:graphicFrame>
        <p:nvGraphicFramePr>
          <p:cNvPr id="15" name="Object 14">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704089259"/>
              </p:ext>
            </p:extLst>
          </p:nvPr>
        </p:nvGraphicFramePr>
        <p:xfrm>
          <a:off x="4188114" y="5015057"/>
          <a:ext cx="577273" cy="161636"/>
        </p:xfrm>
        <a:graphic>
          <a:graphicData uri="http://schemas.openxmlformats.org/presentationml/2006/ole">
            <mc:AlternateContent xmlns:mc="http://schemas.openxmlformats.org/markup-compatibility/2006">
              <mc:Choice xmlns:v="urn:schemas-microsoft-com:vml" Requires="v">
                <p:oleObj spid="_x0000_s3184" name="Equation" r:id="rId23" imgW="634680" imgH="177480" progId="Equation.DSMT4">
                  <p:embed/>
                </p:oleObj>
              </mc:Choice>
              <mc:Fallback>
                <p:oleObj name="Equation" r:id="rId23" imgW="634680" imgH="177480" progId="Equation.DSMT4">
                  <p:embed/>
                  <p:pic>
                    <p:nvPicPr>
                      <p:cNvPr id="0" name=""/>
                      <p:cNvPicPr/>
                      <p:nvPr/>
                    </p:nvPicPr>
                    <p:blipFill>
                      <a:blip r:embed="rId24"/>
                      <a:stretch>
                        <a:fillRect/>
                      </a:stretch>
                    </p:blipFill>
                    <p:spPr>
                      <a:xfrm>
                        <a:off x="4188114" y="5015057"/>
                        <a:ext cx="577273" cy="161636"/>
                      </a:xfrm>
                      <a:prstGeom prst="rect">
                        <a:avLst/>
                      </a:prstGeom>
                      <a:solidFill>
                        <a:schemeClr val="bg1"/>
                      </a:solidFill>
                    </p:spPr>
                  </p:pic>
                </p:oleObj>
              </mc:Fallback>
            </mc:AlternateContent>
          </a:graphicData>
        </a:graphic>
      </p:graphicFrame>
      <p:graphicFrame>
        <p:nvGraphicFramePr>
          <p:cNvPr id="16" name="Object 15">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46666767"/>
              </p:ext>
            </p:extLst>
          </p:nvPr>
        </p:nvGraphicFramePr>
        <p:xfrm>
          <a:off x="6143914" y="5015057"/>
          <a:ext cx="577273" cy="161636"/>
        </p:xfrm>
        <a:graphic>
          <a:graphicData uri="http://schemas.openxmlformats.org/presentationml/2006/ole">
            <mc:AlternateContent xmlns:mc="http://schemas.openxmlformats.org/markup-compatibility/2006">
              <mc:Choice xmlns:v="urn:schemas-microsoft-com:vml" Requires="v">
                <p:oleObj spid="_x0000_s3185" name="Equation" r:id="rId25" imgW="634680" imgH="177480" progId="Equation.DSMT4">
                  <p:embed/>
                </p:oleObj>
              </mc:Choice>
              <mc:Fallback>
                <p:oleObj name="Equation" r:id="rId25" imgW="634680" imgH="177480" progId="Equation.DSMT4">
                  <p:embed/>
                  <p:pic>
                    <p:nvPicPr>
                      <p:cNvPr id="0" name=""/>
                      <p:cNvPicPr/>
                      <p:nvPr/>
                    </p:nvPicPr>
                    <p:blipFill>
                      <a:blip r:embed="rId26"/>
                      <a:stretch>
                        <a:fillRect/>
                      </a:stretch>
                    </p:blipFill>
                    <p:spPr>
                      <a:xfrm>
                        <a:off x="6143914" y="5015057"/>
                        <a:ext cx="577273" cy="161636"/>
                      </a:xfrm>
                      <a:prstGeom prst="rect">
                        <a:avLst/>
                      </a:prstGeom>
                      <a:solidFill>
                        <a:schemeClr val="bg1"/>
                      </a:solidFill>
                    </p:spPr>
                  </p:pic>
                </p:oleObj>
              </mc:Fallback>
            </mc:AlternateContent>
          </a:graphicData>
        </a:graphic>
      </p:graphicFrame>
      <p:graphicFrame>
        <p:nvGraphicFramePr>
          <p:cNvPr id="17" name="Object 16">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724366962"/>
              </p:ext>
            </p:extLst>
          </p:nvPr>
        </p:nvGraphicFramePr>
        <p:xfrm>
          <a:off x="8029864" y="5015057"/>
          <a:ext cx="577273" cy="161636"/>
        </p:xfrm>
        <a:graphic>
          <a:graphicData uri="http://schemas.openxmlformats.org/presentationml/2006/ole">
            <mc:AlternateContent xmlns:mc="http://schemas.openxmlformats.org/markup-compatibility/2006">
              <mc:Choice xmlns:v="urn:schemas-microsoft-com:vml" Requires="v">
                <p:oleObj spid="_x0000_s3186" name="Equation" r:id="rId27" imgW="634680" imgH="177480" progId="Equation.DSMT4">
                  <p:embed/>
                </p:oleObj>
              </mc:Choice>
              <mc:Fallback>
                <p:oleObj name="Equation" r:id="rId27" imgW="634680" imgH="177480" progId="Equation.DSMT4">
                  <p:embed/>
                  <p:pic>
                    <p:nvPicPr>
                      <p:cNvPr id="0" name=""/>
                      <p:cNvPicPr/>
                      <p:nvPr/>
                    </p:nvPicPr>
                    <p:blipFill>
                      <a:blip r:embed="rId28"/>
                      <a:stretch>
                        <a:fillRect/>
                      </a:stretch>
                    </p:blipFill>
                    <p:spPr>
                      <a:xfrm>
                        <a:off x="8029864" y="5015057"/>
                        <a:ext cx="577273" cy="161636"/>
                      </a:xfrm>
                      <a:prstGeom prst="rect">
                        <a:avLst/>
                      </a:prstGeom>
                      <a:solidFill>
                        <a:schemeClr val="bg1"/>
                      </a:solidFill>
                    </p:spPr>
                  </p:pic>
                </p:oleObj>
              </mc:Fallback>
            </mc:AlternateContent>
          </a:graphicData>
        </a:graphic>
      </p:graphicFrame>
      <p:graphicFrame>
        <p:nvGraphicFramePr>
          <p:cNvPr id="18" name="Object 17">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86473208"/>
              </p:ext>
            </p:extLst>
          </p:nvPr>
        </p:nvGraphicFramePr>
        <p:xfrm>
          <a:off x="4186844" y="5243022"/>
          <a:ext cx="577273" cy="161636"/>
        </p:xfrm>
        <a:graphic>
          <a:graphicData uri="http://schemas.openxmlformats.org/presentationml/2006/ole">
            <mc:AlternateContent xmlns:mc="http://schemas.openxmlformats.org/markup-compatibility/2006">
              <mc:Choice xmlns:v="urn:schemas-microsoft-com:vml" Requires="v">
                <p:oleObj spid="_x0000_s3187" name="Equation" r:id="rId29" imgW="634680" imgH="177480" progId="Equation.DSMT4">
                  <p:embed/>
                </p:oleObj>
              </mc:Choice>
              <mc:Fallback>
                <p:oleObj name="Equation" r:id="rId29" imgW="634680" imgH="177480" progId="Equation.DSMT4">
                  <p:embed/>
                  <p:pic>
                    <p:nvPicPr>
                      <p:cNvPr id="0" name=""/>
                      <p:cNvPicPr/>
                      <p:nvPr/>
                    </p:nvPicPr>
                    <p:blipFill>
                      <a:blip r:embed="rId30"/>
                      <a:stretch>
                        <a:fillRect/>
                      </a:stretch>
                    </p:blipFill>
                    <p:spPr>
                      <a:xfrm>
                        <a:off x="4186844" y="5243022"/>
                        <a:ext cx="577273" cy="161636"/>
                      </a:xfrm>
                      <a:prstGeom prst="rect">
                        <a:avLst/>
                      </a:prstGeom>
                      <a:solidFill>
                        <a:schemeClr val="bg1"/>
                      </a:solidFill>
                    </p:spPr>
                  </p:pic>
                </p:oleObj>
              </mc:Fallback>
            </mc:AlternateContent>
          </a:graphicData>
        </a:graphic>
      </p:graphicFrame>
      <p:graphicFrame>
        <p:nvGraphicFramePr>
          <p:cNvPr id="19" name="Object 18">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820087734"/>
              </p:ext>
            </p:extLst>
          </p:nvPr>
        </p:nvGraphicFramePr>
        <p:xfrm>
          <a:off x="4188114" y="5453207"/>
          <a:ext cx="577273" cy="161636"/>
        </p:xfrm>
        <a:graphic>
          <a:graphicData uri="http://schemas.openxmlformats.org/presentationml/2006/ole">
            <mc:AlternateContent xmlns:mc="http://schemas.openxmlformats.org/markup-compatibility/2006">
              <mc:Choice xmlns:v="urn:schemas-microsoft-com:vml" Requires="v">
                <p:oleObj spid="_x0000_s3188" name="Equation" r:id="rId31" imgW="634680" imgH="177480" progId="Equation.DSMT4">
                  <p:embed/>
                </p:oleObj>
              </mc:Choice>
              <mc:Fallback>
                <p:oleObj name="Equation" r:id="rId31" imgW="634680" imgH="177480" progId="Equation.DSMT4">
                  <p:embed/>
                  <p:pic>
                    <p:nvPicPr>
                      <p:cNvPr id="0" name=""/>
                      <p:cNvPicPr/>
                      <p:nvPr/>
                    </p:nvPicPr>
                    <p:blipFill>
                      <a:blip r:embed="rId32"/>
                      <a:stretch>
                        <a:fillRect/>
                      </a:stretch>
                    </p:blipFill>
                    <p:spPr>
                      <a:xfrm>
                        <a:off x="4188114" y="5453207"/>
                        <a:ext cx="577273" cy="161636"/>
                      </a:xfrm>
                      <a:prstGeom prst="rect">
                        <a:avLst/>
                      </a:prstGeom>
                      <a:solidFill>
                        <a:schemeClr val="bg1"/>
                      </a:solidFill>
                    </p:spPr>
                  </p:pic>
                </p:oleObj>
              </mc:Fallback>
            </mc:AlternateContent>
          </a:graphicData>
        </a:graphic>
      </p:graphicFrame>
      <p:graphicFrame>
        <p:nvGraphicFramePr>
          <p:cNvPr id="20" name="Object 19">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04636631"/>
              </p:ext>
            </p:extLst>
          </p:nvPr>
        </p:nvGraphicFramePr>
        <p:xfrm>
          <a:off x="6146454" y="5455747"/>
          <a:ext cx="577273" cy="161636"/>
        </p:xfrm>
        <a:graphic>
          <a:graphicData uri="http://schemas.openxmlformats.org/presentationml/2006/ole">
            <mc:AlternateContent xmlns:mc="http://schemas.openxmlformats.org/markup-compatibility/2006">
              <mc:Choice xmlns:v="urn:schemas-microsoft-com:vml" Requires="v">
                <p:oleObj spid="_x0000_s3189" name="Equation" r:id="rId33" imgW="634680" imgH="177480" progId="Equation.DSMT4">
                  <p:embed/>
                </p:oleObj>
              </mc:Choice>
              <mc:Fallback>
                <p:oleObj name="Equation" r:id="rId33" imgW="634680" imgH="177480" progId="Equation.DSMT4">
                  <p:embed/>
                  <p:pic>
                    <p:nvPicPr>
                      <p:cNvPr id="0" name=""/>
                      <p:cNvPicPr/>
                      <p:nvPr/>
                    </p:nvPicPr>
                    <p:blipFill>
                      <a:blip r:embed="rId34"/>
                      <a:stretch>
                        <a:fillRect/>
                      </a:stretch>
                    </p:blipFill>
                    <p:spPr>
                      <a:xfrm>
                        <a:off x="6146454" y="5455747"/>
                        <a:ext cx="577273" cy="161636"/>
                      </a:xfrm>
                      <a:prstGeom prst="rect">
                        <a:avLst/>
                      </a:prstGeom>
                      <a:solidFill>
                        <a:schemeClr val="bg1"/>
                      </a:solidFill>
                    </p:spPr>
                  </p:pic>
                </p:oleObj>
              </mc:Fallback>
            </mc:AlternateContent>
          </a:graphicData>
        </a:graphic>
      </p:graphicFrame>
      <p:graphicFrame>
        <p:nvGraphicFramePr>
          <p:cNvPr id="21" name="Object 20">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780092884"/>
              </p:ext>
            </p:extLst>
          </p:nvPr>
        </p:nvGraphicFramePr>
        <p:xfrm>
          <a:off x="8026441" y="5456382"/>
          <a:ext cx="577273" cy="161636"/>
        </p:xfrm>
        <a:graphic>
          <a:graphicData uri="http://schemas.openxmlformats.org/presentationml/2006/ole">
            <mc:AlternateContent xmlns:mc="http://schemas.openxmlformats.org/markup-compatibility/2006">
              <mc:Choice xmlns:v="urn:schemas-microsoft-com:vml" Requires="v">
                <p:oleObj spid="_x0000_s3190" name="Equation" r:id="rId35" imgW="634680" imgH="177480" progId="Equation.DSMT4">
                  <p:embed/>
                </p:oleObj>
              </mc:Choice>
              <mc:Fallback>
                <p:oleObj name="Equation" r:id="rId35" imgW="634680" imgH="177480" progId="Equation.DSMT4">
                  <p:embed/>
                  <p:pic>
                    <p:nvPicPr>
                      <p:cNvPr id="0" name=""/>
                      <p:cNvPicPr/>
                      <p:nvPr/>
                    </p:nvPicPr>
                    <p:blipFill>
                      <a:blip r:embed="rId36"/>
                      <a:stretch>
                        <a:fillRect/>
                      </a:stretch>
                    </p:blipFill>
                    <p:spPr>
                      <a:xfrm>
                        <a:off x="8026441" y="5456382"/>
                        <a:ext cx="577273" cy="161636"/>
                      </a:xfrm>
                      <a:prstGeom prst="rect">
                        <a:avLst/>
                      </a:prstGeom>
                      <a:solidFill>
                        <a:schemeClr val="bg1"/>
                      </a:solidFill>
                    </p:spPr>
                  </p:pic>
                </p:oleObj>
              </mc:Fallback>
            </mc:AlternateContent>
          </a:graphicData>
        </a:graphic>
      </p:graphicFrame>
      <p:graphicFrame>
        <p:nvGraphicFramePr>
          <p:cNvPr id="22" name="Object 21">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542287490"/>
              </p:ext>
            </p:extLst>
          </p:nvPr>
        </p:nvGraphicFramePr>
        <p:xfrm>
          <a:off x="4186959" y="5891357"/>
          <a:ext cx="554182" cy="161636"/>
        </p:xfrm>
        <a:graphic>
          <a:graphicData uri="http://schemas.openxmlformats.org/presentationml/2006/ole">
            <mc:AlternateContent xmlns:mc="http://schemas.openxmlformats.org/markup-compatibility/2006">
              <mc:Choice xmlns:v="urn:schemas-microsoft-com:vml" Requires="v">
                <p:oleObj spid="_x0000_s3191" name="Equation" r:id="rId37" imgW="609480" imgH="177480" progId="Equation.DSMT4">
                  <p:embed/>
                </p:oleObj>
              </mc:Choice>
              <mc:Fallback>
                <p:oleObj name="Equation" r:id="rId37" imgW="609480" imgH="177480" progId="Equation.DSMT4">
                  <p:embed/>
                  <p:pic>
                    <p:nvPicPr>
                      <p:cNvPr id="0" name=""/>
                      <p:cNvPicPr/>
                      <p:nvPr/>
                    </p:nvPicPr>
                    <p:blipFill>
                      <a:blip r:embed="rId38"/>
                      <a:stretch>
                        <a:fillRect/>
                      </a:stretch>
                    </p:blipFill>
                    <p:spPr>
                      <a:xfrm>
                        <a:off x="4186959" y="5891357"/>
                        <a:ext cx="554182" cy="161636"/>
                      </a:xfrm>
                      <a:prstGeom prst="rect">
                        <a:avLst/>
                      </a:prstGeom>
                      <a:solidFill>
                        <a:schemeClr val="bg1"/>
                      </a:solidFill>
                    </p:spPr>
                  </p:pic>
                </p:oleObj>
              </mc:Fallback>
            </mc:AlternateContent>
          </a:graphicData>
        </a:graphic>
      </p:graphicFrame>
      <p:graphicFrame>
        <p:nvGraphicFramePr>
          <p:cNvPr id="23" name="Object 22">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83129931"/>
              </p:ext>
            </p:extLst>
          </p:nvPr>
        </p:nvGraphicFramePr>
        <p:xfrm>
          <a:off x="6143914" y="5891792"/>
          <a:ext cx="577273" cy="161636"/>
        </p:xfrm>
        <a:graphic>
          <a:graphicData uri="http://schemas.openxmlformats.org/presentationml/2006/ole">
            <mc:AlternateContent xmlns:mc="http://schemas.openxmlformats.org/markup-compatibility/2006">
              <mc:Choice xmlns:v="urn:schemas-microsoft-com:vml" Requires="v">
                <p:oleObj spid="_x0000_s3192" name="Equation" r:id="rId39" imgW="634680" imgH="177480" progId="Equation.DSMT4">
                  <p:embed/>
                </p:oleObj>
              </mc:Choice>
              <mc:Fallback>
                <p:oleObj name="Equation" r:id="rId39" imgW="634680" imgH="177480" progId="Equation.DSMT4">
                  <p:embed/>
                  <p:pic>
                    <p:nvPicPr>
                      <p:cNvPr id="0" name=""/>
                      <p:cNvPicPr/>
                      <p:nvPr/>
                    </p:nvPicPr>
                    <p:blipFill>
                      <a:blip r:embed="rId40"/>
                      <a:stretch>
                        <a:fillRect/>
                      </a:stretch>
                    </p:blipFill>
                    <p:spPr>
                      <a:xfrm>
                        <a:off x="6143914" y="5891792"/>
                        <a:ext cx="577273" cy="161636"/>
                      </a:xfrm>
                      <a:prstGeom prst="rect">
                        <a:avLst/>
                      </a:prstGeom>
                      <a:solidFill>
                        <a:schemeClr val="bg1"/>
                      </a:solidFill>
                    </p:spPr>
                  </p:pic>
                </p:oleObj>
              </mc:Fallback>
            </mc:AlternateContent>
          </a:graphicData>
        </a:graphic>
      </p:graphicFrame>
      <p:graphicFrame>
        <p:nvGraphicFramePr>
          <p:cNvPr id="24" name="Object 23">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567134767"/>
              </p:ext>
            </p:extLst>
          </p:nvPr>
        </p:nvGraphicFramePr>
        <p:xfrm>
          <a:off x="8026054" y="5896673"/>
          <a:ext cx="577273" cy="161636"/>
        </p:xfrm>
        <a:graphic>
          <a:graphicData uri="http://schemas.openxmlformats.org/presentationml/2006/ole">
            <mc:AlternateContent xmlns:mc="http://schemas.openxmlformats.org/markup-compatibility/2006">
              <mc:Choice xmlns:v="urn:schemas-microsoft-com:vml" Requires="v">
                <p:oleObj spid="_x0000_s3193" name="Equation" r:id="rId41" imgW="634680" imgH="177480" progId="Equation.DSMT4">
                  <p:embed/>
                </p:oleObj>
              </mc:Choice>
              <mc:Fallback>
                <p:oleObj name="Equation" r:id="rId41" imgW="634680" imgH="177480" progId="Equation.DSMT4">
                  <p:embed/>
                  <p:pic>
                    <p:nvPicPr>
                      <p:cNvPr id="0" name=""/>
                      <p:cNvPicPr/>
                      <p:nvPr/>
                    </p:nvPicPr>
                    <p:blipFill>
                      <a:blip r:embed="rId42"/>
                      <a:stretch>
                        <a:fillRect/>
                      </a:stretch>
                    </p:blipFill>
                    <p:spPr>
                      <a:xfrm>
                        <a:off x="8026054" y="5896673"/>
                        <a:ext cx="577273" cy="161636"/>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665501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a:t>Table 14.1 Exchange Rate Quotations </a:t>
            </a:r>
            <a:r>
              <a:rPr lang="en-US" altLang="en-US" sz="2000" b="0" dirty="0"/>
              <a:t>(3 of 5)</a:t>
            </a:r>
            <a:endParaRPr lang="en-IN" dirty="0"/>
          </a:p>
        </p:txBody>
      </p:sp>
      <p:graphicFrame>
        <p:nvGraphicFramePr>
          <p:cNvPr id="6" name="Content Placeholder 5"/>
          <p:cNvGraphicFramePr>
            <a:graphicFrameLocks noGrp="1"/>
          </p:cNvGraphicFramePr>
          <p:nvPr>
            <p:ph sz="quarter" idx="14"/>
            <p:extLst>
              <p:ext uri="{D42A27DB-BD31-4B8C-83A1-F6EECF244321}">
                <p14:modId xmlns:p14="http://schemas.microsoft.com/office/powerpoint/2010/main" val="2942045158"/>
              </p:ext>
            </p:extLst>
          </p:nvPr>
        </p:nvGraphicFramePr>
        <p:xfrm>
          <a:off x="457199" y="2012496"/>
          <a:ext cx="8181728" cy="4040130"/>
        </p:xfrm>
        <a:graphic>
          <a:graphicData uri="http://schemas.openxmlformats.org/drawingml/2006/table">
            <a:tbl>
              <a:tblPr firstRow="1" bandRow="1">
                <a:tableStyleId>{40F9630F-82C1-40B7-BC3A-925EFCFF5E92}</a:tableStyleId>
              </a:tblPr>
              <a:tblGrid>
                <a:gridCol w="1079058">
                  <a:extLst>
                    <a:ext uri="{9D8B030D-6E8A-4147-A177-3AD203B41FA5}">
                      <a16:colId xmlns:a16="http://schemas.microsoft.com/office/drawing/2014/main" val="2158364159"/>
                    </a:ext>
                  </a:extLst>
                </a:gridCol>
                <a:gridCol w="1277505">
                  <a:extLst>
                    <a:ext uri="{9D8B030D-6E8A-4147-A177-3AD203B41FA5}">
                      <a16:colId xmlns:a16="http://schemas.microsoft.com/office/drawing/2014/main" val="3854539076"/>
                    </a:ext>
                  </a:extLst>
                </a:gridCol>
                <a:gridCol w="986046">
                  <a:extLst>
                    <a:ext uri="{9D8B030D-6E8A-4147-A177-3AD203B41FA5}">
                      <a16:colId xmlns:a16="http://schemas.microsoft.com/office/drawing/2014/main" val="329971916"/>
                    </a:ext>
                  </a:extLst>
                </a:gridCol>
                <a:gridCol w="1000548">
                  <a:extLst>
                    <a:ext uri="{9D8B030D-6E8A-4147-A177-3AD203B41FA5}">
                      <a16:colId xmlns:a16="http://schemas.microsoft.com/office/drawing/2014/main" val="490364007"/>
                    </a:ext>
                  </a:extLst>
                </a:gridCol>
                <a:gridCol w="908404">
                  <a:extLst>
                    <a:ext uri="{9D8B030D-6E8A-4147-A177-3AD203B41FA5}">
                      <a16:colId xmlns:a16="http://schemas.microsoft.com/office/drawing/2014/main" val="113416755"/>
                    </a:ext>
                  </a:extLst>
                </a:gridCol>
                <a:gridCol w="1044995">
                  <a:extLst>
                    <a:ext uri="{9D8B030D-6E8A-4147-A177-3AD203B41FA5}">
                      <a16:colId xmlns:a16="http://schemas.microsoft.com/office/drawing/2014/main" val="3760073308"/>
                    </a:ext>
                  </a:extLst>
                </a:gridCol>
                <a:gridCol w="946116">
                  <a:extLst>
                    <a:ext uri="{9D8B030D-6E8A-4147-A177-3AD203B41FA5}">
                      <a16:colId xmlns:a16="http://schemas.microsoft.com/office/drawing/2014/main" val="889847359"/>
                    </a:ext>
                  </a:extLst>
                </a:gridCol>
                <a:gridCol w="939056">
                  <a:extLst>
                    <a:ext uri="{9D8B030D-6E8A-4147-A177-3AD203B41FA5}">
                      <a16:colId xmlns:a16="http://schemas.microsoft.com/office/drawing/2014/main" val="2970760308"/>
                    </a:ext>
                  </a:extLst>
                </a:gridCol>
              </a:tblGrid>
              <a:tr h="2795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noProof="0" dirty="0">
                          <a:solidFill>
                            <a:schemeClr val="tx1"/>
                          </a:solidFill>
                          <a:latin typeface="+mn-lt"/>
                          <a:cs typeface="Arial" panose="020B0604020202020204" pitchFamily="34" charset="0"/>
                        </a:rPr>
                        <a:t>Jun</a:t>
                      </a:r>
                      <a:r>
                        <a:rPr lang="en-US" sz="1200" b="0" baseline="0" noProof="0" dirty="0">
                          <a:solidFill>
                            <a:schemeClr val="tx1"/>
                          </a:solidFill>
                          <a:latin typeface="+mn-lt"/>
                          <a:cs typeface="Arial" panose="020B0604020202020204" pitchFamily="34" charset="0"/>
                        </a:rPr>
                        <a:t> 3</a:t>
                      </a:r>
                      <a:endParaRPr lang="en-US" sz="1200" b="0" noProof="0" dirty="0">
                        <a:latin typeface="+mn-lt"/>
                        <a:cs typeface="Arial" panose="020B0604020202020204" pitchFamily="34" charset="0"/>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0" noProof="0" dirty="0">
                          <a:solidFill>
                            <a:schemeClr val="tx1"/>
                          </a:solidFill>
                          <a:latin typeface="+mn-lt"/>
                          <a:cs typeface="Arial" panose="020B0604020202020204" pitchFamily="34" charset="0"/>
                        </a:rPr>
                        <a:t>Currency</a:t>
                      </a:r>
                      <a:endParaRPr lang="en-US" sz="1200" noProof="0" dirty="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a:solidFill>
                            <a:schemeClr val="tx1"/>
                          </a:solidFill>
                          <a:latin typeface="+mn-lt"/>
                          <a:cs typeface="Arial" panose="020B0604020202020204" pitchFamily="34" charset="0"/>
                        </a:rPr>
                        <a:t>DOLLAR</a:t>
                      </a:r>
                    </a:p>
                    <a:p>
                      <a:pPr algn="ctr"/>
                      <a:r>
                        <a:rPr lang="en-US" sz="1200" b="0" noProof="0">
                          <a:solidFill>
                            <a:schemeClr val="tx1"/>
                          </a:solidFill>
                          <a:latin typeface="+mn-lt"/>
                          <a:cs typeface="Arial" panose="020B0604020202020204" pitchFamily="34" charset="0"/>
                        </a:rPr>
                        <a:t>Closing</a:t>
                      </a:r>
                      <a:r>
                        <a:rPr lang="en-US" sz="1200" b="0" baseline="0" noProof="0">
                          <a:solidFill>
                            <a:schemeClr val="tx1"/>
                          </a:solidFill>
                          <a:latin typeface="+mn-lt"/>
                          <a:cs typeface="Arial" panose="020B0604020202020204" pitchFamily="34" charset="0"/>
                        </a:rPr>
                        <a:t> Mid</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a:solidFill>
                            <a:schemeClr val="tx1"/>
                          </a:solidFill>
                          <a:latin typeface="+mn-lt"/>
                          <a:cs typeface="Arial" panose="020B0604020202020204" pitchFamily="34" charset="0"/>
                        </a:rPr>
                        <a:t>DOLLAR</a:t>
                      </a:r>
                    </a:p>
                    <a:p>
                      <a:pPr algn="ctr"/>
                      <a:r>
                        <a:rPr lang="en-US" sz="1200" b="0" noProof="0">
                          <a:solidFill>
                            <a:schemeClr val="tx1"/>
                          </a:solidFill>
                          <a:latin typeface="+mn-lt"/>
                          <a:cs typeface="Arial" panose="020B0604020202020204" pitchFamily="34" charset="0"/>
                        </a:rPr>
                        <a:t>Day’s Change</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a:solidFill>
                            <a:schemeClr val="tx1"/>
                          </a:solidFill>
                          <a:latin typeface="+mn-lt"/>
                          <a:cs typeface="Arial" panose="020B0604020202020204" pitchFamily="34" charset="0"/>
                        </a:rPr>
                        <a:t>EURO</a:t>
                      </a:r>
                    </a:p>
                    <a:p>
                      <a:pPr algn="ctr"/>
                      <a:r>
                        <a:rPr lang="en-US" sz="1200" b="0" noProof="0">
                          <a:solidFill>
                            <a:schemeClr val="tx1"/>
                          </a:solidFill>
                          <a:latin typeface="+mn-lt"/>
                          <a:cs typeface="Arial" panose="020B0604020202020204" pitchFamily="34" charset="0"/>
                        </a:rPr>
                        <a:t>Closing</a:t>
                      </a:r>
                      <a:r>
                        <a:rPr lang="en-US" sz="1200" b="0" baseline="0" noProof="0">
                          <a:solidFill>
                            <a:schemeClr val="tx1"/>
                          </a:solidFill>
                          <a:latin typeface="+mn-lt"/>
                          <a:cs typeface="Arial" panose="020B0604020202020204" pitchFamily="34" charset="0"/>
                        </a:rPr>
                        <a:t> Mid</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mn-lt"/>
                          <a:cs typeface="Arial" panose="020B0604020202020204" pitchFamily="34" charset="0"/>
                        </a:rPr>
                        <a:t>EURO</a:t>
                      </a:r>
                    </a:p>
                    <a:p>
                      <a:pPr algn="ctr"/>
                      <a:r>
                        <a:rPr lang="en-US" sz="1200" b="0" noProof="0">
                          <a:solidFill>
                            <a:schemeClr val="tx1"/>
                          </a:solidFill>
                          <a:latin typeface="+mn-lt"/>
                          <a:cs typeface="Arial" panose="020B0604020202020204" pitchFamily="34" charset="0"/>
                        </a:rPr>
                        <a:t>Day’s</a:t>
                      </a:r>
                      <a:r>
                        <a:rPr lang="en-US" sz="1200" b="0" baseline="0" noProof="0">
                          <a:solidFill>
                            <a:schemeClr val="tx1"/>
                          </a:solidFill>
                          <a:latin typeface="+mn-lt"/>
                          <a:cs typeface="Arial" panose="020B0604020202020204" pitchFamily="34" charset="0"/>
                        </a:rPr>
                        <a:t> </a:t>
                      </a:r>
                      <a:r>
                        <a:rPr lang="en-US" sz="1200" b="0" noProof="0">
                          <a:solidFill>
                            <a:schemeClr val="tx1"/>
                          </a:solidFill>
                          <a:latin typeface="+mn-lt"/>
                          <a:cs typeface="Arial" panose="020B0604020202020204" pitchFamily="34" charset="0"/>
                        </a:rPr>
                        <a:t>Change</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a:solidFill>
                            <a:schemeClr val="tx1"/>
                          </a:solidFill>
                          <a:latin typeface="+mn-lt"/>
                          <a:cs typeface="Arial" panose="020B0604020202020204" pitchFamily="34" charset="0"/>
                        </a:rPr>
                        <a:t>POUND</a:t>
                      </a:r>
                    </a:p>
                    <a:p>
                      <a:pPr algn="ctr"/>
                      <a:r>
                        <a:rPr lang="en-US" sz="1200" b="0" noProof="0">
                          <a:solidFill>
                            <a:schemeClr val="tx1"/>
                          </a:solidFill>
                          <a:latin typeface="+mn-lt"/>
                          <a:cs typeface="Arial" panose="020B0604020202020204" pitchFamily="34" charset="0"/>
                        </a:rPr>
                        <a:t>Closing</a:t>
                      </a:r>
                      <a:r>
                        <a:rPr lang="en-US" sz="1200" b="0" baseline="0" noProof="0">
                          <a:solidFill>
                            <a:schemeClr val="tx1"/>
                          </a:solidFill>
                          <a:latin typeface="+mn-lt"/>
                          <a:cs typeface="Arial" panose="020B0604020202020204" pitchFamily="34" charset="0"/>
                        </a:rPr>
                        <a:t> Mid</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mn-lt"/>
                          <a:cs typeface="Arial" panose="020B0604020202020204" pitchFamily="34" charset="0"/>
                        </a:rPr>
                        <a:t>POUND</a:t>
                      </a:r>
                    </a:p>
                    <a:p>
                      <a:pPr algn="ctr"/>
                      <a:r>
                        <a:rPr lang="en-US" sz="1200" b="0" noProof="0">
                          <a:solidFill>
                            <a:schemeClr val="tx1"/>
                          </a:solidFill>
                          <a:latin typeface="+mn-lt"/>
                          <a:cs typeface="Arial" panose="020B0604020202020204" pitchFamily="34" charset="0"/>
                        </a:rPr>
                        <a:t>Day’s Change</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61048629"/>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Pakistan</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Pakistani Rupee</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164.2000</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0.8500</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184.2232</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0.3531</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206.8349</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0.4180</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09643016"/>
                  </a:ext>
                </a:extLst>
              </a:tr>
              <a:tr h="137697">
                <a:tc>
                  <a:txBody>
                    <a:bodyPr/>
                    <a:lstStyle/>
                    <a:p>
                      <a:r>
                        <a:rPr lang="en-US" sz="1200" baseline="0" noProof="0" dirty="0">
                          <a:solidFill>
                            <a:srgbClr val="231F20"/>
                          </a:solidFill>
                          <a:effectLst/>
                          <a:latin typeface="+mn-lt"/>
                          <a:ea typeface="Times New Roman" panose="02020603050405020304" pitchFamily="18" charset="0"/>
                          <a:cs typeface="Times New Roman" panose="02020603050405020304" pitchFamily="18" charset="0"/>
                        </a:rPr>
                        <a:t>Peru</a:t>
                      </a:r>
                      <a:endParaRPr lang="en-US" sz="1200" noProof="0" dirty="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Peruvian Nuevo Sol</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3.3860</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0.0145</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3.7989</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0.0039</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4.2652</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0.0048</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61690950"/>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Philippines</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Philippine Peso</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50.1200</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0.2250</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56.2318</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0.0693</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63.1338</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0.0843</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2702447"/>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Poland</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Polish Zloty</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3.9347</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0.0150</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4.4145</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0.0311</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4.9564</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0.0345</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5972935"/>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Romania</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Romanian Leu</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4.3079</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0.0185</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4.8333</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0.0050</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5.4265</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0.0062</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040725"/>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Russia</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Russian Ruble</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68.6488</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0.1112</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77.0201</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0.1254</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86.4735</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0.1318</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0071369"/>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Saudi Arabia</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Saudi Riyal</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3.7550</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0.0015</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4.2128</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0.0153</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4.7299</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0.0167</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23901461"/>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Singapore</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Singapore Dollar</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1.3970</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0.0026</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1.5674</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0.0022</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1.7597</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0.0023</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5527092"/>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South Africa</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South African Rand</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16.9163</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0.1885</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18.9791</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0.1492</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21.3086</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0.1698</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9459209"/>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South Korea</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South Korean Won</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1216.6500</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8.7500</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1365.0135</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5.3583</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1532.5558</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6.1763</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231351"/>
                  </a:ext>
                </a:extLst>
              </a:tr>
              <a:tr h="199650">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Sweden</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Swedish Krona</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9.2891</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0.0357</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10.4219</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0.0062</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11.7011</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0.0082</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8164647"/>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Switzerland</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Swiss Franc</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0.9621</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0.0015</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1.0794</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0.0051</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1.2118</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0.0056</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2181590"/>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Taiwan</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New Taiwan Dollar</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29.8745</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0.0800</a:t>
                      </a:r>
                      <a:endParaRPr lang="en-US" sz="1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33.5175</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0.0192</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37.6315</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0.0177</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14283077"/>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Thailand</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Thai Baht</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31.5525</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noProof="0">
                          <a:latin typeface="+mn-lt"/>
                        </a:rPr>
                        <a:t>Blank</a:t>
                      </a: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35.4001</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0.1148</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39.7452</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0.1248</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2638985"/>
                  </a:ext>
                </a:extLst>
              </a:tr>
              <a:tr h="137697">
                <a:tc>
                  <a:txBody>
                    <a:bodyPr/>
                    <a:lstStyle/>
                    <a:p>
                      <a:r>
                        <a:rPr lang="en-US" sz="1200" baseline="0" noProof="0">
                          <a:solidFill>
                            <a:srgbClr val="231F20"/>
                          </a:solidFill>
                          <a:effectLst/>
                          <a:latin typeface="+mn-lt"/>
                          <a:ea typeface="Times New Roman" panose="02020603050405020304" pitchFamily="18" charset="0"/>
                          <a:cs typeface="Times New Roman" panose="02020603050405020304" pitchFamily="18" charset="0"/>
                        </a:rPr>
                        <a:t>Tunisia</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Tunisian Dinar</a:t>
                      </a:r>
                      <a:endParaRPr lang="en-US" sz="1200" noProof="0">
                        <a:latin typeface="+mn-lt"/>
                      </a:endParaRPr>
                    </a:p>
                  </a:txBody>
                  <a:tcPr marL="36000" marR="3600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2.8531</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00" b="0" i="0" u="none" strike="noStrike" cap="none" noProof="0">
                        <a:solidFill>
                          <a:schemeClr val="dk1"/>
                        </a:solidFill>
                        <a:effectLst/>
                        <a:latin typeface="Arial"/>
                        <a:ea typeface="Arial"/>
                        <a:cs typeface="Arial"/>
                        <a:sym typeface="Arial"/>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3.2010</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0.0048</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a:solidFill>
                            <a:srgbClr val="231F20"/>
                          </a:solidFill>
                          <a:effectLst/>
                          <a:latin typeface="+mn-lt"/>
                          <a:ea typeface="Times New Roman" panose="02020603050405020304" pitchFamily="18" charset="0"/>
                          <a:cs typeface="Times New Roman" panose="02020603050405020304" pitchFamily="18" charset="0"/>
                        </a:rPr>
                        <a:t>3.5939</a:t>
                      </a:r>
                      <a:endParaRPr lang="en-US" sz="1200" noProof="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baseline="0" noProof="0" dirty="0">
                          <a:solidFill>
                            <a:srgbClr val="231F20"/>
                          </a:solidFill>
                          <a:effectLst/>
                          <a:latin typeface="+mn-lt"/>
                          <a:ea typeface="Times New Roman" panose="02020603050405020304" pitchFamily="18" charset="0"/>
                          <a:cs typeface="Times New Roman" panose="02020603050405020304" pitchFamily="18" charset="0"/>
                        </a:rPr>
                        <a:t>0.0051</a:t>
                      </a:r>
                      <a:endParaRPr lang="en-US" sz="1200" noProof="0" dirty="0">
                        <a:latin typeface="+mn-lt"/>
                      </a:endParaRPr>
                    </a:p>
                  </a:txBody>
                  <a:tcPr marL="3600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56515926"/>
                  </a:ext>
                </a:extLst>
              </a:tr>
            </a:tbl>
          </a:graphicData>
        </a:graphic>
      </p:graphicFrame>
      <p:graphicFrame>
        <p:nvGraphicFramePr>
          <p:cNvPr id="3" name="Object 2">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230080057"/>
              </p:ext>
            </p:extLst>
          </p:nvPr>
        </p:nvGraphicFramePr>
        <p:xfrm>
          <a:off x="4242928" y="2587179"/>
          <a:ext cx="524794" cy="146942"/>
        </p:xfrm>
        <a:graphic>
          <a:graphicData uri="http://schemas.openxmlformats.org/presentationml/2006/ole">
            <mc:AlternateContent xmlns:mc="http://schemas.openxmlformats.org/markup-compatibility/2006">
              <mc:Choice xmlns:v="urn:schemas-microsoft-com:vml" Requires="v">
                <p:oleObj spid="_x0000_s4223" name="Equation" r:id="rId3" imgW="634680" imgH="177480" progId="Equation.DSMT4">
                  <p:embed/>
                </p:oleObj>
              </mc:Choice>
              <mc:Fallback>
                <p:oleObj name="Equation" r:id="rId3" imgW="634680" imgH="177480" progId="Equation.DSMT4">
                  <p:embed/>
                  <p:pic>
                    <p:nvPicPr>
                      <p:cNvPr id="0" name=""/>
                      <p:cNvPicPr/>
                      <p:nvPr/>
                    </p:nvPicPr>
                    <p:blipFill>
                      <a:blip r:embed="rId4"/>
                      <a:stretch>
                        <a:fillRect/>
                      </a:stretch>
                    </p:blipFill>
                    <p:spPr>
                      <a:xfrm>
                        <a:off x="4242928" y="2587179"/>
                        <a:ext cx="524794" cy="146942"/>
                      </a:xfrm>
                      <a:prstGeom prst="rect">
                        <a:avLst/>
                      </a:prstGeom>
                      <a:solidFill>
                        <a:schemeClr val="bg1"/>
                      </a:solidFill>
                    </p:spPr>
                  </p:pic>
                </p:oleObj>
              </mc:Fallback>
            </mc:AlternateContent>
          </a:graphicData>
        </a:graphic>
      </p:graphicFrame>
      <p:graphicFrame>
        <p:nvGraphicFramePr>
          <p:cNvPr id="5" name="Object 4">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26283221"/>
              </p:ext>
            </p:extLst>
          </p:nvPr>
        </p:nvGraphicFramePr>
        <p:xfrm>
          <a:off x="6218751" y="2587179"/>
          <a:ext cx="503802" cy="146942"/>
        </p:xfrm>
        <a:graphic>
          <a:graphicData uri="http://schemas.openxmlformats.org/presentationml/2006/ole">
            <mc:AlternateContent xmlns:mc="http://schemas.openxmlformats.org/markup-compatibility/2006">
              <mc:Choice xmlns:v="urn:schemas-microsoft-com:vml" Requires="v">
                <p:oleObj spid="_x0000_s4224" name="Equation" r:id="rId5" imgW="609480" imgH="177480" progId="Equation.DSMT4">
                  <p:embed/>
                </p:oleObj>
              </mc:Choice>
              <mc:Fallback>
                <p:oleObj name="Equation" r:id="rId5" imgW="609480" imgH="177480" progId="Equation.DSMT4">
                  <p:embed/>
                  <p:pic>
                    <p:nvPicPr>
                      <p:cNvPr id="0" name=""/>
                      <p:cNvPicPr/>
                      <p:nvPr/>
                    </p:nvPicPr>
                    <p:blipFill>
                      <a:blip r:embed="rId6"/>
                      <a:stretch>
                        <a:fillRect/>
                      </a:stretch>
                    </p:blipFill>
                    <p:spPr>
                      <a:xfrm>
                        <a:off x="6218751" y="2587179"/>
                        <a:ext cx="503802" cy="146942"/>
                      </a:xfrm>
                      <a:prstGeom prst="rect">
                        <a:avLst/>
                      </a:prstGeom>
                      <a:solidFill>
                        <a:schemeClr val="bg1"/>
                      </a:solidFill>
                    </p:spPr>
                  </p:pic>
                </p:oleObj>
              </mc:Fallback>
            </mc:AlternateContent>
          </a:graphicData>
        </a:graphic>
      </p:graphicFrame>
      <p:graphicFrame>
        <p:nvGraphicFramePr>
          <p:cNvPr id="7" name="Object 6">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864314652"/>
              </p:ext>
            </p:extLst>
          </p:nvPr>
        </p:nvGraphicFramePr>
        <p:xfrm>
          <a:off x="8114133" y="2587179"/>
          <a:ext cx="524794" cy="146942"/>
        </p:xfrm>
        <a:graphic>
          <a:graphicData uri="http://schemas.openxmlformats.org/presentationml/2006/ole">
            <mc:AlternateContent xmlns:mc="http://schemas.openxmlformats.org/markup-compatibility/2006">
              <mc:Choice xmlns:v="urn:schemas-microsoft-com:vml" Requires="v">
                <p:oleObj spid="_x0000_s4225" name="Equation" r:id="rId7" imgW="634680" imgH="177480" progId="Equation.DSMT4">
                  <p:embed/>
                </p:oleObj>
              </mc:Choice>
              <mc:Fallback>
                <p:oleObj name="Equation" r:id="rId7" imgW="634680" imgH="177480" progId="Equation.DSMT4">
                  <p:embed/>
                  <p:pic>
                    <p:nvPicPr>
                      <p:cNvPr id="0" name=""/>
                      <p:cNvPicPr/>
                      <p:nvPr/>
                    </p:nvPicPr>
                    <p:blipFill>
                      <a:blip r:embed="rId8"/>
                      <a:stretch>
                        <a:fillRect/>
                      </a:stretch>
                    </p:blipFill>
                    <p:spPr>
                      <a:xfrm>
                        <a:off x="8114133" y="2587179"/>
                        <a:ext cx="524794" cy="146942"/>
                      </a:xfrm>
                      <a:prstGeom prst="rect">
                        <a:avLst/>
                      </a:prstGeom>
                      <a:solidFill>
                        <a:schemeClr val="bg1"/>
                      </a:solidFill>
                    </p:spPr>
                  </p:pic>
                </p:oleObj>
              </mc:Fallback>
            </mc:AlternateContent>
          </a:graphicData>
        </a:graphic>
      </p:graphicFrame>
      <p:graphicFrame>
        <p:nvGraphicFramePr>
          <p:cNvPr id="8" name="Object 7">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367058549"/>
              </p:ext>
            </p:extLst>
          </p:nvPr>
        </p:nvGraphicFramePr>
        <p:xfrm>
          <a:off x="4239753" y="2854782"/>
          <a:ext cx="524794" cy="146942"/>
        </p:xfrm>
        <a:graphic>
          <a:graphicData uri="http://schemas.openxmlformats.org/presentationml/2006/ole">
            <mc:AlternateContent xmlns:mc="http://schemas.openxmlformats.org/markup-compatibility/2006">
              <mc:Choice xmlns:v="urn:schemas-microsoft-com:vml" Requires="v">
                <p:oleObj spid="_x0000_s4226" name="Equation" r:id="rId9" imgW="634680" imgH="177480" progId="Equation.DSMT4">
                  <p:embed/>
                </p:oleObj>
              </mc:Choice>
              <mc:Fallback>
                <p:oleObj name="Equation" r:id="rId9" imgW="634680" imgH="177480" progId="Equation.DSMT4">
                  <p:embed/>
                  <p:pic>
                    <p:nvPicPr>
                      <p:cNvPr id="0" name=""/>
                      <p:cNvPicPr/>
                      <p:nvPr/>
                    </p:nvPicPr>
                    <p:blipFill>
                      <a:blip r:embed="rId10"/>
                      <a:stretch>
                        <a:fillRect/>
                      </a:stretch>
                    </p:blipFill>
                    <p:spPr>
                      <a:xfrm>
                        <a:off x="4239753" y="2854782"/>
                        <a:ext cx="524794" cy="146942"/>
                      </a:xfrm>
                      <a:prstGeom prst="rect">
                        <a:avLst/>
                      </a:prstGeom>
                      <a:solidFill>
                        <a:schemeClr val="bg1"/>
                      </a:solidFill>
                    </p:spPr>
                  </p:pic>
                </p:oleObj>
              </mc:Fallback>
            </mc:AlternateContent>
          </a:graphicData>
        </a:graphic>
      </p:graphicFrame>
      <p:graphicFrame>
        <p:nvGraphicFramePr>
          <p:cNvPr id="9" name="Object 8">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90997953"/>
              </p:ext>
            </p:extLst>
          </p:nvPr>
        </p:nvGraphicFramePr>
        <p:xfrm>
          <a:off x="6208257" y="2875417"/>
          <a:ext cx="524794" cy="146942"/>
        </p:xfrm>
        <a:graphic>
          <a:graphicData uri="http://schemas.openxmlformats.org/presentationml/2006/ole">
            <mc:AlternateContent xmlns:mc="http://schemas.openxmlformats.org/markup-compatibility/2006">
              <mc:Choice xmlns:v="urn:schemas-microsoft-com:vml" Requires="v">
                <p:oleObj spid="_x0000_s4227" name="Equation" r:id="rId11" imgW="634680" imgH="177480" progId="Equation.DSMT4">
                  <p:embed/>
                </p:oleObj>
              </mc:Choice>
              <mc:Fallback>
                <p:oleObj name="Equation" r:id="rId11" imgW="634680" imgH="177480" progId="Equation.DSMT4">
                  <p:embed/>
                  <p:pic>
                    <p:nvPicPr>
                      <p:cNvPr id="0" name=""/>
                      <p:cNvPicPr/>
                      <p:nvPr/>
                    </p:nvPicPr>
                    <p:blipFill>
                      <a:blip r:embed="rId12"/>
                      <a:stretch>
                        <a:fillRect/>
                      </a:stretch>
                    </p:blipFill>
                    <p:spPr>
                      <a:xfrm>
                        <a:off x="6208257" y="2875417"/>
                        <a:ext cx="524794" cy="146942"/>
                      </a:xfrm>
                      <a:prstGeom prst="rect">
                        <a:avLst/>
                      </a:prstGeom>
                      <a:solidFill>
                        <a:schemeClr val="bg1"/>
                      </a:solidFill>
                    </p:spPr>
                  </p:pic>
                </p:oleObj>
              </mc:Fallback>
            </mc:AlternateContent>
          </a:graphicData>
        </a:graphic>
      </p:graphicFrame>
      <p:graphicFrame>
        <p:nvGraphicFramePr>
          <p:cNvPr id="10" name="Object 9">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590416384"/>
              </p:ext>
            </p:extLst>
          </p:nvPr>
        </p:nvGraphicFramePr>
        <p:xfrm>
          <a:off x="8114133" y="2875417"/>
          <a:ext cx="524794" cy="146942"/>
        </p:xfrm>
        <a:graphic>
          <a:graphicData uri="http://schemas.openxmlformats.org/presentationml/2006/ole">
            <mc:AlternateContent xmlns:mc="http://schemas.openxmlformats.org/markup-compatibility/2006">
              <mc:Choice xmlns:v="urn:schemas-microsoft-com:vml" Requires="v">
                <p:oleObj spid="_x0000_s4228" name="Equation" r:id="rId13" imgW="634680" imgH="177480" progId="Equation.DSMT4">
                  <p:embed/>
                </p:oleObj>
              </mc:Choice>
              <mc:Fallback>
                <p:oleObj name="Equation" r:id="rId13" imgW="634680" imgH="177480" progId="Equation.DSMT4">
                  <p:embed/>
                  <p:pic>
                    <p:nvPicPr>
                      <p:cNvPr id="0" name=""/>
                      <p:cNvPicPr/>
                      <p:nvPr/>
                    </p:nvPicPr>
                    <p:blipFill>
                      <a:blip r:embed="rId14"/>
                      <a:stretch>
                        <a:fillRect/>
                      </a:stretch>
                    </p:blipFill>
                    <p:spPr>
                      <a:xfrm>
                        <a:off x="8114133" y="2875417"/>
                        <a:ext cx="524794" cy="146942"/>
                      </a:xfrm>
                      <a:prstGeom prst="rect">
                        <a:avLst/>
                      </a:prstGeom>
                      <a:solidFill>
                        <a:schemeClr val="bg1"/>
                      </a:solidFill>
                    </p:spPr>
                  </p:pic>
                </p:oleObj>
              </mc:Fallback>
            </mc:AlternateContent>
          </a:graphicData>
        </a:graphic>
      </p:graphicFrame>
      <p:graphicFrame>
        <p:nvGraphicFramePr>
          <p:cNvPr id="11" name="Object 10">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551756714"/>
              </p:ext>
            </p:extLst>
          </p:nvPr>
        </p:nvGraphicFramePr>
        <p:xfrm>
          <a:off x="4236578" y="3130104"/>
          <a:ext cx="524794" cy="146942"/>
        </p:xfrm>
        <a:graphic>
          <a:graphicData uri="http://schemas.openxmlformats.org/presentationml/2006/ole">
            <mc:AlternateContent xmlns:mc="http://schemas.openxmlformats.org/markup-compatibility/2006">
              <mc:Choice xmlns:v="urn:schemas-microsoft-com:vml" Requires="v">
                <p:oleObj spid="_x0000_s4229" name="Equation" r:id="rId15" imgW="634680" imgH="177480" progId="Equation.DSMT4">
                  <p:embed/>
                </p:oleObj>
              </mc:Choice>
              <mc:Fallback>
                <p:oleObj name="Equation" r:id="rId15" imgW="634680" imgH="177480" progId="Equation.DSMT4">
                  <p:embed/>
                  <p:pic>
                    <p:nvPicPr>
                      <p:cNvPr id="0" name=""/>
                      <p:cNvPicPr/>
                      <p:nvPr/>
                    </p:nvPicPr>
                    <p:blipFill>
                      <a:blip r:embed="rId16"/>
                      <a:stretch>
                        <a:fillRect/>
                      </a:stretch>
                    </p:blipFill>
                    <p:spPr>
                      <a:xfrm>
                        <a:off x="4236578" y="3130104"/>
                        <a:ext cx="524794" cy="146942"/>
                      </a:xfrm>
                      <a:prstGeom prst="rect">
                        <a:avLst/>
                      </a:prstGeom>
                      <a:solidFill>
                        <a:schemeClr val="bg1"/>
                      </a:solidFill>
                    </p:spPr>
                  </p:pic>
                </p:oleObj>
              </mc:Fallback>
            </mc:AlternateContent>
          </a:graphicData>
        </a:graphic>
      </p:graphicFrame>
      <p:graphicFrame>
        <p:nvGraphicFramePr>
          <p:cNvPr id="12" name="Object 11">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15793160"/>
              </p:ext>
            </p:extLst>
          </p:nvPr>
        </p:nvGraphicFramePr>
        <p:xfrm>
          <a:off x="6189206" y="3130104"/>
          <a:ext cx="524794" cy="146942"/>
        </p:xfrm>
        <a:graphic>
          <a:graphicData uri="http://schemas.openxmlformats.org/presentationml/2006/ole">
            <mc:AlternateContent xmlns:mc="http://schemas.openxmlformats.org/markup-compatibility/2006">
              <mc:Choice xmlns:v="urn:schemas-microsoft-com:vml" Requires="v">
                <p:oleObj spid="_x0000_s4230" name="Equation" r:id="rId17" imgW="634680" imgH="177480" progId="Equation.DSMT4">
                  <p:embed/>
                </p:oleObj>
              </mc:Choice>
              <mc:Fallback>
                <p:oleObj name="Equation" r:id="rId17" imgW="634680" imgH="177480" progId="Equation.DSMT4">
                  <p:embed/>
                  <p:pic>
                    <p:nvPicPr>
                      <p:cNvPr id="0" name=""/>
                      <p:cNvPicPr/>
                      <p:nvPr/>
                    </p:nvPicPr>
                    <p:blipFill>
                      <a:blip r:embed="rId18"/>
                      <a:stretch>
                        <a:fillRect/>
                      </a:stretch>
                    </p:blipFill>
                    <p:spPr>
                      <a:xfrm>
                        <a:off x="6189206" y="3130104"/>
                        <a:ext cx="524794" cy="146942"/>
                      </a:xfrm>
                      <a:prstGeom prst="rect">
                        <a:avLst/>
                      </a:prstGeom>
                      <a:solidFill>
                        <a:schemeClr val="bg1"/>
                      </a:solidFill>
                    </p:spPr>
                  </p:pic>
                </p:oleObj>
              </mc:Fallback>
            </mc:AlternateContent>
          </a:graphicData>
        </a:graphic>
      </p:graphicFrame>
      <p:graphicFrame>
        <p:nvGraphicFramePr>
          <p:cNvPr id="13" name="Object 12">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459863369"/>
              </p:ext>
            </p:extLst>
          </p:nvPr>
        </p:nvGraphicFramePr>
        <p:xfrm>
          <a:off x="8114133" y="3130104"/>
          <a:ext cx="524794" cy="146942"/>
        </p:xfrm>
        <a:graphic>
          <a:graphicData uri="http://schemas.openxmlformats.org/presentationml/2006/ole">
            <mc:AlternateContent xmlns:mc="http://schemas.openxmlformats.org/markup-compatibility/2006">
              <mc:Choice xmlns:v="urn:schemas-microsoft-com:vml" Requires="v">
                <p:oleObj spid="_x0000_s4231" name="Equation" r:id="rId19" imgW="634680" imgH="177480" progId="Equation.DSMT4">
                  <p:embed/>
                </p:oleObj>
              </mc:Choice>
              <mc:Fallback>
                <p:oleObj name="Equation" r:id="rId19" imgW="634680" imgH="177480" progId="Equation.DSMT4">
                  <p:embed/>
                  <p:pic>
                    <p:nvPicPr>
                      <p:cNvPr id="0" name=""/>
                      <p:cNvPicPr/>
                      <p:nvPr/>
                    </p:nvPicPr>
                    <p:blipFill>
                      <a:blip r:embed="rId20"/>
                      <a:stretch>
                        <a:fillRect/>
                      </a:stretch>
                    </p:blipFill>
                    <p:spPr>
                      <a:xfrm>
                        <a:off x="8114133" y="3130104"/>
                        <a:ext cx="524794" cy="146942"/>
                      </a:xfrm>
                      <a:prstGeom prst="rect">
                        <a:avLst/>
                      </a:prstGeom>
                      <a:solidFill>
                        <a:schemeClr val="bg1"/>
                      </a:solidFill>
                    </p:spPr>
                  </p:pic>
                </p:oleObj>
              </mc:Fallback>
            </mc:AlternateContent>
          </a:graphicData>
        </a:graphic>
      </p:graphicFrame>
      <p:graphicFrame>
        <p:nvGraphicFramePr>
          <p:cNvPr id="14" name="Object 13">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233229126"/>
              </p:ext>
            </p:extLst>
          </p:nvPr>
        </p:nvGraphicFramePr>
        <p:xfrm>
          <a:off x="4239753" y="3511104"/>
          <a:ext cx="524794" cy="146942"/>
        </p:xfrm>
        <a:graphic>
          <a:graphicData uri="http://schemas.openxmlformats.org/presentationml/2006/ole">
            <mc:AlternateContent xmlns:mc="http://schemas.openxmlformats.org/markup-compatibility/2006">
              <mc:Choice xmlns:v="urn:schemas-microsoft-com:vml" Requires="v">
                <p:oleObj spid="_x0000_s4232" name="Equation" r:id="rId21" imgW="634680" imgH="177480" progId="Equation.DSMT4">
                  <p:embed/>
                </p:oleObj>
              </mc:Choice>
              <mc:Fallback>
                <p:oleObj name="Equation" r:id="rId21" imgW="634680" imgH="177480" progId="Equation.DSMT4">
                  <p:embed/>
                  <p:pic>
                    <p:nvPicPr>
                      <p:cNvPr id="0" name=""/>
                      <p:cNvPicPr/>
                      <p:nvPr/>
                    </p:nvPicPr>
                    <p:blipFill>
                      <a:blip r:embed="rId22"/>
                      <a:stretch>
                        <a:fillRect/>
                      </a:stretch>
                    </p:blipFill>
                    <p:spPr>
                      <a:xfrm>
                        <a:off x="4239753" y="3511104"/>
                        <a:ext cx="524794" cy="146942"/>
                      </a:xfrm>
                      <a:prstGeom prst="rect">
                        <a:avLst/>
                      </a:prstGeom>
                      <a:solidFill>
                        <a:schemeClr val="bg1"/>
                      </a:solidFill>
                    </p:spPr>
                  </p:pic>
                </p:oleObj>
              </mc:Fallback>
            </mc:AlternateContent>
          </a:graphicData>
        </a:graphic>
      </p:graphicFrame>
      <p:graphicFrame>
        <p:nvGraphicFramePr>
          <p:cNvPr id="15" name="Object 14">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56531581"/>
              </p:ext>
            </p:extLst>
          </p:nvPr>
        </p:nvGraphicFramePr>
        <p:xfrm>
          <a:off x="6201906" y="3495682"/>
          <a:ext cx="524794" cy="146942"/>
        </p:xfrm>
        <a:graphic>
          <a:graphicData uri="http://schemas.openxmlformats.org/presentationml/2006/ole">
            <mc:AlternateContent xmlns:mc="http://schemas.openxmlformats.org/markup-compatibility/2006">
              <mc:Choice xmlns:v="urn:schemas-microsoft-com:vml" Requires="v">
                <p:oleObj spid="_x0000_s4233" name="Equation" r:id="rId23" imgW="634680" imgH="177480" progId="Equation.DSMT4">
                  <p:embed/>
                </p:oleObj>
              </mc:Choice>
              <mc:Fallback>
                <p:oleObj name="Equation" r:id="rId23" imgW="634680" imgH="177480" progId="Equation.DSMT4">
                  <p:embed/>
                  <p:pic>
                    <p:nvPicPr>
                      <p:cNvPr id="0" name=""/>
                      <p:cNvPicPr/>
                      <p:nvPr/>
                    </p:nvPicPr>
                    <p:blipFill>
                      <a:blip r:embed="rId24"/>
                      <a:stretch>
                        <a:fillRect/>
                      </a:stretch>
                    </p:blipFill>
                    <p:spPr>
                      <a:xfrm>
                        <a:off x="6201906" y="3495682"/>
                        <a:ext cx="524794" cy="146942"/>
                      </a:xfrm>
                      <a:prstGeom prst="rect">
                        <a:avLst/>
                      </a:prstGeom>
                      <a:solidFill>
                        <a:schemeClr val="bg1"/>
                      </a:solidFill>
                    </p:spPr>
                  </p:pic>
                </p:oleObj>
              </mc:Fallback>
            </mc:AlternateContent>
          </a:graphicData>
        </a:graphic>
      </p:graphicFrame>
      <p:graphicFrame>
        <p:nvGraphicFramePr>
          <p:cNvPr id="16" name="Object 15">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131585917"/>
              </p:ext>
            </p:extLst>
          </p:nvPr>
        </p:nvGraphicFramePr>
        <p:xfrm>
          <a:off x="8114133" y="3495682"/>
          <a:ext cx="524794" cy="146942"/>
        </p:xfrm>
        <a:graphic>
          <a:graphicData uri="http://schemas.openxmlformats.org/presentationml/2006/ole">
            <mc:AlternateContent xmlns:mc="http://schemas.openxmlformats.org/markup-compatibility/2006">
              <mc:Choice xmlns:v="urn:schemas-microsoft-com:vml" Requires="v">
                <p:oleObj spid="_x0000_s4234" name="Equation" r:id="rId25" imgW="634680" imgH="177480" progId="Equation.DSMT4">
                  <p:embed/>
                </p:oleObj>
              </mc:Choice>
              <mc:Fallback>
                <p:oleObj name="Equation" r:id="rId25" imgW="634680" imgH="177480" progId="Equation.DSMT4">
                  <p:embed/>
                  <p:pic>
                    <p:nvPicPr>
                      <p:cNvPr id="0" name=""/>
                      <p:cNvPicPr/>
                      <p:nvPr/>
                    </p:nvPicPr>
                    <p:blipFill>
                      <a:blip r:embed="rId26"/>
                      <a:stretch>
                        <a:fillRect/>
                      </a:stretch>
                    </p:blipFill>
                    <p:spPr>
                      <a:xfrm>
                        <a:off x="8114133" y="3495682"/>
                        <a:ext cx="524794" cy="146942"/>
                      </a:xfrm>
                      <a:prstGeom prst="rect">
                        <a:avLst/>
                      </a:prstGeom>
                      <a:solidFill>
                        <a:schemeClr val="bg1"/>
                      </a:solidFill>
                    </p:spPr>
                  </p:pic>
                </p:oleObj>
              </mc:Fallback>
            </mc:AlternateContent>
          </a:graphicData>
        </a:graphic>
      </p:graphicFrame>
      <p:graphicFrame>
        <p:nvGraphicFramePr>
          <p:cNvPr id="17" name="Object 16">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552648727"/>
              </p:ext>
            </p:extLst>
          </p:nvPr>
        </p:nvGraphicFramePr>
        <p:xfrm>
          <a:off x="4236578" y="3682554"/>
          <a:ext cx="524794" cy="146942"/>
        </p:xfrm>
        <a:graphic>
          <a:graphicData uri="http://schemas.openxmlformats.org/presentationml/2006/ole">
            <mc:AlternateContent xmlns:mc="http://schemas.openxmlformats.org/markup-compatibility/2006">
              <mc:Choice xmlns:v="urn:schemas-microsoft-com:vml" Requires="v">
                <p:oleObj spid="_x0000_s4235" name="Equation" r:id="rId27" imgW="634680" imgH="177480" progId="Equation.DSMT4">
                  <p:embed/>
                </p:oleObj>
              </mc:Choice>
              <mc:Fallback>
                <p:oleObj name="Equation" r:id="rId27" imgW="634680" imgH="177480" progId="Equation.DSMT4">
                  <p:embed/>
                  <p:pic>
                    <p:nvPicPr>
                      <p:cNvPr id="0" name=""/>
                      <p:cNvPicPr/>
                      <p:nvPr/>
                    </p:nvPicPr>
                    <p:blipFill>
                      <a:blip r:embed="rId28"/>
                      <a:stretch>
                        <a:fillRect/>
                      </a:stretch>
                    </p:blipFill>
                    <p:spPr>
                      <a:xfrm>
                        <a:off x="4236578" y="3682554"/>
                        <a:ext cx="524794" cy="146942"/>
                      </a:xfrm>
                      <a:prstGeom prst="rect">
                        <a:avLst/>
                      </a:prstGeom>
                      <a:solidFill>
                        <a:schemeClr val="bg1"/>
                      </a:solidFill>
                    </p:spPr>
                  </p:pic>
                </p:oleObj>
              </mc:Fallback>
            </mc:AlternateContent>
          </a:graphicData>
        </a:graphic>
      </p:graphicFrame>
      <p:graphicFrame>
        <p:nvGraphicFramePr>
          <p:cNvPr id="18" name="Object 17">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596522298"/>
              </p:ext>
            </p:extLst>
          </p:nvPr>
        </p:nvGraphicFramePr>
        <p:xfrm>
          <a:off x="4246106" y="4044504"/>
          <a:ext cx="524794" cy="146942"/>
        </p:xfrm>
        <a:graphic>
          <a:graphicData uri="http://schemas.openxmlformats.org/presentationml/2006/ole">
            <mc:AlternateContent xmlns:mc="http://schemas.openxmlformats.org/markup-compatibility/2006">
              <mc:Choice xmlns:v="urn:schemas-microsoft-com:vml" Requires="v">
                <p:oleObj spid="_x0000_s4236" name="Equation" r:id="rId29" imgW="634680" imgH="177480" progId="Equation.DSMT4">
                  <p:embed/>
                </p:oleObj>
              </mc:Choice>
              <mc:Fallback>
                <p:oleObj name="Equation" r:id="rId29" imgW="634680" imgH="177480" progId="Equation.DSMT4">
                  <p:embed/>
                  <p:pic>
                    <p:nvPicPr>
                      <p:cNvPr id="0" name=""/>
                      <p:cNvPicPr/>
                      <p:nvPr/>
                    </p:nvPicPr>
                    <p:blipFill>
                      <a:blip r:embed="rId30"/>
                      <a:stretch>
                        <a:fillRect/>
                      </a:stretch>
                    </p:blipFill>
                    <p:spPr>
                      <a:xfrm>
                        <a:off x="4246106" y="4044504"/>
                        <a:ext cx="524794" cy="146942"/>
                      </a:xfrm>
                      <a:prstGeom prst="rect">
                        <a:avLst/>
                      </a:prstGeom>
                      <a:solidFill>
                        <a:schemeClr val="bg1"/>
                      </a:solidFill>
                    </p:spPr>
                  </p:pic>
                </p:oleObj>
              </mc:Fallback>
            </mc:AlternateContent>
          </a:graphicData>
        </a:graphic>
      </p:graphicFrame>
      <p:graphicFrame>
        <p:nvGraphicFramePr>
          <p:cNvPr id="19" name="Object 18">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54136956"/>
              </p:ext>
            </p:extLst>
          </p:nvPr>
        </p:nvGraphicFramePr>
        <p:xfrm>
          <a:off x="4246106" y="4338957"/>
          <a:ext cx="524794" cy="146942"/>
        </p:xfrm>
        <a:graphic>
          <a:graphicData uri="http://schemas.openxmlformats.org/presentationml/2006/ole">
            <mc:AlternateContent xmlns:mc="http://schemas.openxmlformats.org/markup-compatibility/2006">
              <mc:Choice xmlns:v="urn:schemas-microsoft-com:vml" Requires="v">
                <p:oleObj spid="_x0000_s4237" name="Equation" r:id="rId31" imgW="634680" imgH="177480" progId="Equation.DSMT4">
                  <p:embed/>
                </p:oleObj>
              </mc:Choice>
              <mc:Fallback>
                <p:oleObj name="Equation" r:id="rId31" imgW="634680" imgH="177480" progId="Equation.DSMT4">
                  <p:embed/>
                  <p:pic>
                    <p:nvPicPr>
                      <p:cNvPr id="0" name=""/>
                      <p:cNvPicPr/>
                      <p:nvPr/>
                    </p:nvPicPr>
                    <p:blipFill>
                      <a:blip r:embed="rId32"/>
                      <a:stretch>
                        <a:fillRect/>
                      </a:stretch>
                    </p:blipFill>
                    <p:spPr>
                      <a:xfrm>
                        <a:off x="4246106" y="4338957"/>
                        <a:ext cx="524794" cy="146942"/>
                      </a:xfrm>
                      <a:prstGeom prst="rect">
                        <a:avLst/>
                      </a:prstGeom>
                      <a:solidFill>
                        <a:schemeClr val="bg1"/>
                      </a:solidFill>
                    </p:spPr>
                  </p:pic>
                </p:oleObj>
              </mc:Fallback>
            </mc:AlternateContent>
          </a:graphicData>
        </a:graphic>
      </p:graphicFrame>
      <p:graphicFrame>
        <p:nvGraphicFramePr>
          <p:cNvPr id="20" name="Object 19">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234580758"/>
              </p:ext>
            </p:extLst>
          </p:nvPr>
        </p:nvGraphicFramePr>
        <p:xfrm>
          <a:off x="6208253" y="4338957"/>
          <a:ext cx="524794" cy="146942"/>
        </p:xfrm>
        <a:graphic>
          <a:graphicData uri="http://schemas.openxmlformats.org/presentationml/2006/ole">
            <mc:AlternateContent xmlns:mc="http://schemas.openxmlformats.org/markup-compatibility/2006">
              <mc:Choice xmlns:v="urn:schemas-microsoft-com:vml" Requires="v">
                <p:oleObj spid="_x0000_s4238" name="Equation" r:id="rId33" imgW="634680" imgH="177480" progId="Equation.DSMT4">
                  <p:embed/>
                </p:oleObj>
              </mc:Choice>
              <mc:Fallback>
                <p:oleObj name="Equation" r:id="rId33" imgW="634680" imgH="177480" progId="Equation.DSMT4">
                  <p:embed/>
                  <p:pic>
                    <p:nvPicPr>
                      <p:cNvPr id="0" name=""/>
                      <p:cNvPicPr/>
                      <p:nvPr/>
                    </p:nvPicPr>
                    <p:blipFill>
                      <a:blip r:embed="rId34"/>
                      <a:stretch>
                        <a:fillRect/>
                      </a:stretch>
                    </p:blipFill>
                    <p:spPr>
                      <a:xfrm>
                        <a:off x="6208253" y="4338957"/>
                        <a:ext cx="524794" cy="146942"/>
                      </a:xfrm>
                      <a:prstGeom prst="rect">
                        <a:avLst/>
                      </a:prstGeom>
                      <a:solidFill>
                        <a:schemeClr val="bg1"/>
                      </a:solidFill>
                    </p:spPr>
                  </p:pic>
                </p:oleObj>
              </mc:Fallback>
            </mc:AlternateContent>
          </a:graphicData>
        </a:graphic>
      </p:graphicFrame>
      <p:graphicFrame>
        <p:nvGraphicFramePr>
          <p:cNvPr id="21" name="Object 20">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545993000"/>
              </p:ext>
            </p:extLst>
          </p:nvPr>
        </p:nvGraphicFramePr>
        <p:xfrm>
          <a:off x="8114133" y="4338957"/>
          <a:ext cx="524794" cy="146942"/>
        </p:xfrm>
        <a:graphic>
          <a:graphicData uri="http://schemas.openxmlformats.org/presentationml/2006/ole">
            <mc:AlternateContent xmlns:mc="http://schemas.openxmlformats.org/markup-compatibility/2006">
              <mc:Choice xmlns:v="urn:schemas-microsoft-com:vml" Requires="v">
                <p:oleObj spid="_x0000_s4239" name="Equation" r:id="rId35" imgW="634680" imgH="177480" progId="Equation.DSMT4">
                  <p:embed/>
                </p:oleObj>
              </mc:Choice>
              <mc:Fallback>
                <p:oleObj name="Equation" r:id="rId35" imgW="634680" imgH="177480" progId="Equation.DSMT4">
                  <p:embed/>
                  <p:pic>
                    <p:nvPicPr>
                      <p:cNvPr id="0" name=""/>
                      <p:cNvPicPr/>
                      <p:nvPr/>
                    </p:nvPicPr>
                    <p:blipFill>
                      <a:blip r:embed="rId36"/>
                      <a:stretch>
                        <a:fillRect/>
                      </a:stretch>
                    </p:blipFill>
                    <p:spPr>
                      <a:xfrm>
                        <a:off x="8114133" y="4338957"/>
                        <a:ext cx="524794" cy="146942"/>
                      </a:xfrm>
                      <a:prstGeom prst="rect">
                        <a:avLst/>
                      </a:prstGeom>
                      <a:solidFill>
                        <a:schemeClr val="bg1"/>
                      </a:solidFill>
                    </p:spPr>
                  </p:pic>
                </p:oleObj>
              </mc:Fallback>
            </mc:AlternateContent>
          </a:graphicData>
        </a:graphic>
      </p:graphicFrame>
      <p:graphicFrame>
        <p:nvGraphicFramePr>
          <p:cNvPr id="22" name="Object 21">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84623468"/>
              </p:ext>
            </p:extLst>
          </p:nvPr>
        </p:nvGraphicFramePr>
        <p:xfrm>
          <a:off x="4236578" y="4673611"/>
          <a:ext cx="524794" cy="146942"/>
        </p:xfrm>
        <a:graphic>
          <a:graphicData uri="http://schemas.openxmlformats.org/presentationml/2006/ole">
            <mc:AlternateContent xmlns:mc="http://schemas.openxmlformats.org/markup-compatibility/2006">
              <mc:Choice xmlns:v="urn:schemas-microsoft-com:vml" Requires="v">
                <p:oleObj spid="_x0000_s4240" name="Equation" r:id="rId37" imgW="634680" imgH="177480" progId="Equation.DSMT4">
                  <p:embed/>
                </p:oleObj>
              </mc:Choice>
              <mc:Fallback>
                <p:oleObj name="Equation" r:id="rId37" imgW="634680" imgH="177480" progId="Equation.DSMT4">
                  <p:embed/>
                  <p:pic>
                    <p:nvPicPr>
                      <p:cNvPr id="0" name=""/>
                      <p:cNvPicPr/>
                      <p:nvPr/>
                    </p:nvPicPr>
                    <p:blipFill>
                      <a:blip r:embed="rId38"/>
                      <a:stretch>
                        <a:fillRect/>
                      </a:stretch>
                    </p:blipFill>
                    <p:spPr>
                      <a:xfrm>
                        <a:off x="4236578" y="4673611"/>
                        <a:ext cx="524794" cy="146942"/>
                      </a:xfrm>
                      <a:prstGeom prst="rect">
                        <a:avLst/>
                      </a:prstGeom>
                      <a:solidFill>
                        <a:schemeClr val="bg1"/>
                      </a:solidFill>
                    </p:spPr>
                  </p:pic>
                </p:oleObj>
              </mc:Fallback>
            </mc:AlternateContent>
          </a:graphicData>
        </a:graphic>
      </p:graphicFrame>
      <p:graphicFrame>
        <p:nvGraphicFramePr>
          <p:cNvPr id="23" name="Object 22">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98484027"/>
              </p:ext>
            </p:extLst>
          </p:nvPr>
        </p:nvGraphicFramePr>
        <p:xfrm>
          <a:off x="6208253" y="4679276"/>
          <a:ext cx="524794" cy="146942"/>
        </p:xfrm>
        <a:graphic>
          <a:graphicData uri="http://schemas.openxmlformats.org/presentationml/2006/ole">
            <mc:AlternateContent xmlns:mc="http://schemas.openxmlformats.org/markup-compatibility/2006">
              <mc:Choice xmlns:v="urn:schemas-microsoft-com:vml" Requires="v">
                <p:oleObj spid="_x0000_s4241" name="Equation" r:id="rId39" imgW="634680" imgH="177480" progId="Equation.DSMT4">
                  <p:embed/>
                </p:oleObj>
              </mc:Choice>
              <mc:Fallback>
                <p:oleObj name="Equation" r:id="rId39" imgW="634680" imgH="177480" progId="Equation.DSMT4">
                  <p:embed/>
                  <p:pic>
                    <p:nvPicPr>
                      <p:cNvPr id="0" name=""/>
                      <p:cNvPicPr/>
                      <p:nvPr/>
                    </p:nvPicPr>
                    <p:blipFill>
                      <a:blip r:embed="rId40"/>
                      <a:stretch>
                        <a:fillRect/>
                      </a:stretch>
                    </p:blipFill>
                    <p:spPr>
                      <a:xfrm>
                        <a:off x="6208253" y="4679276"/>
                        <a:ext cx="524794" cy="146942"/>
                      </a:xfrm>
                      <a:prstGeom prst="rect">
                        <a:avLst/>
                      </a:prstGeom>
                      <a:solidFill>
                        <a:schemeClr val="bg1"/>
                      </a:solidFill>
                    </p:spPr>
                  </p:pic>
                </p:oleObj>
              </mc:Fallback>
            </mc:AlternateContent>
          </a:graphicData>
        </a:graphic>
      </p:graphicFrame>
      <p:graphicFrame>
        <p:nvGraphicFramePr>
          <p:cNvPr id="24" name="Object 23">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920931336"/>
              </p:ext>
            </p:extLst>
          </p:nvPr>
        </p:nvGraphicFramePr>
        <p:xfrm>
          <a:off x="8114133" y="4689704"/>
          <a:ext cx="524794" cy="146942"/>
        </p:xfrm>
        <a:graphic>
          <a:graphicData uri="http://schemas.openxmlformats.org/presentationml/2006/ole">
            <mc:AlternateContent xmlns:mc="http://schemas.openxmlformats.org/markup-compatibility/2006">
              <mc:Choice xmlns:v="urn:schemas-microsoft-com:vml" Requires="v">
                <p:oleObj spid="_x0000_s4242" name="Equation" r:id="rId41" imgW="634680" imgH="177480" progId="Equation.DSMT4">
                  <p:embed/>
                </p:oleObj>
              </mc:Choice>
              <mc:Fallback>
                <p:oleObj name="Equation" r:id="rId41" imgW="634680" imgH="177480" progId="Equation.DSMT4">
                  <p:embed/>
                  <p:pic>
                    <p:nvPicPr>
                      <p:cNvPr id="0" name=""/>
                      <p:cNvPicPr/>
                      <p:nvPr/>
                    </p:nvPicPr>
                    <p:blipFill>
                      <a:blip r:embed="rId42"/>
                      <a:stretch>
                        <a:fillRect/>
                      </a:stretch>
                    </p:blipFill>
                    <p:spPr>
                      <a:xfrm>
                        <a:off x="8114133" y="4689704"/>
                        <a:ext cx="524794" cy="146942"/>
                      </a:xfrm>
                      <a:prstGeom prst="rect">
                        <a:avLst/>
                      </a:prstGeom>
                      <a:solidFill>
                        <a:schemeClr val="bg1"/>
                      </a:solidFill>
                    </p:spPr>
                  </p:pic>
                </p:oleObj>
              </mc:Fallback>
            </mc:AlternateContent>
          </a:graphicData>
        </a:graphic>
      </p:graphicFrame>
      <p:graphicFrame>
        <p:nvGraphicFramePr>
          <p:cNvPr id="25" name="Object 24">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550420004"/>
              </p:ext>
            </p:extLst>
          </p:nvPr>
        </p:nvGraphicFramePr>
        <p:xfrm>
          <a:off x="4236581" y="4949378"/>
          <a:ext cx="524794" cy="146942"/>
        </p:xfrm>
        <a:graphic>
          <a:graphicData uri="http://schemas.openxmlformats.org/presentationml/2006/ole">
            <mc:AlternateContent xmlns:mc="http://schemas.openxmlformats.org/markup-compatibility/2006">
              <mc:Choice xmlns:v="urn:schemas-microsoft-com:vml" Requires="v">
                <p:oleObj spid="_x0000_s4243" name="Equation" r:id="rId43" imgW="634680" imgH="177480" progId="Equation.DSMT4">
                  <p:embed/>
                </p:oleObj>
              </mc:Choice>
              <mc:Fallback>
                <p:oleObj name="Equation" r:id="rId43" imgW="634680" imgH="177480" progId="Equation.DSMT4">
                  <p:embed/>
                  <p:pic>
                    <p:nvPicPr>
                      <p:cNvPr id="0" name=""/>
                      <p:cNvPicPr/>
                      <p:nvPr/>
                    </p:nvPicPr>
                    <p:blipFill>
                      <a:blip r:embed="rId44"/>
                      <a:stretch>
                        <a:fillRect/>
                      </a:stretch>
                    </p:blipFill>
                    <p:spPr>
                      <a:xfrm>
                        <a:off x="4236581" y="4949378"/>
                        <a:ext cx="524794" cy="146942"/>
                      </a:xfrm>
                      <a:prstGeom prst="rect">
                        <a:avLst/>
                      </a:prstGeom>
                      <a:solidFill>
                        <a:schemeClr val="bg1"/>
                      </a:solidFill>
                    </p:spPr>
                  </p:pic>
                </p:oleObj>
              </mc:Fallback>
            </mc:AlternateContent>
          </a:graphicData>
        </a:graphic>
      </p:graphicFrame>
      <p:graphicFrame>
        <p:nvGraphicFramePr>
          <p:cNvPr id="26" name="Object 25">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970803770"/>
              </p:ext>
            </p:extLst>
          </p:nvPr>
        </p:nvGraphicFramePr>
        <p:xfrm>
          <a:off x="6208253" y="4954141"/>
          <a:ext cx="524794" cy="146942"/>
        </p:xfrm>
        <a:graphic>
          <a:graphicData uri="http://schemas.openxmlformats.org/presentationml/2006/ole">
            <mc:AlternateContent xmlns:mc="http://schemas.openxmlformats.org/markup-compatibility/2006">
              <mc:Choice xmlns:v="urn:schemas-microsoft-com:vml" Requires="v">
                <p:oleObj spid="_x0000_s4244" name="Equation" r:id="rId45" imgW="634680" imgH="177480" progId="Equation.DSMT4">
                  <p:embed/>
                </p:oleObj>
              </mc:Choice>
              <mc:Fallback>
                <p:oleObj name="Equation" r:id="rId45" imgW="634680" imgH="177480" progId="Equation.DSMT4">
                  <p:embed/>
                  <p:pic>
                    <p:nvPicPr>
                      <p:cNvPr id="0" name=""/>
                      <p:cNvPicPr/>
                      <p:nvPr/>
                    </p:nvPicPr>
                    <p:blipFill>
                      <a:blip r:embed="rId46"/>
                      <a:stretch>
                        <a:fillRect/>
                      </a:stretch>
                    </p:blipFill>
                    <p:spPr>
                      <a:xfrm>
                        <a:off x="6208253" y="4954141"/>
                        <a:ext cx="524794" cy="146942"/>
                      </a:xfrm>
                      <a:prstGeom prst="rect">
                        <a:avLst/>
                      </a:prstGeom>
                      <a:solidFill>
                        <a:schemeClr val="bg1"/>
                      </a:solidFill>
                    </p:spPr>
                  </p:pic>
                </p:oleObj>
              </mc:Fallback>
            </mc:AlternateContent>
          </a:graphicData>
        </a:graphic>
      </p:graphicFrame>
      <p:graphicFrame>
        <p:nvGraphicFramePr>
          <p:cNvPr id="27" name="Object 26">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891824776"/>
              </p:ext>
            </p:extLst>
          </p:nvPr>
        </p:nvGraphicFramePr>
        <p:xfrm>
          <a:off x="8114133" y="4954141"/>
          <a:ext cx="524794" cy="146942"/>
        </p:xfrm>
        <a:graphic>
          <a:graphicData uri="http://schemas.openxmlformats.org/presentationml/2006/ole">
            <mc:AlternateContent xmlns:mc="http://schemas.openxmlformats.org/markup-compatibility/2006">
              <mc:Choice xmlns:v="urn:schemas-microsoft-com:vml" Requires="v">
                <p:oleObj spid="_x0000_s4245" name="Equation" r:id="rId47" imgW="634680" imgH="177480" progId="Equation.DSMT4">
                  <p:embed/>
                </p:oleObj>
              </mc:Choice>
              <mc:Fallback>
                <p:oleObj name="Equation" r:id="rId47" imgW="634680" imgH="177480" progId="Equation.DSMT4">
                  <p:embed/>
                  <p:pic>
                    <p:nvPicPr>
                      <p:cNvPr id="0" name=""/>
                      <p:cNvPicPr/>
                      <p:nvPr/>
                    </p:nvPicPr>
                    <p:blipFill>
                      <a:blip r:embed="rId48"/>
                      <a:stretch>
                        <a:fillRect/>
                      </a:stretch>
                    </p:blipFill>
                    <p:spPr>
                      <a:xfrm>
                        <a:off x="8114133" y="4954141"/>
                        <a:ext cx="524794" cy="146942"/>
                      </a:xfrm>
                      <a:prstGeom prst="rect">
                        <a:avLst/>
                      </a:prstGeom>
                      <a:solidFill>
                        <a:schemeClr val="bg1"/>
                      </a:solidFill>
                    </p:spPr>
                  </p:pic>
                </p:oleObj>
              </mc:Fallback>
            </mc:AlternateContent>
          </a:graphicData>
        </a:graphic>
      </p:graphicFrame>
      <p:graphicFrame>
        <p:nvGraphicFramePr>
          <p:cNvPr id="28" name="Object 27">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354330538"/>
              </p:ext>
            </p:extLst>
          </p:nvPr>
        </p:nvGraphicFramePr>
        <p:xfrm>
          <a:off x="4246106" y="5461457"/>
          <a:ext cx="524794" cy="146942"/>
        </p:xfrm>
        <a:graphic>
          <a:graphicData uri="http://schemas.openxmlformats.org/presentationml/2006/ole">
            <mc:AlternateContent xmlns:mc="http://schemas.openxmlformats.org/markup-compatibility/2006">
              <mc:Choice xmlns:v="urn:schemas-microsoft-com:vml" Requires="v">
                <p:oleObj spid="_x0000_s4246" name="Equation" r:id="rId49" imgW="634680" imgH="177480" progId="Equation.DSMT4">
                  <p:embed/>
                </p:oleObj>
              </mc:Choice>
              <mc:Fallback>
                <p:oleObj name="Equation" r:id="rId49" imgW="634680" imgH="177480" progId="Equation.DSMT4">
                  <p:embed/>
                  <p:pic>
                    <p:nvPicPr>
                      <p:cNvPr id="0" name=""/>
                      <p:cNvPicPr/>
                      <p:nvPr/>
                    </p:nvPicPr>
                    <p:blipFill>
                      <a:blip r:embed="rId50"/>
                      <a:stretch>
                        <a:fillRect/>
                      </a:stretch>
                    </p:blipFill>
                    <p:spPr>
                      <a:xfrm>
                        <a:off x="4246106" y="5461457"/>
                        <a:ext cx="524794" cy="146942"/>
                      </a:xfrm>
                      <a:prstGeom prst="rect">
                        <a:avLst/>
                      </a:prstGeom>
                      <a:solidFill>
                        <a:schemeClr val="bg1"/>
                      </a:solidFill>
                    </p:spPr>
                  </p:pic>
                </p:oleObj>
              </mc:Fallback>
            </mc:AlternateContent>
          </a:graphicData>
        </a:graphic>
      </p:graphicFrame>
      <p:graphicFrame>
        <p:nvGraphicFramePr>
          <p:cNvPr id="30" name="Object 29">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366374788"/>
              </p:ext>
            </p:extLst>
          </p:nvPr>
        </p:nvGraphicFramePr>
        <p:xfrm>
          <a:off x="4208003" y="5892354"/>
          <a:ext cx="524794" cy="146942"/>
        </p:xfrm>
        <a:graphic>
          <a:graphicData uri="http://schemas.openxmlformats.org/presentationml/2006/ole">
            <mc:AlternateContent xmlns:mc="http://schemas.openxmlformats.org/markup-compatibility/2006">
              <mc:Choice xmlns:v="urn:schemas-microsoft-com:vml" Requires="v">
                <p:oleObj spid="_x0000_s4247" name="Equation" r:id="rId51" imgW="634680" imgH="177480" progId="Equation.DSMT4">
                  <p:embed/>
                </p:oleObj>
              </mc:Choice>
              <mc:Fallback>
                <p:oleObj name="Equation" r:id="rId51" imgW="634680" imgH="177480" progId="Equation.DSMT4">
                  <p:embed/>
                  <p:pic>
                    <p:nvPicPr>
                      <p:cNvPr id="0" name=""/>
                      <p:cNvPicPr/>
                      <p:nvPr/>
                    </p:nvPicPr>
                    <p:blipFill>
                      <a:blip r:embed="rId52"/>
                      <a:stretch>
                        <a:fillRect/>
                      </a:stretch>
                    </p:blipFill>
                    <p:spPr>
                      <a:xfrm>
                        <a:off x="4208003" y="5892354"/>
                        <a:ext cx="524794" cy="146942"/>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97802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a:t>Table 14.1 Exchange Rate Quotations </a:t>
            </a:r>
            <a:r>
              <a:rPr lang="en-US" altLang="en-US" sz="2000" b="0" dirty="0"/>
              <a:t>(4 of 5)</a:t>
            </a:r>
            <a:endParaRPr lang="en-IN" dirty="0"/>
          </a:p>
        </p:txBody>
      </p:sp>
      <p:graphicFrame>
        <p:nvGraphicFramePr>
          <p:cNvPr id="6" name="Content Placeholder 5"/>
          <p:cNvGraphicFramePr>
            <a:graphicFrameLocks noGrp="1"/>
          </p:cNvGraphicFramePr>
          <p:nvPr>
            <p:ph sz="quarter" idx="14"/>
            <p:extLst>
              <p:ext uri="{D42A27DB-BD31-4B8C-83A1-F6EECF244321}">
                <p14:modId xmlns:p14="http://schemas.microsoft.com/office/powerpoint/2010/main" val="793311787"/>
              </p:ext>
            </p:extLst>
          </p:nvPr>
        </p:nvGraphicFramePr>
        <p:xfrm>
          <a:off x="457199" y="1896384"/>
          <a:ext cx="8181728" cy="4308480"/>
        </p:xfrm>
        <a:graphic>
          <a:graphicData uri="http://schemas.openxmlformats.org/drawingml/2006/table">
            <a:tbl>
              <a:tblPr firstRow="1" bandRow="1">
                <a:tableStyleId>{40F9630F-82C1-40B7-BC3A-925EFCFF5E92}</a:tableStyleId>
              </a:tblPr>
              <a:tblGrid>
                <a:gridCol w="1079058">
                  <a:extLst>
                    <a:ext uri="{9D8B030D-6E8A-4147-A177-3AD203B41FA5}">
                      <a16:colId xmlns:a16="http://schemas.microsoft.com/office/drawing/2014/main" val="2158364159"/>
                    </a:ext>
                  </a:extLst>
                </a:gridCol>
                <a:gridCol w="1277505">
                  <a:extLst>
                    <a:ext uri="{9D8B030D-6E8A-4147-A177-3AD203B41FA5}">
                      <a16:colId xmlns:a16="http://schemas.microsoft.com/office/drawing/2014/main" val="3854539076"/>
                    </a:ext>
                  </a:extLst>
                </a:gridCol>
                <a:gridCol w="986046">
                  <a:extLst>
                    <a:ext uri="{9D8B030D-6E8A-4147-A177-3AD203B41FA5}">
                      <a16:colId xmlns:a16="http://schemas.microsoft.com/office/drawing/2014/main" val="329971916"/>
                    </a:ext>
                  </a:extLst>
                </a:gridCol>
                <a:gridCol w="1000548">
                  <a:extLst>
                    <a:ext uri="{9D8B030D-6E8A-4147-A177-3AD203B41FA5}">
                      <a16:colId xmlns:a16="http://schemas.microsoft.com/office/drawing/2014/main" val="490364007"/>
                    </a:ext>
                  </a:extLst>
                </a:gridCol>
                <a:gridCol w="908404">
                  <a:extLst>
                    <a:ext uri="{9D8B030D-6E8A-4147-A177-3AD203B41FA5}">
                      <a16:colId xmlns:a16="http://schemas.microsoft.com/office/drawing/2014/main" val="113416755"/>
                    </a:ext>
                  </a:extLst>
                </a:gridCol>
                <a:gridCol w="1044995">
                  <a:extLst>
                    <a:ext uri="{9D8B030D-6E8A-4147-A177-3AD203B41FA5}">
                      <a16:colId xmlns:a16="http://schemas.microsoft.com/office/drawing/2014/main" val="3760073308"/>
                    </a:ext>
                  </a:extLst>
                </a:gridCol>
                <a:gridCol w="946116">
                  <a:extLst>
                    <a:ext uri="{9D8B030D-6E8A-4147-A177-3AD203B41FA5}">
                      <a16:colId xmlns:a16="http://schemas.microsoft.com/office/drawing/2014/main" val="889847359"/>
                    </a:ext>
                  </a:extLst>
                </a:gridCol>
                <a:gridCol w="939056">
                  <a:extLst>
                    <a:ext uri="{9D8B030D-6E8A-4147-A177-3AD203B41FA5}">
                      <a16:colId xmlns:a16="http://schemas.microsoft.com/office/drawing/2014/main" val="2970760308"/>
                    </a:ext>
                  </a:extLst>
                </a:gridCol>
              </a:tblGrid>
              <a:tr h="2795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noProof="0" dirty="0">
                          <a:solidFill>
                            <a:schemeClr val="tx1"/>
                          </a:solidFill>
                          <a:latin typeface="+mn-lt"/>
                          <a:cs typeface="Arial" panose="020B0604020202020204" pitchFamily="34" charset="0"/>
                        </a:rPr>
                        <a:t>Jun</a:t>
                      </a:r>
                      <a:r>
                        <a:rPr lang="en-US" sz="1200" b="0" baseline="0" noProof="0" dirty="0">
                          <a:solidFill>
                            <a:schemeClr val="tx1"/>
                          </a:solidFill>
                          <a:latin typeface="+mn-lt"/>
                          <a:cs typeface="Arial" panose="020B0604020202020204" pitchFamily="34" charset="0"/>
                        </a:rPr>
                        <a:t> 3</a:t>
                      </a:r>
                      <a:endParaRPr lang="en-US" sz="1200" b="0" noProof="0" dirty="0">
                        <a:solidFill>
                          <a:schemeClr val="tx1"/>
                        </a:solidFill>
                        <a:latin typeface="+mn-lt"/>
                        <a:cs typeface="Arial" panose="020B0604020202020204" pitchFamily="34" charset="0"/>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0" noProof="0">
                          <a:solidFill>
                            <a:schemeClr val="tx1"/>
                          </a:solidFill>
                          <a:latin typeface="+mn-lt"/>
                          <a:cs typeface="Arial" panose="020B0604020202020204" pitchFamily="34" charset="0"/>
                        </a:rPr>
                        <a:t>Currency</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a:solidFill>
                            <a:schemeClr val="tx1"/>
                          </a:solidFill>
                          <a:latin typeface="+mn-lt"/>
                          <a:cs typeface="Arial" panose="020B0604020202020204" pitchFamily="34" charset="0"/>
                        </a:rPr>
                        <a:t>DOLLAR</a:t>
                      </a:r>
                    </a:p>
                    <a:p>
                      <a:pPr algn="ctr"/>
                      <a:r>
                        <a:rPr lang="en-US" sz="1200" b="0" noProof="0">
                          <a:solidFill>
                            <a:schemeClr val="tx1"/>
                          </a:solidFill>
                          <a:latin typeface="+mn-lt"/>
                          <a:cs typeface="Arial" panose="020B0604020202020204" pitchFamily="34" charset="0"/>
                        </a:rPr>
                        <a:t>Closing</a:t>
                      </a:r>
                      <a:r>
                        <a:rPr lang="en-US" sz="1200" b="0" baseline="0" noProof="0">
                          <a:solidFill>
                            <a:schemeClr val="tx1"/>
                          </a:solidFill>
                          <a:latin typeface="+mn-lt"/>
                          <a:cs typeface="Arial" panose="020B0604020202020204" pitchFamily="34" charset="0"/>
                        </a:rPr>
                        <a:t> Mid</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a:solidFill>
                            <a:schemeClr val="tx1"/>
                          </a:solidFill>
                          <a:latin typeface="+mn-lt"/>
                          <a:cs typeface="Arial" panose="020B0604020202020204" pitchFamily="34" charset="0"/>
                        </a:rPr>
                        <a:t>DOLLAR</a:t>
                      </a:r>
                    </a:p>
                    <a:p>
                      <a:pPr algn="ctr"/>
                      <a:r>
                        <a:rPr lang="en-US" sz="1200" b="0" noProof="0">
                          <a:solidFill>
                            <a:schemeClr val="tx1"/>
                          </a:solidFill>
                          <a:latin typeface="+mn-lt"/>
                          <a:cs typeface="Arial" panose="020B0604020202020204" pitchFamily="34" charset="0"/>
                        </a:rPr>
                        <a:t>Closing</a:t>
                      </a:r>
                      <a:r>
                        <a:rPr lang="en-US" sz="1200" b="0" baseline="0" noProof="0">
                          <a:solidFill>
                            <a:schemeClr val="tx1"/>
                          </a:solidFill>
                          <a:latin typeface="+mn-lt"/>
                          <a:cs typeface="Arial" panose="020B0604020202020204" pitchFamily="34" charset="0"/>
                        </a:rPr>
                        <a:t> Mid</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a:solidFill>
                            <a:schemeClr val="tx1"/>
                          </a:solidFill>
                          <a:latin typeface="+mn-lt"/>
                          <a:cs typeface="Arial" panose="020B0604020202020204" pitchFamily="34" charset="0"/>
                        </a:rPr>
                        <a:t>EURO</a:t>
                      </a:r>
                    </a:p>
                    <a:p>
                      <a:pPr algn="ctr"/>
                      <a:r>
                        <a:rPr lang="en-US" sz="1200" b="0" noProof="0">
                          <a:solidFill>
                            <a:schemeClr val="tx1"/>
                          </a:solidFill>
                          <a:latin typeface="+mn-lt"/>
                          <a:cs typeface="Arial" panose="020B0604020202020204" pitchFamily="34" charset="0"/>
                        </a:rPr>
                        <a:t>Closing</a:t>
                      </a:r>
                      <a:r>
                        <a:rPr lang="en-US" sz="1200" b="0" baseline="0" noProof="0">
                          <a:solidFill>
                            <a:schemeClr val="tx1"/>
                          </a:solidFill>
                          <a:latin typeface="+mn-lt"/>
                          <a:cs typeface="Arial" panose="020B0604020202020204" pitchFamily="34" charset="0"/>
                        </a:rPr>
                        <a:t> Mid</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mn-lt"/>
                          <a:cs typeface="Arial" panose="020B0604020202020204" pitchFamily="34" charset="0"/>
                        </a:rPr>
                        <a:t>EURO</a:t>
                      </a:r>
                    </a:p>
                    <a:p>
                      <a:pPr algn="ctr"/>
                      <a:r>
                        <a:rPr lang="en-US" sz="1200" b="0" noProof="0">
                          <a:solidFill>
                            <a:schemeClr val="tx1"/>
                          </a:solidFill>
                          <a:latin typeface="+mn-lt"/>
                          <a:cs typeface="Arial" panose="020B0604020202020204" pitchFamily="34" charset="0"/>
                        </a:rPr>
                        <a:t>Day’s</a:t>
                      </a:r>
                      <a:r>
                        <a:rPr lang="en-US" sz="1200" b="0" baseline="0" noProof="0">
                          <a:solidFill>
                            <a:schemeClr val="tx1"/>
                          </a:solidFill>
                          <a:latin typeface="+mn-lt"/>
                          <a:cs typeface="Arial" panose="020B0604020202020204" pitchFamily="34" charset="0"/>
                        </a:rPr>
                        <a:t> </a:t>
                      </a:r>
                      <a:r>
                        <a:rPr lang="en-US" sz="1200" b="0" noProof="0">
                          <a:solidFill>
                            <a:schemeClr val="tx1"/>
                          </a:solidFill>
                          <a:latin typeface="+mn-lt"/>
                          <a:cs typeface="Arial" panose="020B0604020202020204" pitchFamily="34" charset="0"/>
                        </a:rPr>
                        <a:t>Change</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200" b="1" noProof="0">
                          <a:solidFill>
                            <a:schemeClr val="tx1"/>
                          </a:solidFill>
                          <a:latin typeface="+mn-lt"/>
                          <a:cs typeface="Arial" panose="020B0604020202020204" pitchFamily="34" charset="0"/>
                        </a:rPr>
                        <a:t>POUND</a:t>
                      </a:r>
                    </a:p>
                    <a:p>
                      <a:pPr algn="ctr"/>
                      <a:r>
                        <a:rPr lang="en-US" sz="1200" b="0" noProof="0">
                          <a:solidFill>
                            <a:schemeClr val="tx1"/>
                          </a:solidFill>
                          <a:latin typeface="+mn-lt"/>
                          <a:cs typeface="Arial" panose="020B0604020202020204" pitchFamily="34" charset="0"/>
                        </a:rPr>
                        <a:t>Closing</a:t>
                      </a:r>
                      <a:r>
                        <a:rPr lang="en-US" sz="1200" b="0" baseline="0" noProof="0">
                          <a:solidFill>
                            <a:schemeClr val="tx1"/>
                          </a:solidFill>
                          <a:latin typeface="+mn-lt"/>
                          <a:cs typeface="Arial" panose="020B0604020202020204" pitchFamily="34" charset="0"/>
                        </a:rPr>
                        <a:t> Mid</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mn-lt"/>
                          <a:cs typeface="Arial" panose="020B0604020202020204" pitchFamily="34" charset="0"/>
                        </a:rPr>
                        <a:t>POUND</a:t>
                      </a:r>
                    </a:p>
                    <a:p>
                      <a:pPr algn="ctr"/>
                      <a:r>
                        <a:rPr lang="en-US" sz="1200" b="0" noProof="0">
                          <a:solidFill>
                            <a:schemeClr val="tx1"/>
                          </a:solidFill>
                          <a:latin typeface="+mn-lt"/>
                          <a:cs typeface="Arial" panose="020B0604020202020204" pitchFamily="34" charset="0"/>
                        </a:rPr>
                        <a:t>Day’s Change</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61048629"/>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Turkey</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Turkish Lira</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dirty="0">
                          <a:solidFill>
                            <a:srgbClr val="231F20"/>
                          </a:solidFill>
                          <a:effectLst/>
                          <a:latin typeface="+mn-lt"/>
                          <a:ea typeface="Times New Roman" panose="02020603050405020304" pitchFamily="18" charset="0"/>
                          <a:cs typeface="Times New Roman" panose="02020603050405020304" pitchFamily="18" charset="0"/>
                        </a:rPr>
                        <a:t>6.7298</a:t>
                      </a:r>
                      <a:endParaRPr lang="en-US" sz="1200" noProof="0" dirty="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0.0028</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7.5504</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0.0214</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8.4771</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0.0232</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09643016"/>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United Arab Emirates</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UAE Dirham</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3.6732</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noProof="0">
                          <a:latin typeface="+mn-lt"/>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4.1211</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0.0134</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4.6269</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0.0145</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61690950"/>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United Kingdom</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Pound Sterling</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0.7939</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0.0025</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0.8907</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0.0001</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noProof="0">
                          <a:latin typeface="+mn-lt"/>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2702447"/>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..One Month</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0.7939</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0.0025</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0.8906</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0.0001</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5972935"/>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..Three Month</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0.7939</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0.0025</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0.8905</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0.0001</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040725"/>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..One Year</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0.7941</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0.0025</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0.8901</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0.0001</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0071369"/>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United States</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United States Dollar</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effectLst/>
                          <a:latin typeface="Arial"/>
                          <a:ea typeface="Arial"/>
                          <a:cs typeface="Arial"/>
                          <a:sym typeface="Arial"/>
                        </a:rPr>
                        <a:t>Negative 1.1219</a:t>
                      </a:r>
                      <a:endParaRPr lang="en-US" sz="100" noProof="0">
                        <a:effectLst/>
                        <a:latin typeface="+mn-lt"/>
                        <a:ea typeface="Times New Roman" panose="02020603050405020304" pitchFamily="18" charset="0"/>
                        <a:cs typeface="Times New Roman" panose="02020603050405020304" pitchFamily="18" charset="0"/>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noProof="0">
                          <a:latin typeface="+mn-lt"/>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0.0036</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1.2597</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0.0040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23901461"/>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..One Month</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200" noProof="0" dirty="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1.1219</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latin typeface="+mn-lt"/>
                          <a:ea typeface="Arial"/>
                          <a:cs typeface="Arial"/>
                          <a:sym typeface="Arial"/>
                        </a:rPr>
                        <a:t>Blank</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0.1338</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1.2597</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0.0040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5527092"/>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..Three Month</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effectLst/>
                          <a:latin typeface="Arial"/>
                          <a:ea typeface="Arial"/>
                          <a:cs typeface="Arial"/>
                          <a:sym typeface="Arial"/>
                        </a:rPr>
                        <a:t>Negative 1.1217</a:t>
                      </a:r>
                      <a:endParaRPr lang="en-US" sz="100" noProof="0">
                        <a:effectLst/>
                        <a:latin typeface="+mn-lt"/>
                        <a:ea typeface="Times New Roman" panose="02020603050405020304" pitchFamily="18" charset="0"/>
                        <a:cs typeface="Times New Roman" panose="02020603050405020304" pitchFamily="18" charset="0"/>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latin typeface="+mn-lt"/>
                          <a:ea typeface="Arial"/>
                          <a:cs typeface="Arial"/>
                          <a:sym typeface="Arial"/>
                        </a:rPr>
                        <a:t>Blank</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0.1338</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1.2597</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0.0040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9459209"/>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..One Year</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1.1210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0.1338</a:t>
                      </a:r>
                      <a:endParaRPr lang="en-US" sz="1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1.2599</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0.0040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231351"/>
                  </a:ext>
                </a:extLst>
              </a:tr>
              <a:tr h="0">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Venezuela</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52705" algn="r">
                        <a:lnSpc>
                          <a:spcPct val="150000"/>
                        </a:lnSpc>
                        <a:spcBef>
                          <a:spcPts val="10"/>
                        </a:spcBef>
                        <a:spcAft>
                          <a:spcPts val="0"/>
                        </a:spcAft>
                      </a:pPr>
                      <a:r>
                        <a:rPr lang="en-US" sz="1200" noProof="0" dirty="0">
                          <a:solidFill>
                            <a:srgbClr val="231F20"/>
                          </a:solidFill>
                          <a:effectLst/>
                          <a:latin typeface="+mn-lt"/>
                          <a:ea typeface="Times New Roman" panose="02020603050405020304" pitchFamily="18" charset="0"/>
                          <a:cs typeface="Times New Roman" panose="02020603050405020304" pitchFamily="18" charset="0"/>
                        </a:rPr>
                        <a:t>Venezuelan Bolivar </a:t>
                      </a:r>
                      <a:r>
                        <a:rPr lang="en-US" sz="1200" noProof="0" dirty="0" err="1">
                          <a:solidFill>
                            <a:srgbClr val="231F20"/>
                          </a:solidFill>
                          <a:effectLst/>
                          <a:latin typeface="+mn-lt"/>
                          <a:ea typeface="Times New Roman" panose="02020603050405020304" pitchFamily="18" charset="0"/>
                          <a:cs typeface="Times New Roman" panose="02020603050405020304" pitchFamily="18" charset="0"/>
                        </a:rPr>
                        <a:t>Fuerte</a:t>
                      </a:r>
                      <a:endParaRPr lang="en-US" sz="1200" noProof="0" dirty="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dirty="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8164647"/>
                  </a:ext>
                </a:extLst>
              </a:tr>
              <a:tr h="137697">
                <a:tc>
                  <a:txBody>
                    <a:bodyPr/>
                    <a:lstStyle/>
                    <a:p>
                      <a:r>
                        <a:rPr lang="en-US" sz="1200" noProof="0">
                          <a:solidFill>
                            <a:srgbClr val="231F20"/>
                          </a:solidFill>
                          <a:effectLst/>
                          <a:latin typeface="+mn-lt"/>
                          <a:ea typeface="Times New Roman" panose="02020603050405020304" pitchFamily="18" charset="0"/>
                          <a:cs typeface="Times New Roman" panose="02020603050405020304" pitchFamily="18" charset="0"/>
                        </a:rPr>
                        <a:t>Vietnam</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Vietnamese Dong</a:t>
                      </a:r>
                      <a:endParaRPr lang="en-US" sz="1200" noProof="0">
                        <a:latin typeface="+mn-lt"/>
                      </a:endParaRPr>
                    </a:p>
                  </a:txBody>
                  <a:tcPr marL="36000" marR="36000" marT="3600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23262.0000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5.5000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26098.6896</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90.7520</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a:solidFill>
                            <a:srgbClr val="231F20"/>
                          </a:solidFill>
                          <a:effectLst/>
                          <a:latin typeface="+mn-lt"/>
                          <a:ea typeface="Times New Roman" panose="02020603050405020304" pitchFamily="18" charset="0"/>
                          <a:cs typeface="Times New Roman" panose="02020603050405020304" pitchFamily="18" charset="0"/>
                        </a:rPr>
                        <a:t>29302.0544</a:t>
                      </a:r>
                      <a:endParaRPr lang="en-US" sz="1200" noProof="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200" noProof="0" dirty="0">
                          <a:solidFill>
                            <a:srgbClr val="231F20"/>
                          </a:solidFill>
                          <a:effectLst/>
                          <a:latin typeface="+mn-lt"/>
                          <a:ea typeface="Times New Roman" panose="02020603050405020304" pitchFamily="18" charset="0"/>
                          <a:cs typeface="Times New Roman" panose="02020603050405020304" pitchFamily="18" charset="0"/>
                        </a:rPr>
                        <a:t>98.8350</a:t>
                      </a:r>
                      <a:endParaRPr lang="en-US" sz="1200" noProof="0" dirty="0">
                        <a:latin typeface="+mn-lt"/>
                      </a:endParaRPr>
                    </a:p>
                  </a:txBody>
                  <a:tcPr marL="36000" marR="36000"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2181590"/>
                  </a:ext>
                </a:extLst>
              </a:tr>
            </a:tbl>
          </a:graphicData>
        </a:graphic>
      </p:graphicFrame>
      <p:graphicFrame>
        <p:nvGraphicFramePr>
          <p:cNvPr id="3" name="Object 2">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244868322"/>
              </p:ext>
            </p:extLst>
          </p:nvPr>
        </p:nvGraphicFramePr>
        <p:xfrm>
          <a:off x="4197639" y="2548082"/>
          <a:ext cx="577273" cy="161636"/>
        </p:xfrm>
        <a:graphic>
          <a:graphicData uri="http://schemas.openxmlformats.org/presentationml/2006/ole">
            <mc:AlternateContent xmlns:mc="http://schemas.openxmlformats.org/markup-compatibility/2006">
              <mc:Choice xmlns:v="urn:schemas-microsoft-com:vml" Requires="v">
                <p:oleObj spid="_x0000_s5177" name="Equation" r:id="rId3" imgW="634680" imgH="177480" progId="Equation.DSMT4">
                  <p:embed/>
                </p:oleObj>
              </mc:Choice>
              <mc:Fallback>
                <p:oleObj name="Equation" r:id="rId3" imgW="634680" imgH="177480" progId="Equation.DSMT4">
                  <p:embed/>
                  <p:pic>
                    <p:nvPicPr>
                      <p:cNvPr id="0" name=""/>
                      <p:cNvPicPr/>
                      <p:nvPr/>
                    </p:nvPicPr>
                    <p:blipFill>
                      <a:blip r:embed="rId4"/>
                      <a:stretch>
                        <a:fillRect/>
                      </a:stretch>
                    </p:blipFill>
                    <p:spPr>
                      <a:xfrm>
                        <a:off x="4197639" y="2548082"/>
                        <a:ext cx="577273" cy="161636"/>
                      </a:xfrm>
                      <a:prstGeom prst="rect">
                        <a:avLst/>
                      </a:prstGeom>
                      <a:solidFill>
                        <a:schemeClr val="bg1"/>
                      </a:solidFill>
                    </p:spPr>
                  </p:pic>
                </p:oleObj>
              </mc:Fallback>
            </mc:AlternateContent>
          </a:graphicData>
        </a:graphic>
      </p:graphicFrame>
      <p:graphicFrame>
        <p:nvGraphicFramePr>
          <p:cNvPr id="7" name="Object 6">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068696093"/>
              </p:ext>
            </p:extLst>
          </p:nvPr>
        </p:nvGraphicFramePr>
        <p:xfrm>
          <a:off x="4196053" y="3270355"/>
          <a:ext cx="577273" cy="161636"/>
        </p:xfrm>
        <a:graphic>
          <a:graphicData uri="http://schemas.openxmlformats.org/presentationml/2006/ole">
            <mc:AlternateContent xmlns:mc="http://schemas.openxmlformats.org/markup-compatibility/2006">
              <mc:Choice xmlns:v="urn:schemas-microsoft-com:vml" Requires="v">
                <p:oleObj spid="_x0000_s5178" name="Equation" r:id="rId5" imgW="634680" imgH="177480" progId="Equation.DSMT4">
                  <p:embed/>
                </p:oleObj>
              </mc:Choice>
              <mc:Fallback>
                <p:oleObj name="Equation" r:id="rId5" imgW="634680" imgH="177480" progId="Equation.DSMT4">
                  <p:embed/>
                  <p:pic>
                    <p:nvPicPr>
                      <p:cNvPr id="0" name=""/>
                      <p:cNvPicPr/>
                      <p:nvPr/>
                    </p:nvPicPr>
                    <p:blipFill>
                      <a:blip r:embed="rId6"/>
                      <a:stretch>
                        <a:fillRect/>
                      </a:stretch>
                    </p:blipFill>
                    <p:spPr>
                      <a:xfrm>
                        <a:off x="4196053" y="3270355"/>
                        <a:ext cx="577273" cy="161636"/>
                      </a:xfrm>
                      <a:prstGeom prst="rect">
                        <a:avLst/>
                      </a:prstGeom>
                      <a:solidFill>
                        <a:schemeClr val="bg1"/>
                      </a:solidFill>
                    </p:spPr>
                  </p:pic>
                </p:oleObj>
              </mc:Fallback>
            </mc:AlternateContent>
          </a:graphicData>
        </a:graphic>
      </p:graphicFrame>
      <p:graphicFrame>
        <p:nvGraphicFramePr>
          <p:cNvPr id="11" name="Object 10">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688683998"/>
              </p:ext>
            </p:extLst>
          </p:nvPr>
        </p:nvGraphicFramePr>
        <p:xfrm>
          <a:off x="4253581" y="3574346"/>
          <a:ext cx="524794" cy="146942"/>
        </p:xfrm>
        <a:graphic>
          <a:graphicData uri="http://schemas.openxmlformats.org/presentationml/2006/ole">
            <mc:AlternateContent xmlns:mc="http://schemas.openxmlformats.org/markup-compatibility/2006">
              <mc:Choice xmlns:v="urn:schemas-microsoft-com:vml" Requires="v">
                <p:oleObj spid="_x0000_s5179" name="Equation" r:id="rId7" imgW="634680" imgH="177480" progId="Equation.DSMT4">
                  <p:embed/>
                </p:oleObj>
              </mc:Choice>
              <mc:Fallback>
                <p:oleObj name="Equation" r:id="rId7" imgW="634680" imgH="177480" progId="Equation.DSMT4">
                  <p:embed/>
                  <p:pic>
                    <p:nvPicPr>
                      <p:cNvPr id="0" name=""/>
                      <p:cNvPicPr/>
                      <p:nvPr/>
                    </p:nvPicPr>
                    <p:blipFill>
                      <a:blip r:embed="rId8"/>
                      <a:stretch>
                        <a:fillRect/>
                      </a:stretch>
                    </p:blipFill>
                    <p:spPr>
                      <a:xfrm>
                        <a:off x="4253581" y="3574346"/>
                        <a:ext cx="524794" cy="146942"/>
                      </a:xfrm>
                      <a:prstGeom prst="rect">
                        <a:avLst/>
                      </a:prstGeom>
                      <a:solidFill>
                        <a:schemeClr val="bg1"/>
                      </a:solidFill>
                    </p:spPr>
                  </p:pic>
                </p:oleObj>
              </mc:Fallback>
            </mc:AlternateContent>
          </a:graphicData>
        </a:graphic>
      </p:graphicFrame>
      <p:graphicFrame>
        <p:nvGraphicFramePr>
          <p:cNvPr id="14" name="Object 13">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526248790"/>
              </p:ext>
            </p:extLst>
          </p:nvPr>
        </p:nvGraphicFramePr>
        <p:xfrm>
          <a:off x="4253581" y="3814012"/>
          <a:ext cx="524794" cy="146942"/>
        </p:xfrm>
        <a:graphic>
          <a:graphicData uri="http://schemas.openxmlformats.org/presentationml/2006/ole">
            <mc:AlternateContent xmlns:mc="http://schemas.openxmlformats.org/markup-compatibility/2006">
              <mc:Choice xmlns:v="urn:schemas-microsoft-com:vml" Requires="v">
                <p:oleObj spid="_x0000_s5180" name="Equation" r:id="rId9" imgW="634680" imgH="177480" progId="Equation.DSMT4">
                  <p:embed/>
                </p:oleObj>
              </mc:Choice>
              <mc:Fallback>
                <p:oleObj name="Equation" r:id="rId9" imgW="634680" imgH="177480" progId="Equation.DSMT4">
                  <p:embed/>
                  <p:pic>
                    <p:nvPicPr>
                      <p:cNvPr id="0" name=""/>
                      <p:cNvPicPr/>
                      <p:nvPr/>
                    </p:nvPicPr>
                    <p:blipFill>
                      <a:blip r:embed="rId10"/>
                      <a:stretch>
                        <a:fillRect/>
                      </a:stretch>
                    </p:blipFill>
                    <p:spPr>
                      <a:xfrm>
                        <a:off x="4253581" y="3814012"/>
                        <a:ext cx="524794" cy="146942"/>
                      </a:xfrm>
                      <a:prstGeom prst="rect">
                        <a:avLst/>
                      </a:prstGeom>
                      <a:solidFill>
                        <a:schemeClr val="bg1"/>
                      </a:solidFill>
                    </p:spPr>
                  </p:pic>
                </p:oleObj>
              </mc:Fallback>
            </mc:AlternateContent>
          </a:graphicData>
        </a:graphic>
      </p:graphicFrame>
      <p:graphicFrame>
        <p:nvGraphicFramePr>
          <p:cNvPr id="17" name="Object 16">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529843128"/>
              </p:ext>
            </p:extLst>
          </p:nvPr>
        </p:nvGraphicFramePr>
        <p:xfrm>
          <a:off x="4191289" y="3989532"/>
          <a:ext cx="577273" cy="161636"/>
        </p:xfrm>
        <a:graphic>
          <a:graphicData uri="http://schemas.openxmlformats.org/presentationml/2006/ole">
            <mc:AlternateContent xmlns:mc="http://schemas.openxmlformats.org/markup-compatibility/2006">
              <mc:Choice xmlns:v="urn:schemas-microsoft-com:vml" Requires="v">
                <p:oleObj spid="_x0000_s5181" name="Equation" r:id="rId11" imgW="634680" imgH="177480" progId="Equation.DSMT4">
                  <p:embed/>
                </p:oleObj>
              </mc:Choice>
              <mc:Fallback>
                <p:oleObj name="Equation" r:id="rId11" imgW="634680" imgH="177480" progId="Equation.DSMT4">
                  <p:embed/>
                  <p:pic>
                    <p:nvPicPr>
                      <p:cNvPr id="0" name=""/>
                      <p:cNvPicPr/>
                      <p:nvPr/>
                    </p:nvPicPr>
                    <p:blipFill>
                      <a:blip r:embed="rId12"/>
                      <a:stretch>
                        <a:fillRect/>
                      </a:stretch>
                    </p:blipFill>
                    <p:spPr>
                      <a:xfrm>
                        <a:off x="4191289" y="3989532"/>
                        <a:ext cx="577273" cy="161636"/>
                      </a:xfrm>
                      <a:prstGeom prst="rect">
                        <a:avLst/>
                      </a:prstGeom>
                      <a:solidFill>
                        <a:schemeClr val="bg1"/>
                      </a:solidFill>
                    </p:spPr>
                  </p:pic>
                </p:oleObj>
              </mc:Fallback>
            </mc:AlternateContent>
          </a:graphicData>
        </a:graphic>
      </p:graphicFrame>
      <p:graphicFrame>
        <p:nvGraphicFramePr>
          <p:cNvPr id="21" name="Object 20">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818707474"/>
              </p:ext>
            </p:extLst>
          </p:nvPr>
        </p:nvGraphicFramePr>
        <p:xfrm>
          <a:off x="4181475" y="4350653"/>
          <a:ext cx="596900" cy="177800"/>
        </p:xfrm>
        <a:graphic>
          <a:graphicData uri="http://schemas.openxmlformats.org/presentationml/2006/ole">
            <mc:AlternateContent xmlns:mc="http://schemas.openxmlformats.org/markup-compatibility/2006">
              <mc:Choice xmlns:v="urn:schemas-microsoft-com:vml" Requires="v">
                <p:oleObj spid="_x0000_s5182" name="Equation" r:id="rId13" imgW="596880" imgH="177480" progId="Equation.DSMT4">
                  <p:embed/>
                </p:oleObj>
              </mc:Choice>
              <mc:Fallback>
                <p:oleObj name="Equation" r:id="rId13" imgW="596880" imgH="177480" progId="Equation.DSMT4">
                  <p:embed/>
                  <p:pic>
                    <p:nvPicPr>
                      <p:cNvPr id="0" name=""/>
                      <p:cNvPicPr/>
                      <p:nvPr/>
                    </p:nvPicPr>
                    <p:blipFill>
                      <a:blip r:embed="rId14"/>
                      <a:stretch>
                        <a:fillRect/>
                      </a:stretch>
                    </p:blipFill>
                    <p:spPr>
                      <a:xfrm>
                        <a:off x="4181475" y="4350653"/>
                        <a:ext cx="596900" cy="177800"/>
                      </a:xfrm>
                      <a:prstGeom prst="rect">
                        <a:avLst/>
                      </a:prstGeom>
                      <a:solidFill>
                        <a:schemeClr val="bg1"/>
                      </a:solidFill>
                    </p:spPr>
                  </p:pic>
                </p:oleObj>
              </mc:Fallback>
            </mc:AlternateContent>
          </a:graphicData>
        </a:graphic>
      </p:graphicFrame>
      <p:graphicFrame>
        <p:nvGraphicFramePr>
          <p:cNvPr id="23" name="Object 22">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166958075"/>
              </p:ext>
            </p:extLst>
          </p:nvPr>
        </p:nvGraphicFramePr>
        <p:xfrm>
          <a:off x="4208607" y="4618182"/>
          <a:ext cx="542636" cy="161636"/>
        </p:xfrm>
        <a:graphic>
          <a:graphicData uri="http://schemas.openxmlformats.org/presentationml/2006/ole">
            <mc:AlternateContent xmlns:mc="http://schemas.openxmlformats.org/markup-compatibility/2006">
              <mc:Choice xmlns:v="urn:schemas-microsoft-com:vml" Requires="v">
                <p:oleObj spid="_x0000_s5183" name="Equation" r:id="rId15" imgW="596880" imgH="177480" progId="Equation.DSMT4">
                  <p:embed/>
                </p:oleObj>
              </mc:Choice>
              <mc:Fallback>
                <p:oleObj name="Equation" r:id="rId15" imgW="596880" imgH="177480" progId="Equation.DSMT4">
                  <p:embed/>
                  <p:pic>
                    <p:nvPicPr>
                      <p:cNvPr id="0" name=""/>
                      <p:cNvPicPr/>
                      <p:nvPr/>
                    </p:nvPicPr>
                    <p:blipFill>
                      <a:blip r:embed="rId16"/>
                      <a:stretch>
                        <a:fillRect/>
                      </a:stretch>
                    </p:blipFill>
                    <p:spPr>
                      <a:xfrm>
                        <a:off x="4208607" y="4618182"/>
                        <a:ext cx="542636" cy="161636"/>
                      </a:xfrm>
                      <a:prstGeom prst="rect">
                        <a:avLst/>
                      </a:prstGeom>
                      <a:solidFill>
                        <a:schemeClr val="bg1"/>
                      </a:solidFill>
                    </p:spPr>
                  </p:pic>
                </p:oleObj>
              </mc:Fallback>
            </mc:AlternateContent>
          </a:graphicData>
        </a:graphic>
      </p:graphicFrame>
      <p:graphicFrame>
        <p:nvGraphicFramePr>
          <p:cNvPr id="24" name="Object 23">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826744691"/>
              </p:ext>
            </p:extLst>
          </p:nvPr>
        </p:nvGraphicFramePr>
        <p:xfrm>
          <a:off x="6134389" y="4592782"/>
          <a:ext cx="577273" cy="161636"/>
        </p:xfrm>
        <a:graphic>
          <a:graphicData uri="http://schemas.openxmlformats.org/presentationml/2006/ole">
            <mc:AlternateContent xmlns:mc="http://schemas.openxmlformats.org/markup-compatibility/2006">
              <mc:Choice xmlns:v="urn:schemas-microsoft-com:vml" Requires="v">
                <p:oleObj spid="_x0000_s5184" name="Equation" r:id="rId17" imgW="634680" imgH="177480" progId="Equation.DSMT4">
                  <p:embed/>
                </p:oleObj>
              </mc:Choice>
              <mc:Fallback>
                <p:oleObj name="Equation" r:id="rId17" imgW="634680" imgH="177480" progId="Equation.DSMT4">
                  <p:embed/>
                  <p:pic>
                    <p:nvPicPr>
                      <p:cNvPr id="0" name=""/>
                      <p:cNvPicPr/>
                      <p:nvPr/>
                    </p:nvPicPr>
                    <p:blipFill>
                      <a:blip r:embed="rId18"/>
                      <a:stretch>
                        <a:fillRect/>
                      </a:stretch>
                    </p:blipFill>
                    <p:spPr>
                      <a:xfrm>
                        <a:off x="6134389" y="4592782"/>
                        <a:ext cx="577273" cy="161636"/>
                      </a:xfrm>
                      <a:prstGeom prst="rect">
                        <a:avLst/>
                      </a:prstGeom>
                      <a:solidFill>
                        <a:schemeClr val="bg1"/>
                      </a:solidFill>
                    </p:spPr>
                  </p:pic>
                </p:oleObj>
              </mc:Fallback>
            </mc:AlternateContent>
          </a:graphicData>
        </a:graphic>
      </p:graphicFrame>
      <p:graphicFrame>
        <p:nvGraphicFramePr>
          <p:cNvPr id="26" name="Object 25">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898071832"/>
              </p:ext>
            </p:extLst>
          </p:nvPr>
        </p:nvGraphicFramePr>
        <p:xfrm>
          <a:off x="4208607" y="4833505"/>
          <a:ext cx="542636" cy="150091"/>
        </p:xfrm>
        <a:graphic>
          <a:graphicData uri="http://schemas.openxmlformats.org/presentationml/2006/ole">
            <mc:AlternateContent xmlns:mc="http://schemas.openxmlformats.org/markup-compatibility/2006">
              <mc:Choice xmlns:v="urn:schemas-microsoft-com:vml" Requires="v">
                <p:oleObj spid="_x0000_s5185" name="Equation" r:id="rId19" imgW="596880" imgH="164880" progId="Equation.DSMT4">
                  <p:embed/>
                </p:oleObj>
              </mc:Choice>
              <mc:Fallback>
                <p:oleObj name="Equation" r:id="rId19" imgW="596880" imgH="164880" progId="Equation.DSMT4">
                  <p:embed/>
                  <p:pic>
                    <p:nvPicPr>
                      <p:cNvPr id="0" name=""/>
                      <p:cNvPicPr/>
                      <p:nvPr/>
                    </p:nvPicPr>
                    <p:blipFill>
                      <a:blip r:embed="rId20"/>
                      <a:stretch>
                        <a:fillRect/>
                      </a:stretch>
                    </p:blipFill>
                    <p:spPr>
                      <a:xfrm>
                        <a:off x="4208607" y="4833505"/>
                        <a:ext cx="542636" cy="150091"/>
                      </a:xfrm>
                      <a:prstGeom prst="rect">
                        <a:avLst/>
                      </a:prstGeom>
                      <a:solidFill>
                        <a:schemeClr val="bg1"/>
                      </a:solidFill>
                    </p:spPr>
                  </p:pic>
                </p:oleObj>
              </mc:Fallback>
            </mc:AlternateContent>
          </a:graphicData>
        </a:graphic>
      </p:graphicFrame>
      <p:graphicFrame>
        <p:nvGraphicFramePr>
          <p:cNvPr id="27" name="Object 26">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751576524"/>
              </p:ext>
            </p:extLst>
          </p:nvPr>
        </p:nvGraphicFramePr>
        <p:xfrm>
          <a:off x="6134389" y="4823609"/>
          <a:ext cx="577273" cy="161636"/>
        </p:xfrm>
        <a:graphic>
          <a:graphicData uri="http://schemas.openxmlformats.org/presentationml/2006/ole">
            <mc:AlternateContent xmlns:mc="http://schemas.openxmlformats.org/markup-compatibility/2006">
              <mc:Choice xmlns:v="urn:schemas-microsoft-com:vml" Requires="v">
                <p:oleObj spid="_x0000_s5186" name="Equation" r:id="rId21" imgW="634680" imgH="177480" progId="Equation.DSMT4">
                  <p:embed/>
                </p:oleObj>
              </mc:Choice>
              <mc:Fallback>
                <p:oleObj name="Equation" r:id="rId21" imgW="634680" imgH="177480" progId="Equation.DSMT4">
                  <p:embed/>
                  <p:pic>
                    <p:nvPicPr>
                      <p:cNvPr id="0" name=""/>
                      <p:cNvPicPr/>
                      <p:nvPr/>
                    </p:nvPicPr>
                    <p:blipFill>
                      <a:blip r:embed="rId22"/>
                      <a:stretch>
                        <a:fillRect/>
                      </a:stretch>
                    </p:blipFill>
                    <p:spPr>
                      <a:xfrm>
                        <a:off x="6134389" y="4823609"/>
                        <a:ext cx="577273" cy="161636"/>
                      </a:xfrm>
                      <a:prstGeom prst="rect">
                        <a:avLst/>
                      </a:prstGeom>
                      <a:solidFill>
                        <a:schemeClr val="bg1"/>
                      </a:solidFill>
                    </p:spPr>
                  </p:pic>
                </p:oleObj>
              </mc:Fallback>
            </mc:AlternateContent>
          </a:graphicData>
        </a:graphic>
      </p:graphicFrame>
      <p:graphicFrame>
        <p:nvGraphicFramePr>
          <p:cNvPr id="30" name="Object 29">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089352298"/>
              </p:ext>
            </p:extLst>
          </p:nvPr>
        </p:nvGraphicFramePr>
        <p:xfrm>
          <a:off x="6134389" y="5056332"/>
          <a:ext cx="577273" cy="161636"/>
        </p:xfrm>
        <a:graphic>
          <a:graphicData uri="http://schemas.openxmlformats.org/presentationml/2006/ole">
            <mc:AlternateContent xmlns:mc="http://schemas.openxmlformats.org/markup-compatibility/2006">
              <mc:Choice xmlns:v="urn:schemas-microsoft-com:vml" Requires="v">
                <p:oleObj spid="_x0000_s5187" name="Equation" r:id="rId23" imgW="634680" imgH="177480" progId="Equation.DSMT4">
                  <p:embed/>
                </p:oleObj>
              </mc:Choice>
              <mc:Fallback>
                <p:oleObj name="Equation" r:id="rId23" imgW="634680" imgH="177480" progId="Equation.DSMT4">
                  <p:embed/>
                  <p:pic>
                    <p:nvPicPr>
                      <p:cNvPr id="0" name=""/>
                      <p:cNvPicPr/>
                      <p:nvPr/>
                    </p:nvPicPr>
                    <p:blipFill>
                      <a:blip r:embed="rId24"/>
                      <a:stretch>
                        <a:fillRect/>
                      </a:stretch>
                    </p:blipFill>
                    <p:spPr>
                      <a:xfrm>
                        <a:off x="6134389" y="5056332"/>
                        <a:ext cx="577273" cy="161636"/>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4153500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a:t>Table 14.1 Exchange Rate Quotations </a:t>
            </a:r>
            <a:r>
              <a:rPr lang="en-US" altLang="en-US" sz="2000" b="0" dirty="0"/>
              <a:t>(5 of 5)</a:t>
            </a:r>
            <a:endParaRPr lang="en-IN" dirty="0"/>
          </a:p>
        </p:txBody>
      </p:sp>
      <p:graphicFrame>
        <p:nvGraphicFramePr>
          <p:cNvPr id="17" name="Content Placeholder 16"/>
          <p:cNvGraphicFramePr>
            <a:graphicFrameLocks noGrp="1"/>
          </p:cNvGraphicFramePr>
          <p:nvPr>
            <p:ph sz="quarter" idx="13"/>
            <p:extLst>
              <p:ext uri="{D42A27DB-BD31-4B8C-83A1-F6EECF244321}">
                <p14:modId xmlns:p14="http://schemas.microsoft.com/office/powerpoint/2010/main" val="3475571192"/>
              </p:ext>
            </p:extLst>
          </p:nvPr>
        </p:nvGraphicFramePr>
        <p:xfrm>
          <a:off x="457200" y="1618564"/>
          <a:ext cx="8229600" cy="2509520"/>
        </p:xfrm>
        <a:graphic>
          <a:graphicData uri="http://schemas.openxmlformats.org/drawingml/2006/table">
            <a:tbl>
              <a:tblPr firstRow="1" bandRow="1">
                <a:tableStyleId>{40F9630F-82C1-40B7-BC3A-925EFCFF5E92}</a:tableStyleId>
              </a:tblPr>
              <a:tblGrid>
                <a:gridCol w="1028700">
                  <a:extLst>
                    <a:ext uri="{9D8B030D-6E8A-4147-A177-3AD203B41FA5}">
                      <a16:colId xmlns:a16="http://schemas.microsoft.com/office/drawing/2014/main" val="1325641758"/>
                    </a:ext>
                  </a:extLst>
                </a:gridCol>
                <a:gridCol w="929754">
                  <a:extLst>
                    <a:ext uri="{9D8B030D-6E8A-4147-A177-3AD203B41FA5}">
                      <a16:colId xmlns:a16="http://schemas.microsoft.com/office/drawing/2014/main" val="3129652474"/>
                    </a:ext>
                  </a:extLst>
                </a:gridCol>
                <a:gridCol w="1127646">
                  <a:extLst>
                    <a:ext uri="{9D8B030D-6E8A-4147-A177-3AD203B41FA5}">
                      <a16:colId xmlns:a16="http://schemas.microsoft.com/office/drawing/2014/main" val="3336937863"/>
                    </a:ext>
                  </a:extLst>
                </a:gridCol>
                <a:gridCol w="1028700">
                  <a:extLst>
                    <a:ext uri="{9D8B030D-6E8A-4147-A177-3AD203B41FA5}">
                      <a16:colId xmlns:a16="http://schemas.microsoft.com/office/drawing/2014/main" val="3984955247"/>
                    </a:ext>
                  </a:extLst>
                </a:gridCol>
                <a:gridCol w="1028700">
                  <a:extLst>
                    <a:ext uri="{9D8B030D-6E8A-4147-A177-3AD203B41FA5}">
                      <a16:colId xmlns:a16="http://schemas.microsoft.com/office/drawing/2014/main" val="4151103673"/>
                    </a:ext>
                  </a:extLst>
                </a:gridCol>
                <a:gridCol w="1028700">
                  <a:extLst>
                    <a:ext uri="{9D8B030D-6E8A-4147-A177-3AD203B41FA5}">
                      <a16:colId xmlns:a16="http://schemas.microsoft.com/office/drawing/2014/main" val="1621398426"/>
                    </a:ext>
                  </a:extLst>
                </a:gridCol>
                <a:gridCol w="1028700">
                  <a:extLst>
                    <a:ext uri="{9D8B030D-6E8A-4147-A177-3AD203B41FA5}">
                      <a16:colId xmlns:a16="http://schemas.microsoft.com/office/drawing/2014/main" val="1080225080"/>
                    </a:ext>
                  </a:extLst>
                </a:gridCol>
                <a:gridCol w="1028700">
                  <a:extLst>
                    <a:ext uri="{9D8B030D-6E8A-4147-A177-3AD203B41FA5}">
                      <a16:colId xmlns:a16="http://schemas.microsoft.com/office/drawing/2014/main" val="769686334"/>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noProof="0" dirty="0">
                          <a:solidFill>
                            <a:schemeClr val="tx1"/>
                          </a:solidFill>
                          <a:latin typeface="+mn-lt"/>
                          <a:cs typeface="Arial" panose="020B0604020202020204" pitchFamily="34" charset="0"/>
                        </a:rPr>
                        <a:t>Jun</a:t>
                      </a:r>
                      <a:r>
                        <a:rPr lang="en-US" sz="1400" b="0" baseline="0" noProof="0" dirty="0">
                          <a:solidFill>
                            <a:schemeClr val="tx1"/>
                          </a:solidFill>
                          <a:latin typeface="+mn-lt"/>
                          <a:cs typeface="Arial" panose="020B0604020202020204" pitchFamily="34" charset="0"/>
                        </a:rPr>
                        <a:t> 3</a:t>
                      </a:r>
                      <a:endParaRPr lang="en-US" sz="1400" b="0" noProof="0" dirty="0">
                        <a:solidFill>
                          <a:schemeClr val="tx1"/>
                        </a:solidFill>
                        <a:latin typeface="+mn-lt"/>
                        <a:cs typeface="Arial" panose="020B0604020202020204" pitchFamily="34" charset="0"/>
                      </a:endParaRPr>
                    </a:p>
                  </a:txBody>
                  <a:tcPr marL="22151" marR="2215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noProof="0">
                          <a:solidFill>
                            <a:schemeClr val="tx1"/>
                          </a:solidFill>
                          <a:latin typeface="+mn-lt"/>
                          <a:cs typeface="Arial" panose="020B0604020202020204" pitchFamily="34" charset="0"/>
                        </a:rPr>
                        <a:t>Currency</a:t>
                      </a:r>
                      <a:endParaRPr lang="en-US" noProof="0">
                        <a:latin typeface="+mn-lt"/>
                      </a:endParaRPr>
                    </a:p>
                  </a:txBody>
                  <a:tcPr marL="22151" marR="2215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noProof="0" dirty="0">
                          <a:solidFill>
                            <a:schemeClr val="tx1"/>
                          </a:solidFill>
                          <a:latin typeface="+mn-lt"/>
                          <a:cs typeface="Arial" panose="020B0604020202020204" pitchFamily="34" charset="0"/>
                        </a:rPr>
                        <a:t>DOLLAR</a:t>
                      </a:r>
                    </a:p>
                    <a:p>
                      <a:pPr algn="ctr"/>
                      <a:r>
                        <a:rPr lang="en-US" sz="1400" b="0" noProof="0" dirty="0">
                          <a:solidFill>
                            <a:schemeClr val="tx1"/>
                          </a:solidFill>
                          <a:latin typeface="+mn-lt"/>
                          <a:cs typeface="Arial" panose="020B0604020202020204" pitchFamily="34" charset="0"/>
                        </a:rPr>
                        <a:t>Closing</a:t>
                      </a:r>
                      <a:r>
                        <a:rPr lang="en-US" sz="1400" b="0" baseline="0" noProof="0" dirty="0">
                          <a:solidFill>
                            <a:schemeClr val="tx1"/>
                          </a:solidFill>
                          <a:latin typeface="+mn-lt"/>
                          <a:cs typeface="Arial" panose="020B0604020202020204" pitchFamily="34" charset="0"/>
                        </a:rPr>
                        <a:t> Mid</a:t>
                      </a:r>
                      <a:endParaRPr lang="en-US" noProof="0" dirty="0">
                        <a:latin typeface="+mn-lt"/>
                      </a:endParaRPr>
                    </a:p>
                  </a:txBody>
                  <a:tcPr marL="22151" marR="2215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noProof="0" dirty="0">
                          <a:solidFill>
                            <a:schemeClr val="tx1"/>
                          </a:solidFill>
                          <a:latin typeface="+mn-lt"/>
                          <a:cs typeface="Arial" panose="020B0604020202020204" pitchFamily="34" charset="0"/>
                        </a:rPr>
                        <a:t>DOLLAR</a:t>
                      </a:r>
                    </a:p>
                    <a:p>
                      <a:pPr algn="ctr"/>
                      <a:r>
                        <a:rPr lang="en-US" sz="1400" b="0" noProof="0" dirty="0">
                          <a:solidFill>
                            <a:schemeClr val="tx1"/>
                          </a:solidFill>
                          <a:latin typeface="+mn-lt"/>
                          <a:cs typeface="Arial" panose="020B0604020202020204" pitchFamily="34" charset="0"/>
                        </a:rPr>
                        <a:t>Day’s Change</a:t>
                      </a:r>
                      <a:endParaRPr lang="en-US" noProof="0" dirty="0">
                        <a:latin typeface="+mn-lt"/>
                      </a:endParaRPr>
                    </a:p>
                  </a:txBody>
                  <a:tcPr marL="22151" marR="2215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noProof="0">
                          <a:solidFill>
                            <a:schemeClr val="tx1"/>
                          </a:solidFill>
                          <a:latin typeface="+mn-lt"/>
                          <a:cs typeface="Arial" panose="020B0604020202020204" pitchFamily="34" charset="0"/>
                        </a:rPr>
                        <a:t>EURO</a:t>
                      </a:r>
                    </a:p>
                    <a:p>
                      <a:pPr algn="ctr"/>
                      <a:r>
                        <a:rPr lang="en-US" sz="1400" b="0" noProof="0">
                          <a:solidFill>
                            <a:schemeClr val="tx1"/>
                          </a:solidFill>
                          <a:latin typeface="+mn-lt"/>
                          <a:cs typeface="Arial" panose="020B0604020202020204" pitchFamily="34" charset="0"/>
                        </a:rPr>
                        <a:t>Closing</a:t>
                      </a:r>
                      <a:r>
                        <a:rPr lang="en-US" sz="1400" b="0" baseline="0" noProof="0">
                          <a:solidFill>
                            <a:schemeClr val="tx1"/>
                          </a:solidFill>
                          <a:latin typeface="+mn-lt"/>
                          <a:cs typeface="Arial" panose="020B0604020202020204" pitchFamily="34" charset="0"/>
                        </a:rPr>
                        <a:t> Mid</a:t>
                      </a:r>
                      <a:endParaRPr lang="en-US" noProof="0">
                        <a:latin typeface="+mn-lt"/>
                      </a:endParaRPr>
                    </a:p>
                  </a:txBody>
                  <a:tcPr marL="22151" marR="2215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noProof="0">
                          <a:solidFill>
                            <a:schemeClr val="tx1"/>
                          </a:solidFill>
                          <a:latin typeface="+mn-lt"/>
                          <a:cs typeface="Arial" panose="020B0604020202020204" pitchFamily="34" charset="0"/>
                        </a:rPr>
                        <a:t>EURO</a:t>
                      </a:r>
                    </a:p>
                    <a:p>
                      <a:pPr algn="ctr"/>
                      <a:r>
                        <a:rPr lang="en-US" sz="1400" b="0" noProof="0">
                          <a:solidFill>
                            <a:schemeClr val="tx1"/>
                          </a:solidFill>
                          <a:latin typeface="+mn-lt"/>
                          <a:cs typeface="Arial" panose="020B0604020202020204" pitchFamily="34" charset="0"/>
                        </a:rPr>
                        <a:t>Day’s</a:t>
                      </a:r>
                      <a:r>
                        <a:rPr lang="en-US" sz="1400" b="0" baseline="0" noProof="0">
                          <a:solidFill>
                            <a:schemeClr val="tx1"/>
                          </a:solidFill>
                          <a:latin typeface="+mn-lt"/>
                          <a:cs typeface="Arial" panose="020B0604020202020204" pitchFamily="34" charset="0"/>
                        </a:rPr>
                        <a:t> </a:t>
                      </a:r>
                      <a:r>
                        <a:rPr lang="en-US" sz="1400" b="0" noProof="0">
                          <a:solidFill>
                            <a:schemeClr val="tx1"/>
                          </a:solidFill>
                          <a:latin typeface="+mn-lt"/>
                          <a:cs typeface="Arial" panose="020B0604020202020204" pitchFamily="34" charset="0"/>
                        </a:rPr>
                        <a:t>Change</a:t>
                      </a:r>
                      <a:endParaRPr lang="en-US" noProof="0">
                        <a:latin typeface="+mn-lt"/>
                      </a:endParaRPr>
                    </a:p>
                  </a:txBody>
                  <a:tcPr marL="22151" marR="2215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noProof="0">
                          <a:solidFill>
                            <a:schemeClr val="tx1"/>
                          </a:solidFill>
                          <a:latin typeface="+mn-lt"/>
                          <a:cs typeface="Arial" panose="020B0604020202020204" pitchFamily="34" charset="0"/>
                        </a:rPr>
                        <a:t>POUND</a:t>
                      </a:r>
                    </a:p>
                    <a:p>
                      <a:pPr algn="ctr"/>
                      <a:r>
                        <a:rPr lang="en-US" sz="1400" b="0" noProof="0">
                          <a:solidFill>
                            <a:schemeClr val="tx1"/>
                          </a:solidFill>
                          <a:latin typeface="+mn-lt"/>
                          <a:cs typeface="Arial" panose="020B0604020202020204" pitchFamily="34" charset="0"/>
                        </a:rPr>
                        <a:t>Closing</a:t>
                      </a:r>
                      <a:r>
                        <a:rPr lang="en-US" sz="1400" b="0" baseline="0" noProof="0">
                          <a:solidFill>
                            <a:schemeClr val="tx1"/>
                          </a:solidFill>
                          <a:latin typeface="+mn-lt"/>
                          <a:cs typeface="Arial" panose="020B0604020202020204" pitchFamily="34" charset="0"/>
                        </a:rPr>
                        <a:t> Mid</a:t>
                      </a:r>
                      <a:endParaRPr lang="en-US" noProof="0">
                        <a:latin typeface="+mn-lt"/>
                      </a:endParaRPr>
                    </a:p>
                  </a:txBody>
                  <a:tcPr marL="22151" marR="2215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noProof="0">
                          <a:solidFill>
                            <a:schemeClr val="tx1"/>
                          </a:solidFill>
                          <a:latin typeface="+mn-lt"/>
                          <a:cs typeface="Arial" panose="020B0604020202020204" pitchFamily="34" charset="0"/>
                        </a:rPr>
                        <a:t>POUND</a:t>
                      </a:r>
                    </a:p>
                    <a:p>
                      <a:pPr algn="ctr"/>
                      <a:r>
                        <a:rPr lang="en-US" sz="1400" b="0" noProof="0">
                          <a:solidFill>
                            <a:schemeClr val="tx1"/>
                          </a:solidFill>
                          <a:latin typeface="+mn-lt"/>
                          <a:cs typeface="Arial" panose="020B0604020202020204" pitchFamily="34" charset="0"/>
                        </a:rPr>
                        <a:t>Day’s Change</a:t>
                      </a:r>
                      <a:endParaRPr lang="en-US" noProof="0">
                        <a:latin typeface="+mn-lt"/>
                      </a:endParaRPr>
                    </a:p>
                  </a:txBody>
                  <a:tcPr marL="22151" marR="2215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55506009"/>
                  </a:ext>
                </a:extLst>
              </a:tr>
              <a:tr h="370840">
                <a:tc>
                  <a:txBody>
                    <a:bodyPr/>
                    <a:lstStyle/>
                    <a:p>
                      <a:r>
                        <a:rPr lang="en-US" sz="1400" baseline="0" noProof="0">
                          <a:solidFill>
                            <a:srgbClr val="231F20"/>
                          </a:solidFill>
                          <a:effectLst/>
                          <a:latin typeface="+mn-lt"/>
                          <a:ea typeface="Times New Roman" panose="02020603050405020304" pitchFamily="18" charset="0"/>
                          <a:cs typeface="Times New Roman" panose="02020603050405020304" pitchFamily="18" charset="0"/>
                        </a:rPr>
                        <a:t>European Union</a:t>
                      </a:r>
                      <a:endParaRPr lang="en-US" noProof="0">
                        <a:latin typeface="+mn-lt"/>
                      </a:endParaRPr>
                    </a:p>
                  </a:txBody>
                  <a:tcPr marL="22151" marR="2215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baseline="0" noProof="0" dirty="0">
                          <a:solidFill>
                            <a:srgbClr val="231F20"/>
                          </a:solidFill>
                          <a:effectLst/>
                          <a:latin typeface="+mn-lt"/>
                          <a:ea typeface="Times New Roman" panose="02020603050405020304" pitchFamily="18" charset="0"/>
                          <a:cs typeface="Times New Roman" panose="02020603050405020304" pitchFamily="18" charset="0"/>
                        </a:rPr>
                        <a:t>Euro</a:t>
                      </a:r>
                      <a:endParaRPr lang="en-US" noProof="0" dirty="0">
                        <a:latin typeface="+mn-lt"/>
                      </a:endParaRPr>
                    </a:p>
                  </a:txBody>
                  <a:tcPr marL="22151" marR="2215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baseline="0" noProof="0">
                          <a:solidFill>
                            <a:srgbClr val="231F20"/>
                          </a:solidFill>
                          <a:effectLst/>
                          <a:latin typeface="+mn-lt"/>
                          <a:ea typeface="Times New Roman" panose="02020603050405020304" pitchFamily="18" charset="0"/>
                          <a:cs typeface="Times New Roman" panose="02020603050405020304" pitchFamily="18" charset="0"/>
                        </a:rPr>
                        <a:t>0.8913</a:t>
                      </a:r>
                      <a:endParaRPr lang="en-US" noProof="0">
                        <a:latin typeface="+mn-lt"/>
                      </a:endParaRP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0.0029</a:t>
                      </a:r>
                      <a:endParaRPr lang="en-US" sz="100" noProof="0">
                        <a:latin typeface="+mn-lt"/>
                      </a:endParaRP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noProof="0">
                          <a:latin typeface="+mn-lt"/>
                        </a:rPr>
                        <a:t>Blank</a:t>
                      </a: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baseline="0" noProof="0">
                          <a:solidFill>
                            <a:srgbClr val="231F20"/>
                          </a:solidFill>
                          <a:effectLst/>
                          <a:latin typeface="+mn-lt"/>
                          <a:ea typeface="Times New Roman" panose="02020603050405020304" pitchFamily="18" charset="0"/>
                          <a:cs typeface="Times New Roman" panose="02020603050405020304" pitchFamily="18" charset="0"/>
                        </a:rPr>
                        <a:t>1.1227</a:t>
                      </a:r>
                      <a:endParaRPr lang="en-US" noProof="0">
                        <a:latin typeface="+mn-lt"/>
                      </a:endParaRP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0.0001</a:t>
                      </a:r>
                      <a:endParaRPr lang="en-US" sz="100" noProof="0">
                        <a:latin typeface="+mn-lt"/>
                      </a:endParaRP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31405598"/>
                  </a:ext>
                </a:extLst>
              </a:tr>
              <a:tr h="370840">
                <a:tc>
                  <a:txBody>
                    <a:bodyPr/>
                    <a:lstStyle/>
                    <a:p>
                      <a:r>
                        <a:rPr lang="en-US" sz="1400" baseline="0" noProof="0">
                          <a:solidFill>
                            <a:srgbClr val="231F20"/>
                          </a:solidFill>
                          <a:effectLst/>
                          <a:latin typeface="+mn-lt"/>
                          <a:ea typeface="Times New Roman" panose="02020603050405020304" pitchFamily="18" charset="0"/>
                          <a:cs typeface="Times New Roman" panose="02020603050405020304" pitchFamily="18" charset="0"/>
                        </a:rPr>
                        <a:t>..One Month</a:t>
                      </a:r>
                      <a:endParaRPr lang="en-US" noProof="0">
                        <a:latin typeface="+mn-lt"/>
                      </a:endParaRPr>
                    </a:p>
                  </a:txBody>
                  <a:tcPr marL="22151" marR="2215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noProof="0">
                          <a:latin typeface="+mn-lt"/>
                        </a:rPr>
                        <a:t>Blank</a:t>
                      </a:r>
                    </a:p>
                  </a:txBody>
                  <a:tcPr marL="22151" marR="2215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baseline="0" noProof="0">
                          <a:solidFill>
                            <a:srgbClr val="231F20"/>
                          </a:solidFill>
                          <a:effectLst/>
                          <a:latin typeface="+mn-lt"/>
                          <a:ea typeface="Times New Roman" panose="02020603050405020304" pitchFamily="18" charset="0"/>
                          <a:cs typeface="Times New Roman" panose="02020603050405020304" pitchFamily="18" charset="0"/>
                        </a:rPr>
                        <a:t>0.8912</a:t>
                      </a:r>
                      <a:endParaRPr lang="en-US" noProof="0">
                        <a:latin typeface="+mn-lt"/>
                      </a:endParaRP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0.0029</a:t>
                      </a:r>
                      <a:endParaRPr lang="en-US" sz="100" noProof="0">
                        <a:latin typeface="+mn-lt"/>
                      </a:endParaRP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noProof="0">
                          <a:latin typeface="+mn-lt"/>
                        </a:rPr>
                        <a:t>Blank</a:t>
                      </a: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dirty="0">
                          <a:solidFill>
                            <a:schemeClr val="dk1"/>
                          </a:solidFill>
                          <a:latin typeface="Arial"/>
                          <a:ea typeface="Arial"/>
                          <a:cs typeface="Arial"/>
                          <a:sym typeface="Arial"/>
                        </a:rPr>
                        <a:t>Blank</a:t>
                      </a: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baseline="0" noProof="0">
                          <a:solidFill>
                            <a:srgbClr val="231F20"/>
                          </a:solidFill>
                          <a:effectLst/>
                          <a:latin typeface="+mn-lt"/>
                          <a:ea typeface="Times New Roman" panose="02020603050405020304" pitchFamily="18" charset="0"/>
                          <a:cs typeface="Times New Roman" panose="02020603050405020304" pitchFamily="18" charset="0"/>
                        </a:rPr>
                        <a:t>1.1227</a:t>
                      </a:r>
                      <a:endParaRPr lang="en-US" noProof="0">
                        <a:latin typeface="+mn-lt"/>
                      </a:endParaRP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0.0001</a:t>
                      </a:r>
                      <a:endParaRPr lang="en-US" sz="100" noProof="0">
                        <a:latin typeface="+mn-lt"/>
                      </a:endParaRP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44330160"/>
                  </a:ext>
                </a:extLst>
              </a:tr>
              <a:tr h="370840">
                <a:tc>
                  <a:txBody>
                    <a:bodyPr/>
                    <a:lstStyle/>
                    <a:p>
                      <a:r>
                        <a:rPr lang="en-US" sz="1400" baseline="0" noProof="0">
                          <a:solidFill>
                            <a:srgbClr val="231F20"/>
                          </a:solidFill>
                          <a:effectLst/>
                          <a:latin typeface="+mn-lt"/>
                          <a:ea typeface="Times New Roman" panose="02020603050405020304" pitchFamily="18" charset="0"/>
                          <a:cs typeface="Times New Roman" panose="02020603050405020304" pitchFamily="18" charset="0"/>
                        </a:rPr>
                        <a:t>..Three Month</a:t>
                      </a:r>
                      <a:endParaRPr lang="en-US" noProof="0">
                        <a:latin typeface="+mn-lt"/>
                      </a:endParaRPr>
                    </a:p>
                  </a:txBody>
                  <a:tcPr marL="22151" marR="2215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latin typeface="+mn-lt"/>
                          <a:ea typeface="Arial"/>
                          <a:cs typeface="Arial"/>
                          <a:sym typeface="Arial"/>
                        </a:rPr>
                        <a:t>Blank</a:t>
                      </a:r>
                      <a:endParaRPr lang="en-US" sz="100" noProof="0">
                        <a:latin typeface="+mn-lt"/>
                      </a:endParaRPr>
                    </a:p>
                  </a:txBody>
                  <a:tcPr marL="22151" marR="2215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baseline="0" noProof="0">
                          <a:solidFill>
                            <a:srgbClr val="231F20"/>
                          </a:solidFill>
                          <a:effectLst/>
                          <a:latin typeface="+mn-lt"/>
                          <a:ea typeface="Times New Roman" panose="02020603050405020304" pitchFamily="18" charset="0"/>
                          <a:cs typeface="Times New Roman" panose="02020603050405020304" pitchFamily="18" charset="0"/>
                        </a:rPr>
                        <a:t>0.8911</a:t>
                      </a:r>
                      <a:endParaRPr lang="en-US" noProof="0">
                        <a:latin typeface="+mn-lt"/>
                      </a:endParaRP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0.0029</a:t>
                      </a:r>
                      <a:endParaRPr lang="en-US" sz="100" noProof="0">
                        <a:latin typeface="+mn-lt"/>
                      </a:endParaRP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noProof="0">
                          <a:latin typeface="+mn-lt"/>
                        </a:rPr>
                        <a:t>Blank</a:t>
                      </a: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baseline="0" noProof="0">
                          <a:solidFill>
                            <a:srgbClr val="231F20"/>
                          </a:solidFill>
                          <a:effectLst/>
                          <a:latin typeface="+mn-lt"/>
                          <a:ea typeface="Times New Roman" panose="02020603050405020304" pitchFamily="18" charset="0"/>
                          <a:cs typeface="Times New Roman" panose="02020603050405020304" pitchFamily="18" charset="0"/>
                        </a:rPr>
                        <a:t>1.1226</a:t>
                      </a:r>
                      <a:endParaRPr lang="en-US" noProof="0">
                        <a:latin typeface="+mn-lt"/>
                      </a:endParaRP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0.0001</a:t>
                      </a:r>
                      <a:endParaRPr lang="en-US" sz="100" noProof="0">
                        <a:latin typeface="+mn-lt"/>
                      </a:endParaRP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59681393"/>
                  </a:ext>
                </a:extLst>
              </a:tr>
              <a:tr h="370840">
                <a:tc>
                  <a:txBody>
                    <a:bodyPr/>
                    <a:lstStyle/>
                    <a:p>
                      <a:r>
                        <a:rPr lang="en-US" sz="1400" baseline="0" noProof="0">
                          <a:solidFill>
                            <a:srgbClr val="231F20"/>
                          </a:solidFill>
                          <a:effectLst/>
                          <a:latin typeface="+mn-lt"/>
                          <a:ea typeface="Times New Roman" panose="02020603050405020304" pitchFamily="18" charset="0"/>
                          <a:cs typeface="Times New Roman" panose="02020603050405020304" pitchFamily="18" charset="0"/>
                        </a:rPr>
                        <a:t>..One Year</a:t>
                      </a:r>
                      <a:endParaRPr lang="en-US" noProof="0">
                        <a:latin typeface="+mn-lt"/>
                      </a:endParaRPr>
                    </a:p>
                  </a:txBody>
                  <a:tcPr marL="22151" marR="2215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latin typeface="+mn-lt"/>
                          <a:ea typeface="Arial"/>
                          <a:cs typeface="Arial"/>
                          <a:sym typeface="Arial"/>
                        </a:rPr>
                        <a:t>Blank</a:t>
                      </a:r>
                      <a:endParaRPr lang="en-US" sz="100" noProof="0">
                        <a:latin typeface="+mn-lt"/>
                      </a:endParaRPr>
                    </a:p>
                  </a:txBody>
                  <a:tcPr marL="22151" marR="22151"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baseline="0" noProof="0">
                          <a:solidFill>
                            <a:srgbClr val="231F20"/>
                          </a:solidFill>
                          <a:effectLst/>
                          <a:latin typeface="+mn-lt"/>
                          <a:ea typeface="Times New Roman" panose="02020603050405020304" pitchFamily="18" charset="0"/>
                          <a:cs typeface="Times New Roman" panose="02020603050405020304" pitchFamily="18" charset="0"/>
                        </a:rPr>
                        <a:t>0.8903</a:t>
                      </a:r>
                      <a:endParaRPr lang="en-US" noProof="0">
                        <a:latin typeface="+mn-lt"/>
                      </a:endParaRP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a:solidFill>
                            <a:schemeClr val="dk1"/>
                          </a:solidFill>
                          <a:effectLst/>
                          <a:latin typeface="Arial"/>
                          <a:ea typeface="Arial"/>
                          <a:cs typeface="Arial"/>
                          <a:sym typeface="Arial"/>
                        </a:rPr>
                        <a:t>Negative 0.0029</a:t>
                      </a:r>
                      <a:endParaRPr lang="en-US" sz="100" noProof="0">
                        <a:latin typeface="+mn-lt"/>
                      </a:endParaRP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noProof="0">
                          <a:latin typeface="+mn-lt"/>
                        </a:rPr>
                        <a:t>Blank</a:t>
                      </a: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 b="0" i="0" u="none" strike="noStrike" cap="none" noProof="0">
                          <a:solidFill>
                            <a:schemeClr val="dk1"/>
                          </a:solidFill>
                          <a:latin typeface="Arial"/>
                          <a:ea typeface="Arial"/>
                          <a:cs typeface="Arial"/>
                          <a:sym typeface="Arial"/>
                        </a:rPr>
                        <a:t>Blank</a:t>
                      </a: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400" baseline="0" noProof="0">
                          <a:solidFill>
                            <a:srgbClr val="231F20"/>
                          </a:solidFill>
                          <a:effectLst/>
                          <a:latin typeface="+mn-lt"/>
                          <a:ea typeface="Times New Roman" panose="02020603050405020304" pitchFamily="18" charset="0"/>
                          <a:cs typeface="Times New Roman" panose="02020603050405020304" pitchFamily="18" charset="0"/>
                        </a:rPr>
                        <a:t>1.1221</a:t>
                      </a:r>
                      <a:endParaRPr lang="en-US" noProof="0">
                        <a:latin typeface="+mn-lt"/>
                      </a:endParaRP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sz="100" b="0" i="0" u="none" strike="noStrike" cap="none" noProof="0" dirty="0">
                          <a:solidFill>
                            <a:schemeClr val="dk1"/>
                          </a:solidFill>
                          <a:effectLst/>
                          <a:latin typeface="Arial"/>
                          <a:ea typeface="Arial"/>
                          <a:cs typeface="Arial"/>
                          <a:sym typeface="Arial"/>
                        </a:rPr>
                        <a:t>Negative 0.0001</a:t>
                      </a:r>
                      <a:endParaRPr lang="en-US" sz="100" noProof="0" dirty="0">
                        <a:latin typeface="+mn-lt"/>
                      </a:endParaRPr>
                    </a:p>
                  </a:txBody>
                  <a:tcPr marL="22151" marR="2215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75825323"/>
                  </a:ext>
                </a:extLst>
              </a:tr>
            </a:tbl>
          </a:graphicData>
        </a:graphic>
      </p:graphicFrame>
      <p:graphicFrame>
        <p:nvGraphicFramePr>
          <p:cNvPr id="3" name="Object 2">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309771026"/>
              </p:ext>
            </p:extLst>
          </p:nvPr>
        </p:nvGraphicFramePr>
        <p:xfrm>
          <a:off x="3860704" y="2534169"/>
          <a:ext cx="698500" cy="195580"/>
        </p:xfrm>
        <a:graphic>
          <a:graphicData uri="http://schemas.openxmlformats.org/presentationml/2006/ole">
            <mc:AlternateContent xmlns:mc="http://schemas.openxmlformats.org/markup-compatibility/2006">
              <mc:Choice xmlns:v="urn:schemas-microsoft-com:vml" Requires="v">
                <p:oleObj spid="_x0000_s6186" name="Equation" r:id="rId3" imgW="634680" imgH="177480" progId="Equation.DSMT4">
                  <p:embed/>
                </p:oleObj>
              </mc:Choice>
              <mc:Fallback>
                <p:oleObj name="Equation" r:id="rId3" imgW="634680" imgH="177480" progId="Equation.DSMT4">
                  <p:embed/>
                  <p:pic>
                    <p:nvPicPr>
                      <p:cNvPr id="0" name=""/>
                      <p:cNvPicPr/>
                      <p:nvPr/>
                    </p:nvPicPr>
                    <p:blipFill>
                      <a:blip r:embed="rId4"/>
                      <a:stretch>
                        <a:fillRect/>
                      </a:stretch>
                    </p:blipFill>
                    <p:spPr>
                      <a:xfrm>
                        <a:off x="3860704" y="2534169"/>
                        <a:ext cx="698500" cy="195580"/>
                      </a:xfrm>
                      <a:prstGeom prst="rect">
                        <a:avLst/>
                      </a:prstGeom>
                      <a:solidFill>
                        <a:schemeClr val="bg1"/>
                      </a:solidFill>
                    </p:spPr>
                  </p:pic>
                </p:oleObj>
              </mc:Fallback>
            </mc:AlternateContent>
          </a:graphicData>
        </a:graphic>
      </p:graphicFrame>
      <p:graphicFrame>
        <p:nvGraphicFramePr>
          <p:cNvPr id="11" name="Object 10">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974375516"/>
              </p:ext>
            </p:extLst>
          </p:nvPr>
        </p:nvGraphicFramePr>
        <p:xfrm>
          <a:off x="7982659" y="2547813"/>
          <a:ext cx="670560" cy="195580"/>
        </p:xfrm>
        <a:graphic>
          <a:graphicData uri="http://schemas.openxmlformats.org/presentationml/2006/ole">
            <mc:AlternateContent xmlns:mc="http://schemas.openxmlformats.org/markup-compatibility/2006">
              <mc:Choice xmlns:v="urn:schemas-microsoft-com:vml" Requires="v">
                <p:oleObj spid="_x0000_s6187" name="Equation" r:id="rId5" imgW="609480" imgH="177480" progId="Equation.DSMT4">
                  <p:embed/>
                </p:oleObj>
              </mc:Choice>
              <mc:Fallback>
                <p:oleObj name="Equation" r:id="rId5" imgW="609480" imgH="177480" progId="Equation.DSMT4">
                  <p:embed/>
                  <p:pic>
                    <p:nvPicPr>
                      <p:cNvPr id="0" name=""/>
                      <p:cNvPicPr/>
                      <p:nvPr/>
                    </p:nvPicPr>
                    <p:blipFill>
                      <a:blip r:embed="rId6"/>
                      <a:stretch>
                        <a:fillRect/>
                      </a:stretch>
                    </p:blipFill>
                    <p:spPr>
                      <a:xfrm>
                        <a:off x="7982659" y="2547813"/>
                        <a:ext cx="670560" cy="195580"/>
                      </a:xfrm>
                      <a:prstGeom prst="rect">
                        <a:avLst/>
                      </a:prstGeom>
                      <a:solidFill>
                        <a:schemeClr val="bg1"/>
                      </a:solidFill>
                    </p:spPr>
                  </p:pic>
                </p:oleObj>
              </mc:Fallback>
            </mc:AlternateContent>
          </a:graphicData>
        </a:graphic>
      </p:graphicFrame>
      <p:graphicFrame>
        <p:nvGraphicFramePr>
          <p:cNvPr id="8" name="Object 7">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130959362"/>
              </p:ext>
            </p:extLst>
          </p:nvPr>
        </p:nvGraphicFramePr>
        <p:xfrm>
          <a:off x="3847054" y="3002034"/>
          <a:ext cx="698500" cy="195580"/>
        </p:xfrm>
        <a:graphic>
          <a:graphicData uri="http://schemas.openxmlformats.org/presentationml/2006/ole">
            <mc:AlternateContent xmlns:mc="http://schemas.openxmlformats.org/markup-compatibility/2006">
              <mc:Choice xmlns:v="urn:schemas-microsoft-com:vml" Requires="v">
                <p:oleObj spid="_x0000_s6188" name="Equation" r:id="rId7" imgW="634680" imgH="177480" progId="Equation.DSMT4">
                  <p:embed/>
                </p:oleObj>
              </mc:Choice>
              <mc:Fallback>
                <p:oleObj name="Equation" r:id="rId7" imgW="634680" imgH="177480" progId="Equation.DSMT4">
                  <p:embed/>
                  <p:pic>
                    <p:nvPicPr>
                      <p:cNvPr id="0" name=""/>
                      <p:cNvPicPr/>
                      <p:nvPr/>
                    </p:nvPicPr>
                    <p:blipFill>
                      <a:blip r:embed="rId8"/>
                      <a:stretch>
                        <a:fillRect/>
                      </a:stretch>
                    </p:blipFill>
                    <p:spPr>
                      <a:xfrm>
                        <a:off x="3847054" y="3002034"/>
                        <a:ext cx="698500" cy="195580"/>
                      </a:xfrm>
                      <a:prstGeom prst="rect">
                        <a:avLst/>
                      </a:prstGeom>
                      <a:solidFill>
                        <a:schemeClr val="bg1"/>
                      </a:solidFill>
                    </p:spPr>
                  </p:pic>
                </p:oleObj>
              </mc:Fallback>
            </mc:AlternateContent>
          </a:graphicData>
        </a:graphic>
      </p:graphicFrame>
      <p:graphicFrame>
        <p:nvGraphicFramePr>
          <p:cNvPr id="12" name="Object 11">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342926825"/>
              </p:ext>
            </p:extLst>
          </p:nvPr>
        </p:nvGraphicFramePr>
        <p:xfrm>
          <a:off x="7982659" y="3002033"/>
          <a:ext cx="670560" cy="195580"/>
        </p:xfrm>
        <a:graphic>
          <a:graphicData uri="http://schemas.openxmlformats.org/presentationml/2006/ole">
            <mc:AlternateContent xmlns:mc="http://schemas.openxmlformats.org/markup-compatibility/2006">
              <mc:Choice xmlns:v="urn:schemas-microsoft-com:vml" Requires="v">
                <p:oleObj spid="_x0000_s6189" name="Equation" r:id="rId9" imgW="609480" imgH="177480" progId="Equation.DSMT4">
                  <p:embed/>
                </p:oleObj>
              </mc:Choice>
              <mc:Fallback>
                <p:oleObj name="Equation" r:id="rId9" imgW="609480" imgH="177480" progId="Equation.DSMT4">
                  <p:embed/>
                  <p:pic>
                    <p:nvPicPr>
                      <p:cNvPr id="0" name=""/>
                      <p:cNvPicPr/>
                      <p:nvPr/>
                    </p:nvPicPr>
                    <p:blipFill>
                      <a:blip r:embed="rId10"/>
                      <a:stretch>
                        <a:fillRect/>
                      </a:stretch>
                    </p:blipFill>
                    <p:spPr>
                      <a:xfrm>
                        <a:off x="7982659" y="3002033"/>
                        <a:ext cx="670560" cy="195580"/>
                      </a:xfrm>
                      <a:prstGeom prst="rect">
                        <a:avLst/>
                      </a:prstGeom>
                      <a:solidFill>
                        <a:schemeClr val="bg1"/>
                      </a:solidFill>
                    </p:spPr>
                  </p:pic>
                </p:oleObj>
              </mc:Fallback>
            </mc:AlternateContent>
          </a:graphicData>
        </a:graphic>
      </p:graphicFrame>
      <p:graphicFrame>
        <p:nvGraphicFramePr>
          <p:cNvPr id="15" name="Object 14">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661572764"/>
              </p:ext>
            </p:extLst>
          </p:nvPr>
        </p:nvGraphicFramePr>
        <p:xfrm>
          <a:off x="3847058" y="3430800"/>
          <a:ext cx="698500" cy="195580"/>
        </p:xfrm>
        <a:graphic>
          <a:graphicData uri="http://schemas.openxmlformats.org/presentationml/2006/ole">
            <mc:AlternateContent xmlns:mc="http://schemas.openxmlformats.org/markup-compatibility/2006">
              <mc:Choice xmlns:v="urn:schemas-microsoft-com:vml" Requires="v">
                <p:oleObj spid="_x0000_s6190" name="Equation" r:id="rId11" imgW="634680" imgH="177480" progId="Equation.DSMT4">
                  <p:embed/>
                </p:oleObj>
              </mc:Choice>
              <mc:Fallback>
                <p:oleObj name="Equation" r:id="rId11" imgW="634680" imgH="177480" progId="Equation.DSMT4">
                  <p:embed/>
                  <p:pic>
                    <p:nvPicPr>
                      <p:cNvPr id="0" name=""/>
                      <p:cNvPicPr/>
                      <p:nvPr/>
                    </p:nvPicPr>
                    <p:blipFill>
                      <a:blip r:embed="rId12"/>
                      <a:stretch>
                        <a:fillRect/>
                      </a:stretch>
                    </p:blipFill>
                    <p:spPr>
                      <a:xfrm>
                        <a:off x="3847058" y="3430800"/>
                        <a:ext cx="698500" cy="195580"/>
                      </a:xfrm>
                      <a:prstGeom prst="rect">
                        <a:avLst/>
                      </a:prstGeom>
                      <a:solidFill>
                        <a:schemeClr val="bg1"/>
                      </a:solidFill>
                    </p:spPr>
                  </p:pic>
                </p:oleObj>
              </mc:Fallback>
            </mc:AlternateContent>
          </a:graphicData>
        </a:graphic>
      </p:graphicFrame>
      <p:graphicFrame>
        <p:nvGraphicFramePr>
          <p:cNvPr id="13" name="Object 12">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159090276"/>
              </p:ext>
            </p:extLst>
          </p:nvPr>
        </p:nvGraphicFramePr>
        <p:xfrm>
          <a:off x="7982658" y="3441604"/>
          <a:ext cx="670560" cy="195580"/>
        </p:xfrm>
        <a:graphic>
          <a:graphicData uri="http://schemas.openxmlformats.org/presentationml/2006/ole">
            <mc:AlternateContent xmlns:mc="http://schemas.openxmlformats.org/markup-compatibility/2006">
              <mc:Choice xmlns:v="urn:schemas-microsoft-com:vml" Requires="v">
                <p:oleObj spid="_x0000_s6191" name="Equation" r:id="rId13" imgW="609480" imgH="177480" progId="Equation.DSMT4">
                  <p:embed/>
                </p:oleObj>
              </mc:Choice>
              <mc:Fallback>
                <p:oleObj name="Equation" r:id="rId13" imgW="609480" imgH="177480" progId="Equation.DSMT4">
                  <p:embed/>
                  <p:pic>
                    <p:nvPicPr>
                      <p:cNvPr id="0" name=""/>
                      <p:cNvPicPr/>
                      <p:nvPr/>
                    </p:nvPicPr>
                    <p:blipFill>
                      <a:blip r:embed="rId14"/>
                      <a:stretch>
                        <a:fillRect/>
                      </a:stretch>
                    </p:blipFill>
                    <p:spPr>
                      <a:xfrm>
                        <a:off x="7982658" y="3441604"/>
                        <a:ext cx="670560" cy="195580"/>
                      </a:xfrm>
                      <a:prstGeom prst="rect">
                        <a:avLst/>
                      </a:prstGeom>
                      <a:solidFill>
                        <a:schemeClr val="bg1"/>
                      </a:solidFill>
                    </p:spPr>
                  </p:pic>
                </p:oleObj>
              </mc:Fallback>
            </mc:AlternateContent>
          </a:graphicData>
        </a:graphic>
      </p:graphicFrame>
      <p:graphicFrame>
        <p:nvGraphicFramePr>
          <p:cNvPr id="16" name="Object 15">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732675542"/>
              </p:ext>
            </p:extLst>
          </p:nvPr>
        </p:nvGraphicFramePr>
        <p:xfrm>
          <a:off x="3847054" y="3889136"/>
          <a:ext cx="698500" cy="195580"/>
        </p:xfrm>
        <a:graphic>
          <a:graphicData uri="http://schemas.openxmlformats.org/presentationml/2006/ole">
            <mc:AlternateContent xmlns:mc="http://schemas.openxmlformats.org/markup-compatibility/2006">
              <mc:Choice xmlns:v="urn:schemas-microsoft-com:vml" Requires="v">
                <p:oleObj spid="_x0000_s6192" name="Equation" r:id="rId15" imgW="634680" imgH="177480" progId="Equation.DSMT4">
                  <p:embed/>
                </p:oleObj>
              </mc:Choice>
              <mc:Fallback>
                <p:oleObj name="Equation" r:id="rId15" imgW="634680" imgH="177480" progId="Equation.DSMT4">
                  <p:embed/>
                  <p:pic>
                    <p:nvPicPr>
                      <p:cNvPr id="0" name=""/>
                      <p:cNvPicPr/>
                      <p:nvPr/>
                    </p:nvPicPr>
                    <p:blipFill>
                      <a:blip r:embed="rId16"/>
                      <a:stretch>
                        <a:fillRect/>
                      </a:stretch>
                    </p:blipFill>
                    <p:spPr>
                      <a:xfrm>
                        <a:off x="3847054" y="3889136"/>
                        <a:ext cx="698500" cy="195580"/>
                      </a:xfrm>
                      <a:prstGeom prst="rect">
                        <a:avLst/>
                      </a:prstGeom>
                      <a:solidFill>
                        <a:schemeClr val="bg1"/>
                      </a:solidFill>
                    </p:spPr>
                  </p:pic>
                </p:oleObj>
              </mc:Fallback>
            </mc:AlternateContent>
          </a:graphicData>
        </a:graphic>
      </p:graphicFrame>
      <p:graphicFrame>
        <p:nvGraphicFramePr>
          <p:cNvPr id="14" name="Object 13">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130601480"/>
              </p:ext>
            </p:extLst>
          </p:nvPr>
        </p:nvGraphicFramePr>
        <p:xfrm>
          <a:off x="7996304" y="3851035"/>
          <a:ext cx="670560" cy="195580"/>
        </p:xfrm>
        <a:graphic>
          <a:graphicData uri="http://schemas.openxmlformats.org/presentationml/2006/ole">
            <mc:AlternateContent xmlns:mc="http://schemas.openxmlformats.org/markup-compatibility/2006">
              <mc:Choice xmlns:v="urn:schemas-microsoft-com:vml" Requires="v">
                <p:oleObj spid="_x0000_s6193" name="Equation" r:id="rId17" imgW="609480" imgH="177480" progId="Equation.DSMT4">
                  <p:embed/>
                </p:oleObj>
              </mc:Choice>
              <mc:Fallback>
                <p:oleObj name="Equation" r:id="rId17" imgW="609480" imgH="177480" progId="Equation.DSMT4">
                  <p:embed/>
                  <p:pic>
                    <p:nvPicPr>
                      <p:cNvPr id="0" name=""/>
                      <p:cNvPicPr/>
                      <p:nvPr/>
                    </p:nvPicPr>
                    <p:blipFill>
                      <a:blip r:embed="rId18"/>
                      <a:stretch>
                        <a:fillRect/>
                      </a:stretch>
                    </p:blipFill>
                    <p:spPr>
                      <a:xfrm>
                        <a:off x="7996304" y="3851035"/>
                        <a:ext cx="670560" cy="195580"/>
                      </a:xfrm>
                      <a:prstGeom prst="rect">
                        <a:avLst/>
                      </a:prstGeom>
                      <a:solidFill>
                        <a:schemeClr val="bg1"/>
                      </a:solidFill>
                    </p:spPr>
                  </p:pic>
                </p:oleObj>
              </mc:Fallback>
            </mc:AlternateContent>
          </a:graphicData>
        </a:graphic>
      </p:graphicFrame>
      <p:sp>
        <p:nvSpPr>
          <p:cNvPr id="4" name="Content Placeholder 3"/>
          <p:cNvSpPr>
            <a:spLocks noGrp="1"/>
          </p:cNvSpPr>
          <p:nvPr>
            <p:ph sz="quarter" idx="14"/>
          </p:nvPr>
        </p:nvSpPr>
        <p:spPr>
          <a:xfrm>
            <a:off x="457200" y="4263792"/>
            <a:ext cx="8229600" cy="513897"/>
          </a:xfrm>
        </p:spPr>
        <p:txBody>
          <a:bodyPr lIns="0" tIns="0" rIns="0" bIns="0"/>
          <a:lstStyle/>
          <a:p>
            <a:pPr marL="432" indent="0">
              <a:buNone/>
            </a:pPr>
            <a:r>
              <a:rPr lang="en-US" sz="1600" dirty="0">
                <a:latin typeface="Arial (Body)"/>
              </a:rPr>
              <a:t>Rates are derived from WM Reuters Spot Rates and </a:t>
            </a:r>
            <a:r>
              <a:rPr lang="en-US" sz="1600" dirty="0" err="1">
                <a:latin typeface="Arial (Body)"/>
              </a:rPr>
              <a:t>MorningStar</a:t>
            </a:r>
            <a:r>
              <a:rPr lang="en-US" sz="1600" dirty="0">
                <a:latin typeface="Arial (Body)"/>
              </a:rPr>
              <a:t> (latest rates at time of production). Some values are rounded. Currency redenominated by 1000. The exchange</a:t>
            </a:r>
            <a:endParaRPr lang="en-IN" sz="1600" dirty="0"/>
          </a:p>
        </p:txBody>
      </p:sp>
      <p:sp>
        <p:nvSpPr>
          <p:cNvPr id="5" name="Content Placeholder 4"/>
          <p:cNvSpPr>
            <a:spLocks noGrp="1"/>
          </p:cNvSpPr>
          <p:nvPr>
            <p:ph sz="quarter" idx="15"/>
          </p:nvPr>
        </p:nvSpPr>
        <p:spPr>
          <a:xfrm>
            <a:off x="457200" y="4837741"/>
            <a:ext cx="4162926" cy="326482"/>
          </a:xfrm>
        </p:spPr>
        <p:txBody>
          <a:bodyPr lIns="0" tIns="0" rIns="0" bIns="0"/>
          <a:lstStyle/>
          <a:p>
            <a:pPr marL="432" indent="0">
              <a:buNone/>
            </a:pPr>
            <a:r>
              <a:rPr lang="en-US" sz="1600" dirty="0">
                <a:latin typeface="Arial (Body)"/>
              </a:rPr>
              <a:t>rates printed in this table are also available at</a:t>
            </a:r>
            <a:endParaRPr lang="en-IN" sz="1600" dirty="0"/>
          </a:p>
        </p:txBody>
      </p:sp>
      <p:sp>
        <p:nvSpPr>
          <p:cNvPr id="18" name="Text Placeholder 17"/>
          <p:cNvSpPr>
            <a:spLocks noGrp="1"/>
          </p:cNvSpPr>
          <p:nvPr>
            <p:ph type="body" sz="quarter" idx="17"/>
          </p:nvPr>
        </p:nvSpPr>
        <p:spPr>
          <a:xfrm>
            <a:off x="4728866" y="4841015"/>
            <a:ext cx="2520346" cy="297686"/>
          </a:xfrm>
        </p:spPr>
        <p:txBody>
          <a:bodyPr lIns="0" tIns="0" rIns="0" bIns="0"/>
          <a:lstStyle/>
          <a:p>
            <a:pPr marL="0" indent="0">
              <a:buNone/>
            </a:pPr>
            <a:r>
              <a:rPr lang="en-US" b="0" i="0" u="none" strike="noStrike" baseline="0" dirty="0" smtClean="0">
                <a:latin typeface="+mn-lt"/>
                <a:hlinkClick r:id="rId19" tooltip="www.FT.com/marketsdata"/>
              </a:rPr>
              <a:t>www.FT.com/marketsdata</a:t>
            </a:r>
            <a:r>
              <a:rPr lang="en-US" sz="100" b="0" i="0" u="none" strike="noStrike" baseline="0" dirty="0" smtClean="0">
                <a:latin typeface="+mn-lt"/>
              </a:rPr>
              <a:t> </a:t>
            </a:r>
            <a:r>
              <a:rPr lang="en-US" b="0" i="0" u="none" strike="noStrike" baseline="0" dirty="0" smtClean="0">
                <a:latin typeface="+mn-lt"/>
              </a:rPr>
              <a:t>.</a:t>
            </a:r>
            <a:r>
              <a:rPr lang="en-US" sz="100" b="0" i="0" u="none" strike="noStrike" baseline="0" dirty="0" smtClean="0">
                <a:latin typeface="+mn-lt"/>
              </a:rPr>
              <a:t> </a:t>
            </a:r>
            <a:endParaRPr lang="en-US" dirty="0">
              <a:latin typeface="+mn-lt"/>
            </a:endParaRPr>
          </a:p>
        </p:txBody>
      </p:sp>
    </p:spTree>
    <p:extLst>
      <p:ext uri="{BB962C8B-B14F-4D97-AF65-F5344CB8AC3E}">
        <p14:creationId xmlns:p14="http://schemas.microsoft.com/office/powerpoint/2010/main" val="1684141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Depreciation and Appreciation </a:t>
            </a:r>
            <a:r>
              <a:rPr lang="en-US" altLang="en-US" sz="2000" b="0"/>
              <a:t>(1 of 5)</a:t>
            </a:r>
            <a:endParaRPr lang="en-US"/>
          </a:p>
        </p:txBody>
      </p:sp>
      <p:sp>
        <p:nvSpPr>
          <p:cNvPr id="4" name="Content Placeholder 3"/>
          <p:cNvSpPr>
            <a:spLocks noGrp="1"/>
          </p:cNvSpPr>
          <p:nvPr>
            <p:ph sz="quarter" idx="13"/>
          </p:nvPr>
        </p:nvSpPr>
        <p:spPr>
          <a:xfrm>
            <a:off x="457200" y="1552575"/>
            <a:ext cx="8229600" cy="1982478"/>
          </a:xfrm>
        </p:spPr>
        <p:txBody>
          <a:bodyPr lIns="0" tIns="0" rIns="0" bIns="0"/>
          <a:lstStyle/>
          <a:p>
            <a:pPr eaLnBrk="1" hangingPunct="1">
              <a:spcBef>
                <a:spcPct val="50000"/>
              </a:spcBef>
            </a:pPr>
            <a:r>
              <a:rPr lang="en-US" altLang="en-US" b="1" dirty="0">
                <a:latin typeface="Arial (Body)"/>
              </a:rPr>
              <a:t>Depreciation</a:t>
            </a:r>
            <a:r>
              <a:rPr lang="en-US" altLang="en-US" dirty="0">
                <a:latin typeface="Arial (Body)"/>
              </a:rPr>
              <a:t> is a decrease in the value of a currency relative to another currency.</a:t>
            </a:r>
          </a:p>
          <a:p>
            <a:pPr lvl="1" eaLnBrk="1" hangingPunct="1"/>
            <a:r>
              <a:rPr lang="en-US" altLang="en-US" dirty="0">
                <a:latin typeface="Arial (Body)"/>
              </a:rPr>
              <a:t>A depreciated currency is </a:t>
            </a:r>
            <a:r>
              <a:rPr lang="en-US" altLang="en-US" b="1" dirty="0">
                <a:latin typeface="Arial (Body)"/>
              </a:rPr>
              <a:t>less valuable </a:t>
            </a:r>
            <a:r>
              <a:rPr lang="en-US" altLang="en-US" dirty="0">
                <a:latin typeface="Arial (Body)"/>
              </a:rPr>
              <a:t>(less expensive) and therefore can be exchanged for (can buy) a smaller amount of foreign currency.</a:t>
            </a:r>
          </a:p>
        </p:txBody>
      </p:sp>
      <p:sp>
        <p:nvSpPr>
          <p:cNvPr id="5" name="Content Placeholder 4"/>
          <p:cNvSpPr>
            <a:spLocks noGrp="1"/>
          </p:cNvSpPr>
          <p:nvPr>
            <p:ph sz="quarter" idx="14"/>
          </p:nvPr>
        </p:nvSpPr>
        <p:spPr>
          <a:xfrm>
            <a:off x="935158" y="3581432"/>
            <a:ext cx="299810" cy="490945"/>
          </a:xfrm>
        </p:spPr>
        <p:txBody>
          <a:bodyPr lIns="0" tIns="0" rIns="0" bIns="0"/>
          <a:lstStyle/>
          <a:p>
            <a:pPr marL="0" lvl="1" indent="0"/>
            <a:r>
              <a:rPr lang="en-US" dirty="0"/>
              <a:t> </a:t>
            </a:r>
            <a:r>
              <a:rPr lang="en-US" sz="100" dirty="0"/>
              <a:t> </a:t>
            </a:r>
          </a:p>
        </p:txBody>
      </p:sp>
      <p:graphicFrame>
        <p:nvGraphicFramePr>
          <p:cNvPr id="18" name="Object 17" descr="$1 per euro to $1.20 per euro"/>
          <p:cNvGraphicFramePr>
            <a:graphicFrameLocks noChangeAspect="1"/>
          </p:cNvGraphicFramePr>
          <p:nvPr>
            <p:extLst>
              <p:ext uri="{D42A27DB-BD31-4B8C-83A1-F6EECF244321}">
                <p14:modId xmlns:p14="http://schemas.microsoft.com/office/powerpoint/2010/main" val="1645947057"/>
              </p:ext>
            </p:extLst>
          </p:nvPr>
        </p:nvGraphicFramePr>
        <p:xfrm>
          <a:off x="1301704" y="3627943"/>
          <a:ext cx="2092390" cy="337483"/>
        </p:xfrm>
        <a:graphic>
          <a:graphicData uri="http://schemas.openxmlformats.org/presentationml/2006/ole">
            <mc:AlternateContent xmlns:mc="http://schemas.openxmlformats.org/markup-compatibility/2006">
              <mc:Choice xmlns:v="urn:schemas-microsoft-com:vml" Requires="v">
                <p:oleObj spid="_x0000_s7175" name="Equation" r:id="rId3" imgW="1180800" imgH="190440" progId="Equation.DSMT4">
                  <p:embed/>
                </p:oleObj>
              </mc:Choice>
              <mc:Fallback>
                <p:oleObj name="Equation" r:id="rId3" imgW="1180800" imgH="190440" progId="Equation.DSMT4">
                  <p:embed/>
                  <p:pic>
                    <p:nvPicPr>
                      <p:cNvPr id="0" name=""/>
                      <p:cNvPicPr/>
                      <p:nvPr/>
                    </p:nvPicPr>
                    <p:blipFill>
                      <a:blip r:embed="rId4"/>
                      <a:stretch>
                        <a:fillRect/>
                      </a:stretch>
                    </p:blipFill>
                    <p:spPr>
                      <a:xfrm>
                        <a:off x="1301704" y="3627943"/>
                        <a:ext cx="2092390" cy="337483"/>
                      </a:xfrm>
                      <a:prstGeom prst="rect">
                        <a:avLst/>
                      </a:prstGeom>
                    </p:spPr>
                  </p:pic>
                </p:oleObj>
              </mc:Fallback>
            </mc:AlternateContent>
          </a:graphicData>
        </a:graphic>
      </p:graphicFrame>
      <p:sp>
        <p:nvSpPr>
          <p:cNvPr id="6" name="Content Placeholder 5"/>
          <p:cNvSpPr>
            <a:spLocks noGrp="1"/>
          </p:cNvSpPr>
          <p:nvPr>
            <p:ph sz="quarter" idx="15"/>
          </p:nvPr>
        </p:nvSpPr>
        <p:spPr>
          <a:xfrm>
            <a:off x="3553510" y="3599662"/>
            <a:ext cx="5241926" cy="412128"/>
          </a:xfrm>
        </p:spPr>
        <p:txBody>
          <a:bodyPr lIns="0" tIns="0" rIns="0" bIns="0"/>
          <a:lstStyle/>
          <a:p>
            <a:pPr marL="0" lvl="1" indent="0">
              <a:buNone/>
            </a:pPr>
            <a:r>
              <a:rPr lang="en-US" altLang="en-US" dirty="0">
                <a:latin typeface="Arial (Body)"/>
              </a:rPr>
              <a:t>means that the dollar has depreciated</a:t>
            </a:r>
            <a:endParaRPr lang="en-US" dirty="0"/>
          </a:p>
        </p:txBody>
      </p:sp>
      <p:sp>
        <p:nvSpPr>
          <p:cNvPr id="7" name="Content Placeholder 6"/>
          <p:cNvSpPr>
            <a:spLocks noGrp="1"/>
          </p:cNvSpPr>
          <p:nvPr>
            <p:ph sz="quarter" idx="16"/>
          </p:nvPr>
        </p:nvSpPr>
        <p:spPr>
          <a:xfrm>
            <a:off x="565834" y="4062157"/>
            <a:ext cx="8374966" cy="791799"/>
          </a:xfrm>
        </p:spPr>
        <p:txBody>
          <a:bodyPr lIns="0" tIns="0" rIns="0" bIns="0"/>
          <a:lstStyle/>
          <a:p>
            <a:pPr marL="741600" lvl="1" indent="0">
              <a:buNone/>
            </a:pPr>
            <a:r>
              <a:rPr lang="en-US" altLang="en-US" dirty="0">
                <a:latin typeface="Arial (Body)"/>
              </a:rPr>
              <a:t>relative to the euro. It now takes </a:t>
            </a:r>
            <a:r>
              <a:rPr lang="en-US" altLang="en-US" dirty="0">
                <a:latin typeface="Arial" panose="020B0604020202020204" pitchFamily="34" charset="0"/>
                <a:cs typeface="Arial" panose="020B0604020202020204" pitchFamily="34" charset="0"/>
              </a:rPr>
              <a:t>$</a:t>
            </a:r>
            <a:r>
              <a:rPr lang="en-US" altLang="en-US" dirty="0">
                <a:latin typeface="Arial (Body)"/>
              </a:rPr>
              <a:t>1.20 to buy one euro, so that the dollar is less valuable.</a:t>
            </a:r>
          </a:p>
        </p:txBody>
      </p:sp>
      <p:sp>
        <p:nvSpPr>
          <p:cNvPr id="8" name="Content Placeholder 7"/>
          <p:cNvSpPr>
            <a:spLocks noGrp="1"/>
          </p:cNvSpPr>
          <p:nvPr>
            <p:ph sz="quarter" idx="17"/>
          </p:nvPr>
        </p:nvSpPr>
        <p:spPr>
          <a:xfrm>
            <a:off x="431800" y="4930452"/>
            <a:ext cx="8229600" cy="892174"/>
          </a:xfrm>
        </p:spPr>
        <p:txBody>
          <a:bodyPr lIns="0" tIns="0" rIns="0" bIns="0"/>
          <a:lstStyle/>
          <a:p>
            <a:pPr lvl="1"/>
            <a:r>
              <a:rPr lang="en-US" altLang="en-US" dirty="0">
                <a:latin typeface="Arial (Body)"/>
              </a:rPr>
              <a:t>The euro has </a:t>
            </a:r>
            <a:r>
              <a:rPr lang="en-US" altLang="en-US" b="1" dirty="0">
                <a:latin typeface="Arial (Body)"/>
              </a:rPr>
              <a:t>appreciated</a:t>
            </a:r>
            <a:r>
              <a:rPr lang="en-US" altLang="en-US" dirty="0">
                <a:latin typeface="Arial (Body)"/>
              </a:rPr>
              <a:t> relative to the dollar: </a:t>
            </a:r>
            <a:br>
              <a:rPr lang="en-US" altLang="en-US" dirty="0">
                <a:latin typeface="Arial (Body)"/>
              </a:rPr>
            </a:br>
            <a:r>
              <a:rPr lang="en-US" altLang="en-US" dirty="0">
                <a:latin typeface="Arial (Body)"/>
              </a:rPr>
              <a:t>it is now more valuable.</a:t>
            </a:r>
          </a:p>
        </p:txBody>
      </p:sp>
    </p:spTree>
    <p:extLst>
      <p:ext uri="{BB962C8B-B14F-4D97-AF65-F5344CB8AC3E}">
        <p14:creationId xmlns:p14="http://schemas.microsoft.com/office/powerpoint/2010/main" val="799781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Depreciation and Appreciation </a:t>
            </a:r>
            <a:r>
              <a:rPr lang="en-US" altLang="en-US" sz="2000" b="0"/>
              <a:t>(2 of 5)</a:t>
            </a:r>
            <a:endParaRPr lang="en-US"/>
          </a:p>
        </p:txBody>
      </p:sp>
      <p:sp>
        <p:nvSpPr>
          <p:cNvPr id="4" name="Content Placeholder 3"/>
          <p:cNvSpPr>
            <a:spLocks noGrp="1"/>
          </p:cNvSpPr>
          <p:nvPr>
            <p:ph sz="quarter" idx="13"/>
          </p:nvPr>
        </p:nvSpPr>
        <p:spPr>
          <a:xfrm>
            <a:off x="457200" y="1552575"/>
            <a:ext cx="8229600" cy="1963623"/>
          </a:xfrm>
        </p:spPr>
        <p:txBody>
          <a:bodyPr lIns="0" tIns="0" rIns="0" bIns="0"/>
          <a:lstStyle/>
          <a:p>
            <a:pPr eaLnBrk="1" hangingPunct="1">
              <a:spcBef>
                <a:spcPct val="50000"/>
              </a:spcBef>
            </a:pPr>
            <a:r>
              <a:rPr lang="en-US" altLang="en-US" b="1">
                <a:latin typeface="Arial (Body)"/>
              </a:rPr>
              <a:t>Appreciation</a:t>
            </a:r>
            <a:r>
              <a:rPr lang="en-US" altLang="en-US">
                <a:latin typeface="Arial (Body)"/>
              </a:rPr>
              <a:t> is an increase in the value of a currency relative to another currency. </a:t>
            </a:r>
          </a:p>
          <a:p>
            <a:pPr lvl="1" eaLnBrk="1" hangingPunct="1"/>
            <a:r>
              <a:rPr lang="en-US" altLang="en-US">
                <a:latin typeface="Arial (Body)"/>
              </a:rPr>
              <a:t>An appreciated currency is </a:t>
            </a:r>
            <a:r>
              <a:rPr lang="en-US" altLang="en-US" b="1">
                <a:latin typeface="Arial (Body)"/>
              </a:rPr>
              <a:t>more valuable </a:t>
            </a:r>
            <a:r>
              <a:rPr lang="en-US" altLang="en-US">
                <a:latin typeface="Arial (Body)"/>
              </a:rPr>
              <a:t>(more expensive) and therefore can be exchanged for (can buy) a larger amount of foreign currency.</a:t>
            </a:r>
          </a:p>
        </p:txBody>
      </p:sp>
      <p:sp>
        <p:nvSpPr>
          <p:cNvPr id="5" name="Content Placeholder 4"/>
          <p:cNvSpPr>
            <a:spLocks noGrp="1"/>
          </p:cNvSpPr>
          <p:nvPr>
            <p:ph sz="quarter" idx="14"/>
          </p:nvPr>
        </p:nvSpPr>
        <p:spPr>
          <a:xfrm>
            <a:off x="912973" y="3656225"/>
            <a:ext cx="328686" cy="435313"/>
          </a:xfrm>
        </p:spPr>
        <p:txBody>
          <a:bodyPr lIns="0" tIns="0" rIns="0" bIns="0"/>
          <a:lstStyle/>
          <a:p>
            <a:pPr marL="0" lvl="1" indent="0"/>
            <a:r>
              <a:rPr lang="en-US"/>
              <a:t> </a:t>
            </a:r>
            <a:r>
              <a:rPr lang="en-US" sz="100"/>
              <a:t> </a:t>
            </a:r>
          </a:p>
        </p:txBody>
      </p:sp>
      <p:graphicFrame>
        <p:nvGraphicFramePr>
          <p:cNvPr id="18" name="Object 17" descr="$1 per euro to $0.90 per euro"/>
          <p:cNvGraphicFramePr>
            <a:graphicFrameLocks noChangeAspect="1"/>
          </p:cNvGraphicFramePr>
          <p:nvPr>
            <p:extLst>
              <p:ext uri="{D42A27DB-BD31-4B8C-83A1-F6EECF244321}">
                <p14:modId xmlns:p14="http://schemas.microsoft.com/office/powerpoint/2010/main" val="2683980774"/>
              </p:ext>
            </p:extLst>
          </p:nvPr>
        </p:nvGraphicFramePr>
        <p:xfrm>
          <a:off x="1320956" y="3715462"/>
          <a:ext cx="2092390" cy="337483"/>
        </p:xfrm>
        <a:graphic>
          <a:graphicData uri="http://schemas.openxmlformats.org/presentationml/2006/ole">
            <mc:AlternateContent xmlns:mc="http://schemas.openxmlformats.org/markup-compatibility/2006">
              <mc:Choice xmlns:v="urn:schemas-microsoft-com:vml" Requires="v">
                <p:oleObj spid="_x0000_s8199" name="Equation" r:id="rId3" imgW="1180800" imgH="190440" progId="Equation.DSMT4">
                  <p:embed/>
                </p:oleObj>
              </mc:Choice>
              <mc:Fallback>
                <p:oleObj name="Equation" r:id="rId3" imgW="1180800" imgH="190440" progId="Equation.DSMT4">
                  <p:embed/>
                  <p:pic>
                    <p:nvPicPr>
                      <p:cNvPr id="18" name="Object 17"/>
                      <p:cNvPicPr/>
                      <p:nvPr/>
                    </p:nvPicPr>
                    <p:blipFill>
                      <a:blip r:embed="rId4"/>
                      <a:stretch>
                        <a:fillRect/>
                      </a:stretch>
                    </p:blipFill>
                    <p:spPr>
                      <a:xfrm>
                        <a:off x="1320956" y="3715462"/>
                        <a:ext cx="2092390" cy="337483"/>
                      </a:xfrm>
                      <a:prstGeom prst="rect">
                        <a:avLst/>
                      </a:prstGeom>
                    </p:spPr>
                  </p:pic>
                </p:oleObj>
              </mc:Fallback>
            </mc:AlternateContent>
          </a:graphicData>
        </a:graphic>
      </p:graphicFrame>
      <p:sp>
        <p:nvSpPr>
          <p:cNvPr id="6" name="Content Placeholder 5"/>
          <p:cNvSpPr>
            <a:spLocks noGrp="1"/>
          </p:cNvSpPr>
          <p:nvPr>
            <p:ph sz="quarter" idx="15"/>
          </p:nvPr>
        </p:nvSpPr>
        <p:spPr>
          <a:xfrm>
            <a:off x="3484745" y="3656225"/>
            <a:ext cx="5241926" cy="412128"/>
          </a:xfrm>
        </p:spPr>
        <p:txBody>
          <a:bodyPr lIns="0" tIns="0" rIns="0" bIns="0"/>
          <a:lstStyle/>
          <a:p>
            <a:pPr marL="0" lvl="1" indent="0">
              <a:buNone/>
            </a:pPr>
            <a:r>
              <a:rPr lang="en-US" altLang="en-US" dirty="0">
                <a:latin typeface="Arial (Body)"/>
              </a:rPr>
              <a:t>means that the dollar has appreciated</a:t>
            </a:r>
            <a:endParaRPr lang="en-US" dirty="0"/>
          </a:p>
        </p:txBody>
      </p:sp>
      <p:sp>
        <p:nvSpPr>
          <p:cNvPr id="7" name="Content Placeholder 6"/>
          <p:cNvSpPr>
            <a:spLocks noGrp="1"/>
          </p:cNvSpPr>
          <p:nvPr>
            <p:ph sz="quarter" idx="16"/>
          </p:nvPr>
        </p:nvSpPr>
        <p:spPr>
          <a:xfrm>
            <a:off x="565834" y="4212989"/>
            <a:ext cx="8374966" cy="791799"/>
          </a:xfrm>
        </p:spPr>
        <p:txBody>
          <a:bodyPr lIns="0" tIns="0" rIns="0" bIns="0"/>
          <a:lstStyle/>
          <a:p>
            <a:pPr marL="741600" lvl="1" indent="0" eaLnBrk="1" hangingPunct="1">
              <a:buNone/>
            </a:pPr>
            <a:r>
              <a:rPr lang="en-US" altLang="en-US" dirty="0">
                <a:latin typeface="Arial (Body)"/>
              </a:rPr>
              <a:t>relative to the euro. It now takes only $0.90 to buy one euro, so that the dollar is more valuable.</a:t>
            </a:r>
          </a:p>
        </p:txBody>
      </p:sp>
      <p:sp>
        <p:nvSpPr>
          <p:cNvPr id="8" name="Content Placeholder 7"/>
          <p:cNvSpPr>
            <a:spLocks noGrp="1"/>
          </p:cNvSpPr>
          <p:nvPr>
            <p:ph sz="quarter" idx="17"/>
          </p:nvPr>
        </p:nvSpPr>
        <p:spPr>
          <a:xfrm>
            <a:off x="469508" y="5090709"/>
            <a:ext cx="8229600" cy="892174"/>
          </a:xfrm>
        </p:spPr>
        <p:txBody>
          <a:bodyPr lIns="0" tIns="0" rIns="0" bIns="0"/>
          <a:lstStyle/>
          <a:p>
            <a:pPr lvl="1" eaLnBrk="1" hangingPunct="1"/>
            <a:r>
              <a:rPr lang="en-US" altLang="en-US">
                <a:latin typeface="Arial (Body)"/>
              </a:rPr>
              <a:t>The euro has </a:t>
            </a:r>
            <a:r>
              <a:rPr lang="en-US" altLang="en-US" b="1">
                <a:latin typeface="Arial (Body)"/>
              </a:rPr>
              <a:t>depreciated</a:t>
            </a:r>
            <a:r>
              <a:rPr lang="en-US" altLang="en-US">
                <a:latin typeface="Arial (Body)"/>
              </a:rPr>
              <a:t> relative to the dollar: </a:t>
            </a:r>
            <a:br>
              <a:rPr lang="en-US" altLang="en-US">
                <a:latin typeface="Arial (Body)"/>
              </a:rPr>
            </a:br>
            <a:r>
              <a:rPr lang="en-US" altLang="en-US">
                <a:latin typeface="Arial (Body)"/>
              </a:rPr>
              <a:t>it is now less valuable.</a:t>
            </a:r>
          </a:p>
        </p:txBody>
      </p:sp>
    </p:spTree>
    <p:extLst>
      <p:ext uri="{BB962C8B-B14F-4D97-AF65-F5344CB8AC3E}">
        <p14:creationId xmlns:p14="http://schemas.microsoft.com/office/powerpoint/2010/main" val="4093129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Depreciation and Appreciation </a:t>
            </a:r>
            <a:r>
              <a:rPr lang="en-US" altLang="en-US" sz="2000" b="0" dirty="0"/>
              <a:t>(3 of 5)</a:t>
            </a:r>
            <a:endParaRPr lang="en-IN" dirty="0"/>
          </a:p>
        </p:txBody>
      </p:sp>
      <p:sp>
        <p:nvSpPr>
          <p:cNvPr id="5" name="Content Placeholder 4"/>
          <p:cNvSpPr>
            <a:spLocks noGrp="1"/>
          </p:cNvSpPr>
          <p:nvPr>
            <p:ph sz="quarter" idx="13"/>
          </p:nvPr>
        </p:nvSpPr>
        <p:spPr>
          <a:xfrm>
            <a:off x="457200" y="1552575"/>
            <a:ext cx="8359254" cy="1063945"/>
          </a:xfrm>
        </p:spPr>
        <p:txBody>
          <a:bodyPr lIns="0" tIns="0" rIns="0" bIns="0"/>
          <a:lstStyle/>
          <a:p>
            <a:r>
              <a:rPr lang="en-US" altLang="en-US" sz="2200" dirty="0">
                <a:latin typeface="Arial (Body)"/>
              </a:rPr>
              <a:t>A depreciated currency is less valuable, and therefore it can buy fewer foreign produced goods that are denominated in foreign currency.</a:t>
            </a:r>
            <a:endParaRPr lang="en-IN" sz="2200" dirty="0">
              <a:latin typeface="Arial (Body)"/>
            </a:endParaRPr>
          </a:p>
        </p:txBody>
      </p:sp>
      <p:sp>
        <p:nvSpPr>
          <p:cNvPr id="6" name="Content Placeholder 5"/>
          <p:cNvSpPr>
            <a:spLocks noGrp="1"/>
          </p:cNvSpPr>
          <p:nvPr>
            <p:ph sz="quarter" idx="14"/>
          </p:nvPr>
        </p:nvSpPr>
        <p:spPr>
          <a:xfrm>
            <a:off x="457201" y="2862011"/>
            <a:ext cx="2827019" cy="395200"/>
          </a:xfrm>
        </p:spPr>
        <p:txBody>
          <a:bodyPr lIns="0" tIns="0" rIns="0" bIns="0"/>
          <a:lstStyle/>
          <a:p>
            <a:pPr lvl="1">
              <a:spcBef>
                <a:spcPct val="40000"/>
              </a:spcBef>
            </a:pPr>
            <a:r>
              <a:rPr lang="en-US" altLang="en-US" sz="2200" dirty="0">
                <a:latin typeface="Arial (Body)"/>
              </a:rPr>
              <a:t>A Nissan costs </a:t>
            </a:r>
            <a:endParaRPr lang="en-IN" sz="2200" dirty="0">
              <a:latin typeface="Arial (Body)"/>
            </a:endParaRPr>
          </a:p>
        </p:txBody>
      </p:sp>
      <p:graphicFrame>
        <p:nvGraphicFramePr>
          <p:cNvPr id="19" name="Object 18" descr="Start fraction 2,500,000 yen times $0.01027 over yen end fraction = $25,672.50"/>
          <p:cNvGraphicFramePr>
            <a:graphicFrameLocks noChangeAspect="1"/>
          </p:cNvGraphicFramePr>
          <p:nvPr>
            <p:extLst>
              <p:ext uri="{D42A27DB-BD31-4B8C-83A1-F6EECF244321}">
                <p14:modId xmlns:p14="http://schemas.microsoft.com/office/powerpoint/2010/main" val="2324334539"/>
              </p:ext>
            </p:extLst>
          </p:nvPr>
        </p:nvGraphicFramePr>
        <p:xfrm>
          <a:off x="3596801" y="2713207"/>
          <a:ext cx="4525962" cy="698500"/>
        </p:xfrm>
        <a:graphic>
          <a:graphicData uri="http://schemas.openxmlformats.org/presentationml/2006/ole">
            <mc:AlternateContent xmlns:mc="http://schemas.openxmlformats.org/markup-compatibility/2006">
              <mc:Choice xmlns:v="urn:schemas-microsoft-com:vml" Requires="v">
                <p:oleObj spid="_x0000_s9228" name="Equation" r:id="rId3" imgW="2552400" imgH="393480" progId="Equation.DSMT4">
                  <p:embed/>
                </p:oleObj>
              </mc:Choice>
              <mc:Fallback>
                <p:oleObj name="Equation" r:id="rId3" imgW="2552400" imgH="393480" progId="Equation.DSMT4">
                  <p:embed/>
                  <p:pic>
                    <p:nvPicPr>
                      <p:cNvPr id="19" name="Object 18"/>
                      <p:cNvPicPr/>
                      <p:nvPr/>
                    </p:nvPicPr>
                    <p:blipFill>
                      <a:blip r:embed="rId4"/>
                      <a:stretch>
                        <a:fillRect/>
                      </a:stretch>
                    </p:blipFill>
                    <p:spPr>
                      <a:xfrm>
                        <a:off x="3596801" y="2713207"/>
                        <a:ext cx="4525962" cy="698500"/>
                      </a:xfrm>
                      <a:prstGeom prst="rect">
                        <a:avLst/>
                      </a:prstGeom>
                    </p:spPr>
                  </p:pic>
                </p:oleObj>
              </mc:Fallback>
            </mc:AlternateContent>
          </a:graphicData>
        </a:graphic>
      </p:graphicFrame>
      <p:sp>
        <p:nvSpPr>
          <p:cNvPr id="7" name="Content Placeholder 6"/>
          <p:cNvSpPr>
            <a:spLocks noGrp="1"/>
          </p:cNvSpPr>
          <p:nvPr>
            <p:ph sz="quarter" idx="15"/>
          </p:nvPr>
        </p:nvSpPr>
        <p:spPr>
          <a:xfrm>
            <a:off x="457200" y="3673393"/>
            <a:ext cx="3366655" cy="363138"/>
          </a:xfrm>
        </p:spPr>
        <p:txBody>
          <a:bodyPr lIns="0" tIns="0" rIns="0" bIns="0"/>
          <a:lstStyle/>
          <a:p>
            <a:pPr lvl="1"/>
            <a:r>
              <a:rPr lang="en-US" altLang="en-US" sz="2200" dirty="0">
                <a:latin typeface="Arial (Body)"/>
              </a:rPr>
              <a:t>Less expensive than</a:t>
            </a:r>
          </a:p>
        </p:txBody>
      </p:sp>
      <p:graphicFrame>
        <p:nvGraphicFramePr>
          <p:cNvPr id="2" name="Object 1" descr="$27,962.50 at Start fraction $0.011185 over yen end fraction"/>
          <p:cNvGraphicFramePr>
            <a:graphicFrameLocks noChangeAspect="1"/>
          </p:cNvGraphicFramePr>
          <p:nvPr>
            <p:extLst>
              <p:ext uri="{D42A27DB-BD31-4B8C-83A1-F6EECF244321}">
                <p14:modId xmlns:p14="http://schemas.microsoft.com/office/powerpoint/2010/main" val="2934536279"/>
              </p:ext>
            </p:extLst>
          </p:nvPr>
        </p:nvGraphicFramePr>
        <p:xfrm>
          <a:off x="4011502" y="3550364"/>
          <a:ext cx="2888078" cy="645053"/>
        </p:xfrm>
        <a:graphic>
          <a:graphicData uri="http://schemas.openxmlformats.org/presentationml/2006/ole">
            <mc:AlternateContent xmlns:mc="http://schemas.openxmlformats.org/markup-compatibility/2006">
              <mc:Choice xmlns:v="urn:schemas-microsoft-com:vml" Requires="v">
                <p:oleObj spid="_x0000_s9229" name="Equation" r:id="rId5" imgW="1765080" imgH="393480" progId="Equation.DSMT4">
                  <p:embed/>
                </p:oleObj>
              </mc:Choice>
              <mc:Fallback>
                <p:oleObj name="Equation" r:id="rId5" imgW="1765080" imgH="393480" progId="Equation.DSMT4">
                  <p:embed/>
                  <p:pic>
                    <p:nvPicPr>
                      <p:cNvPr id="0" name=""/>
                      <p:cNvPicPr/>
                      <p:nvPr/>
                    </p:nvPicPr>
                    <p:blipFill>
                      <a:blip r:embed="rId6"/>
                      <a:stretch>
                        <a:fillRect/>
                      </a:stretch>
                    </p:blipFill>
                    <p:spPr>
                      <a:xfrm>
                        <a:off x="4011502" y="3550364"/>
                        <a:ext cx="2888078" cy="645053"/>
                      </a:xfrm>
                      <a:prstGeom prst="rect">
                        <a:avLst/>
                      </a:prstGeom>
                    </p:spPr>
                  </p:pic>
                </p:oleObj>
              </mc:Fallback>
            </mc:AlternateContent>
          </a:graphicData>
        </a:graphic>
      </p:graphicFrame>
      <p:sp>
        <p:nvSpPr>
          <p:cNvPr id="8" name="Content Placeholder 7"/>
          <p:cNvSpPr>
            <a:spLocks noGrp="1"/>
          </p:cNvSpPr>
          <p:nvPr>
            <p:ph sz="quarter" idx="16"/>
          </p:nvPr>
        </p:nvSpPr>
        <p:spPr>
          <a:xfrm>
            <a:off x="457200" y="4341729"/>
            <a:ext cx="8229599" cy="1913928"/>
          </a:xfrm>
        </p:spPr>
        <p:txBody>
          <a:bodyPr lIns="0" tIns="0" rIns="0" bIns="0"/>
          <a:lstStyle/>
          <a:p>
            <a:pPr>
              <a:spcBef>
                <a:spcPct val="50000"/>
              </a:spcBef>
            </a:pPr>
            <a:r>
              <a:rPr lang="en-US" altLang="en-US" sz="2200" dirty="0">
                <a:latin typeface="Arial (Body)"/>
              </a:rPr>
              <a:t>A depreciated currency means that imports are more expensive and domestically produced goods and exports are less expensive. </a:t>
            </a:r>
          </a:p>
          <a:p>
            <a:pPr>
              <a:spcBef>
                <a:spcPct val="50000"/>
              </a:spcBef>
            </a:pPr>
            <a:r>
              <a:rPr lang="en-US" altLang="en-US" sz="2200" dirty="0">
                <a:latin typeface="Arial (Body)"/>
              </a:rPr>
              <a:t>A depreciated currency lowers the price of exports relative to the price of imports.</a:t>
            </a:r>
            <a:endParaRPr lang="en-IN" sz="2200" dirty="0">
              <a:latin typeface="Arial (Body)"/>
            </a:endParaRPr>
          </a:p>
        </p:txBody>
      </p:sp>
    </p:spTree>
    <p:extLst>
      <p:ext uri="{BB962C8B-B14F-4D97-AF65-F5344CB8AC3E}">
        <p14:creationId xmlns:p14="http://schemas.microsoft.com/office/powerpoint/2010/main" val="1952993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Depreciation and Appreciation </a:t>
            </a:r>
            <a:r>
              <a:rPr lang="en-US" altLang="en-US" sz="2000" b="0" dirty="0"/>
              <a:t>(4 of 5)</a:t>
            </a:r>
            <a:endParaRPr lang="en-IN" dirty="0"/>
          </a:p>
        </p:txBody>
      </p:sp>
      <p:sp>
        <p:nvSpPr>
          <p:cNvPr id="5" name="Content Placeholder 4"/>
          <p:cNvSpPr>
            <a:spLocks noGrp="1"/>
          </p:cNvSpPr>
          <p:nvPr>
            <p:ph sz="quarter" idx="13"/>
          </p:nvPr>
        </p:nvSpPr>
        <p:spPr>
          <a:xfrm>
            <a:off x="457199" y="1552575"/>
            <a:ext cx="8535971" cy="728712"/>
          </a:xfrm>
        </p:spPr>
        <p:txBody>
          <a:bodyPr lIns="0" tIns="0" rIns="0" bIns="0"/>
          <a:lstStyle/>
          <a:p>
            <a:pPr marL="342900" indent="-342900"/>
            <a:r>
              <a:rPr lang="en-US" altLang="en-US" sz="2000" dirty="0">
                <a:latin typeface="Arial (Body)"/>
              </a:rPr>
              <a:t>An appreciated currency is more valuable, and therefore it can buy more foreign produced goods that are denominated in foreign currency.</a:t>
            </a:r>
            <a:endParaRPr lang="en-IN" sz="2000" dirty="0">
              <a:latin typeface="Arial (Body)"/>
            </a:endParaRPr>
          </a:p>
        </p:txBody>
      </p:sp>
      <p:sp>
        <p:nvSpPr>
          <p:cNvPr id="6" name="Content Placeholder 5"/>
          <p:cNvSpPr>
            <a:spLocks noGrp="1"/>
          </p:cNvSpPr>
          <p:nvPr>
            <p:ph sz="quarter" idx="14"/>
          </p:nvPr>
        </p:nvSpPr>
        <p:spPr>
          <a:xfrm>
            <a:off x="457201" y="2522645"/>
            <a:ext cx="2587658" cy="395200"/>
          </a:xfrm>
        </p:spPr>
        <p:txBody>
          <a:bodyPr lIns="0" tIns="0" rIns="0" bIns="0"/>
          <a:lstStyle/>
          <a:p>
            <a:pPr lvl="1"/>
            <a:r>
              <a:rPr lang="en-US" altLang="en-US" sz="2000" dirty="0">
                <a:latin typeface="Arial (Body)"/>
              </a:rPr>
              <a:t>A Nissan costs</a:t>
            </a:r>
          </a:p>
        </p:txBody>
      </p:sp>
      <p:graphicFrame>
        <p:nvGraphicFramePr>
          <p:cNvPr id="19" name="Object 18" descr="Yen 2,500,000 = $27,962.50 at  Start fraction $0.011185 over yen end fraction"/>
          <p:cNvGraphicFramePr>
            <a:graphicFrameLocks noChangeAspect="1"/>
          </p:cNvGraphicFramePr>
          <p:nvPr>
            <p:extLst>
              <p:ext uri="{D42A27DB-BD31-4B8C-83A1-F6EECF244321}">
                <p14:modId xmlns:p14="http://schemas.microsoft.com/office/powerpoint/2010/main" val="79512727"/>
              </p:ext>
            </p:extLst>
          </p:nvPr>
        </p:nvGraphicFramePr>
        <p:xfrm>
          <a:off x="3209820" y="2373177"/>
          <a:ext cx="4514905" cy="658019"/>
        </p:xfrm>
        <a:graphic>
          <a:graphicData uri="http://schemas.openxmlformats.org/presentationml/2006/ole">
            <mc:AlternateContent xmlns:mc="http://schemas.openxmlformats.org/markup-compatibility/2006">
              <mc:Choice xmlns:v="urn:schemas-microsoft-com:vml" Requires="v">
                <p:oleObj spid="_x0000_s10252" name="Equation" r:id="rId3" imgW="2705040" imgH="393480" progId="Equation.DSMT4">
                  <p:embed/>
                </p:oleObj>
              </mc:Choice>
              <mc:Fallback>
                <p:oleObj name="Equation" r:id="rId3" imgW="2705040" imgH="393480" progId="Equation.DSMT4">
                  <p:embed/>
                  <p:pic>
                    <p:nvPicPr>
                      <p:cNvPr id="19" name="Object 18"/>
                      <p:cNvPicPr/>
                      <p:nvPr/>
                    </p:nvPicPr>
                    <p:blipFill>
                      <a:blip r:embed="rId4"/>
                      <a:stretch>
                        <a:fillRect/>
                      </a:stretch>
                    </p:blipFill>
                    <p:spPr>
                      <a:xfrm>
                        <a:off x="3209820" y="2373177"/>
                        <a:ext cx="4514905" cy="658019"/>
                      </a:xfrm>
                      <a:prstGeom prst="rect">
                        <a:avLst/>
                      </a:prstGeom>
                    </p:spPr>
                  </p:pic>
                </p:oleObj>
              </mc:Fallback>
            </mc:AlternateContent>
          </a:graphicData>
        </a:graphic>
      </p:graphicFrame>
      <p:sp>
        <p:nvSpPr>
          <p:cNvPr id="7" name="Content Placeholder 6"/>
          <p:cNvSpPr>
            <a:spLocks noGrp="1"/>
          </p:cNvSpPr>
          <p:nvPr>
            <p:ph sz="quarter" idx="15"/>
          </p:nvPr>
        </p:nvSpPr>
        <p:spPr>
          <a:xfrm>
            <a:off x="457200" y="3334027"/>
            <a:ext cx="3530338" cy="363138"/>
          </a:xfrm>
        </p:spPr>
        <p:txBody>
          <a:bodyPr lIns="0" tIns="0" rIns="0" bIns="0"/>
          <a:lstStyle/>
          <a:p>
            <a:pPr lvl="1"/>
            <a:r>
              <a:rPr lang="en-US" altLang="en-US" sz="2000" dirty="0">
                <a:latin typeface="Arial (Body)"/>
              </a:rPr>
              <a:t>becomes less expensive</a:t>
            </a:r>
          </a:p>
        </p:txBody>
      </p:sp>
      <p:graphicFrame>
        <p:nvGraphicFramePr>
          <p:cNvPr id="2" name="Object 1" descr="$25,000 at Start fraction $0.010 over yen end fraction"/>
          <p:cNvGraphicFramePr>
            <a:graphicFrameLocks noChangeAspect="1"/>
          </p:cNvGraphicFramePr>
          <p:nvPr>
            <p:extLst>
              <p:ext uri="{D42A27DB-BD31-4B8C-83A1-F6EECF244321}">
                <p14:modId xmlns:p14="http://schemas.microsoft.com/office/powerpoint/2010/main" val="1870327523"/>
              </p:ext>
            </p:extLst>
          </p:nvPr>
        </p:nvGraphicFramePr>
        <p:xfrm>
          <a:off x="4184149" y="3209625"/>
          <a:ext cx="2228839" cy="671245"/>
        </p:xfrm>
        <a:graphic>
          <a:graphicData uri="http://schemas.openxmlformats.org/presentationml/2006/ole">
            <mc:AlternateContent xmlns:mc="http://schemas.openxmlformats.org/markup-compatibility/2006">
              <mc:Choice xmlns:v="urn:schemas-microsoft-com:vml" Requires="v">
                <p:oleObj spid="_x0000_s10253" name="Equation" r:id="rId5" imgW="1307880" imgH="393480" progId="Equation.DSMT4">
                  <p:embed/>
                </p:oleObj>
              </mc:Choice>
              <mc:Fallback>
                <p:oleObj name="Equation" r:id="rId5" imgW="1307880" imgH="393480" progId="Equation.DSMT4">
                  <p:embed/>
                  <p:pic>
                    <p:nvPicPr>
                      <p:cNvPr id="2" name="Object 1"/>
                      <p:cNvPicPr/>
                      <p:nvPr/>
                    </p:nvPicPr>
                    <p:blipFill>
                      <a:blip r:embed="rId6"/>
                      <a:stretch>
                        <a:fillRect/>
                      </a:stretch>
                    </p:blipFill>
                    <p:spPr>
                      <a:xfrm>
                        <a:off x="4184149" y="3209625"/>
                        <a:ext cx="2228839" cy="671245"/>
                      </a:xfrm>
                      <a:prstGeom prst="rect">
                        <a:avLst/>
                      </a:prstGeom>
                    </p:spPr>
                  </p:pic>
                </p:oleObj>
              </mc:Fallback>
            </mc:AlternateContent>
          </a:graphicData>
        </a:graphic>
      </p:graphicFrame>
      <p:sp>
        <p:nvSpPr>
          <p:cNvPr id="8" name="Content Placeholder 7"/>
          <p:cNvSpPr>
            <a:spLocks noGrp="1"/>
          </p:cNvSpPr>
          <p:nvPr>
            <p:ph sz="quarter" idx="16"/>
          </p:nvPr>
        </p:nvSpPr>
        <p:spPr>
          <a:xfrm>
            <a:off x="457200" y="4120059"/>
            <a:ext cx="8331958" cy="1487571"/>
          </a:xfrm>
        </p:spPr>
        <p:txBody>
          <a:bodyPr lIns="0" tIns="0" rIns="0" bIns="0"/>
          <a:lstStyle/>
          <a:p>
            <a:pPr>
              <a:spcBef>
                <a:spcPct val="50000"/>
              </a:spcBef>
            </a:pPr>
            <a:r>
              <a:rPr lang="en-US" altLang="en-US" sz="2000" dirty="0">
                <a:latin typeface="Arial (Body)"/>
              </a:rPr>
              <a:t>An appreciated currency means that imports are less expensive and domestically produced goods and exports are more expensive. </a:t>
            </a:r>
          </a:p>
          <a:p>
            <a:pPr>
              <a:spcBef>
                <a:spcPct val="50000"/>
              </a:spcBef>
            </a:pPr>
            <a:r>
              <a:rPr lang="en-US" altLang="en-US" sz="2000" dirty="0">
                <a:latin typeface="Arial (Body)"/>
              </a:rPr>
              <a:t>An appreciated currency raises the price of exports relative to the price of imports.</a:t>
            </a:r>
            <a:endParaRPr lang="en-IN" sz="2000" dirty="0">
              <a:latin typeface="Arial (Body)"/>
            </a:endParaRPr>
          </a:p>
        </p:txBody>
      </p:sp>
    </p:spTree>
    <p:extLst>
      <p:ext uri="{BB962C8B-B14F-4D97-AF65-F5344CB8AC3E}">
        <p14:creationId xmlns:p14="http://schemas.microsoft.com/office/powerpoint/2010/main" val="3128943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Depreciation and Appreciation </a:t>
            </a:r>
            <a:r>
              <a:rPr lang="en-US" altLang="en-US" sz="2000" b="0" dirty="0"/>
              <a:t>(5 of 5)</a:t>
            </a:r>
            <a:endParaRPr lang="en-IN" dirty="0"/>
          </a:p>
        </p:txBody>
      </p:sp>
      <p:sp>
        <p:nvSpPr>
          <p:cNvPr id="3" name="Content Placeholder 2"/>
          <p:cNvSpPr>
            <a:spLocks noGrp="1"/>
          </p:cNvSpPr>
          <p:nvPr>
            <p:ph sz="quarter" idx="13"/>
          </p:nvPr>
        </p:nvSpPr>
        <p:spPr/>
        <p:txBody>
          <a:bodyPr/>
          <a:lstStyle/>
          <a:p>
            <a:pPr>
              <a:spcBef>
                <a:spcPct val="50000"/>
              </a:spcBef>
            </a:pPr>
            <a:r>
              <a:rPr lang="en-US" altLang="en-US" dirty="0"/>
              <a:t>Table 14.2 shows the relative prices implied by exchange rates of $1.25 per pound, $1.50 per pound, and $1.75 per pound.</a:t>
            </a:r>
          </a:p>
          <a:p>
            <a:pPr>
              <a:spcBef>
                <a:spcPct val="50000"/>
              </a:spcBef>
            </a:pPr>
            <a:r>
              <a:rPr lang="en-US" altLang="en-US" dirty="0"/>
              <a:t>If the good’s money prices do not change, an appreciation of the dollar against the pound makes sweaters more expensive in terms of jeans (each pair of jeans buys fewer sweaters).</a:t>
            </a:r>
          </a:p>
          <a:p>
            <a:pPr>
              <a:spcBef>
                <a:spcPct val="50000"/>
              </a:spcBef>
            </a:pPr>
            <a:r>
              <a:rPr lang="en-US" altLang="en-US" b="1" dirty="0"/>
              <a:t>All else equal, an appreciation of a country’s currency raises the relative price of its exports to its imports, while a depreciation lowers the relative price of its exports to its imports</a:t>
            </a:r>
            <a:r>
              <a:rPr lang="en-US" altLang="en-US" i="1" dirty="0"/>
              <a:t>.</a:t>
            </a:r>
            <a:endParaRPr lang="en-IN" dirty="0"/>
          </a:p>
        </p:txBody>
      </p:sp>
    </p:spTree>
    <p:extLst>
      <p:ext uri="{BB962C8B-B14F-4D97-AF65-F5344CB8AC3E}">
        <p14:creationId xmlns:p14="http://schemas.microsoft.com/office/powerpoint/2010/main" val="4146775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400" dirty="0"/>
              <a:t>Table 14.2 </a:t>
            </a:r>
            <a:r>
              <a:rPr lang="en-US" sz="200" b="1" i="0" u="none" strike="noStrike" cap="none" dirty="0">
                <a:solidFill>
                  <a:schemeClr val="tx2"/>
                </a:solidFill>
                <a:effectLst/>
                <a:ea typeface="Arial"/>
                <a:cs typeface="Arial"/>
                <a:sym typeface="Arial"/>
              </a:rPr>
              <a:t>Dollars per pound</a:t>
            </a:r>
            <a:r>
              <a:rPr lang="en-US" altLang="en-US" sz="2400" dirty="0"/>
              <a:t>     Exchange Rates and the Relative Price of American Designer Jeans and British Sweaters</a:t>
            </a:r>
            <a:endParaRPr lang="en-IN" sz="2400" dirty="0"/>
          </a:p>
        </p:txBody>
      </p:sp>
      <p:graphicFrame>
        <p:nvGraphicFramePr>
          <p:cNvPr id="2" name="Object 1">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370421374"/>
              </p:ext>
            </p:extLst>
          </p:nvPr>
        </p:nvGraphicFramePr>
        <p:xfrm>
          <a:off x="2095500" y="476250"/>
          <a:ext cx="619125" cy="396875"/>
        </p:xfrm>
        <a:graphic>
          <a:graphicData uri="http://schemas.openxmlformats.org/presentationml/2006/ole">
            <mc:AlternateContent xmlns:mc="http://schemas.openxmlformats.org/markup-compatibility/2006">
              <mc:Choice xmlns:v="urn:schemas-microsoft-com:vml" Requires="v">
                <p:oleObj spid="_x0000_s11281" name="Equation" r:id="rId3" imgW="317160" imgH="203040" progId="Equation.DSMT4">
                  <p:embed/>
                </p:oleObj>
              </mc:Choice>
              <mc:Fallback>
                <p:oleObj name="Equation" r:id="rId3" imgW="317160" imgH="203040" progId="Equation.DSMT4">
                  <p:embed/>
                  <p:pic>
                    <p:nvPicPr>
                      <p:cNvPr id="0" name=""/>
                      <p:cNvPicPr/>
                      <p:nvPr/>
                    </p:nvPicPr>
                    <p:blipFill>
                      <a:blip r:embed="rId4"/>
                      <a:stretch>
                        <a:fillRect/>
                      </a:stretch>
                    </p:blipFill>
                    <p:spPr>
                      <a:xfrm>
                        <a:off x="2095500" y="476250"/>
                        <a:ext cx="619125" cy="396875"/>
                      </a:xfrm>
                      <a:prstGeom prst="rect">
                        <a:avLst/>
                      </a:prstGeom>
                      <a:solidFill>
                        <a:schemeClr val="bg1"/>
                      </a:solidFill>
                    </p:spPr>
                  </p:pic>
                </p:oleObj>
              </mc:Fallback>
            </mc:AlternateContent>
          </a:graphicData>
        </a:graphic>
      </p:graphicFrame>
      <p:graphicFrame>
        <p:nvGraphicFramePr>
          <p:cNvPr id="3" name="Content Placeholder 2"/>
          <p:cNvGraphicFramePr>
            <a:graphicFrameLocks noGrp="1"/>
          </p:cNvGraphicFramePr>
          <p:nvPr>
            <p:ph sz="quarter" idx="13"/>
            <p:extLst>
              <p:ext uri="{D42A27DB-BD31-4B8C-83A1-F6EECF244321}">
                <p14:modId xmlns:p14="http://schemas.microsoft.com/office/powerpoint/2010/main" val="316686238"/>
              </p:ext>
            </p:extLst>
          </p:nvPr>
        </p:nvGraphicFramePr>
        <p:xfrm>
          <a:off x="457199" y="1731685"/>
          <a:ext cx="8229601" cy="916114"/>
        </p:xfrm>
        <a:graphic>
          <a:graphicData uri="http://schemas.openxmlformats.org/drawingml/2006/table">
            <a:tbl>
              <a:tblPr firstCol="1" bandRow="1">
                <a:tableStyleId>{40F9630F-82C1-40B7-BC3A-925EFCFF5E92}</a:tableStyleId>
              </a:tblPr>
              <a:tblGrid>
                <a:gridCol w="4350471">
                  <a:extLst>
                    <a:ext uri="{9D8B030D-6E8A-4147-A177-3AD203B41FA5}">
                      <a16:colId xmlns:a16="http://schemas.microsoft.com/office/drawing/2014/main" val="1329712240"/>
                    </a:ext>
                  </a:extLst>
                </a:gridCol>
                <a:gridCol w="1104621">
                  <a:extLst>
                    <a:ext uri="{9D8B030D-6E8A-4147-A177-3AD203B41FA5}">
                      <a16:colId xmlns:a16="http://schemas.microsoft.com/office/drawing/2014/main" val="2961772587"/>
                    </a:ext>
                  </a:extLst>
                </a:gridCol>
                <a:gridCol w="1271651">
                  <a:extLst>
                    <a:ext uri="{9D8B030D-6E8A-4147-A177-3AD203B41FA5}">
                      <a16:colId xmlns:a16="http://schemas.microsoft.com/office/drawing/2014/main" val="4211597109"/>
                    </a:ext>
                  </a:extLst>
                </a:gridCol>
                <a:gridCol w="1502858">
                  <a:extLst>
                    <a:ext uri="{9D8B030D-6E8A-4147-A177-3AD203B41FA5}">
                      <a16:colId xmlns:a16="http://schemas.microsoft.com/office/drawing/2014/main" val="2086977877"/>
                    </a:ext>
                  </a:extLst>
                </a:gridCol>
              </a:tblGrid>
              <a:tr h="4299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Arial (Body)"/>
                        </a:rPr>
                        <a:t>Exchange rate </a:t>
                      </a:r>
                      <a:r>
                        <a:rPr lang="en-US" sz="100" b="0" i="0" u="none" strike="noStrike" cap="none" dirty="0">
                          <a:solidFill>
                            <a:schemeClr val="dk1"/>
                          </a:solidFill>
                          <a:effectLst/>
                          <a:latin typeface="Arial"/>
                          <a:ea typeface="Arial"/>
                          <a:cs typeface="Arial"/>
                          <a:sym typeface="Arial"/>
                        </a:rPr>
                        <a:t>Dollars per pound</a:t>
                      </a:r>
                      <a:endParaRPr lang="en-US" sz="100" b="0" dirty="0">
                        <a:solidFill>
                          <a:schemeClr val="tx1"/>
                        </a:solidFill>
                        <a:latin typeface="Arial (Body)"/>
                      </a:endParaRPr>
                    </a:p>
                  </a:txBody>
                  <a:tcPr marL="22188" marR="221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dirty="0">
                          <a:solidFill>
                            <a:schemeClr val="tx1"/>
                          </a:solidFill>
                          <a:latin typeface="Arial (Body)"/>
                        </a:rPr>
                        <a:t>1.25</a:t>
                      </a:r>
                      <a:endParaRPr lang="en-IN" sz="2000" dirty="0">
                        <a:latin typeface="+mn-lt"/>
                      </a:endParaRPr>
                    </a:p>
                  </a:txBody>
                  <a:tcPr marL="22188" marR="221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dirty="0">
                          <a:solidFill>
                            <a:schemeClr val="tx1"/>
                          </a:solidFill>
                          <a:latin typeface="Arial (Body)"/>
                        </a:rPr>
                        <a:t>1.50</a:t>
                      </a:r>
                      <a:endParaRPr lang="en-IN" sz="2000" dirty="0">
                        <a:latin typeface="+mn-lt"/>
                      </a:endParaRPr>
                    </a:p>
                  </a:txBody>
                  <a:tcPr marL="22188" marR="221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dirty="0">
                          <a:solidFill>
                            <a:schemeClr val="tx1"/>
                          </a:solidFill>
                          <a:latin typeface="Arial (Body)"/>
                        </a:rPr>
                        <a:t>1.75</a:t>
                      </a:r>
                      <a:endParaRPr lang="en-IN" sz="2000" dirty="0">
                        <a:latin typeface="+mn-lt"/>
                      </a:endParaRPr>
                    </a:p>
                  </a:txBody>
                  <a:tcPr marL="22188" marR="221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38769"/>
                  </a:ext>
                </a:extLst>
              </a:tr>
              <a:tr h="486180">
                <a:tc>
                  <a:txBody>
                    <a:bodyPr/>
                    <a:lstStyle/>
                    <a:p>
                      <a:r>
                        <a:rPr lang="en-US" sz="2000" b="0" dirty="0">
                          <a:solidFill>
                            <a:schemeClr val="tx1"/>
                          </a:solidFill>
                          <a:latin typeface="Arial (Body)"/>
                        </a:rPr>
                        <a:t>Relative price (pairs of jeans/sweater)</a:t>
                      </a:r>
                      <a:endParaRPr lang="en-IN" sz="2000" b="0" dirty="0">
                        <a:latin typeface="+mn-lt"/>
                      </a:endParaRPr>
                    </a:p>
                  </a:txBody>
                  <a:tcPr marL="22188" marR="221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solidFill>
                            <a:schemeClr val="tx1"/>
                          </a:solidFill>
                          <a:latin typeface="Arial (Body)"/>
                        </a:rPr>
                        <a:t>1.39</a:t>
                      </a:r>
                      <a:endParaRPr lang="en-IN" sz="2000" dirty="0">
                        <a:latin typeface="+mn-lt"/>
                      </a:endParaRPr>
                    </a:p>
                  </a:txBody>
                  <a:tcPr marL="22188" marR="221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solidFill>
                            <a:schemeClr val="tx1"/>
                          </a:solidFill>
                          <a:latin typeface="Arial (Body)"/>
                        </a:rPr>
                        <a:t>1.67</a:t>
                      </a:r>
                      <a:endParaRPr lang="en-IN" sz="2000" dirty="0">
                        <a:latin typeface="+mn-lt"/>
                      </a:endParaRPr>
                    </a:p>
                  </a:txBody>
                  <a:tcPr marL="22188" marR="221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solidFill>
                            <a:schemeClr val="tx1"/>
                          </a:solidFill>
                          <a:latin typeface="Arial (Body)"/>
                        </a:rPr>
                        <a:t>1.94</a:t>
                      </a:r>
                      <a:endParaRPr lang="en-IN" sz="2000" dirty="0">
                        <a:latin typeface="+mn-lt"/>
                      </a:endParaRPr>
                    </a:p>
                  </a:txBody>
                  <a:tcPr marL="22188" marR="221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34192701"/>
                  </a:ext>
                </a:extLst>
              </a:tr>
            </a:tbl>
          </a:graphicData>
        </a:graphic>
      </p:graphicFrame>
      <p:graphicFrame>
        <p:nvGraphicFramePr>
          <p:cNvPr id="4" name="Object 3">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126447206"/>
              </p:ext>
            </p:extLst>
          </p:nvPr>
        </p:nvGraphicFramePr>
        <p:xfrm>
          <a:off x="2175451" y="1830588"/>
          <a:ext cx="464852" cy="278912"/>
        </p:xfrm>
        <a:graphic>
          <a:graphicData uri="http://schemas.openxmlformats.org/presentationml/2006/ole">
            <mc:AlternateContent xmlns:mc="http://schemas.openxmlformats.org/markup-compatibility/2006">
              <mc:Choice xmlns:v="urn:schemas-microsoft-com:vml" Requires="v">
                <p:oleObj spid="_x0000_s11282" name="Equation" r:id="rId5" imgW="317160" imgH="190440" progId="Equation.DSMT4">
                  <p:embed/>
                </p:oleObj>
              </mc:Choice>
              <mc:Fallback>
                <p:oleObj name="Equation" r:id="rId5" imgW="317160" imgH="190440" progId="Equation.DSMT4">
                  <p:embed/>
                  <p:pic>
                    <p:nvPicPr>
                      <p:cNvPr id="0" name=""/>
                      <p:cNvPicPr/>
                      <p:nvPr/>
                    </p:nvPicPr>
                    <p:blipFill>
                      <a:blip r:embed="rId6"/>
                      <a:stretch>
                        <a:fillRect/>
                      </a:stretch>
                    </p:blipFill>
                    <p:spPr>
                      <a:xfrm>
                        <a:off x="2175451" y="1830588"/>
                        <a:ext cx="464852" cy="278912"/>
                      </a:xfrm>
                      <a:prstGeom prst="rect">
                        <a:avLst/>
                      </a:prstGeom>
                      <a:solidFill>
                        <a:schemeClr val="bg1"/>
                      </a:solidFill>
                    </p:spPr>
                  </p:pic>
                </p:oleObj>
              </mc:Fallback>
            </mc:AlternateContent>
          </a:graphicData>
        </a:graphic>
      </p:graphicFrame>
      <p:sp>
        <p:nvSpPr>
          <p:cNvPr id="5" name="Content Placeholder 4"/>
          <p:cNvSpPr>
            <a:spLocks noGrp="1"/>
          </p:cNvSpPr>
          <p:nvPr>
            <p:ph sz="quarter" idx="14"/>
          </p:nvPr>
        </p:nvSpPr>
        <p:spPr>
          <a:xfrm>
            <a:off x="457198" y="3174717"/>
            <a:ext cx="8232129" cy="382736"/>
          </a:xfrm>
        </p:spPr>
        <p:txBody>
          <a:bodyPr lIns="0" tIns="0" rIns="0" bIns="0"/>
          <a:lstStyle/>
          <a:p>
            <a:pPr marL="0" indent="0">
              <a:buNone/>
            </a:pPr>
            <a:r>
              <a:rPr lang="en-US" b="1" dirty="0">
                <a:latin typeface="Arial (Body)"/>
              </a:rPr>
              <a:t>Note: </a:t>
            </a:r>
            <a:r>
              <a:rPr lang="en-US" dirty="0">
                <a:latin typeface="Arial (Body)"/>
              </a:rPr>
              <a:t>The above calculations assume unchanged money</a:t>
            </a:r>
          </a:p>
        </p:txBody>
      </p:sp>
      <p:sp>
        <p:nvSpPr>
          <p:cNvPr id="9" name="Content Placeholder 8"/>
          <p:cNvSpPr>
            <a:spLocks noGrp="1"/>
          </p:cNvSpPr>
          <p:nvPr>
            <p:ph sz="quarter" idx="15"/>
          </p:nvPr>
        </p:nvSpPr>
        <p:spPr>
          <a:xfrm>
            <a:off x="457198" y="3617620"/>
            <a:ext cx="4756162" cy="436587"/>
          </a:xfrm>
        </p:spPr>
        <p:txBody>
          <a:bodyPr lIns="0" tIns="0" rIns="0" bIns="0"/>
          <a:lstStyle/>
          <a:p>
            <a:pPr marL="432" indent="0">
              <a:buNone/>
            </a:pPr>
            <a:r>
              <a:rPr lang="en-US" dirty="0">
                <a:latin typeface="Arial (Body)"/>
              </a:rPr>
              <a:t>prices of </a:t>
            </a:r>
            <a:r>
              <a:rPr lang="en-US" dirty="0">
                <a:latin typeface="Arial (Body)"/>
                <a:cs typeface="Arial" panose="020B0604020202020204" pitchFamily="34" charset="0"/>
              </a:rPr>
              <a:t>$</a:t>
            </a:r>
            <a:r>
              <a:rPr lang="en-US" dirty="0">
                <a:latin typeface="Arial (Body)"/>
              </a:rPr>
              <a:t>45 per pair of jeans and</a:t>
            </a:r>
            <a:endParaRPr lang="en-IN" dirty="0"/>
          </a:p>
        </p:txBody>
      </p:sp>
      <p:graphicFrame>
        <p:nvGraphicFramePr>
          <p:cNvPr id="11" name="Object 10" descr="50 pounds"/>
          <p:cNvGraphicFramePr>
            <a:graphicFrameLocks noChangeAspect="1"/>
          </p:cNvGraphicFramePr>
          <p:nvPr>
            <p:extLst>
              <p:ext uri="{D42A27DB-BD31-4B8C-83A1-F6EECF244321}">
                <p14:modId xmlns:p14="http://schemas.microsoft.com/office/powerpoint/2010/main" val="2269327401"/>
              </p:ext>
            </p:extLst>
          </p:nvPr>
        </p:nvGraphicFramePr>
        <p:xfrm>
          <a:off x="5297180" y="3663401"/>
          <a:ext cx="593969" cy="346482"/>
        </p:xfrm>
        <a:graphic>
          <a:graphicData uri="http://schemas.openxmlformats.org/presentationml/2006/ole">
            <mc:AlternateContent xmlns:mc="http://schemas.openxmlformats.org/markup-compatibility/2006">
              <mc:Choice xmlns:v="urn:schemas-microsoft-com:vml" Requires="v">
                <p:oleObj spid="_x0000_s11283" name="Equation" r:id="rId7" imgW="304560" imgH="177480" progId="Equation.DSMT4">
                  <p:embed/>
                </p:oleObj>
              </mc:Choice>
              <mc:Fallback>
                <p:oleObj name="Equation" r:id="rId7" imgW="304560" imgH="177480" progId="Equation.DSMT4">
                  <p:embed/>
                  <p:pic>
                    <p:nvPicPr>
                      <p:cNvPr id="0" name=""/>
                      <p:cNvPicPr/>
                      <p:nvPr/>
                    </p:nvPicPr>
                    <p:blipFill>
                      <a:blip r:embed="rId8"/>
                      <a:stretch>
                        <a:fillRect/>
                      </a:stretch>
                    </p:blipFill>
                    <p:spPr>
                      <a:xfrm>
                        <a:off x="5297180" y="3663401"/>
                        <a:ext cx="593969" cy="346482"/>
                      </a:xfrm>
                      <a:prstGeom prst="rect">
                        <a:avLst/>
                      </a:prstGeom>
                    </p:spPr>
                  </p:pic>
                </p:oleObj>
              </mc:Fallback>
            </mc:AlternateContent>
          </a:graphicData>
        </a:graphic>
      </p:graphicFrame>
      <p:sp>
        <p:nvSpPr>
          <p:cNvPr id="10" name="Content Placeholder 9"/>
          <p:cNvSpPr>
            <a:spLocks noGrp="1"/>
          </p:cNvSpPr>
          <p:nvPr>
            <p:ph sz="quarter" idx="16"/>
          </p:nvPr>
        </p:nvSpPr>
        <p:spPr>
          <a:xfrm>
            <a:off x="5994649" y="3612045"/>
            <a:ext cx="1774209" cy="431511"/>
          </a:xfrm>
        </p:spPr>
        <p:txBody>
          <a:bodyPr lIns="0" tIns="0" rIns="0" bIns="0"/>
          <a:lstStyle/>
          <a:p>
            <a:pPr marL="432" indent="0">
              <a:buNone/>
            </a:pPr>
            <a:r>
              <a:rPr lang="en-US" dirty="0">
                <a:latin typeface="Arial (Body)"/>
              </a:rPr>
              <a:t>per sweater.</a:t>
            </a:r>
          </a:p>
        </p:txBody>
      </p:sp>
    </p:spTree>
    <p:extLst>
      <p:ext uri="{BB962C8B-B14F-4D97-AF65-F5344CB8AC3E}">
        <p14:creationId xmlns:p14="http://schemas.microsoft.com/office/powerpoint/2010/main" val="1348958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Foreign Exchange Markets </a:t>
            </a:r>
            <a:r>
              <a:rPr lang="en-US" altLang="en-US" sz="2000" b="0" dirty="0"/>
              <a:t>(1 of 4)</a:t>
            </a:r>
            <a:endParaRPr lang="en-IN" dirty="0"/>
          </a:p>
        </p:txBody>
      </p:sp>
      <p:sp>
        <p:nvSpPr>
          <p:cNvPr id="3" name="Content Placeholder 2"/>
          <p:cNvSpPr>
            <a:spLocks noGrp="1"/>
          </p:cNvSpPr>
          <p:nvPr>
            <p:ph sz="quarter" idx="13"/>
          </p:nvPr>
        </p:nvSpPr>
        <p:spPr/>
        <p:txBody>
          <a:bodyPr/>
          <a:lstStyle/>
          <a:p>
            <a:pPr eaLnBrk="1" hangingPunct="1"/>
            <a:r>
              <a:rPr lang="en-US" altLang="en-US" dirty="0"/>
              <a:t>The set of markets where foreign currencies and other assets are exchanged for domestic ones</a:t>
            </a:r>
          </a:p>
          <a:p>
            <a:pPr lvl="1" eaLnBrk="1" hangingPunct="1"/>
            <a:r>
              <a:rPr lang="en-US" altLang="en-US" dirty="0"/>
              <a:t>Institutions buy and sell deposits of currencies or other assets for investment purposes.</a:t>
            </a:r>
          </a:p>
          <a:p>
            <a:pPr eaLnBrk="1" hangingPunct="1"/>
            <a:r>
              <a:rPr lang="en-US" altLang="en-US" dirty="0"/>
              <a:t>The </a:t>
            </a:r>
            <a:r>
              <a:rPr lang="en-US" altLang="en-US" b="1" dirty="0"/>
              <a:t>daily </a:t>
            </a:r>
            <a:r>
              <a:rPr lang="en-US" altLang="en-US" dirty="0"/>
              <a:t>volume of foreign exchange transactions was $6.6 trillion in April 2019 </a:t>
            </a:r>
          </a:p>
          <a:p>
            <a:pPr lvl="1" eaLnBrk="1" hangingPunct="1"/>
            <a:r>
              <a:rPr lang="en-US" altLang="en-US" dirty="0"/>
              <a:t>up substantially from $500 billion in 1989.</a:t>
            </a:r>
          </a:p>
          <a:p>
            <a:pPr eaLnBrk="1" hangingPunct="1"/>
            <a:r>
              <a:rPr lang="en-US" altLang="en-US" dirty="0"/>
              <a:t>Most transactions exchange foreign currencies for U.S. dollars.</a:t>
            </a:r>
          </a:p>
        </p:txBody>
      </p:sp>
    </p:spTree>
    <p:extLst>
      <p:ext uri="{BB962C8B-B14F-4D97-AF65-F5344CB8AC3E}">
        <p14:creationId xmlns:p14="http://schemas.microsoft.com/office/powerpoint/2010/main" val="3413038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Foreign Exchange Markets </a:t>
            </a:r>
            <a:r>
              <a:rPr lang="en-US" altLang="en-US" sz="2000" b="0" dirty="0"/>
              <a:t>(2 of 4) </a:t>
            </a:r>
            <a:endParaRPr lang="en-IN" dirty="0"/>
          </a:p>
        </p:txBody>
      </p:sp>
      <p:sp>
        <p:nvSpPr>
          <p:cNvPr id="3" name="Content Placeholder 2"/>
          <p:cNvSpPr>
            <a:spLocks noGrp="1"/>
          </p:cNvSpPr>
          <p:nvPr>
            <p:ph sz="quarter" idx="13"/>
          </p:nvPr>
        </p:nvSpPr>
        <p:spPr/>
        <p:txBody>
          <a:bodyPr/>
          <a:lstStyle/>
          <a:p>
            <a:pPr marL="533387" indent="-533387">
              <a:spcBef>
                <a:spcPct val="50000"/>
              </a:spcBef>
              <a:buNone/>
            </a:pPr>
            <a:r>
              <a:rPr lang="en-US" altLang="en-US" sz="2200" dirty="0"/>
              <a:t>The participants:</a:t>
            </a:r>
          </a:p>
          <a:p>
            <a:pPr marL="429758" indent="-429758">
              <a:buFont typeface="Times" pitchFamily="-1" charset="0"/>
              <a:buAutoNum type="arabicPeriod"/>
            </a:pPr>
            <a:r>
              <a:rPr lang="en-US" altLang="en-US" sz="2200" dirty="0"/>
              <a:t>Commercial banks and other depository institutions: transactions involve buying/selling of deposits in different currencies for investment purposes.</a:t>
            </a:r>
          </a:p>
          <a:p>
            <a:pPr marL="429758" indent="-429758">
              <a:buFont typeface="Times" pitchFamily="-1" charset="0"/>
              <a:buAutoNum type="arabicPeriod"/>
            </a:pPr>
            <a:r>
              <a:rPr lang="en-US" altLang="en-US" sz="2200" dirty="0"/>
              <a:t>Corporations (non-financial businesses) conduct foreign currency transactions to buy/sell goods, services and assets.</a:t>
            </a:r>
          </a:p>
          <a:p>
            <a:pPr marL="429758" indent="-429758">
              <a:buFont typeface="Times" pitchFamily="-1" charset="0"/>
              <a:buAutoNum type="arabicPeriod"/>
            </a:pPr>
            <a:r>
              <a:rPr lang="en-US" altLang="en-US" sz="2200" dirty="0"/>
              <a:t>Non-bank financial institutions (mutual funds, hedge funds, securities firms, insurance companies, pension funds) may buy/sell foreign assets for investment.</a:t>
            </a:r>
          </a:p>
          <a:p>
            <a:pPr marL="429758" indent="-429758">
              <a:buFont typeface="Times" pitchFamily="-1" charset="0"/>
              <a:buAutoNum type="arabicPeriod"/>
            </a:pPr>
            <a:r>
              <a:rPr lang="en-US" altLang="en-US" sz="2200" dirty="0"/>
              <a:t>Central banks: conduct official international </a:t>
            </a:r>
            <a:br>
              <a:rPr lang="en-US" altLang="en-US" sz="2200" dirty="0"/>
            </a:br>
            <a:r>
              <a:rPr lang="en-US" altLang="en-US" sz="2200" dirty="0"/>
              <a:t>reserves transactions.</a:t>
            </a:r>
          </a:p>
        </p:txBody>
      </p:sp>
    </p:spTree>
    <p:extLst>
      <p:ext uri="{BB962C8B-B14F-4D97-AF65-F5344CB8AC3E}">
        <p14:creationId xmlns:p14="http://schemas.microsoft.com/office/powerpoint/2010/main" val="888139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Foreign Exchange Markets </a:t>
            </a:r>
            <a:r>
              <a:rPr lang="en-US" altLang="en-US" sz="2000" b="0" dirty="0"/>
              <a:t>(3 of 4)</a:t>
            </a:r>
            <a:endParaRPr lang="en-IN" dirty="0"/>
          </a:p>
        </p:txBody>
      </p:sp>
      <p:sp>
        <p:nvSpPr>
          <p:cNvPr id="3" name="Content Placeholder 2"/>
          <p:cNvSpPr>
            <a:spLocks noGrp="1"/>
          </p:cNvSpPr>
          <p:nvPr>
            <p:ph sz="quarter" idx="13"/>
          </p:nvPr>
        </p:nvSpPr>
        <p:spPr/>
        <p:txBody>
          <a:bodyPr/>
          <a:lstStyle/>
          <a:p>
            <a:pPr eaLnBrk="1" hangingPunct="1"/>
            <a:r>
              <a:rPr lang="en-US" altLang="en-US" dirty="0"/>
              <a:t>Buying and selling in the foreign exchange market are dominated by commercial and investment banks.</a:t>
            </a:r>
          </a:p>
          <a:p>
            <a:pPr lvl="1" eaLnBrk="1" hangingPunct="1"/>
            <a:r>
              <a:rPr lang="en-US" altLang="en-US" dirty="0"/>
              <a:t>Inter-bank transactions of deposits in foreign currencies occur in amounts $1 million or more </a:t>
            </a:r>
            <a:br>
              <a:rPr lang="en-US" altLang="en-US" dirty="0"/>
            </a:br>
            <a:r>
              <a:rPr lang="en-US" altLang="en-US" dirty="0"/>
              <a:t>per transaction.</a:t>
            </a:r>
          </a:p>
          <a:p>
            <a:pPr lvl="1" eaLnBrk="1" hangingPunct="1"/>
            <a:r>
              <a:rPr lang="en-US" altLang="en-US" dirty="0"/>
              <a:t>Central banks sometimes intervene, but the direct effects of their transactions are small and transitory in many countries.</a:t>
            </a:r>
          </a:p>
        </p:txBody>
      </p:sp>
    </p:spTree>
    <p:extLst>
      <p:ext uri="{BB962C8B-B14F-4D97-AF65-F5344CB8AC3E}">
        <p14:creationId xmlns:p14="http://schemas.microsoft.com/office/powerpoint/2010/main" val="3823249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Foreign Exchange Markets </a:t>
            </a:r>
            <a:r>
              <a:rPr lang="en-US" altLang="en-US" sz="2000" b="0" dirty="0"/>
              <a:t>(4 of 4)</a:t>
            </a:r>
            <a:endParaRPr lang="en-IN" dirty="0"/>
          </a:p>
        </p:txBody>
      </p:sp>
      <p:sp>
        <p:nvSpPr>
          <p:cNvPr id="3" name="Content Placeholder 2"/>
          <p:cNvSpPr>
            <a:spLocks noGrp="1"/>
          </p:cNvSpPr>
          <p:nvPr>
            <p:ph sz="quarter" idx="13"/>
          </p:nvPr>
        </p:nvSpPr>
        <p:spPr/>
        <p:txBody>
          <a:bodyPr/>
          <a:lstStyle/>
          <a:p>
            <a:pPr eaLnBrk="1" hangingPunct="1"/>
            <a:r>
              <a:rPr lang="en-US" altLang="en-US" dirty="0"/>
              <a:t>Computer and telecommunications technology transmit information rapidly and have integrated markets. </a:t>
            </a:r>
          </a:p>
          <a:p>
            <a:pPr eaLnBrk="1" hangingPunct="1"/>
            <a:r>
              <a:rPr lang="en-US" altLang="en-US" dirty="0"/>
              <a:t>The integration of financial markets implies that there can be no significant differences in exchange rates across locations.</a:t>
            </a:r>
          </a:p>
          <a:p>
            <a:pPr lvl="1" eaLnBrk="1" hangingPunct="1"/>
            <a:r>
              <a:rPr lang="en-US" altLang="en-US" dirty="0"/>
              <a:t>Arbitrage: buy at low price and sell at higher price for a profit. </a:t>
            </a:r>
          </a:p>
          <a:p>
            <a:pPr lvl="1" eaLnBrk="1" hangingPunct="1"/>
            <a:r>
              <a:rPr lang="en-US" altLang="en-US" dirty="0"/>
              <a:t>If the euro were to sell for $1.1 in New York and $1.2 in London, could buy euros in New York (where cheaper) and sell them in London at a profit.</a:t>
            </a:r>
          </a:p>
        </p:txBody>
      </p:sp>
    </p:spTree>
    <p:extLst>
      <p:ext uri="{BB962C8B-B14F-4D97-AF65-F5344CB8AC3E}">
        <p14:creationId xmlns:p14="http://schemas.microsoft.com/office/powerpoint/2010/main" val="2544427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Spot Rates and Forward Rates</a:t>
            </a:r>
            <a:endParaRPr lang="en-IN" dirty="0"/>
          </a:p>
        </p:txBody>
      </p:sp>
      <p:sp>
        <p:nvSpPr>
          <p:cNvPr id="3" name="Content Placeholder 2"/>
          <p:cNvSpPr>
            <a:spLocks noGrp="1"/>
          </p:cNvSpPr>
          <p:nvPr>
            <p:ph sz="quarter" idx="13"/>
          </p:nvPr>
        </p:nvSpPr>
        <p:spPr/>
        <p:txBody>
          <a:bodyPr/>
          <a:lstStyle/>
          <a:p>
            <a:pPr eaLnBrk="1" hangingPunct="1"/>
            <a:r>
              <a:rPr lang="en-US" altLang="en-US" b="1" dirty="0"/>
              <a:t>Spot rates</a:t>
            </a:r>
            <a:r>
              <a:rPr lang="en-US" altLang="en-US" dirty="0"/>
              <a:t> are exchange rates for currency exchanges “</a:t>
            </a:r>
            <a:r>
              <a:rPr lang="en-US" altLang="ja-JP" dirty="0"/>
              <a:t>on the spot,” or when trading is executed in the present.</a:t>
            </a:r>
          </a:p>
          <a:p>
            <a:pPr eaLnBrk="1" hangingPunct="1"/>
            <a:r>
              <a:rPr lang="en-US" altLang="en-US" b="1" dirty="0"/>
              <a:t>Forward rates</a:t>
            </a:r>
            <a:r>
              <a:rPr lang="en-US" altLang="en-US" dirty="0"/>
              <a:t> are exchange rates for currency exchanges that will occur at a future (“</a:t>
            </a:r>
            <a:r>
              <a:rPr lang="en-US" altLang="ja-JP" dirty="0"/>
              <a:t>forward”) date.</a:t>
            </a:r>
          </a:p>
          <a:p>
            <a:pPr lvl="1" eaLnBrk="1" hangingPunct="1"/>
            <a:r>
              <a:rPr lang="en-US" altLang="en-US" dirty="0"/>
              <a:t>Forward dates are typically 30, 90, 180, or 360 days in the future.</a:t>
            </a:r>
          </a:p>
          <a:p>
            <a:pPr lvl="1" eaLnBrk="1" hangingPunct="1"/>
            <a:r>
              <a:rPr lang="en-US" altLang="en-US" dirty="0"/>
              <a:t>Rates are negotiated between two parties in the present, but the exchange occurs in the future.</a:t>
            </a:r>
          </a:p>
        </p:txBody>
      </p:sp>
    </p:spTree>
    <p:extLst>
      <p:ext uri="{BB962C8B-B14F-4D97-AF65-F5344CB8AC3E}">
        <p14:creationId xmlns:p14="http://schemas.microsoft.com/office/powerpoint/2010/main" val="3399704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14.1 Dollar/Pound Spot and Forward Exchange Rates, 1983–2020 </a:t>
            </a:r>
            <a:endParaRPr lang="en-IN" sz="3200" dirty="0"/>
          </a:p>
        </p:txBody>
      </p:sp>
      <p:pic>
        <p:nvPicPr>
          <p:cNvPr id="5" name="Content Placeholder 4" descr="A graph depicts spot and forward exchange rates. For long description in Notes pane, press F6."/>
          <p:cNvPicPr>
            <a:picLocks noGrp="1" noChangeAspect="1"/>
          </p:cNvPicPr>
          <p:nvPr>
            <p:ph sz="quarter" idx="13"/>
          </p:nvPr>
        </p:nvPicPr>
        <p:blipFill rotWithShape="1">
          <a:blip r:embed="rId3">
            <a:extLst>
              <a:ext uri="{28A0092B-C50C-407E-A947-70E740481C1C}">
                <a14:useLocalDpi xmlns:a14="http://schemas.microsoft.com/office/drawing/2010/main" val="0"/>
              </a:ext>
            </a:extLst>
          </a:blip>
          <a:srcRect t="2410"/>
          <a:stretch/>
        </p:blipFill>
        <p:spPr>
          <a:xfrm>
            <a:off x="1332491" y="1617760"/>
            <a:ext cx="6479017" cy="3565431"/>
          </a:xfrm>
        </p:spPr>
      </p:pic>
      <p:sp>
        <p:nvSpPr>
          <p:cNvPr id="4" name="Content Placeholder 3"/>
          <p:cNvSpPr>
            <a:spLocks noGrp="1"/>
          </p:cNvSpPr>
          <p:nvPr>
            <p:ph sz="quarter" idx="14"/>
          </p:nvPr>
        </p:nvSpPr>
        <p:spPr>
          <a:xfrm>
            <a:off x="457200" y="5268039"/>
            <a:ext cx="7541394" cy="999983"/>
          </a:xfrm>
        </p:spPr>
        <p:txBody>
          <a:bodyPr/>
          <a:lstStyle/>
          <a:p>
            <a:pPr marL="0" indent="0">
              <a:buNone/>
            </a:pPr>
            <a:r>
              <a:rPr lang="en-US" sz="1600" dirty="0">
                <a:latin typeface="Arial (Body)"/>
              </a:rPr>
              <a:t>Spot and forward exchange rates tend to move in a highly correlated fashion.</a:t>
            </a:r>
          </a:p>
          <a:p>
            <a:pPr marL="0" indent="0">
              <a:spcBef>
                <a:spcPts val="600"/>
              </a:spcBef>
              <a:buNone/>
            </a:pPr>
            <a:r>
              <a:rPr lang="en-US" sz="1600" b="1" dirty="0">
                <a:latin typeface="Arial (Body)"/>
              </a:rPr>
              <a:t>Source: </a:t>
            </a:r>
            <a:r>
              <a:rPr lang="en-US" sz="1600" b="1" dirty="0" err="1">
                <a:latin typeface="Arial (Body)"/>
              </a:rPr>
              <a:t>Datastream</a:t>
            </a:r>
            <a:r>
              <a:rPr lang="en-US" sz="1600" i="1" dirty="0">
                <a:latin typeface="Arial (Body)"/>
              </a:rPr>
              <a:t>. </a:t>
            </a:r>
            <a:r>
              <a:rPr lang="en-US" sz="1600" dirty="0">
                <a:latin typeface="Arial (Body)"/>
              </a:rPr>
              <a:t>Rates shown are 90-day forward exchange rates and spot exchange rates, at end of month.</a:t>
            </a:r>
          </a:p>
        </p:txBody>
      </p:sp>
    </p:spTree>
    <p:extLst>
      <p:ext uri="{BB962C8B-B14F-4D97-AF65-F5344CB8AC3E}">
        <p14:creationId xmlns:p14="http://schemas.microsoft.com/office/powerpoint/2010/main" val="2897737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a:t>Other Methods of Currency Exchange </a:t>
            </a:r>
            <a:r>
              <a:rPr lang="en-US" altLang="en-US" sz="2000" b="0" dirty="0"/>
              <a:t>(1 of 3)</a:t>
            </a:r>
            <a:endParaRPr lang="en-IN" dirty="0"/>
          </a:p>
        </p:txBody>
      </p:sp>
      <p:sp>
        <p:nvSpPr>
          <p:cNvPr id="3" name="Content Placeholder 2"/>
          <p:cNvSpPr>
            <a:spLocks noGrp="1"/>
          </p:cNvSpPr>
          <p:nvPr>
            <p:ph sz="quarter" idx="13"/>
          </p:nvPr>
        </p:nvSpPr>
        <p:spPr>
          <a:xfrm>
            <a:off x="457200" y="1556327"/>
            <a:ext cx="8229600" cy="3978199"/>
          </a:xfrm>
        </p:spPr>
        <p:txBody>
          <a:bodyPr/>
          <a:lstStyle/>
          <a:p>
            <a:pPr eaLnBrk="1" hangingPunct="1"/>
            <a:r>
              <a:rPr lang="en-US" altLang="en-US" b="1" dirty="0"/>
              <a:t>Foreign exchange swaps</a:t>
            </a:r>
            <a:r>
              <a:rPr lang="en-US" altLang="en-US" dirty="0"/>
              <a:t>: a combination of a spot sale with a forward repurchase.</a:t>
            </a:r>
          </a:p>
          <a:p>
            <a:r>
              <a:rPr lang="en-US" altLang="en-US" dirty="0"/>
              <a:t>Swaps allow parties to meet each other’</a:t>
            </a:r>
            <a:r>
              <a:rPr lang="en-US" altLang="ja-JP" dirty="0"/>
              <a:t>s needs for a temporary amount of time and often cost less in fees than separate transactions.</a:t>
            </a:r>
          </a:p>
          <a:p>
            <a:pPr lvl="1" eaLnBrk="1" hangingPunct="1"/>
            <a:r>
              <a:rPr lang="en-US" altLang="en-US" dirty="0"/>
              <a:t>For example, suppose Toyota receives $1 million from American sales, plans to use it to pay its California suppliers in three months, but wants to invest the money in euro bonds in the meantime.</a:t>
            </a:r>
          </a:p>
        </p:txBody>
      </p:sp>
    </p:spTree>
    <p:extLst>
      <p:ext uri="{BB962C8B-B14F-4D97-AF65-F5344CB8AC3E}">
        <p14:creationId xmlns:p14="http://schemas.microsoft.com/office/powerpoint/2010/main" val="1088884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a:t>Other Methods of Currency Exchange </a:t>
            </a:r>
            <a:r>
              <a:rPr lang="en-US" altLang="en-US" sz="2000" b="0" dirty="0"/>
              <a:t>(2 of 3)</a:t>
            </a:r>
            <a:endParaRPr lang="en-IN" dirty="0"/>
          </a:p>
        </p:txBody>
      </p:sp>
      <p:sp>
        <p:nvSpPr>
          <p:cNvPr id="3" name="Content Placeholder 2"/>
          <p:cNvSpPr>
            <a:spLocks noGrp="1"/>
          </p:cNvSpPr>
          <p:nvPr>
            <p:ph sz="quarter" idx="13"/>
          </p:nvPr>
        </p:nvSpPr>
        <p:spPr>
          <a:xfrm>
            <a:off x="457200" y="1556327"/>
            <a:ext cx="8229600" cy="2341905"/>
          </a:xfrm>
        </p:spPr>
        <p:txBody>
          <a:bodyPr/>
          <a:lstStyle/>
          <a:p>
            <a:pPr eaLnBrk="1" hangingPunct="1"/>
            <a:r>
              <a:rPr lang="en-US" altLang="en-US" b="1" dirty="0">
                <a:latin typeface="+mj-lt"/>
              </a:rPr>
              <a:t>Futures contracts</a:t>
            </a:r>
            <a:r>
              <a:rPr lang="en-US" altLang="en-US" dirty="0">
                <a:latin typeface="+mj-lt"/>
              </a:rPr>
              <a:t>: a contract designed by a </a:t>
            </a:r>
            <a:r>
              <a:rPr lang="en-US" altLang="en-US" b="1" dirty="0">
                <a:latin typeface="+mj-lt"/>
              </a:rPr>
              <a:t>third party </a:t>
            </a:r>
            <a:r>
              <a:rPr lang="en-US" altLang="en-US" dirty="0">
                <a:latin typeface="+mj-lt"/>
              </a:rPr>
              <a:t>for a </a:t>
            </a:r>
            <a:r>
              <a:rPr lang="en-US" altLang="en-US" b="1" dirty="0">
                <a:latin typeface="+mj-lt"/>
              </a:rPr>
              <a:t>standard</a:t>
            </a:r>
            <a:r>
              <a:rPr lang="en-US" altLang="en-US" dirty="0">
                <a:latin typeface="+mj-lt"/>
              </a:rPr>
              <a:t> amount of foreign currency delivered/received on a </a:t>
            </a:r>
            <a:r>
              <a:rPr lang="en-US" altLang="en-US" b="1" dirty="0">
                <a:latin typeface="+mj-lt"/>
              </a:rPr>
              <a:t>standard</a:t>
            </a:r>
            <a:r>
              <a:rPr lang="en-US" altLang="en-US" dirty="0">
                <a:latin typeface="+mj-lt"/>
              </a:rPr>
              <a:t> date.</a:t>
            </a:r>
          </a:p>
          <a:p>
            <a:pPr lvl="1"/>
            <a:r>
              <a:rPr lang="en-US" altLang="en-US" dirty="0">
                <a:latin typeface="+mj-lt"/>
              </a:rPr>
              <a:t>Contracts can be bought and sold in markets, and only the current owner is obliged to fulfill the contract.</a:t>
            </a:r>
          </a:p>
        </p:txBody>
      </p:sp>
    </p:spTree>
    <p:extLst>
      <p:ext uri="{BB962C8B-B14F-4D97-AF65-F5344CB8AC3E}">
        <p14:creationId xmlns:p14="http://schemas.microsoft.com/office/powerpoint/2010/main" val="30650015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a:t>Other Methods of Currency Exchange </a:t>
            </a:r>
            <a:r>
              <a:rPr lang="en-US" altLang="en-US" sz="2000" b="0" dirty="0"/>
              <a:t>(3 of 3)</a:t>
            </a:r>
            <a:endParaRPr lang="en-IN" dirty="0"/>
          </a:p>
        </p:txBody>
      </p:sp>
      <p:sp>
        <p:nvSpPr>
          <p:cNvPr id="3" name="Content Placeholder 2"/>
          <p:cNvSpPr>
            <a:spLocks noGrp="1"/>
          </p:cNvSpPr>
          <p:nvPr>
            <p:ph sz="quarter" idx="13"/>
          </p:nvPr>
        </p:nvSpPr>
        <p:spPr>
          <a:xfrm>
            <a:off x="457200" y="1556327"/>
            <a:ext cx="8229600" cy="4488338"/>
          </a:xfrm>
        </p:spPr>
        <p:txBody>
          <a:bodyPr/>
          <a:lstStyle/>
          <a:p>
            <a:pPr eaLnBrk="1" hangingPunct="1"/>
            <a:r>
              <a:rPr lang="en-US" altLang="en-US" b="1" dirty="0"/>
              <a:t>Options contracts</a:t>
            </a:r>
            <a:r>
              <a:rPr lang="en-US" altLang="en-US" dirty="0"/>
              <a:t>: a contract designed by a third party for a</a:t>
            </a:r>
            <a:r>
              <a:rPr lang="en-US" altLang="en-US" i="1" dirty="0"/>
              <a:t> </a:t>
            </a:r>
            <a:r>
              <a:rPr lang="en-US" altLang="en-US" dirty="0"/>
              <a:t>standard amount of foreign currency delivered/received on or before a standard date.</a:t>
            </a:r>
          </a:p>
          <a:p>
            <a:pPr lvl="1" eaLnBrk="1" hangingPunct="1"/>
            <a:r>
              <a:rPr lang="en-US" altLang="en-US" dirty="0"/>
              <a:t>Contracts can be bought and sold in markets.</a:t>
            </a:r>
          </a:p>
          <a:p>
            <a:pPr lvl="1" eaLnBrk="1" hangingPunct="1"/>
            <a:r>
              <a:rPr lang="en-US" altLang="en-US" dirty="0"/>
              <a:t>A contract gives the owner the option, but not obligation, of buying or selling currency if the need arises.</a:t>
            </a:r>
          </a:p>
          <a:p>
            <a:pPr lvl="1" eaLnBrk="1" hangingPunct="1"/>
            <a:r>
              <a:rPr lang="en-US" altLang="en-US" dirty="0"/>
              <a:t>A </a:t>
            </a:r>
            <a:r>
              <a:rPr lang="en-US" altLang="en-US" b="1" dirty="0"/>
              <a:t>call option </a:t>
            </a:r>
            <a:r>
              <a:rPr lang="en-US" altLang="en-US" dirty="0"/>
              <a:t>gives the owner the right to buy, while a </a:t>
            </a:r>
            <a:r>
              <a:rPr lang="en-US" altLang="en-US" b="1" dirty="0"/>
              <a:t>put option </a:t>
            </a:r>
            <a:r>
              <a:rPr lang="en-US" altLang="en-US" dirty="0"/>
              <a:t>gives the right to sell, a specified amount of foreign currency at a specified price at any time prior to the specified expiration date.</a:t>
            </a:r>
          </a:p>
        </p:txBody>
      </p:sp>
    </p:spTree>
    <p:extLst>
      <p:ext uri="{BB962C8B-B14F-4D97-AF65-F5344CB8AC3E}">
        <p14:creationId xmlns:p14="http://schemas.microsoft.com/office/powerpoint/2010/main" val="1530189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(1 of 12)</a:t>
            </a:r>
            <a:endParaRPr lang="en-IN" dirty="0"/>
          </a:p>
        </p:txBody>
      </p:sp>
      <p:sp>
        <p:nvSpPr>
          <p:cNvPr id="3" name="Content Placeholder 2"/>
          <p:cNvSpPr>
            <a:spLocks noGrp="1"/>
          </p:cNvSpPr>
          <p:nvPr>
            <p:ph sz="quarter" idx="13"/>
          </p:nvPr>
        </p:nvSpPr>
        <p:spPr/>
        <p:txBody>
          <a:bodyPr/>
          <a:lstStyle/>
          <a:p>
            <a:pPr eaLnBrk="1" hangingPunct="1"/>
            <a:r>
              <a:rPr lang="en-US" altLang="en-US" dirty="0">
                <a:latin typeface="Arial (Body)"/>
              </a:rPr>
              <a:t>What influences the demand of (willingness to buy) deposits denominated in domestic or foreign currency?</a:t>
            </a:r>
          </a:p>
          <a:p>
            <a:pPr eaLnBrk="1" hangingPunct="1"/>
            <a:r>
              <a:rPr lang="en-US" altLang="en-US" dirty="0">
                <a:latin typeface="Arial (Body)"/>
              </a:rPr>
              <a:t>Factors that influence the return on assets determine the demand of those assets.</a:t>
            </a:r>
          </a:p>
        </p:txBody>
      </p:sp>
    </p:spTree>
    <p:extLst>
      <p:ext uri="{BB962C8B-B14F-4D97-AF65-F5344CB8AC3E}">
        <p14:creationId xmlns:p14="http://schemas.microsoft.com/office/powerpoint/2010/main" val="327883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(2 of 12)</a:t>
            </a:r>
            <a:endParaRPr lang="en-IN" dirty="0"/>
          </a:p>
        </p:txBody>
      </p:sp>
      <p:sp>
        <p:nvSpPr>
          <p:cNvPr id="4" name="Content Placeholder 3"/>
          <p:cNvSpPr>
            <a:spLocks noGrp="1"/>
          </p:cNvSpPr>
          <p:nvPr>
            <p:ph sz="quarter" idx="13"/>
          </p:nvPr>
        </p:nvSpPr>
        <p:spPr>
          <a:xfrm>
            <a:off x="457200" y="1552575"/>
            <a:ext cx="8229600" cy="849431"/>
          </a:xfrm>
        </p:spPr>
        <p:txBody>
          <a:bodyPr/>
          <a:lstStyle/>
          <a:p>
            <a:r>
              <a:rPr lang="en-US" altLang="en-US" b="1" dirty="0">
                <a:latin typeface="Arial (Body)"/>
              </a:rPr>
              <a:t>Rate of return</a:t>
            </a:r>
            <a:r>
              <a:rPr lang="en-US" altLang="en-US" dirty="0">
                <a:latin typeface="Arial (Body)"/>
              </a:rPr>
              <a:t>: the percentage change in value that an asset offers during a time period.</a:t>
            </a:r>
          </a:p>
        </p:txBody>
      </p:sp>
      <p:sp>
        <p:nvSpPr>
          <p:cNvPr id="5" name="Content Placeholder 4"/>
          <p:cNvSpPr>
            <a:spLocks noGrp="1"/>
          </p:cNvSpPr>
          <p:nvPr>
            <p:ph sz="quarter" idx="14"/>
          </p:nvPr>
        </p:nvSpPr>
        <p:spPr>
          <a:xfrm>
            <a:off x="457199" y="2538480"/>
            <a:ext cx="8043989" cy="504035"/>
          </a:xfrm>
        </p:spPr>
        <p:txBody>
          <a:bodyPr/>
          <a:lstStyle/>
          <a:p>
            <a:pPr lvl="1" indent="-284400"/>
            <a:r>
              <a:rPr lang="en-US" altLang="en-US" dirty="0">
                <a:latin typeface="Arial (Body)"/>
              </a:rPr>
              <a:t>The annual return for $100 savings deposit with an</a:t>
            </a:r>
            <a:endParaRPr lang="en-IN" dirty="0"/>
          </a:p>
        </p:txBody>
      </p:sp>
      <p:sp>
        <p:nvSpPr>
          <p:cNvPr id="6" name="Content Placeholder 5"/>
          <p:cNvSpPr>
            <a:spLocks noGrp="1"/>
          </p:cNvSpPr>
          <p:nvPr>
            <p:ph sz="quarter" idx="15"/>
          </p:nvPr>
        </p:nvSpPr>
        <p:spPr>
          <a:xfrm>
            <a:off x="457199" y="3097326"/>
            <a:ext cx="3733801" cy="473172"/>
          </a:xfrm>
        </p:spPr>
        <p:txBody>
          <a:bodyPr tIns="36000"/>
          <a:lstStyle/>
          <a:p>
            <a:pPr marL="741600" lvl="1" indent="0">
              <a:buNone/>
            </a:pPr>
            <a:r>
              <a:rPr lang="en-US" altLang="en-US" dirty="0">
                <a:latin typeface="Arial (Body)"/>
              </a:rPr>
              <a:t>interest rate of 2% is</a:t>
            </a:r>
            <a:endParaRPr lang="en-IN" dirty="0"/>
          </a:p>
        </p:txBody>
      </p:sp>
      <p:graphicFrame>
        <p:nvGraphicFramePr>
          <p:cNvPr id="8" name="Object 7" descr="$100 times 1.02 = $102,"/>
          <p:cNvGraphicFramePr>
            <a:graphicFrameLocks noChangeAspect="1"/>
          </p:cNvGraphicFramePr>
          <p:nvPr>
            <p:extLst>
              <p:ext uri="{D42A27DB-BD31-4B8C-83A1-F6EECF244321}">
                <p14:modId xmlns:p14="http://schemas.microsoft.com/office/powerpoint/2010/main" val="77534349"/>
              </p:ext>
            </p:extLst>
          </p:nvPr>
        </p:nvGraphicFramePr>
        <p:xfrm>
          <a:off x="4284365" y="3185390"/>
          <a:ext cx="2362378" cy="337483"/>
        </p:xfrm>
        <a:graphic>
          <a:graphicData uri="http://schemas.openxmlformats.org/presentationml/2006/ole">
            <mc:AlternateContent xmlns:mc="http://schemas.openxmlformats.org/markup-compatibility/2006">
              <mc:Choice xmlns:v="urn:schemas-microsoft-com:vml" Requires="v">
                <p:oleObj spid="_x0000_s12300" name="Equation" r:id="rId3" imgW="1333440" imgH="190440" progId="Equation.DSMT4">
                  <p:embed/>
                </p:oleObj>
              </mc:Choice>
              <mc:Fallback>
                <p:oleObj name="Equation" r:id="rId3" imgW="1333440" imgH="190440" progId="Equation.DSMT4">
                  <p:embed/>
                  <p:pic>
                    <p:nvPicPr>
                      <p:cNvPr id="0" name=""/>
                      <p:cNvPicPr/>
                      <p:nvPr/>
                    </p:nvPicPr>
                    <p:blipFill>
                      <a:blip r:embed="rId4"/>
                      <a:stretch>
                        <a:fillRect/>
                      </a:stretch>
                    </p:blipFill>
                    <p:spPr>
                      <a:xfrm>
                        <a:off x="4284365" y="3185390"/>
                        <a:ext cx="2362378" cy="337483"/>
                      </a:xfrm>
                      <a:prstGeom prst="rect">
                        <a:avLst/>
                      </a:prstGeom>
                    </p:spPr>
                  </p:pic>
                </p:oleObj>
              </mc:Fallback>
            </mc:AlternateContent>
          </a:graphicData>
        </a:graphic>
      </p:graphicFrame>
      <p:sp>
        <p:nvSpPr>
          <p:cNvPr id="7" name="Content Placeholder 6"/>
          <p:cNvSpPr>
            <a:spLocks noGrp="1"/>
          </p:cNvSpPr>
          <p:nvPr>
            <p:ph sz="quarter" idx="16"/>
          </p:nvPr>
        </p:nvSpPr>
        <p:spPr>
          <a:xfrm>
            <a:off x="6746803" y="3135033"/>
            <a:ext cx="1586493" cy="425547"/>
          </a:xfrm>
        </p:spPr>
        <p:txBody>
          <a:bodyPr lIns="0" tIns="0" rIns="0" bIns="0"/>
          <a:lstStyle/>
          <a:p>
            <a:pPr marL="0" lvl="1" indent="0">
              <a:buNone/>
            </a:pPr>
            <a:r>
              <a:rPr lang="en-US" altLang="en-US" dirty="0">
                <a:latin typeface="Arial (Body)"/>
              </a:rPr>
              <a:t>so that the</a:t>
            </a:r>
            <a:endParaRPr lang="en-IN" dirty="0"/>
          </a:p>
        </p:txBody>
      </p:sp>
      <p:graphicFrame>
        <p:nvGraphicFramePr>
          <p:cNvPr id="9" name="Object 8" descr="Rate of return = start fraction $102 minus $100 over $100 end fraction = 2%"/>
          <p:cNvGraphicFramePr>
            <a:graphicFrameLocks noChangeAspect="1"/>
          </p:cNvGraphicFramePr>
          <p:nvPr>
            <p:extLst>
              <p:ext uri="{D42A27DB-BD31-4B8C-83A1-F6EECF244321}">
                <p14:modId xmlns:p14="http://schemas.microsoft.com/office/powerpoint/2010/main" val="2882827313"/>
              </p:ext>
            </p:extLst>
          </p:nvPr>
        </p:nvGraphicFramePr>
        <p:xfrm>
          <a:off x="2466975" y="3908425"/>
          <a:ext cx="4211638" cy="719138"/>
        </p:xfrm>
        <a:graphic>
          <a:graphicData uri="http://schemas.openxmlformats.org/presentationml/2006/ole">
            <mc:AlternateContent xmlns:mc="http://schemas.openxmlformats.org/markup-compatibility/2006">
              <mc:Choice xmlns:v="urn:schemas-microsoft-com:vml" Requires="v">
                <p:oleObj spid="_x0000_s12301" name="Equation" r:id="rId5" imgW="2374560" imgH="406080" progId="Equation.DSMT4">
                  <p:embed/>
                </p:oleObj>
              </mc:Choice>
              <mc:Fallback>
                <p:oleObj name="Equation" r:id="rId5" imgW="2374560" imgH="406080" progId="Equation.DSMT4">
                  <p:embed/>
                  <p:pic>
                    <p:nvPicPr>
                      <p:cNvPr id="0" name=""/>
                      <p:cNvPicPr/>
                      <p:nvPr/>
                    </p:nvPicPr>
                    <p:blipFill>
                      <a:blip r:embed="rId6"/>
                      <a:stretch>
                        <a:fillRect/>
                      </a:stretch>
                    </p:blipFill>
                    <p:spPr>
                      <a:xfrm>
                        <a:off x="2466975" y="3908425"/>
                        <a:ext cx="4211638" cy="719138"/>
                      </a:xfrm>
                      <a:prstGeom prst="rect">
                        <a:avLst/>
                      </a:prstGeom>
                    </p:spPr>
                  </p:pic>
                </p:oleObj>
              </mc:Fallback>
            </mc:AlternateContent>
          </a:graphicData>
        </a:graphic>
      </p:graphicFrame>
    </p:spTree>
    <p:extLst>
      <p:ext uri="{BB962C8B-B14F-4D97-AF65-F5344CB8AC3E}">
        <p14:creationId xmlns:p14="http://schemas.microsoft.com/office/powerpoint/2010/main" val="41781715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(3 of 12)</a:t>
            </a:r>
            <a:endParaRPr lang="en-IN" dirty="0"/>
          </a:p>
        </p:txBody>
      </p:sp>
      <p:sp>
        <p:nvSpPr>
          <p:cNvPr id="4" name="Content Placeholder 3"/>
          <p:cNvSpPr>
            <a:spLocks noGrp="1"/>
          </p:cNvSpPr>
          <p:nvPr>
            <p:ph sz="quarter" idx="13"/>
          </p:nvPr>
        </p:nvSpPr>
        <p:spPr>
          <a:xfrm>
            <a:off x="457200" y="1552574"/>
            <a:ext cx="8356600" cy="1241425"/>
          </a:xfrm>
        </p:spPr>
        <p:txBody>
          <a:bodyPr/>
          <a:lstStyle/>
          <a:p>
            <a:r>
              <a:rPr lang="en-US" altLang="en-US" b="1" dirty="0">
                <a:latin typeface="Arial (Body)"/>
              </a:rPr>
              <a:t>Real rate of return</a:t>
            </a:r>
            <a:r>
              <a:rPr lang="en-US" altLang="en-US" dirty="0">
                <a:latin typeface="Arial (Body)"/>
              </a:rPr>
              <a:t>: inflation-adjusted rate of return, which represents the additional amount of goods and services that can be purchased with earnings from the asset.</a:t>
            </a:r>
          </a:p>
        </p:txBody>
      </p:sp>
      <p:sp>
        <p:nvSpPr>
          <p:cNvPr id="5" name="Content Placeholder 4"/>
          <p:cNvSpPr>
            <a:spLocks noGrp="1"/>
          </p:cNvSpPr>
          <p:nvPr>
            <p:ph sz="quarter" idx="14"/>
          </p:nvPr>
        </p:nvSpPr>
        <p:spPr>
          <a:xfrm>
            <a:off x="457200" y="2927580"/>
            <a:ext cx="8008070" cy="384158"/>
          </a:xfrm>
        </p:spPr>
        <p:txBody>
          <a:bodyPr tIns="0"/>
          <a:lstStyle/>
          <a:p>
            <a:pPr lvl="1"/>
            <a:r>
              <a:rPr lang="en-US" altLang="en-US" dirty="0">
                <a:latin typeface="Arial (Body)"/>
              </a:rPr>
              <a:t>The real rate of return for the above savings deposit</a:t>
            </a:r>
          </a:p>
        </p:txBody>
      </p:sp>
      <p:sp>
        <p:nvSpPr>
          <p:cNvPr id="6" name="Content Placeholder 5"/>
          <p:cNvSpPr>
            <a:spLocks noGrp="1"/>
          </p:cNvSpPr>
          <p:nvPr>
            <p:ph sz="quarter" idx="15"/>
          </p:nvPr>
        </p:nvSpPr>
        <p:spPr>
          <a:xfrm>
            <a:off x="468312" y="3359835"/>
            <a:ext cx="3120619" cy="392688"/>
          </a:xfrm>
        </p:spPr>
        <p:txBody>
          <a:bodyPr tIns="0"/>
          <a:lstStyle/>
          <a:p>
            <a:pPr marL="741600" lvl="1" indent="0">
              <a:buNone/>
            </a:pPr>
            <a:r>
              <a:rPr lang="en-US" altLang="en-US" dirty="0">
                <a:latin typeface="Arial (Body)"/>
              </a:rPr>
              <a:t>when inflation is</a:t>
            </a:r>
            <a:endParaRPr lang="en-IN" dirty="0"/>
          </a:p>
        </p:txBody>
      </p:sp>
      <p:graphicFrame>
        <p:nvGraphicFramePr>
          <p:cNvPr id="18" name="Object 17" descr="1.5% is 2% minus 1.5% = 0.5%."/>
          <p:cNvGraphicFramePr>
            <a:graphicFrameLocks noChangeAspect="1"/>
          </p:cNvGraphicFramePr>
          <p:nvPr>
            <p:extLst>
              <p:ext uri="{D42A27DB-BD31-4B8C-83A1-F6EECF244321}">
                <p14:modId xmlns:p14="http://schemas.microsoft.com/office/powerpoint/2010/main" val="286522599"/>
              </p:ext>
            </p:extLst>
          </p:nvPr>
        </p:nvGraphicFramePr>
        <p:xfrm>
          <a:off x="3673475" y="3386138"/>
          <a:ext cx="3614738" cy="358775"/>
        </p:xfrm>
        <a:graphic>
          <a:graphicData uri="http://schemas.openxmlformats.org/presentationml/2006/ole">
            <mc:AlternateContent xmlns:mc="http://schemas.openxmlformats.org/markup-compatibility/2006">
              <mc:Choice xmlns:v="urn:schemas-microsoft-com:vml" Requires="v">
                <p:oleObj spid="_x0000_s13319" name="Equation" r:id="rId3" imgW="1790640" imgH="177480" progId="Equation.DSMT4">
                  <p:embed/>
                </p:oleObj>
              </mc:Choice>
              <mc:Fallback>
                <p:oleObj name="Equation" r:id="rId3" imgW="1790640" imgH="177480" progId="Equation.DSMT4">
                  <p:embed/>
                  <p:pic>
                    <p:nvPicPr>
                      <p:cNvPr id="0" name=""/>
                      <p:cNvPicPr/>
                      <p:nvPr/>
                    </p:nvPicPr>
                    <p:blipFill>
                      <a:blip r:embed="rId4"/>
                      <a:stretch>
                        <a:fillRect/>
                      </a:stretch>
                    </p:blipFill>
                    <p:spPr>
                      <a:xfrm>
                        <a:off x="3673475" y="3386138"/>
                        <a:ext cx="3614738" cy="358775"/>
                      </a:xfrm>
                      <a:prstGeom prst="rect">
                        <a:avLst/>
                      </a:prstGeom>
                    </p:spPr>
                  </p:pic>
                </p:oleObj>
              </mc:Fallback>
            </mc:AlternateContent>
          </a:graphicData>
        </a:graphic>
      </p:graphicFrame>
      <p:sp>
        <p:nvSpPr>
          <p:cNvPr id="7" name="Content Placeholder 6"/>
          <p:cNvSpPr>
            <a:spLocks noGrp="1"/>
          </p:cNvSpPr>
          <p:nvPr>
            <p:ph sz="quarter" idx="16"/>
          </p:nvPr>
        </p:nvSpPr>
        <p:spPr>
          <a:xfrm>
            <a:off x="7476434" y="3369511"/>
            <a:ext cx="1064251" cy="386188"/>
          </a:xfrm>
        </p:spPr>
        <p:txBody>
          <a:bodyPr tIns="0"/>
          <a:lstStyle/>
          <a:p>
            <a:pPr marL="0" lvl="1" indent="0">
              <a:buNone/>
            </a:pPr>
            <a:r>
              <a:rPr lang="en-US" altLang="en-US" dirty="0">
                <a:latin typeface="Arial (Body)"/>
              </a:rPr>
              <a:t>After</a:t>
            </a:r>
            <a:endParaRPr lang="en-IN" dirty="0"/>
          </a:p>
        </p:txBody>
      </p:sp>
      <p:sp>
        <p:nvSpPr>
          <p:cNvPr id="8" name="Content Placeholder 7"/>
          <p:cNvSpPr>
            <a:spLocks noGrp="1"/>
          </p:cNvSpPr>
          <p:nvPr>
            <p:ph sz="quarter" idx="17"/>
          </p:nvPr>
        </p:nvSpPr>
        <p:spPr>
          <a:xfrm>
            <a:off x="468313" y="3856236"/>
            <a:ext cx="8072372" cy="1153130"/>
          </a:xfrm>
        </p:spPr>
        <p:txBody>
          <a:bodyPr tIns="0"/>
          <a:lstStyle/>
          <a:p>
            <a:pPr marL="741600" lvl="1" indent="0">
              <a:buNone/>
            </a:pPr>
            <a:r>
              <a:rPr lang="en-US" altLang="en-US" dirty="0">
                <a:latin typeface="Arial (Body)"/>
              </a:rPr>
              <a:t>accounting for the rise in the prices of goods and services, the asset can purchase 0.5% more goods and services after 1 year.</a:t>
            </a:r>
          </a:p>
        </p:txBody>
      </p:sp>
    </p:spTree>
    <p:extLst>
      <p:ext uri="{BB962C8B-B14F-4D97-AF65-F5344CB8AC3E}">
        <p14:creationId xmlns:p14="http://schemas.microsoft.com/office/powerpoint/2010/main" val="22892682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(4 of 12)</a:t>
            </a:r>
            <a:endParaRPr lang="en-IN" dirty="0"/>
          </a:p>
        </p:txBody>
      </p:sp>
      <p:sp>
        <p:nvSpPr>
          <p:cNvPr id="3" name="Content Placeholder 2"/>
          <p:cNvSpPr>
            <a:spLocks noGrp="1"/>
          </p:cNvSpPr>
          <p:nvPr>
            <p:ph sz="quarter" idx="13"/>
          </p:nvPr>
        </p:nvSpPr>
        <p:spPr/>
        <p:txBody>
          <a:bodyPr/>
          <a:lstStyle/>
          <a:p>
            <a:pPr eaLnBrk="1" hangingPunct="1"/>
            <a:r>
              <a:rPr lang="en-US" altLang="en-US" dirty="0">
                <a:latin typeface="Arial (Body)"/>
              </a:rPr>
              <a:t>If prices are fixed, the inflation rate is 0% and (nominal) rates of return = real rates of return.</a:t>
            </a:r>
          </a:p>
          <a:p>
            <a:pPr eaLnBrk="1" hangingPunct="1"/>
            <a:r>
              <a:rPr lang="en-US" altLang="en-US" dirty="0">
                <a:latin typeface="Arial (Body)"/>
              </a:rPr>
              <a:t>Because trading of deposits in different currencies occurs on a daily basis, we often assume that prices do not change from day to day.</a:t>
            </a:r>
          </a:p>
          <a:p>
            <a:pPr lvl="1" eaLnBrk="1" hangingPunct="1"/>
            <a:r>
              <a:rPr lang="en-US" altLang="en-US" dirty="0">
                <a:latin typeface="Arial (Body)"/>
              </a:rPr>
              <a:t>A good assumption to make for the short run.</a:t>
            </a:r>
          </a:p>
        </p:txBody>
      </p:sp>
    </p:spTree>
    <p:extLst>
      <p:ext uri="{BB962C8B-B14F-4D97-AF65-F5344CB8AC3E}">
        <p14:creationId xmlns:p14="http://schemas.microsoft.com/office/powerpoint/2010/main" val="9115793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(5 of 12)</a:t>
            </a:r>
            <a:endParaRPr lang="en-IN" dirty="0"/>
          </a:p>
        </p:txBody>
      </p:sp>
      <p:sp>
        <p:nvSpPr>
          <p:cNvPr id="3" name="Content Placeholder 2"/>
          <p:cNvSpPr>
            <a:spLocks noGrp="1"/>
          </p:cNvSpPr>
          <p:nvPr>
            <p:ph sz="quarter" idx="13"/>
          </p:nvPr>
        </p:nvSpPr>
        <p:spPr/>
        <p:txBody>
          <a:bodyPr/>
          <a:lstStyle/>
          <a:p>
            <a:pPr eaLnBrk="1" hangingPunct="1"/>
            <a:r>
              <a:rPr lang="en-US" altLang="en-US" b="1" dirty="0">
                <a:latin typeface="Arial (Body)"/>
              </a:rPr>
              <a:t>Risk</a:t>
            </a:r>
            <a:r>
              <a:rPr lang="en-US" altLang="en-US" dirty="0">
                <a:latin typeface="Arial (Body)"/>
              </a:rPr>
              <a:t> of holding assets also influences decisions about whether to buy them.</a:t>
            </a:r>
          </a:p>
          <a:p>
            <a:pPr eaLnBrk="1" hangingPunct="1"/>
            <a:r>
              <a:rPr lang="en-US" altLang="en-US" b="1" dirty="0">
                <a:latin typeface="Arial (Body)"/>
              </a:rPr>
              <a:t>Liquidity</a:t>
            </a:r>
            <a:r>
              <a:rPr lang="en-US" altLang="en-US" dirty="0">
                <a:latin typeface="Arial (Body)"/>
              </a:rPr>
              <a:t> of an asset, or ease of using the asset to buy goods and services, also influences the willingness to buy assets.</a:t>
            </a:r>
          </a:p>
        </p:txBody>
      </p:sp>
    </p:spTree>
    <p:extLst>
      <p:ext uri="{BB962C8B-B14F-4D97-AF65-F5344CB8AC3E}">
        <p14:creationId xmlns:p14="http://schemas.microsoft.com/office/powerpoint/2010/main" val="6887099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(6 of 12)</a:t>
            </a:r>
            <a:endParaRPr lang="en-IN" dirty="0"/>
          </a:p>
        </p:txBody>
      </p:sp>
      <p:sp>
        <p:nvSpPr>
          <p:cNvPr id="3" name="Content Placeholder 2"/>
          <p:cNvSpPr>
            <a:spLocks noGrp="1"/>
          </p:cNvSpPr>
          <p:nvPr>
            <p:ph sz="quarter" idx="13"/>
          </p:nvPr>
        </p:nvSpPr>
        <p:spPr/>
        <p:txBody>
          <a:bodyPr/>
          <a:lstStyle/>
          <a:p>
            <a:pPr eaLnBrk="1" hangingPunct="1"/>
            <a:r>
              <a:rPr lang="en-US" altLang="en-US" dirty="0">
                <a:latin typeface="Arial (Body)"/>
              </a:rPr>
              <a:t>But we assume that risk and liquidity of currency </a:t>
            </a:r>
            <a:br>
              <a:rPr lang="en-US" altLang="en-US" dirty="0">
                <a:latin typeface="Arial (Body)"/>
              </a:rPr>
            </a:br>
            <a:r>
              <a:rPr lang="en-US" altLang="en-US" dirty="0">
                <a:latin typeface="Arial (Body)"/>
              </a:rPr>
              <a:t>deposits in foreign exchange markets are essentially the same, regardless of their currency denomination. </a:t>
            </a:r>
          </a:p>
          <a:p>
            <a:pPr lvl="1" eaLnBrk="1" hangingPunct="1"/>
            <a:r>
              <a:rPr lang="en-US" altLang="en-US" dirty="0">
                <a:latin typeface="Arial (Body)"/>
              </a:rPr>
              <a:t>Risk and liquidity are only of secondary importance when deciding to buy or sell currency deposits.</a:t>
            </a:r>
          </a:p>
          <a:p>
            <a:pPr lvl="1" eaLnBrk="1" hangingPunct="1"/>
            <a:r>
              <a:rPr lang="en-US" altLang="en-US" dirty="0">
                <a:latin typeface="Arial (Body)"/>
              </a:rPr>
              <a:t>Importers and exporters may be concerned about risk and liquidity, but they make up a small fraction of the market.</a:t>
            </a:r>
          </a:p>
        </p:txBody>
      </p:sp>
    </p:spTree>
    <p:extLst>
      <p:ext uri="{BB962C8B-B14F-4D97-AF65-F5344CB8AC3E}">
        <p14:creationId xmlns:p14="http://schemas.microsoft.com/office/powerpoint/2010/main" val="8607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(7 of 12)</a:t>
            </a:r>
            <a:endParaRPr lang="en-IN" dirty="0"/>
          </a:p>
        </p:txBody>
      </p:sp>
      <p:sp>
        <p:nvSpPr>
          <p:cNvPr id="3" name="Content Placeholder 2"/>
          <p:cNvSpPr>
            <a:spLocks noGrp="1"/>
          </p:cNvSpPr>
          <p:nvPr>
            <p:ph sz="quarter" idx="13"/>
          </p:nvPr>
        </p:nvSpPr>
        <p:spPr/>
        <p:txBody>
          <a:bodyPr/>
          <a:lstStyle/>
          <a:p>
            <a:pPr eaLnBrk="1" hangingPunct="1"/>
            <a:r>
              <a:rPr lang="en-US" altLang="en-US" dirty="0">
                <a:latin typeface="Arial (Body)"/>
              </a:rPr>
              <a:t>We therefore say that investors are primarily concerned about the rates of return on currency deposits. </a:t>
            </a:r>
          </a:p>
          <a:p>
            <a:pPr eaLnBrk="1" hangingPunct="1"/>
            <a:r>
              <a:rPr lang="en-US" altLang="en-US" dirty="0">
                <a:latin typeface="Arial (Body)"/>
              </a:rPr>
              <a:t>Rates of return that investors expect to earn are determined by </a:t>
            </a:r>
          </a:p>
          <a:p>
            <a:pPr lvl="1" eaLnBrk="1" hangingPunct="1"/>
            <a:r>
              <a:rPr lang="en-US" altLang="en-US" dirty="0">
                <a:latin typeface="Arial (Body)"/>
              </a:rPr>
              <a:t>interest rates that the assets will earn</a:t>
            </a:r>
          </a:p>
          <a:p>
            <a:pPr lvl="1" eaLnBrk="1" hangingPunct="1"/>
            <a:r>
              <a:rPr lang="en-US" altLang="en-US" dirty="0">
                <a:latin typeface="Arial (Body)"/>
              </a:rPr>
              <a:t>expectations about appreciation or depreciation</a:t>
            </a:r>
          </a:p>
        </p:txBody>
      </p:sp>
    </p:spTree>
    <p:extLst>
      <p:ext uri="{BB962C8B-B14F-4D97-AF65-F5344CB8AC3E}">
        <p14:creationId xmlns:p14="http://schemas.microsoft.com/office/powerpoint/2010/main" val="17383784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(8 of 12)</a:t>
            </a:r>
            <a:endParaRPr lang="en-IN" dirty="0"/>
          </a:p>
        </p:txBody>
      </p:sp>
      <p:sp>
        <p:nvSpPr>
          <p:cNvPr id="3" name="Content Placeholder 2"/>
          <p:cNvSpPr>
            <a:spLocks noGrp="1"/>
          </p:cNvSpPr>
          <p:nvPr>
            <p:ph sz="quarter" idx="13"/>
          </p:nvPr>
        </p:nvSpPr>
        <p:spPr/>
        <p:txBody>
          <a:bodyPr/>
          <a:lstStyle/>
          <a:p>
            <a:pPr eaLnBrk="1" hangingPunct="1"/>
            <a:r>
              <a:rPr lang="en-US" altLang="en-US" dirty="0">
                <a:latin typeface="Arial (Body)"/>
              </a:rPr>
              <a:t>A currency deposit’</a:t>
            </a:r>
            <a:r>
              <a:rPr lang="en-US" altLang="ja-JP" dirty="0">
                <a:latin typeface="Arial (Body)"/>
              </a:rPr>
              <a:t>s </a:t>
            </a:r>
            <a:r>
              <a:rPr lang="en-US" altLang="ja-JP" b="1" dirty="0">
                <a:latin typeface="Arial (Body)"/>
              </a:rPr>
              <a:t>interest rate</a:t>
            </a:r>
            <a:r>
              <a:rPr lang="en-US" altLang="ja-JP" dirty="0">
                <a:latin typeface="Arial (Body)"/>
              </a:rPr>
              <a:t> is the amount of a currency that an individual or institution can earn by lending a unit of the currency for a year.</a:t>
            </a:r>
          </a:p>
          <a:p>
            <a:pPr eaLnBrk="1" hangingPunct="1"/>
            <a:r>
              <a:rPr lang="en-US" altLang="en-US" dirty="0">
                <a:latin typeface="Arial (Body)"/>
              </a:rPr>
              <a:t>The rate of return for a deposit in domestic currency is the interest rate that the deposit earns. </a:t>
            </a:r>
          </a:p>
          <a:p>
            <a:pPr eaLnBrk="1" hangingPunct="1"/>
            <a:r>
              <a:rPr lang="en-US" altLang="en-US" dirty="0">
                <a:latin typeface="Arial (Body)"/>
              </a:rPr>
              <a:t>To compare the rate of return on a deposit in domestic currency with one in foreign currency, consider</a:t>
            </a:r>
          </a:p>
          <a:p>
            <a:pPr lvl="1" eaLnBrk="1" hangingPunct="1"/>
            <a:r>
              <a:rPr lang="en-US" altLang="en-US" dirty="0">
                <a:latin typeface="Arial (Body)"/>
              </a:rPr>
              <a:t>the interest rate for the foreign currency deposit</a:t>
            </a:r>
          </a:p>
          <a:p>
            <a:pPr lvl="1" eaLnBrk="1" hangingPunct="1"/>
            <a:r>
              <a:rPr lang="en-US" altLang="en-US" dirty="0">
                <a:latin typeface="Arial (Body)"/>
              </a:rPr>
              <a:t>the expected rate of appreciation or depreciation of the foreign currency relative to the domestic currency.</a:t>
            </a:r>
          </a:p>
        </p:txBody>
      </p:sp>
    </p:spTree>
    <p:extLst>
      <p:ext uri="{BB962C8B-B14F-4D97-AF65-F5344CB8AC3E}">
        <p14:creationId xmlns:p14="http://schemas.microsoft.com/office/powerpoint/2010/main" val="8752156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14.2 Interest Rates on Dollar and Yen Deposits, 1978–2020</a:t>
            </a:r>
            <a:endParaRPr lang="en-IN" sz="3200" dirty="0"/>
          </a:p>
        </p:txBody>
      </p:sp>
      <p:pic>
        <p:nvPicPr>
          <p:cNvPr id="6" name="Content Placeholder 5" descr="A double line graph depicts interest rate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551028" y="1498822"/>
            <a:ext cx="6041943" cy="3653503"/>
          </a:xfrm>
        </p:spPr>
      </p:pic>
      <p:sp>
        <p:nvSpPr>
          <p:cNvPr id="5" name="Content Placeholder 4"/>
          <p:cNvSpPr>
            <a:spLocks noGrp="1"/>
          </p:cNvSpPr>
          <p:nvPr>
            <p:ph sz="quarter" idx="14"/>
          </p:nvPr>
        </p:nvSpPr>
        <p:spPr>
          <a:xfrm>
            <a:off x="457200" y="5315952"/>
            <a:ext cx="8229600" cy="988595"/>
          </a:xfrm>
        </p:spPr>
        <p:txBody>
          <a:bodyPr/>
          <a:lstStyle/>
          <a:p>
            <a:pPr marL="0" indent="0">
              <a:buNone/>
            </a:pPr>
            <a:r>
              <a:rPr lang="en-US" sz="1600" dirty="0"/>
              <a:t>Since dollar and yen interest rates are not measured in comparable terms, they can move quite differently over time.</a:t>
            </a:r>
          </a:p>
          <a:p>
            <a:pPr marL="0" indent="0">
              <a:spcBef>
                <a:spcPts val="600"/>
              </a:spcBef>
              <a:buNone/>
            </a:pPr>
            <a:r>
              <a:rPr lang="en-US" sz="1600" b="1" dirty="0"/>
              <a:t>Source: </a:t>
            </a:r>
            <a:r>
              <a:rPr lang="en-US" sz="1600" b="1" dirty="0" err="1"/>
              <a:t>Datastream</a:t>
            </a:r>
            <a:r>
              <a:rPr lang="en-US" sz="1600" dirty="0"/>
              <a:t>. </a:t>
            </a:r>
            <a:r>
              <a:rPr lang="en-US" sz="1600" b="0" i="0" u="none" strike="noStrike" baseline="0" dirty="0"/>
              <a:t>The figure shows three-month interest rates.</a:t>
            </a:r>
            <a:endParaRPr lang="en-US" sz="1600" dirty="0"/>
          </a:p>
        </p:txBody>
      </p:sp>
    </p:spTree>
    <p:extLst>
      <p:ext uri="{BB962C8B-B14F-4D97-AF65-F5344CB8AC3E}">
        <p14:creationId xmlns:p14="http://schemas.microsoft.com/office/powerpoint/2010/main" val="35411029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(9 of 12)</a:t>
            </a:r>
            <a:endParaRPr lang="en-IN" dirty="0"/>
          </a:p>
        </p:txBody>
      </p:sp>
      <p:sp>
        <p:nvSpPr>
          <p:cNvPr id="4" name="Content Placeholder 3"/>
          <p:cNvSpPr>
            <a:spLocks noGrp="1"/>
          </p:cNvSpPr>
          <p:nvPr>
            <p:ph sz="quarter" idx="13"/>
          </p:nvPr>
        </p:nvSpPr>
        <p:spPr>
          <a:xfrm>
            <a:off x="457200" y="1552575"/>
            <a:ext cx="7991993" cy="1529990"/>
          </a:xfrm>
        </p:spPr>
        <p:txBody>
          <a:bodyPr lIns="0" tIns="90000" rIns="0" bIns="0"/>
          <a:lstStyle/>
          <a:p>
            <a:pPr eaLnBrk="1" hangingPunct="1"/>
            <a:r>
              <a:rPr lang="en-US" altLang="en-US" sz="2200" dirty="0">
                <a:latin typeface="Arial (Body)"/>
              </a:rPr>
              <a:t>Suppose the interest rate on a dollar deposit is 2%.</a:t>
            </a:r>
          </a:p>
          <a:p>
            <a:pPr eaLnBrk="1" hangingPunct="1"/>
            <a:r>
              <a:rPr lang="en-US" altLang="en-US" sz="2200" dirty="0">
                <a:latin typeface="Arial (Body)"/>
              </a:rPr>
              <a:t>Suppose the interest rate on a euro deposit is 4%.</a:t>
            </a:r>
          </a:p>
          <a:p>
            <a:pPr eaLnBrk="1" hangingPunct="1"/>
            <a:r>
              <a:rPr lang="en-US" altLang="en-US" sz="2200" dirty="0">
                <a:latin typeface="Arial (Body)"/>
              </a:rPr>
              <a:t>Does a euro deposit yield a higher expected rate of return?</a:t>
            </a:r>
            <a:endParaRPr lang="en-IN" sz="2200" dirty="0"/>
          </a:p>
        </p:txBody>
      </p:sp>
      <p:sp>
        <p:nvSpPr>
          <p:cNvPr id="5" name="Content Placeholder 4"/>
          <p:cNvSpPr>
            <a:spLocks noGrp="1"/>
          </p:cNvSpPr>
          <p:nvPr>
            <p:ph sz="quarter" idx="14"/>
          </p:nvPr>
        </p:nvSpPr>
        <p:spPr>
          <a:xfrm>
            <a:off x="457200" y="3216165"/>
            <a:ext cx="5359400" cy="395454"/>
          </a:xfrm>
        </p:spPr>
        <p:txBody>
          <a:bodyPr lIns="0" tIns="0" rIns="0" bIns="0"/>
          <a:lstStyle/>
          <a:p>
            <a:pPr lvl="1"/>
            <a:r>
              <a:rPr lang="en-US" altLang="en-US" sz="2200" dirty="0">
                <a:latin typeface="Arial (Body)"/>
              </a:rPr>
              <a:t>Suppose today the exchange rate is</a:t>
            </a:r>
            <a:endParaRPr lang="en-IN" sz="2200" dirty="0"/>
          </a:p>
        </p:txBody>
      </p:sp>
      <p:graphicFrame>
        <p:nvGraphicFramePr>
          <p:cNvPr id="18" name="Object 17" descr="$1 per 1 euro,"/>
          <p:cNvGraphicFramePr>
            <a:graphicFrameLocks noChangeAspect="1"/>
          </p:cNvGraphicFramePr>
          <p:nvPr>
            <p:extLst>
              <p:ext uri="{D42A27DB-BD31-4B8C-83A1-F6EECF244321}">
                <p14:modId xmlns:p14="http://schemas.microsoft.com/office/powerpoint/2010/main" val="2263007531"/>
              </p:ext>
            </p:extLst>
          </p:nvPr>
        </p:nvGraphicFramePr>
        <p:xfrm>
          <a:off x="5880742" y="3284388"/>
          <a:ext cx="797415" cy="299031"/>
        </p:xfrm>
        <a:graphic>
          <a:graphicData uri="http://schemas.openxmlformats.org/presentationml/2006/ole">
            <mc:AlternateContent xmlns:mc="http://schemas.openxmlformats.org/markup-compatibility/2006">
              <mc:Choice xmlns:v="urn:schemas-microsoft-com:vml" Requires="v">
                <p:oleObj spid="_x0000_s14368" name="Equation" r:id="rId3" imgW="507960" imgH="190440" progId="Equation.DSMT4">
                  <p:embed/>
                </p:oleObj>
              </mc:Choice>
              <mc:Fallback>
                <p:oleObj name="Equation" r:id="rId3" imgW="507960" imgH="190440" progId="Equation.DSMT4">
                  <p:embed/>
                  <p:pic>
                    <p:nvPicPr>
                      <p:cNvPr id="0" name=""/>
                      <p:cNvPicPr/>
                      <p:nvPr/>
                    </p:nvPicPr>
                    <p:blipFill>
                      <a:blip r:embed="rId4"/>
                      <a:stretch>
                        <a:fillRect/>
                      </a:stretch>
                    </p:blipFill>
                    <p:spPr>
                      <a:xfrm>
                        <a:off x="5880742" y="3284388"/>
                        <a:ext cx="797415" cy="299031"/>
                      </a:xfrm>
                      <a:prstGeom prst="rect">
                        <a:avLst/>
                      </a:prstGeom>
                    </p:spPr>
                  </p:pic>
                </p:oleObj>
              </mc:Fallback>
            </mc:AlternateContent>
          </a:graphicData>
        </a:graphic>
      </p:graphicFrame>
      <p:sp>
        <p:nvSpPr>
          <p:cNvPr id="6" name="Content Placeholder 5"/>
          <p:cNvSpPr>
            <a:spLocks noGrp="1"/>
          </p:cNvSpPr>
          <p:nvPr>
            <p:ph sz="quarter" idx="15"/>
          </p:nvPr>
        </p:nvSpPr>
        <p:spPr>
          <a:xfrm>
            <a:off x="6781987" y="3219369"/>
            <a:ext cx="1102181" cy="380632"/>
          </a:xfrm>
        </p:spPr>
        <p:txBody>
          <a:bodyPr lIns="0" tIns="0" rIns="0" bIns="0"/>
          <a:lstStyle/>
          <a:p>
            <a:pPr marL="0" lvl="1" indent="0">
              <a:buNone/>
            </a:pPr>
            <a:r>
              <a:rPr lang="en-US" altLang="en-US" sz="2200" dirty="0">
                <a:latin typeface="Arial (Body)"/>
              </a:rPr>
              <a:t>and the</a:t>
            </a:r>
            <a:endParaRPr lang="en-IN" sz="2200" dirty="0"/>
          </a:p>
        </p:txBody>
      </p:sp>
      <p:sp>
        <p:nvSpPr>
          <p:cNvPr id="7" name="Content Placeholder 6"/>
          <p:cNvSpPr>
            <a:spLocks noGrp="1"/>
          </p:cNvSpPr>
          <p:nvPr>
            <p:ph sz="quarter" idx="16"/>
          </p:nvPr>
        </p:nvSpPr>
        <p:spPr>
          <a:xfrm>
            <a:off x="457201" y="3698819"/>
            <a:ext cx="5538246" cy="405824"/>
          </a:xfrm>
        </p:spPr>
        <p:txBody>
          <a:bodyPr lIns="0" tIns="0" rIns="0" bIns="0"/>
          <a:lstStyle/>
          <a:p>
            <a:pPr marL="741600" lvl="1" indent="0">
              <a:buNone/>
            </a:pPr>
            <a:r>
              <a:rPr lang="en-US" altLang="en-US" sz="2200" dirty="0">
                <a:latin typeface="Arial (Body)"/>
              </a:rPr>
              <a:t>expected rate one year in the future is</a:t>
            </a:r>
            <a:endParaRPr lang="en-IN" sz="2200" dirty="0"/>
          </a:p>
        </p:txBody>
      </p:sp>
      <p:graphicFrame>
        <p:nvGraphicFramePr>
          <p:cNvPr id="19" name="Object 18" descr="$0.97 per 1 euro."/>
          <p:cNvGraphicFramePr>
            <a:graphicFrameLocks noChangeAspect="1"/>
          </p:cNvGraphicFramePr>
          <p:nvPr>
            <p:extLst>
              <p:ext uri="{D42A27DB-BD31-4B8C-83A1-F6EECF244321}">
                <p14:modId xmlns:p14="http://schemas.microsoft.com/office/powerpoint/2010/main" val="1535790324"/>
              </p:ext>
            </p:extLst>
          </p:nvPr>
        </p:nvGraphicFramePr>
        <p:xfrm>
          <a:off x="6129520" y="3740509"/>
          <a:ext cx="1304933" cy="337483"/>
        </p:xfrm>
        <a:graphic>
          <a:graphicData uri="http://schemas.openxmlformats.org/presentationml/2006/ole">
            <mc:AlternateContent xmlns:mc="http://schemas.openxmlformats.org/markup-compatibility/2006">
              <mc:Choice xmlns:v="urn:schemas-microsoft-com:vml" Requires="v">
                <p:oleObj spid="_x0000_s14369" name="Equation" r:id="rId5" imgW="736560" imgH="190440" progId="Equation.DSMT4">
                  <p:embed/>
                </p:oleObj>
              </mc:Choice>
              <mc:Fallback>
                <p:oleObj name="Equation" r:id="rId5" imgW="736560" imgH="190440" progId="Equation.DSMT4">
                  <p:embed/>
                  <p:pic>
                    <p:nvPicPr>
                      <p:cNvPr id="0" name=""/>
                      <p:cNvPicPr/>
                      <p:nvPr/>
                    </p:nvPicPr>
                    <p:blipFill>
                      <a:blip r:embed="rId6"/>
                      <a:stretch>
                        <a:fillRect/>
                      </a:stretch>
                    </p:blipFill>
                    <p:spPr>
                      <a:xfrm>
                        <a:off x="6129520" y="3740509"/>
                        <a:ext cx="1304933" cy="337483"/>
                      </a:xfrm>
                      <a:prstGeom prst="rect">
                        <a:avLst/>
                      </a:prstGeom>
                    </p:spPr>
                  </p:pic>
                </p:oleObj>
              </mc:Fallback>
            </mc:AlternateContent>
          </a:graphicData>
        </a:graphic>
      </p:graphicFrame>
      <p:sp>
        <p:nvSpPr>
          <p:cNvPr id="8" name="Content Placeholder 7"/>
          <p:cNvSpPr>
            <a:spLocks noGrp="1"/>
          </p:cNvSpPr>
          <p:nvPr>
            <p:ph sz="quarter" idx="17"/>
          </p:nvPr>
        </p:nvSpPr>
        <p:spPr>
          <a:xfrm>
            <a:off x="457201" y="4187030"/>
            <a:ext cx="5022850" cy="383722"/>
          </a:xfrm>
        </p:spPr>
        <p:txBody>
          <a:bodyPr lIns="0" tIns="0" rIns="0" bIns="0"/>
          <a:lstStyle/>
          <a:p>
            <a:pPr lvl="1"/>
            <a:r>
              <a:rPr lang="en-US" altLang="en-US" sz="2200" dirty="0">
                <a:latin typeface="Arial (Body)"/>
              </a:rPr>
              <a:t>$100 can be exchanged today for</a:t>
            </a:r>
            <a:endParaRPr lang="en-IN" sz="2200" dirty="0"/>
          </a:p>
        </p:txBody>
      </p:sp>
      <p:graphicFrame>
        <p:nvGraphicFramePr>
          <p:cNvPr id="20" name="Object 19" descr="100 euros."/>
          <p:cNvGraphicFramePr>
            <a:graphicFrameLocks noChangeAspect="1"/>
          </p:cNvGraphicFramePr>
          <p:nvPr>
            <p:extLst>
              <p:ext uri="{D42A27DB-BD31-4B8C-83A1-F6EECF244321}">
                <p14:modId xmlns:p14="http://schemas.microsoft.com/office/powerpoint/2010/main" val="625597227"/>
              </p:ext>
            </p:extLst>
          </p:nvPr>
        </p:nvGraphicFramePr>
        <p:xfrm>
          <a:off x="5546726" y="4226722"/>
          <a:ext cx="764961" cy="314984"/>
        </p:xfrm>
        <a:graphic>
          <a:graphicData uri="http://schemas.openxmlformats.org/presentationml/2006/ole">
            <mc:AlternateContent xmlns:mc="http://schemas.openxmlformats.org/markup-compatibility/2006">
              <mc:Choice xmlns:v="urn:schemas-microsoft-com:vml" Requires="v">
                <p:oleObj spid="_x0000_s14370" name="Equation" r:id="rId7" imgW="431640" imgH="177480" progId="Equation.DSMT4">
                  <p:embed/>
                </p:oleObj>
              </mc:Choice>
              <mc:Fallback>
                <p:oleObj name="Equation" r:id="rId7" imgW="431640" imgH="177480" progId="Equation.DSMT4">
                  <p:embed/>
                  <p:pic>
                    <p:nvPicPr>
                      <p:cNvPr id="0" name=""/>
                      <p:cNvPicPr/>
                      <p:nvPr/>
                    </p:nvPicPr>
                    <p:blipFill>
                      <a:blip r:embed="rId8"/>
                      <a:stretch>
                        <a:fillRect/>
                      </a:stretch>
                    </p:blipFill>
                    <p:spPr>
                      <a:xfrm>
                        <a:off x="5546726" y="4226722"/>
                        <a:ext cx="764961" cy="314984"/>
                      </a:xfrm>
                      <a:prstGeom prst="rect">
                        <a:avLst/>
                      </a:prstGeom>
                    </p:spPr>
                  </p:pic>
                </p:oleObj>
              </mc:Fallback>
            </mc:AlternateContent>
          </a:graphicData>
        </a:graphic>
      </p:graphicFrame>
      <p:sp>
        <p:nvSpPr>
          <p:cNvPr id="9" name="Content Placeholder 8"/>
          <p:cNvSpPr>
            <a:spLocks noGrp="1"/>
          </p:cNvSpPr>
          <p:nvPr>
            <p:ph sz="quarter" idx="18"/>
          </p:nvPr>
        </p:nvSpPr>
        <p:spPr>
          <a:xfrm>
            <a:off x="457201" y="4646143"/>
            <a:ext cx="1643062" cy="373971"/>
          </a:xfrm>
        </p:spPr>
        <p:txBody>
          <a:bodyPr lIns="0" tIns="0" rIns="0" bIns="0"/>
          <a:lstStyle/>
          <a:p>
            <a:pPr lvl="1"/>
            <a:r>
              <a:rPr lang="en-US" altLang="en-US" sz="2200" dirty="0">
                <a:latin typeface="Arial (Body)"/>
              </a:rPr>
              <a:t>These</a:t>
            </a:r>
            <a:endParaRPr lang="en-IN" sz="2200" dirty="0"/>
          </a:p>
        </p:txBody>
      </p:sp>
      <p:graphicFrame>
        <p:nvGraphicFramePr>
          <p:cNvPr id="21" name="Object 20" descr="100 euros will yield 104 euros"/>
          <p:cNvGraphicFramePr>
            <a:graphicFrameLocks noChangeAspect="1"/>
          </p:cNvGraphicFramePr>
          <p:nvPr>
            <p:extLst>
              <p:ext uri="{D42A27DB-BD31-4B8C-83A1-F6EECF244321}">
                <p14:modId xmlns:p14="http://schemas.microsoft.com/office/powerpoint/2010/main" val="2472140282"/>
              </p:ext>
            </p:extLst>
          </p:nvPr>
        </p:nvGraphicFramePr>
        <p:xfrm>
          <a:off x="2189377" y="4660708"/>
          <a:ext cx="2460045" cy="366958"/>
        </p:xfrm>
        <a:graphic>
          <a:graphicData uri="http://schemas.openxmlformats.org/presentationml/2006/ole">
            <mc:AlternateContent xmlns:mc="http://schemas.openxmlformats.org/markup-compatibility/2006">
              <mc:Choice xmlns:v="urn:schemas-microsoft-com:vml" Requires="v">
                <p:oleObj spid="_x0000_s14371" name="Equation" r:id="rId9" imgW="1358640" imgH="203040" progId="Equation.DSMT4">
                  <p:embed/>
                </p:oleObj>
              </mc:Choice>
              <mc:Fallback>
                <p:oleObj name="Equation" r:id="rId9" imgW="1358640" imgH="203040" progId="Equation.DSMT4">
                  <p:embed/>
                  <p:pic>
                    <p:nvPicPr>
                      <p:cNvPr id="0" name=""/>
                      <p:cNvPicPr/>
                      <p:nvPr/>
                    </p:nvPicPr>
                    <p:blipFill>
                      <a:blip r:embed="rId10"/>
                      <a:stretch>
                        <a:fillRect/>
                      </a:stretch>
                    </p:blipFill>
                    <p:spPr>
                      <a:xfrm>
                        <a:off x="2189377" y="4660708"/>
                        <a:ext cx="2460045" cy="366958"/>
                      </a:xfrm>
                      <a:prstGeom prst="rect">
                        <a:avLst/>
                      </a:prstGeom>
                    </p:spPr>
                  </p:pic>
                </p:oleObj>
              </mc:Fallback>
            </mc:AlternateContent>
          </a:graphicData>
        </a:graphic>
      </p:graphicFrame>
      <p:sp>
        <p:nvSpPr>
          <p:cNvPr id="10" name="Content Placeholder 9"/>
          <p:cNvSpPr>
            <a:spLocks noGrp="1"/>
          </p:cNvSpPr>
          <p:nvPr>
            <p:ph sz="quarter" idx="19"/>
          </p:nvPr>
        </p:nvSpPr>
        <p:spPr>
          <a:xfrm>
            <a:off x="4836342" y="4647730"/>
            <a:ext cx="1775826" cy="416515"/>
          </a:xfrm>
        </p:spPr>
        <p:txBody>
          <a:bodyPr lIns="0" tIns="0" rIns="0" bIns="0"/>
          <a:lstStyle/>
          <a:p>
            <a:pPr marL="0" lvl="1" indent="0">
              <a:buNone/>
            </a:pPr>
            <a:r>
              <a:rPr lang="en-US" altLang="en-US" sz="2200" dirty="0">
                <a:latin typeface="Arial (Body)"/>
              </a:rPr>
              <a:t>after 1 year.</a:t>
            </a:r>
            <a:endParaRPr lang="en-IN" sz="2200" dirty="0"/>
          </a:p>
        </p:txBody>
      </p:sp>
      <p:sp>
        <p:nvSpPr>
          <p:cNvPr id="11" name="Content Placeholder 10"/>
          <p:cNvSpPr>
            <a:spLocks noGrp="1"/>
          </p:cNvSpPr>
          <p:nvPr>
            <p:ph sz="quarter" idx="20"/>
          </p:nvPr>
        </p:nvSpPr>
        <p:spPr>
          <a:xfrm>
            <a:off x="449944" y="5087674"/>
            <a:ext cx="1680800" cy="420612"/>
          </a:xfrm>
        </p:spPr>
        <p:txBody>
          <a:bodyPr lIns="0" tIns="0" rIns="0" bIns="0"/>
          <a:lstStyle/>
          <a:p>
            <a:pPr lvl="1"/>
            <a:r>
              <a:rPr lang="en-US" altLang="en-US" sz="2200" dirty="0">
                <a:latin typeface="Arial (Body)"/>
              </a:rPr>
              <a:t>These</a:t>
            </a:r>
            <a:endParaRPr lang="en-IN" sz="2200" dirty="0"/>
          </a:p>
        </p:txBody>
      </p:sp>
      <p:graphicFrame>
        <p:nvGraphicFramePr>
          <p:cNvPr id="22" name="Object 21" descr="104 euro"/>
          <p:cNvGraphicFramePr>
            <a:graphicFrameLocks noChangeAspect="1"/>
          </p:cNvGraphicFramePr>
          <p:nvPr>
            <p:extLst>
              <p:ext uri="{D42A27DB-BD31-4B8C-83A1-F6EECF244321}">
                <p14:modId xmlns:p14="http://schemas.microsoft.com/office/powerpoint/2010/main" val="3062256878"/>
              </p:ext>
            </p:extLst>
          </p:nvPr>
        </p:nvGraphicFramePr>
        <p:xfrm>
          <a:off x="2170653" y="5152609"/>
          <a:ext cx="697465" cy="314984"/>
        </p:xfrm>
        <a:graphic>
          <a:graphicData uri="http://schemas.openxmlformats.org/presentationml/2006/ole">
            <mc:AlternateContent xmlns:mc="http://schemas.openxmlformats.org/markup-compatibility/2006">
              <mc:Choice xmlns:v="urn:schemas-microsoft-com:vml" Requires="v">
                <p:oleObj spid="_x0000_s14372" name="Equation" r:id="rId11" imgW="393480" imgH="177480" progId="Equation.DSMT4">
                  <p:embed/>
                </p:oleObj>
              </mc:Choice>
              <mc:Fallback>
                <p:oleObj name="Equation" r:id="rId11" imgW="393480" imgH="177480" progId="Equation.DSMT4">
                  <p:embed/>
                  <p:pic>
                    <p:nvPicPr>
                      <p:cNvPr id="0" name=""/>
                      <p:cNvPicPr/>
                      <p:nvPr/>
                    </p:nvPicPr>
                    <p:blipFill>
                      <a:blip r:embed="rId12"/>
                      <a:stretch>
                        <a:fillRect/>
                      </a:stretch>
                    </p:blipFill>
                    <p:spPr>
                      <a:xfrm>
                        <a:off x="2170653" y="5152609"/>
                        <a:ext cx="697465" cy="314984"/>
                      </a:xfrm>
                      <a:prstGeom prst="rect">
                        <a:avLst/>
                      </a:prstGeom>
                    </p:spPr>
                  </p:pic>
                </p:oleObj>
              </mc:Fallback>
            </mc:AlternateContent>
          </a:graphicData>
        </a:graphic>
      </p:graphicFrame>
      <p:sp>
        <p:nvSpPr>
          <p:cNvPr id="12" name="Content Placeholder 11"/>
          <p:cNvSpPr>
            <a:spLocks noGrp="1"/>
          </p:cNvSpPr>
          <p:nvPr>
            <p:ph sz="quarter" idx="21"/>
          </p:nvPr>
        </p:nvSpPr>
        <p:spPr>
          <a:xfrm>
            <a:off x="3008421" y="5122668"/>
            <a:ext cx="3194736" cy="360673"/>
          </a:xfrm>
        </p:spPr>
        <p:txBody>
          <a:bodyPr lIns="0" tIns="0" rIns="0" bIns="0"/>
          <a:lstStyle/>
          <a:p>
            <a:pPr marL="0" lvl="1" indent="0">
              <a:buNone/>
            </a:pPr>
            <a:r>
              <a:rPr lang="en-US" altLang="en-US" sz="2200" dirty="0">
                <a:latin typeface="Arial (Body)"/>
              </a:rPr>
              <a:t>are expected to be worth</a:t>
            </a:r>
            <a:endParaRPr lang="en-IN" sz="2200" dirty="0"/>
          </a:p>
        </p:txBody>
      </p:sp>
      <p:graphicFrame>
        <p:nvGraphicFramePr>
          <p:cNvPr id="23" name="Object 22" descr="$0.97 per 1 euro times 104 euros"/>
          <p:cNvGraphicFramePr>
            <a:graphicFrameLocks noChangeAspect="1"/>
          </p:cNvGraphicFramePr>
          <p:nvPr>
            <p:extLst>
              <p:ext uri="{D42A27DB-BD31-4B8C-83A1-F6EECF244321}">
                <p14:modId xmlns:p14="http://schemas.microsoft.com/office/powerpoint/2010/main" val="4157563732"/>
              </p:ext>
            </p:extLst>
          </p:nvPr>
        </p:nvGraphicFramePr>
        <p:xfrm>
          <a:off x="6263295" y="5123528"/>
          <a:ext cx="2185898" cy="360313"/>
        </p:xfrm>
        <a:graphic>
          <a:graphicData uri="http://schemas.openxmlformats.org/presentationml/2006/ole">
            <mc:AlternateContent xmlns:mc="http://schemas.openxmlformats.org/markup-compatibility/2006">
              <mc:Choice xmlns:v="urn:schemas-microsoft-com:vml" Requires="v">
                <p:oleObj spid="_x0000_s14373" name="Equation" r:id="rId13" imgW="1155600" imgH="190440" progId="Equation.DSMT4">
                  <p:embed/>
                </p:oleObj>
              </mc:Choice>
              <mc:Fallback>
                <p:oleObj name="Equation" r:id="rId13" imgW="1155600" imgH="190440" progId="Equation.DSMT4">
                  <p:embed/>
                  <p:pic>
                    <p:nvPicPr>
                      <p:cNvPr id="0" name=""/>
                      <p:cNvPicPr/>
                      <p:nvPr/>
                    </p:nvPicPr>
                    <p:blipFill>
                      <a:blip r:embed="rId14"/>
                      <a:stretch>
                        <a:fillRect/>
                      </a:stretch>
                    </p:blipFill>
                    <p:spPr>
                      <a:xfrm>
                        <a:off x="6263295" y="5123528"/>
                        <a:ext cx="2185898" cy="360313"/>
                      </a:xfrm>
                      <a:prstGeom prst="rect">
                        <a:avLst/>
                      </a:prstGeom>
                    </p:spPr>
                  </p:pic>
                </p:oleObj>
              </mc:Fallback>
            </mc:AlternateContent>
          </a:graphicData>
        </a:graphic>
      </p:graphicFrame>
      <p:sp>
        <p:nvSpPr>
          <p:cNvPr id="13" name="Content Placeholder 12"/>
          <p:cNvSpPr>
            <a:spLocks noGrp="1"/>
          </p:cNvSpPr>
          <p:nvPr>
            <p:ph sz="quarter" idx="22"/>
          </p:nvPr>
        </p:nvSpPr>
        <p:spPr>
          <a:xfrm>
            <a:off x="457201" y="5575980"/>
            <a:ext cx="3360656" cy="391887"/>
          </a:xfrm>
        </p:spPr>
        <p:txBody>
          <a:bodyPr lIns="0" tIns="0" rIns="0" bIns="0"/>
          <a:lstStyle/>
          <a:p>
            <a:pPr marL="741600" lvl="1" indent="0">
              <a:buNone/>
            </a:pPr>
            <a:r>
              <a:rPr lang="en-US" altLang="en-US" sz="2200" dirty="0">
                <a:latin typeface="Arial (Body)"/>
              </a:rPr>
              <a:t>= $100.88 in 1 year.</a:t>
            </a:r>
          </a:p>
        </p:txBody>
      </p:sp>
    </p:spTree>
    <p:extLst>
      <p:ext uri="{BB962C8B-B14F-4D97-AF65-F5344CB8AC3E}">
        <p14:creationId xmlns:p14="http://schemas.microsoft.com/office/powerpoint/2010/main" val="2603441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(10 of 12)</a:t>
            </a:r>
            <a:endParaRPr lang="en-IN" dirty="0"/>
          </a:p>
        </p:txBody>
      </p:sp>
      <p:sp>
        <p:nvSpPr>
          <p:cNvPr id="4" name="Content Placeholder 3"/>
          <p:cNvSpPr>
            <a:spLocks noGrp="1"/>
          </p:cNvSpPr>
          <p:nvPr>
            <p:ph sz="quarter" idx="13"/>
          </p:nvPr>
        </p:nvSpPr>
        <p:spPr>
          <a:xfrm>
            <a:off x="457201" y="1552575"/>
            <a:ext cx="7612144" cy="469408"/>
          </a:xfrm>
        </p:spPr>
        <p:txBody>
          <a:bodyPr/>
          <a:lstStyle/>
          <a:p>
            <a:r>
              <a:rPr lang="en-US" altLang="en-US" sz="1800" dirty="0">
                <a:latin typeface="Arial (Body)"/>
              </a:rPr>
              <a:t>The rate of return in terms of dollars from investing in euro deposits is</a:t>
            </a:r>
          </a:p>
        </p:txBody>
      </p:sp>
      <p:graphicFrame>
        <p:nvGraphicFramePr>
          <p:cNvPr id="18" name="Object 17" descr="Start fraction left parenthesis $100.88 minus $100 right parenthesis over $100 end fraction = 0.88% "/>
          <p:cNvGraphicFramePr>
            <a:graphicFrameLocks noChangeAspect="1"/>
          </p:cNvGraphicFramePr>
          <p:nvPr>
            <p:extLst>
              <p:ext uri="{D42A27DB-BD31-4B8C-83A1-F6EECF244321}">
                <p14:modId xmlns:p14="http://schemas.microsoft.com/office/powerpoint/2010/main" val="1970662876"/>
              </p:ext>
            </p:extLst>
          </p:nvPr>
        </p:nvGraphicFramePr>
        <p:xfrm>
          <a:off x="3180787" y="2117282"/>
          <a:ext cx="2945301" cy="695419"/>
        </p:xfrm>
        <a:graphic>
          <a:graphicData uri="http://schemas.openxmlformats.org/presentationml/2006/ole">
            <mc:AlternateContent xmlns:mc="http://schemas.openxmlformats.org/markup-compatibility/2006">
              <mc:Choice xmlns:v="urn:schemas-microsoft-com:vml" Requires="v">
                <p:oleObj spid="_x0000_s15372" name="Equation" r:id="rId3" imgW="1828800" imgH="431640" progId="Equation.DSMT4">
                  <p:embed/>
                </p:oleObj>
              </mc:Choice>
              <mc:Fallback>
                <p:oleObj name="Equation" r:id="rId3" imgW="1828800" imgH="431640" progId="Equation.DSMT4">
                  <p:embed/>
                  <p:pic>
                    <p:nvPicPr>
                      <p:cNvPr id="0" name=""/>
                      <p:cNvPicPr/>
                      <p:nvPr/>
                    </p:nvPicPr>
                    <p:blipFill>
                      <a:blip r:embed="rId4"/>
                      <a:stretch>
                        <a:fillRect/>
                      </a:stretch>
                    </p:blipFill>
                    <p:spPr>
                      <a:xfrm>
                        <a:off x="3180787" y="2117282"/>
                        <a:ext cx="2945301" cy="695419"/>
                      </a:xfrm>
                      <a:prstGeom prst="rect">
                        <a:avLst/>
                      </a:prstGeom>
                    </p:spPr>
                  </p:pic>
                </p:oleObj>
              </mc:Fallback>
            </mc:AlternateContent>
          </a:graphicData>
        </a:graphic>
      </p:graphicFrame>
      <p:sp>
        <p:nvSpPr>
          <p:cNvPr id="5" name="Content Placeholder 4"/>
          <p:cNvSpPr>
            <a:spLocks noGrp="1"/>
          </p:cNvSpPr>
          <p:nvPr>
            <p:ph sz="quarter" idx="14"/>
          </p:nvPr>
        </p:nvSpPr>
        <p:spPr>
          <a:xfrm>
            <a:off x="457200" y="2914354"/>
            <a:ext cx="8229600" cy="1186306"/>
          </a:xfrm>
        </p:spPr>
        <p:txBody>
          <a:bodyPr/>
          <a:lstStyle/>
          <a:p>
            <a:r>
              <a:rPr lang="en-US" altLang="en-US" sz="1800" dirty="0">
                <a:latin typeface="Arial (Body)"/>
              </a:rPr>
              <a:t>Let’</a:t>
            </a:r>
            <a:r>
              <a:rPr lang="en-US" altLang="ja-JP" sz="1800" dirty="0">
                <a:latin typeface="Arial (Body)"/>
              </a:rPr>
              <a:t>s compare this rate of return with the rate of return from a dollar deposit.</a:t>
            </a:r>
          </a:p>
          <a:p>
            <a:pPr lvl="1"/>
            <a:r>
              <a:rPr lang="en-US" altLang="en-US" sz="1800" dirty="0">
                <a:latin typeface="Arial (Body)"/>
              </a:rPr>
              <a:t>The rate of return is simply the interest rate.</a:t>
            </a:r>
          </a:p>
          <a:p>
            <a:pPr lvl="1"/>
            <a:r>
              <a:rPr lang="en-US" altLang="en-US" sz="1800" dirty="0">
                <a:latin typeface="Arial (Body)"/>
              </a:rPr>
              <a:t>After 1 year the $100 is expected to yield $102:</a:t>
            </a:r>
            <a:endParaRPr lang="en-US" sz="1800" dirty="0">
              <a:latin typeface="Arial (Body)"/>
            </a:endParaRPr>
          </a:p>
        </p:txBody>
      </p:sp>
      <p:graphicFrame>
        <p:nvGraphicFramePr>
          <p:cNvPr id="19" name="Object 18" descr="Start fraction left parenthesis $102 minus $100 right parenthesis over $100 end fraction = 2%"/>
          <p:cNvGraphicFramePr>
            <a:graphicFrameLocks noChangeAspect="1"/>
          </p:cNvGraphicFramePr>
          <p:nvPr>
            <p:extLst>
              <p:ext uri="{D42A27DB-BD31-4B8C-83A1-F6EECF244321}">
                <p14:modId xmlns:p14="http://schemas.microsoft.com/office/powerpoint/2010/main" val="2211267872"/>
              </p:ext>
            </p:extLst>
          </p:nvPr>
        </p:nvGraphicFramePr>
        <p:xfrm>
          <a:off x="3648566" y="4187435"/>
          <a:ext cx="2254837" cy="716491"/>
        </p:xfrm>
        <a:graphic>
          <a:graphicData uri="http://schemas.openxmlformats.org/presentationml/2006/ole">
            <mc:AlternateContent xmlns:mc="http://schemas.openxmlformats.org/markup-compatibility/2006">
              <mc:Choice xmlns:v="urn:schemas-microsoft-com:vml" Requires="v">
                <p:oleObj spid="_x0000_s15373" name="Equation" r:id="rId5" imgW="1358640" imgH="431640" progId="Equation.DSMT4">
                  <p:embed/>
                </p:oleObj>
              </mc:Choice>
              <mc:Fallback>
                <p:oleObj name="Equation" r:id="rId5" imgW="1358640" imgH="431640" progId="Equation.DSMT4">
                  <p:embed/>
                  <p:pic>
                    <p:nvPicPr>
                      <p:cNvPr id="0" name=""/>
                      <p:cNvPicPr/>
                      <p:nvPr/>
                    </p:nvPicPr>
                    <p:blipFill>
                      <a:blip r:embed="rId6"/>
                      <a:stretch>
                        <a:fillRect/>
                      </a:stretch>
                    </p:blipFill>
                    <p:spPr>
                      <a:xfrm>
                        <a:off x="3648566" y="4187435"/>
                        <a:ext cx="2254837" cy="716491"/>
                      </a:xfrm>
                      <a:prstGeom prst="rect">
                        <a:avLst/>
                      </a:prstGeom>
                    </p:spPr>
                  </p:pic>
                </p:oleObj>
              </mc:Fallback>
            </mc:AlternateContent>
          </a:graphicData>
        </a:graphic>
      </p:graphicFrame>
      <p:sp>
        <p:nvSpPr>
          <p:cNvPr id="6" name="Content Placeholder 5"/>
          <p:cNvSpPr>
            <a:spLocks noGrp="1"/>
          </p:cNvSpPr>
          <p:nvPr>
            <p:ph sz="quarter" idx="15"/>
          </p:nvPr>
        </p:nvSpPr>
        <p:spPr>
          <a:xfrm>
            <a:off x="457200" y="5094490"/>
            <a:ext cx="8229600" cy="1000530"/>
          </a:xfrm>
        </p:spPr>
        <p:txBody>
          <a:bodyPr/>
          <a:lstStyle/>
          <a:p>
            <a:r>
              <a:rPr lang="en-US" altLang="en-US" sz="1800" dirty="0">
                <a:latin typeface="Arial (Body)"/>
              </a:rPr>
              <a:t>The euro deposit has a lower expected rate of return: thus, </a:t>
            </a:r>
            <a:r>
              <a:rPr lang="en-US" altLang="en-US" sz="1800" b="1" dirty="0">
                <a:latin typeface="Arial (Body)"/>
              </a:rPr>
              <a:t>all</a:t>
            </a:r>
            <a:r>
              <a:rPr lang="en-US" altLang="en-US" sz="1800" dirty="0">
                <a:latin typeface="Arial (Body)"/>
              </a:rPr>
              <a:t> investors should be willing to dollar deposits and </a:t>
            </a:r>
            <a:r>
              <a:rPr lang="en-US" altLang="en-US" sz="1800" b="1" dirty="0">
                <a:latin typeface="Arial (Body)"/>
              </a:rPr>
              <a:t>none</a:t>
            </a:r>
            <a:r>
              <a:rPr lang="en-US" altLang="en-US" sz="1800" dirty="0">
                <a:latin typeface="Arial (Body)"/>
              </a:rPr>
              <a:t> should be willing to hold euro deposits.</a:t>
            </a:r>
            <a:endParaRPr lang="en-US" sz="1800" dirty="0">
              <a:latin typeface="Arial (Body)"/>
            </a:endParaRPr>
          </a:p>
        </p:txBody>
      </p:sp>
    </p:spTree>
    <p:extLst>
      <p:ext uri="{BB962C8B-B14F-4D97-AF65-F5344CB8AC3E}">
        <p14:creationId xmlns:p14="http://schemas.microsoft.com/office/powerpoint/2010/main" val="30987300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a:t>The Demand of Currency Deposits </a:t>
            </a:r>
            <a:r>
              <a:rPr lang="en-US" altLang="en-US" sz="2000" b="0"/>
              <a:t>(11 of 12)</a:t>
            </a:r>
            <a:endParaRPr lang="en-US"/>
          </a:p>
        </p:txBody>
      </p:sp>
      <p:sp>
        <p:nvSpPr>
          <p:cNvPr id="4" name="Content Placeholder 3"/>
          <p:cNvSpPr>
            <a:spLocks noGrp="1"/>
          </p:cNvSpPr>
          <p:nvPr>
            <p:ph sz="quarter" idx="13"/>
          </p:nvPr>
        </p:nvSpPr>
        <p:spPr>
          <a:xfrm>
            <a:off x="457200" y="1552574"/>
            <a:ext cx="7839777" cy="511895"/>
          </a:xfrm>
        </p:spPr>
        <p:txBody>
          <a:bodyPr/>
          <a:lstStyle/>
          <a:p>
            <a:r>
              <a:rPr lang="en-US" altLang="en-US" sz="2200" dirty="0">
                <a:latin typeface="Arial (Body)"/>
              </a:rPr>
              <a:t>Note that the expected rate of appreciation of the euro was</a:t>
            </a:r>
          </a:p>
        </p:txBody>
      </p:sp>
      <p:graphicFrame>
        <p:nvGraphicFramePr>
          <p:cNvPr id="18" name="Object 17" descr="Start fraction $0.97 minus $1 over $1 end fraction = negative 0.03 = negative 3."/>
          <p:cNvGraphicFramePr>
            <a:graphicFrameLocks noChangeAspect="1"/>
          </p:cNvGraphicFramePr>
          <p:nvPr>
            <p:extLst>
              <p:ext uri="{D42A27DB-BD31-4B8C-83A1-F6EECF244321}">
                <p14:modId xmlns:p14="http://schemas.microsoft.com/office/powerpoint/2010/main" val="2168237679"/>
              </p:ext>
            </p:extLst>
          </p:nvPr>
        </p:nvGraphicFramePr>
        <p:xfrm>
          <a:off x="823158" y="2189550"/>
          <a:ext cx="2843033" cy="654511"/>
        </p:xfrm>
        <a:graphic>
          <a:graphicData uri="http://schemas.openxmlformats.org/presentationml/2006/ole">
            <mc:AlternateContent xmlns:mc="http://schemas.openxmlformats.org/markup-compatibility/2006">
              <mc:Choice xmlns:v="urn:schemas-microsoft-com:vml" Requires="v">
                <p:oleObj spid="_x0000_s16401" name="Equation" r:id="rId3" imgW="1765080" imgH="406080" progId="Equation.DSMT4">
                  <p:embed/>
                </p:oleObj>
              </mc:Choice>
              <mc:Fallback>
                <p:oleObj name="Equation" r:id="rId3" imgW="1765080" imgH="406080" progId="Equation.DSMT4">
                  <p:embed/>
                  <p:pic>
                    <p:nvPicPr>
                      <p:cNvPr id="0" name=""/>
                      <p:cNvPicPr/>
                      <p:nvPr/>
                    </p:nvPicPr>
                    <p:blipFill>
                      <a:blip r:embed="rId4"/>
                      <a:stretch>
                        <a:fillRect/>
                      </a:stretch>
                    </p:blipFill>
                    <p:spPr>
                      <a:xfrm>
                        <a:off x="823158" y="2189550"/>
                        <a:ext cx="2843033" cy="654511"/>
                      </a:xfrm>
                      <a:prstGeom prst="rect">
                        <a:avLst/>
                      </a:prstGeom>
                    </p:spPr>
                  </p:pic>
                </p:oleObj>
              </mc:Fallback>
            </mc:AlternateContent>
          </a:graphicData>
        </a:graphic>
      </p:graphicFrame>
      <p:sp>
        <p:nvSpPr>
          <p:cNvPr id="5" name="Content Placeholder 4"/>
          <p:cNvSpPr>
            <a:spLocks noGrp="1"/>
          </p:cNvSpPr>
          <p:nvPr>
            <p:ph sz="quarter" idx="14"/>
          </p:nvPr>
        </p:nvSpPr>
        <p:spPr>
          <a:xfrm>
            <a:off x="457200" y="2967396"/>
            <a:ext cx="8229600" cy="1661166"/>
          </a:xfrm>
        </p:spPr>
        <p:txBody>
          <a:bodyPr/>
          <a:lstStyle/>
          <a:p>
            <a:pPr>
              <a:spcBef>
                <a:spcPct val="50000"/>
              </a:spcBef>
            </a:pPr>
            <a:r>
              <a:rPr lang="en-US" altLang="en-US" sz="2200" dirty="0">
                <a:latin typeface="Arial (Body)"/>
              </a:rPr>
              <a:t>We simplify the analysis by saying that the dollar rate of return on euro deposits approximately equals</a:t>
            </a:r>
          </a:p>
          <a:p>
            <a:pPr lvl="1"/>
            <a:r>
              <a:rPr lang="en-US" altLang="en-US" sz="2200" dirty="0">
                <a:latin typeface="Arial (Body)"/>
              </a:rPr>
              <a:t>the interest rate on euro deposits</a:t>
            </a:r>
          </a:p>
          <a:p>
            <a:pPr lvl="1"/>
            <a:r>
              <a:rPr lang="en-US" altLang="en-US" sz="2200" dirty="0">
                <a:latin typeface="Arial (Body)"/>
              </a:rPr>
              <a:t>plus the expected rate of appreciation of euro deposits</a:t>
            </a:r>
          </a:p>
        </p:txBody>
      </p:sp>
      <p:sp>
        <p:nvSpPr>
          <p:cNvPr id="6" name="Content Placeholder 5"/>
          <p:cNvSpPr>
            <a:spLocks noGrp="1"/>
          </p:cNvSpPr>
          <p:nvPr>
            <p:ph sz="quarter" idx="15"/>
          </p:nvPr>
        </p:nvSpPr>
        <p:spPr>
          <a:xfrm>
            <a:off x="942572" y="4765688"/>
            <a:ext cx="463147" cy="525368"/>
          </a:xfrm>
        </p:spPr>
        <p:txBody>
          <a:bodyPr/>
          <a:lstStyle/>
          <a:p>
            <a:pPr marL="0" lvl="1" indent="0"/>
            <a:r>
              <a:rPr lang="en-US" sz="2200" dirty="0"/>
              <a:t> </a:t>
            </a:r>
            <a:r>
              <a:rPr lang="en-US" sz="100" dirty="0"/>
              <a:t> </a:t>
            </a:r>
          </a:p>
        </p:txBody>
      </p:sp>
      <p:graphicFrame>
        <p:nvGraphicFramePr>
          <p:cNvPr id="19" name="Object 18" descr="4% + negative 3% = 1% approximately equals 0.88%"/>
          <p:cNvGraphicFramePr>
            <a:graphicFrameLocks noChangeAspect="1"/>
          </p:cNvGraphicFramePr>
          <p:nvPr>
            <p:extLst>
              <p:ext uri="{D42A27DB-BD31-4B8C-83A1-F6EECF244321}">
                <p14:modId xmlns:p14="http://schemas.microsoft.com/office/powerpoint/2010/main" val="22770009"/>
              </p:ext>
            </p:extLst>
          </p:nvPr>
        </p:nvGraphicFramePr>
        <p:xfrm>
          <a:off x="1478573" y="4854375"/>
          <a:ext cx="3216745" cy="345886"/>
        </p:xfrm>
        <a:graphic>
          <a:graphicData uri="http://schemas.openxmlformats.org/presentationml/2006/ole">
            <mc:AlternateContent xmlns:mc="http://schemas.openxmlformats.org/markup-compatibility/2006">
              <mc:Choice xmlns:v="urn:schemas-microsoft-com:vml" Requires="v">
                <p:oleObj spid="_x0000_s16402" name="Equation" r:id="rId5" imgW="1650960" imgH="177480" progId="Equation.DSMT4">
                  <p:embed/>
                </p:oleObj>
              </mc:Choice>
              <mc:Fallback>
                <p:oleObj name="Equation" r:id="rId5" imgW="1650960" imgH="177480" progId="Equation.DSMT4">
                  <p:embed/>
                  <p:pic>
                    <p:nvPicPr>
                      <p:cNvPr id="0" name=""/>
                      <p:cNvPicPr/>
                      <p:nvPr/>
                    </p:nvPicPr>
                    <p:blipFill>
                      <a:blip r:embed="rId6"/>
                      <a:stretch>
                        <a:fillRect/>
                      </a:stretch>
                    </p:blipFill>
                    <p:spPr>
                      <a:xfrm>
                        <a:off x="1478573" y="4854375"/>
                        <a:ext cx="3216745" cy="345886"/>
                      </a:xfrm>
                      <a:prstGeom prst="rect">
                        <a:avLst/>
                      </a:prstGeom>
                    </p:spPr>
                  </p:pic>
                </p:oleObj>
              </mc:Fallback>
            </mc:AlternateContent>
          </a:graphicData>
        </a:graphic>
      </p:graphicFrame>
      <p:sp>
        <p:nvSpPr>
          <p:cNvPr id="7" name="Content Placeholder 6"/>
          <p:cNvSpPr>
            <a:spLocks noGrp="1"/>
          </p:cNvSpPr>
          <p:nvPr>
            <p:ph sz="quarter" idx="16"/>
          </p:nvPr>
        </p:nvSpPr>
        <p:spPr>
          <a:xfrm>
            <a:off x="942572" y="5333268"/>
            <a:ext cx="365958" cy="525368"/>
          </a:xfrm>
        </p:spPr>
        <p:txBody>
          <a:bodyPr/>
          <a:lstStyle/>
          <a:p>
            <a:pPr marL="0" lvl="1" indent="0"/>
            <a:r>
              <a:rPr lang="en-US" sz="2200" dirty="0"/>
              <a:t> </a:t>
            </a:r>
            <a:r>
              <a:rPr lang="en-US" sz="100" dirty="0"/>
              <a:t> </a:t>
            </a:r>
          </a:p>
        </p:txBody>
      </p:sp>
      <p:graphicFrame>
        <p:nvGraphicFramePr>
          <p:cNvPr id="20" name="Object 19" descr="R sub euro + start fraction upper E to the lower e power, sub $ per euro minus upper E sub $ per euro over upper E sub $ per euro end fraction"/>
          <p:cNvGraphicFramePr>
            <a:graphicFrameLocks noChangeAspect="1"/>
          </p:cNvGraphicFramePr>
          <p:nvPr>
            <p:extLst>
              <p:ext uri="{D42A27DB-BD31-4B8C-83A1-F6EECF244321}">
                <p14:modId xmlns:p14="http://schemas.microsoft.com/office/powerpoint/2010/main" val="1833017287"/>
              </p:ext>
            </p:extLst>
          </p:nvPr>
        </p:nvGraphicFramePr>
        <p:xfrm>
          <a:off x="1505080" y="5319337"/>
          <a:ext cx="1779452" cy="756779"/>
        </p:xfrm>
        <a:graphic>
          <a:graphicData uri="http://schemas.openxmlformats.org/presentationml/2006/ole">
            <mc:AlternateContent xmlns:mc="http://schemas.openxmlformats.org/markup-compatibility/2006">
              <mc:Choice xmlns:v="urn:schemas-microsoft-com:vml" Requires="v">
                <p:oleObj spid="_x0000_s16403" name="Equation" r:id="rId7" imgW="1104840" imgH="469800" progId="Equation.DSMT4">
                  <p:embed/>
                </p:oleObj>
              </mc:Choice>
              <mc:Fallback>
                <p:oleObj name="Equation" r:id="rId7" imgW="1104840" imgH="469800" progId="Equation.DSMT4">
                  <p:embed/>
                  <p:pic>
                    <p:nvPicPr>
                      <p:cNvPr id="0" name=""/>
                      <p:cNvPicPr/>
                      <p:nvPr/>
                    </p:nvPicPr>
                    <p:blipFill>
                      <a:blip r:embed="rId8"/>
                      <a:stretch>
                        <a:fillRect/>
                      </a:stretch>
                    </p:blipFill>
                    <p:spPr>
                      <a:xfrm>
                        <a:off x="1505080" y="5319337"/>
                        <a:ext cx="1779452" cy="756779"/>
                      </a:xfrm>
                      <a:prstGeom prst="rect">
                        <a:avLst/>
                      </a:prstGeom>
                    </p:spPr>
                  </p:pic>
                </p:oleObj>
              </mc:Fallback>
            </mc:AlternateContent>
          </a:graphicData>
        </a:graphic>
      </p:graphicFrame>
    </p:spTree>
    <p:extLst>
      <p:ext uri="{BB962C8B-B14F-4D97-AF65-F5344CB8AC3E}">
        <p14:creationId xmlns:p14="http://schemas.microsoft.com/office/powerpoint/2010/main" val="28685687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(12 of 12)</a:t>
            </a:r>
            <a:endParaRPr lang="en-IN" dirty="0"/>
          </a:p>
        </p:txBody>
      </p:sp>
      <p:sp>
        <p:nvSpPr>
          <p:cNvPr id="4" name="Content Placeholder 3"/>
          <p:cNvSpPr>
            <a:spLocks noGrp="1"/>
          </p:cNvSpPr>
          <p:nvPr>
            <p:ph sz="quarter" idx="13"/>
          </p:nvPr>
        </p:nvSpPr>
        <p:spPr>
          <a:xfrm>
            <a:off x="457200" y="1556327"/>
            <a:ext cx="8229600" cy="941213"/>
          </a:xfrm>
        </p:spPr>
        <p:txBody>
          <a:bodyPr/>
          <a:lstStyle/>
          <a:p>
            <a:r>
              <a:rPr lang="en-US" altLang="en-US" dirty="0">
                <a:latin typeface="Arial (Body)"/>
              </a:rPr>
              <a:t>The difference in the rate of return on dollar deposits and euro deposits is</a:t>
            </a:r>
          </a:p>
        </p:txBody>
      </p:sp>
      <p:pic>
        <p:nvPicPr>
          <p:cNvPr id="6" name="Content Placeholder 5" descr="The difference in the rate of return on dollar deposits and euro deposits is R sub dollars minus open parenthesis, R sub euros plus open parenthesis, E to the power of lowercase E sub the division of dollars by sub euros, minus E sub the division of dollars by euros, close parentheses, divided by E sub the division of dollars by euros, equals. For long description in Notes pane, press F6."/>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919283" y="2653782"/>
            <a:ext cx="7305434" cy="3390165"/>
          </a:xfrm>
        </p:spPr>
      </p:pic>
    </p:spTree>
    <p:extLst>
      <p:ext uri="{BB962C8B-B14F-4D97-AF65-F5344CB8AC3E}">
        <p14:creationId xmlns:p14="http://schemas.microsoft.com/office/powerpoint/2010/main" val="20232228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Model of Foreign Exchange Markets </a:t>
            </a:r>
            <a:r>
              <a:rPr lang="en-US" altLang="en-US" sz="2000" b="0" dirty="0"/>
              <a:t>(1 of 6)</a:t>
            </a:r>
            <a:endParaRPr lang="en-IN" dirty="0"/>
          </a:p>
        </p:txBody>
      </p:sp>
      <p:sp>
        <p:nvSpPr>
          <p:cNvPr id="3" name="Content Placeholder 2"/>
          <p:cNvSpPr>
            <a:spLocks noGrp="1"/>
          </p:cNvSpPr>
          <p:nvPr>
            <p:ph sz="quarter" idx="13"/>
          </p:nvPr>
        </p:nvSpPr>
        <p:spPr>
          <a:xfrm>
            <a:off x="457200" y="1556327"/>
            <a:ext cx="8229600" cy="2289809"/>
          </a:xfrm>
        </p:spPr>
        <p:txBody>
          <a:bodyPr/>
          <a:lstStyle/>
          <a:p>
            <a:r>
              <a:rPr lang="en-US" altLang="en-US" dirty="0">
                <a:latin typeface="Arial (Body)"/>
              </a:rPr>
              <a:t>Construct model of foreign exchange markets using:</a:t>
            </a:r>
          </a:p>
          <a:p>
            <a:pPr lvl="1" eaLnBrk="1" hangingPunct="1"/>
            <a:r>
              <a:rPr lang="en-US" altLang="en-US" dirty="0">
                <a:latin typeface="Arial (Body)"/>
              </a:rPr>
              <a:t>the demand of (rate of return on) dollar-denominated deposits </a:t>
            </a:r>
          </a:p>
          <a:p>
            <a:pPr lvl="1" eaLnBrk="1" hangingPunct="1"/>
            <a:r>
              <a:rPr lang="en-US" altLang="en-US" dirty="0">
                <a:latin typeface="Arial (Body)"/>
              </a:rPr>
              <a:t>and the demand of (rate of return on) foreign currency– denominated deposits</a:t>
            </a:r>
          </a:p>
        </p:txBody>
      </p:sp>
    </p:spTree>
    <p:extLst>
      <p:ext uri="{BB962C8B-B14F-4D97-AF65-F5344CB8AC3E}">
        <p14:creationId xmlns:p14="http://schemas.microsoft.com/office/powerpoint/2010/main" val="19323098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Table 14.3 Comparing Dollar Rates of Return on Dollar and Euro Deposits</a:t>
            </a:r>
            <a:endParaRPr lang="en-IN" sz="3200" dirty="0"/>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1694922352"/>
              </p:ext>
            </p:extLst>
          </p:nvPr>
        </p:nvGraphicFramePr>
        <p:xfrm>
          <a:off x="457200" y="1555750"/>
          <a:ext cx="8229599" cy="3186625"/>
        </p:xfrm>
        <a:graphic>
          <a:graphicData uri="http://schemas.openxmlformats.org/drawingml/2006/table">
            <a:tbl>
              <a:tblPr firstRow="1" bandRow="1">
                <a:tableStyleId>{40F9630F-82C1-40B7-BC3A-925EFCFF5E92}</a:tableStyleId>
              </a:tblPr>
              <a:tblGrid>
                <a:gridCol w="871503">
                  <a:extLst>
                    <a:ext uri="{9D8B030D-6E8A-4147-A177-3AD203B41FA5}">
                      <a16:colId xmlns:a16="http://schemas.microsoft.com/office/drawing/2014/main" val="2146858731"/>
                    </a:ext>
                  </a:extLst>
                </a:gridCol>
                <a:gridCol w="1839524">
                  <a:extLst>
                    <a:ext uri="{9D8B030D-6E8A-4147-A177-3AD203B41FA5}">
                      <a16:colId xmlns:a16="http://schemas.microsoft.com/office/drawing/2014/main" val="349083865"/>
                    </a:ext>
                  </a:extLst>
                </a:gridCol>
                <a:gridCol w="1702156">
                  <a:extLst>
                    <a:ext uri="{9D8B030D-6E8A-4147-A177-3AD203B41FA5}">
                      <a16:colId xmlns:a16="http://schemas.microsoft.com/office/drawing/2014/main" val="3774126557"/>
                    </a:ext>
                  </a:extLst>
                </a:gridCol>
                <a:gridCol w="1976892">
                  <a:extLst>
                    <a:ext uri="{9D8B030D-6E8A-4147-A177-3AD203B41FA5}">
                      <a16:colId xmlns:a16="http://schemas.microsoft.com/office/drawing/2014/main" val="2648807151"/>
                    </a:ext>
                  </a:extLst>
                </a:gridCol>
                <a:gridCol w="1839524">
                  <a:extLst>
                    <a:ext uri="{9D8B030D-6E8A-4147-A177-3AD203B41FA5}">
                      <a16:colId xmlns:a16="http://schemas.microsoft.com/office/drawing/2014/main" val="332507899"/>
                    </a:ext>
                  </a:extLst>
                </a:gridCol>
              </a:tblGrid>
              <a:tr h="370840">
                <a:tc>
                  <a:txBody>
                    <a:bodyPr/>
                    <a:lstStyle/>
                    <a:p>
                      <a:r>
                        <a:rPr lang="en-US" sz="100" noProof="0" dirty="0">
                          <a:latin typeface="+mn-lt"/>
                        </a:rPr>
                        <a:t>Blank</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Dollar</a:t>
                      </a:r>
                    </a:p>
                    <a:p>
                      <a:pPr algn="ctr"/>
                      <a:r>
                        <a:rPr lang="en-US" sz="1400" noProof="0" dirty="0">
                          <a:latin typeface="+mn-lt"/>
                        </a:rPr>
                        <a:t>Interest Rate</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Euro</a:t>
                      </a:r>
                    </a:p>
                    <a:p>
                      <a:pPr algn="ctr"/>
                      <a:r>
                        <a:rPr lang="en-US" sz="1400" noProof="0" dirty="0">
                          <a:latin typeface="+mn-lt"/>
                        </a:rPr>
                        <a:t>Interest Rate</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Expected Rate of Dollar Depreciation</a:t>
                      </a:r>
                    </a:p>
                    <a:p>
                      <a:pPr algn="ctr"/>
                      <a:r>
                        <a:rPr lang="en-US" sz="1400" noProof="0" dirty="0">
                          <a:latin typeface="+mn-lt"/>
                        </a:rPr>
                        <a:t>Against Euro</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Rate of Return</a:t>
                      </a:r>
                    </a:p>
                    <a:p>
                      <a:pPr algn="ctr"/>
                      <a:r>
                        <a:rPr lang="en-US" sz="1400" noProof="0" dirty="0">
                          <a:latin typeface="+mn-lt"/>
                        </a:rPr>
                        <a:t>Difference between</a:t>
                      </a:r>
                    </a:p>
                    <a:p>
                      <a:pPr algn="ctr"/>
                      <a:r>
                        <a:rPr lang="en-US" sz="1400" noProof="0" dirty="0">
                          <a:latin typeface="+mn-lt"/>
                        </a:rPr>
                        <a:t>Dollar and Euro Deposits</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8515017"/>
                  </a:ext>
                </a:extLst>
              </a:tr>
              <a:tr h="758385">
                <a:tc>
                  <a:txBody>
                    <a:bodyPr/>
                    <a:lstStyle/>
                    <a:p>
                      <a:r>
                        <a:rPr lang="en-US" sz="1400" noProof="0" dirty="0">
                          <a:latin typeface="+mn-lt"/>
                        </a:rPr>
                        <a:t>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dirty="0">
                          <a:solidFill>
                            <a:schemeClr val="dk1"/>
                          </a:solidFill>
                          <a:effectLst/>
                          <a:latin typeface="Arial"/>
                          <a:ea typeface="Arial"/>
                          <a:cs typeface="Arial"/>
                          <a:sym typeface="Arial"/>
                        </a:rPr>
                        <a:t>R sub $</a:t>
                      </a:r>
                      <a:endParaRPr lang="en-US" sz="1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dirty="0">
                          <a:solidFill>
                            <a:schemeClr val="dk1"/>
                          </a:solidFill>
                          <a:effectLst/>
                          <a:latin typeface="Arial"/>
                          <a:ea typeface="Arial"/>
                          <a:cs typeface="Arial"/>
                          <a:sym typeface="Arial"/>
                        </a:rPr>
                        <a:t>R sub euro</a:t>
                      </a:r>
                      <a:endParaRPr lang="en-US" sz="1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dirty="0">
                          <a:solidFill>
                            <a:schemeClr val="dk1"/>
                          </a:solidFill>
                          <a:effectLst/>
                          <a:latin typeface="Arial"/>
                          <a:ea typeface="Arial"/>
                          <a:cs typeface="Arial"/>
                          <a:sym typeface="Arial"/>
                        </a:rPr>
                        <a:t>start fraction upper E to the lower e power, sub $ per euro minus upper E sub $ per euro over upper E sub $ per euro end fraction</a:t>
                      </a:r>
                      <a:endParaRPr lang="en-US" sz="1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dirty="0">
                          <a:solidFill>
                            <a:schemeClr val="dk1"/>
                          </a:solidFill>
                          <a:effectLst/>
                          <a:latin typeface="Arial"/>
                          <a:ea typeface="Arial"/>
                          <a:cs typeface="Arial"/>
                          <a:sym typeface="Arial"/>
                        </a:rPr>
                        <a:t>R sub $ minus R sub euro minus start fraction upper E to the lower e power, sub $ per euro minus upper E sub $ per euro over upper E sub $ per euro end fraction</a:t>
                      </a:r>
                      <a:endParaRPr lang="en-US" sz="1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7284669"/>
                  </a:ext>
                </a:extLst>
              </a:tr>
              <a:tr h="370840">
                <a:tc>
                  <a:txBody>
                    <a:bodyPr/>
                    <a:lstStyle/>
                    <a:p>
                      <a:r>
                        <a:rPr lang="en-US" sz="1400" noProof="0" dirty="0">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0.06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 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 0.04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1964686"/>
                  </a:ext>
                </a:extLst>
              </a:tr>
              <a:tr h="370840">
                <a:tc>
                  <a:txBody>
                    <a:bodyPr/>
                    <a:lstStyle/>
                    <a:p>
                      <a:r>
                        <a:rPr lang="en-US" sz="1400" noProof="0" dirty="0">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0.06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mn-lt"/>
                        </a:rPr>
                        <a:t>0.04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 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2328077"/>
                  </a:ext>
                </a:extLst>
              </a:tr>
              <a:tr h="370840">
                <a:tc>
                  <a:txBody>
                    <a:bodyPr/>
                    <a:lstStyle/>
                    <a:p>
                      <a:r>
                        <a:rPr lang="en-US" sz="1400" noProof="0" dirty="0">
                          <a:latin typeface="+mn-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0.06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 0.08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dirty="0">
                          <a:solidFill>
                            <a:schemeClr val="dk1"/>
                          </a:solidFill>
                          <a:effectLst/>
                          <a:latin typeface="Arial"/>
                          <a:ea typeface="Arial"/>
                          <a:cs typeface="Arial"/>
                          <a:sym typeface="Arial"/>
                        </a:rPr>
                        <a:t>Negative 0.04</a:t>
                      </a:r>
                      <a:endParaRPr lang="en-US" sz="1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6443639"/>
                  </a:ext>
                </a:extLst>
              </a:tr>
              <a:tr h="370840">
                <a:tc>
                  <a:txBody>
                    <a:bodyPr/>
                    <a:lstStyle/>
                    <a:p>
                      <a:r>
                        <a:rPr lang="en-US" sz="1400" noProof="0" dirty="0">
                          <a:latin typeface="+mn-l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0.12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dirty="0">
                          <a:solidFill>
                            <a:schemeClr val="dk1"/>
                          </a:solidFill>
                          <a:effectLst/>
                          <a:latin typeface="Arial"/>
                          <a:ea typeface="Arial"/>
                          <a:cs typeface="Arial"/>
                          <a:sym typeface="Arial"/>
                        </a:rPr>
                        <a:t>Negative 0.04</a:t>
                      </a:r>
                      <a:endParaRPr lang="en-US" sz="1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 0.02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0884436"/>
                  </a:ext>
                </a:extLst>
              </a:tr>
            </a:tbl>
          </a:graphicData>
        </a:graphic>
      </p:graphicFrame>
      <p:graphicFrame>
        <p:nvGraphicFramePr>
          <p:cNvPr id="5" name="Object 4">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310256413"/>
              </p:ext>
            </p:extLst>
          </p:nvPr>
        </p:nvGraphicFramePr>
        <p:xfrm>
          <a:off x="2127068" y="2805763"/>
          <a:ext cx="223520" cy="251460"/>
        </p:xfrm>
        <a:graphic>
          <a:graphicData uri="http://schemas.openxmlformats.org/presentationml/2006/ole">
            <mc:AlternateContent xmlns:mc="http://schemas.openxmlformats.org/markup-compatibility/2006">
              <mc:Choice xmlns:v="urn:schemas-microsoft-com:vml" Requires="v">
                <p:oleObj spid="_x0000_s17440" name="Equation" r:id="rId3" imgW="203040" imgH="228600" progId="Equation.DSMT4">
                  <p:embed/>
                </p:oleObj>
              </mc:Choice>
              <mc:Fallback>
                <p:oleObj name="Equation" r:id="rId3" imgW="203040" imgH="228600" progId="Equation.DSMT4">
                  <p:embed/>
                  <p:pic>
                    <p:nvPicPr>
                      <p:cNvPr id="0" name=""/>
                      <p:cNvPicPr/>
                      <p:nvPr/>
                    </p:nvPicPr>
                    <p:blipFill>
                      <a:blip r:embed="rId4"/>
                      <a:stretch>
                        <a:fillRect/>
                      </a:stretch>
                    </p:blipFill>
                    <p:spPr>
                      <a:xfrm>
                        <a:off x="2127068" y="2805763"/>
                        <a:ext cx="223520" cy="251460"/>
                      </a:xfrm>
                      <a:prstGeom prst="rect">
                        <a:avLst/>
                      </a:prstGeom>
                      <a:solidFill>
                        <a:schemeClr val="bg1"/>
                      </a:solidFill>
                    </p:spPr>
                  </p:pic>
                </p:oleObj>
              </mc:Fallback>
            </mc:AlternateContent>
          </a:graphicData>
        </a:graphic>
      </p:graphicFrame>
      <p:graphicFrame>
        <p:nvGraphicFramePr>
          <p:cNvPr id="6" name="Object 5">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37127499"/>
              </p:ext>
            </p:extLst>
          </p:nvPr>
        </p:nvGraphicFramePr>
        <p:xfrm>
          <a:off x="3940585" y="2805763"/>
          <a:ext cx="215900" cy="228600"/>
        </p:xfrm>
        <a:graphic>
          <a:graphicData uri="http://schemas.openxmlformats.org/presentationml/2006/ole">
            <mc:AlternateContent xmlns:mc="http://schemas.openxmlformats.org/markup-compatibility/2006">
              <mc:Choice xmlns:v="urn:schemas-microsoft-com:vml" Requires="v">
                <p:oleObj spid="_x0000_s17441" name="Equation" r:id="rId5" imgW="215640" imgH="228600" progId="Equation.DSMT4">
                  <p:embed/>
                </p:oleObj>
              </mc:Choice>
              <mc:Fallback>
                <p:oleObj name="Equation" r:id="rId5" imgW="215640" imgH="228600" progId="Equation.DSMT4">
                  <p:embed/>
                  <p:pic>
                    <p:nvPicPr>
                      <p:cNvPr id="0" name=""/>
                      <p:cNvPicPr/>
                      <p:nvPr/>
                    </p:nvPicPr>
                    <p:blipFill>
                      <a:blip r:embed="rId6"/>
                      <a:stretch>
                        <a:fillRect/>
                      </a:stretch>
                    </p:blipFill>
                    <p:spPr>
                      <a:xfrm>
                        <a:off x="3940585" y="2805763"/>
                        <a:ext cx="215900" cy="228600"/>
                      </a:xfrm>
                      <a:prstGeom prst="rect">
                        <a:avLst/>
                      </a:prstGeom>
                      <a:solidFill>
                        <a:schemeClr val="bg1"/>
                      </a:solidFill>
                    </p:spPr>
                  </p:pic>
                </p:oleObj>
              </mc:Fallback>
            </mc:AlternateContent>
          </a:graphicData>
        </a:graphic>
      </p:graphicFrame>
      <p:graphicFrame>
        <p:nvGraphicFramePr>
          <p:cNvPr id="7" name="Object 6">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247367197"/>
              </p:ext>
            </p:extLst>
          </p:nvPr>
        </p:nvGraphicFramePr>
        <p:xfrm>
          <a:off x="5345486" y="2568360"/>
          <a:ext cx="946991" cy="624284"/>
        </p:xfrm>
        <a:graphic>
          <a:graphicData uri="http://schemas.openxmlformats.org/presentationml/2006/ole">
            <mc:AlternateContent xmlns:mc="http://schemas.openxmlformats.org/markup-compatibility/2006">
              <mc:Choice xmlns:v="urn:schemas-microsoft-com:vml" Requires="v">
                <p:oleObj spid="_x0000_s17442" name="Equation" r:id="rId7" imgW="711000" imgH="469800" progId="Equation.DSMT4">
                  <p:embed/>
                </p:oleObj>
              </mc:Choice>
              <mc:Fallback>
                <p:oleObj name="Equation" r:id="rId7" imgW="711000" imgH="469800" progId="Equation.DSMT4">
                  <p:embed/>
                  <p:pic>
                    <p:nvPicPr>
                      <p:cNvPr id="0" name=""/>
                      <p:cNvPicPr/>
                      <p:nvPr/>
                    </p:nvPicPr>
                    <p:blipFill>
                      <a:blip r:embed="rId8"/>
                      <a:stretch>
                        <a:fillRect/>
                      </a:stretch>
                    </p:blipFill>
                    <p:spPr>
                      <a:xfrm>
                        <a:off x="5345486" y="2568360"/>
                        <a:ext cx="946991" cy="624284"/>
                      </a:xfrm>
                      <a:prstGeom prst="rect">
                        <a:avLst/>
                      </a:prstGeom>
                      <a:solidFill>
                        <a:schemeClr val="bg1"/>
                      </a:solidFill>
                    </p:spPr>
                  </p:pic>
                </p:oleObj>
              </mc:Fallback>
            </mc:AlternateContent>
          </a:graphicData>
        </a:graphic>
      </p:graphicFrame>
      <p:graphicFrame>
        <p:nvGraphicFramePr>
          <p:cNvPr id="8" name="Object 7">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772540290"/>
              </p:ext>
            </p:extLst>
          </p:nvPr>
        </p:nvGraphicFramePr>
        <p:xfrm>
          <a:off x="6936183" y="2624065"/>
          <a:ext cx="1628902" cy="568579"/>
        </p:xfrm>
        <a:graphic>
          <a:graphicData uri="http://schemas.openxmlformats.org/presentationml/2006/ole">
            <mc:AlternateContent xmlns:mc="http://schemas.openxmlformats.org/markup-compatibility/2006">
              <mc:Choice xmlns:v="urn:schemas-microsoft-com:vml" Requires="v">
                <p:oleObj spid="_x0000_s17443" name="Equation" r:id="rId9" imgW="1346040" imgH="469800" progId="Equation.DSMT4">
                  <p:embed/>
                </p:oleObj>
              </mc:Choice>
              <mc:Fallback>
                <p:oleObj name="Equation" r:id="rId9" imgW="1346040" imgH="469800" progId="Equation.DSMT4">
                  <p:embed/>
                  <p:pic>
                    <p:nvPicPr>
                      <p:cNvPr id="0" name=""/>
                      <p:cNvPicPr/>
                      <p:nvPr/>
                    </p:nvPicPr>
                    <p:blipFill>
                      <a:blip r:embed="rId10"/>
                      <a:stretch>
                        <a:fillRect/>
                      </a:stretch>
                    </p:blipFill>
                    <p:spPr>
                      <a:xfrm>
                        <a:off x="6936183" y="2624065"/>
                        <a:ext cx="1628902" cy="568579"/>
                      </a:xfrm>
                      <a:prstGeom prst="rect">
                        <a:avLst/>
                      </a:prstGeom>
                      <a:solidFill>
                        <a:schemeClr val="bg1"/>
                      </a:solidFill>
                    </p:spPr>
                  </p:pic>
                </p:oleObj>
              </mc:Fallback>
            </mc:AlternateContent>
          </a:graphicData>
        </a:graphic>
      </p:graphicFrame>
      <p:graphicFrame>
        <p:nvGraphicFramePr>
          <p:cNvPr id="9" name="Object 8">
            <a:extLst>
              <a:ext uri="{FF2B5EF4-FFF2-40B4-BE49-F238E27FC236}">
                <a16:creationId xmlns:a16="http://schemas.microsoft.com/office/drawing/2014/main" id="{73956D67-2B8E-497C-9D17-7711FF5A0893}"/>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116983235"/>
              </p:ext>
            </p:extLst>
          </p:nvPr>
        </p:nvGraphicFramePr>
        <p:xfrm>
          <a:off x="7513638" y="4072695"/>
          <a:ext cx="474662" cy="195263"/>
        </p:xfrm>
        <a:graphic>
          <a:graphicData uri="http://schemas.openxmlformats.org/presentationml/2006/ole">
            <mc:AlternateContent xmlns:mc="http://schemas.openxmlformats.org/markup-compatibility/2006">
              <mc:Choice xmlns:v="urn:schemas-microsoft-com:vml" Requires="v">
                <p:oleObj spid="_x0000_s17444" name="Equation" r:id="rId11" imgW="431640" imgH="177480" progId="Equation.DSMT4">
                  <p:embed/>
                </p:oleObj>
              </mc:Choice>
              <mc:Fallback>
                <p:oleObj name="Equation" r:id="rId11" imgW="431640" imgH="177480" progId="Equation.DSMT4">
                  <p:embed/>
                  <p:pic>
                    <p:nvPicPr>
                      <p:cNvPr id="0" name=""/>
                      <p:cNvPicPr/>
                      <p:nvPr/>
                    </p:nvPicPr>
                    <p:blipFill>
                      <a:blip r:embed="rId12"/>
                      <a:stretch>
                        <a:fillRect/>
                      </a:stretch>
                    </p:blipFill>
                    <p:spPr>
                      <a:xfrm>
                        <a:off x="7513638" y="4072695"/>
                        <a:ext cx="474662" cy="195263"/>
                      </a:xfrm>
                      <a:prstGeom prst="rect">
                        <a:avLst/>
                      </a:prstGeom>
                      <a:solidFill>
                        <a:schemeClr val="bg1"/>
                      </a:solidFill>
                    </p:spPr>
                  </p:pic>
                </p:oleObj>
              </mc:Fallback>
            </mc:AlternateContent>
          </a:graphicData>
        </a:graphic>
      </p:graphicFrame>
      <p:graphicFrame>
        <p:nvGraphicFramePr>
          <p:cNvPr id="3" name="Object 2">
            <a:extLst>
              <a:ext uri="{FF2B5EF4-FFF2-40B4-BE49-F238E27FC236}">
                <a16:creationId xmlns:a16="http://schemas.microsoft.com/office/drawing/2014/main" id="{03FC1CF2-9F68-4DB3-ACFC-017DE253E445}"/>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612547167"/>
              </p:ext>
            </p:extLst>
          </p:nvPr>
        </p:nvGraphicFramePr>
        <p:xfrm>
          <a:off x="5635625" y="4434278"/>
          <a:ext cx="522288" cy="214313"/>
        </p:xfrm>
        <a:graphic>
          <a:graphicData uri="http://schemas.openxmlformats.org/presentationml/2006/ole">
            <mc:AlternateContent xmlns:mc="http://schemas.openxmlformats.org/markup-compatibility/2006">
              <mc:Choice xmlns:v="urn:schemas-microsoft-com:vml" Requires="v">
                <p:oleObj spid="_x0000_s17445" name="Equation" r:id="rId13" imgW="431640" imgH="177480" progId="Equation.DSMT4">
                  <p:embed/>
                </p:oleObj>
              </mc:Choice>
              <mc:Fallback>
                <p:oleObj name="Equation" r:id="rId13" imgW="431640" imgH="177480" progId="Equation.DSMT4">
                  <p:embed/>
                  <p:pic>
                    <p:nvPicPr>
                      <p:cNvPr id="0" name=""/>
                      <p:cNvPicPr/>
                      <p:nvPr/>
                    </p:nvPicPr>
                    <p:blipFill>
                      <a:blip r:embed="rId14"/>
                      <a:stretch>
                        <a:fillRect/>
                      </a:stretch>
                    </p:blipFill>
                    <p:spPr>
                      <a:xfrm>
                        <a:off x="5635625" y="4434278"/>
                        <a:ext cx="522288" cy="214313"/>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3565238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Model of Foreign Exchange Markets </a:t>
            </a:r>
            <a:r>
              <a:rPr lang="en-US" altLang="en-US" sz="2000" b="0" dirty="0"/>
              <a:t>(2 of 6)</a:t>
            </a:r>
            <a:endParaRPr lang="en-IN" dirty="0"/>
          </a:p>
        </p:txBody>
      </p:sp>
      <p:sp>
        <p:nvSpPr>
          <p:cNvPr id="3" name="Content Placeholder 2"/>
          <p:cNvSpPr>
            <a:spLocks noGrp="1"/>
          </p:cNvSpPr>
          <p:nvPr>
            <p:ph sz="quarter" idx="13"/>
          </p:nvPr>
        </p:nvSpPr>
        <p:spPr>
          <a:xfrm>
            <a:off x="457200" y="1556326"/>
            <a:ext cx="8229600" cy="3175929"/>
          </a:xfrm>
        </p:spPr>
        <p:txBody>
          <a:bodyPr/>
          <a:lstStyle/>
          <a:p>
            <a:r>
              <a:rPr lang="en-US" altLang="en-US" dirty="0">
                <a:latin typeface="Arial (Body)"/>
              </a:rPr>
              <a:t>Model in equilibrium when deposits of all currencies offer the same expected rate of return: </a:t>
            </a:r>
            <a:r>
              <a:rPr lang="en-US" altLang="en-US" b="1" dirty="0">
                <a:latin typeface="Arial (Body)"/>
              </a:rPr>
              <a:t>interest parity</a:t>
            </a:r>
            <a:r>
              <a:rPr lang="en-US" altLang="en-US" dirty="0">
                <a:latin typeface="Arial (Body)"/>
              </a:rPr>
              <a:t>.</a:t>
            </a:r>
          </a:p>
          <a:p>
            <a:pPr lvl="1" eaLnBrk="1" hangingPunct="1"/>
            <a:r>
              <a:rPr lang="en-US" altLang="en-US" dirty="0">
                <a:latin typeface="Arial (Body)"/>
              </a:rPr>
              <a:t>Interest parity implies that deposits in all currencies are equally desirable assets.</a:t>
            </a:r>
          </a:p>
          <a:p>
            <a:pPr lvl="1" eaLnBrk="1" hangingPunct="1"/>
            <a:r>
              <a:rPr lang="en-US" altLang="en-US" dirty="0">
                <a:latin typeface="Arial (Body)"/>
              </a:rPr>
              <a:t>Interest parity implies that arbitrage in the foreign exchange market is not possible.</a:t>
            </a:r>
          </a:p>
          <a:p>
            <a:r>
              <a:rPr lang="en-US" altLang="en-US" dirty="0">
                <a:latin typeface="Arial (Body)"/>
              </a:rPr>
              <a:t>Interest parity says:</a:t>
            </a:r>
          </a:p>
        </p:txBody>
      </p:sp>
      <p:graphicFrame>
        <p:nvGraphicFramePr>
          <p:cNvPr id="4" name="Object 3" descr="R sub $ = R sub euro + start fraction upper E to the lower e power, sub $ per euro minus upper E sub $ per euro over upper E sub $ per euro end fraction"/>
          <p:cNvGraphicFramePr>
            <a:graphicFrameLocks noChangeAspect="1"/>
          </p:cNvGraphicFramePr>
          <p:nvPr>
            <p:extLst>
              <p:ext uri="{D42A27DB-BD31-4B8C-83A1-F6EECF244321}">
                <p14:modId xmlns:p14="http://schemas.microsoft.com/office/powerpoint/2010/main" val="4284653666"/>
              </p:ext>
            </p:extLst>
          </p:nvPr>
        </p:nvGraphicFramePr>
        <p:xfrm>
          <a:off x="2988041" y="5009685"/>
          <a:ext cx="2542367" cy="832457"/>
        </p:xfrm>
        <a:graphic>
          <a:graphicData uri="http://schemas.openxmlformats.org/presentationml/2006/ole">
            <mc:AlternateContent xmlns:mc="http://schemas.openxmlformats.org/markup-compatibility/2006">
              <mc:Choice xmlns:v="urn:schemas-microsoft-com:vml" Requires="v">
                <p:oleObj spid="_x0000_s18439" name="Equation" r:id="rId3" imgW="1434960" imgH="469800" progId="Equation.DSMT4">
                  <p:embed/>
                </p:oleObj>
              </mc:Choice>
              <mc:Fallback>
                <p:oleObj name="Equation" r:id="rId3" imgW="1434960" imgH="469800" progId="Equation.DSMT4">
                  <p:embed/>
                  <p:pic>
                    <p:nvPicPr>
                      <p:cNvPr id="0" name=""/>
                      <p:cNvPicPr/>
                      <p:nvPr/>
                    </p:nvPicPr>
                    <p:blipFill>
                      <a:blip r:embed="rId4"/>
                      <a:stretch>
                        <a:fillRect/>
                      </a:stretch>
                    </p:blipFill>
                    <p:spPr>
                      <a:xfrm>
                        <a:off x="2988041" y="5009685"/>
                        <a:ext cx="2542367" cy="832457"/>
                      </a:xfrm>
                      <a:prstGeom prst="rect">
                        <a:avLst/>
                      </a:prstGeom>
                    </p:spPr>
                  </p:pic>
                </p:oleObj>
              </mc:Fallback>
            </mc:AlternateContent>
          </a:graphicData>
        </a:graphic>
      </p:graphicFrame>
    </p:spTree>
    <p:extLst>
      <p:ext uri="{BB962C8B-B14F-4D97-AF65-F5344CB8AC3E}">
        <p14:creationId xmlns:p14="http://schemas.microsoft.com/office/powerpoint/2010/main" val="33890433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Model of Foreign Exchange Markets </a:t>
            </a:r>
            <a:r>
              <a:rPr lang="en-US" altLang="en-US" sz="2000" b="0" dirty="0"/>
              <a:t>(3 of 6)</a:t>
            </a:r>
            <a:endParaRPr lang="en-IN" dirty="0"/>
          </a:p>
        </p:txBody>
      </p:sp>
      <p:sp>
        <p:nvSpPr>
          <p:cNvPr id="4" name="Content Placeholder 3"/>
          <p:cNvSpPr>
            <a:spLocks noGrp="1"/>
          </p:cNvSpPr>
          <p:nvPr>
            <p:ph sz="quarter" idx="13"/>
          </p:nvPr>
        </p:nvSpPr>
        <p:spPr>
          <a:xfrm>
            <a:off x="457200" y="1556327"/>
            <a:ext cx="8229600" cy="894773"/>
          </a:xfrm>
        </p:spPr>
        <p:txBody>
          <a:bodyPr/>
          <a:lstStyle/>
          <a:p>
            <a:pPr eaLnBrk="1" hangingPunct="1"/>
            <a:r>
              <a:rPr lang="en-US" altLang="en-US" sz="2200" dirty="0">
                <a:latin typeface="Arial (Body)"/>
              </a:rPr>
              <a:t>Why should the interest parity condition hold?</a:t>
            </a:r>
            <a:endParaRPr lang="en-US" altLang="ja-JP" sz="2200" dirty="0">
              <a:latin typeface="Arial (Body)"/>
            </a:endParaRPr>
          </a:p>
          <a:p>
            <a:pPr lvl="1"/>
            <a:r>
              <a:rPr lang="en-US" altLang="en-US" sz="2200" dirty="0">
                <a:latin typeface="Arial (Body)"/>
              </a:rPr>
              <a:t>Suppose it did no</a:t>
            </a:r>
            <a:r>
              <a:rPr lang="en-US" altLang="ja-JP" sz="2200" dirty="0">
                <a:latin typeface="Arial (Body)"/>
              </a:rPr>
              <a:t>t. </a:t>
            </a:r>
            <a:r>
              <a:rPr lang="en-US" altLang="en-US" sz="2200" dirty="0">
                <a:latin typeface="Arial (Body)"/>
              </a:rPr>
              <a:t>Suppose</a:t>
            </a:r>
          </a:p>
        </p:txBody>
      </p:sp>
      <p:graphicFrame>
        <p:nvGraphicFramePr>
          <p:cNvPr id="6" name="Object 5" descr="R sub $ is greater than R sub euro + start fraction upper E to the lower e power, sub $ per euro minus upper E sub $ per euro over upper E sub $ per euro end fraction"/>
          <p:cNvGraphicFramePr>
            <a:graphicFrameLocks noChangeAspect="1"/>
          </p:cNvGraphicFramePr>
          <p:nvPr>
            <p:extLst>
              <p:ext uri="{D42A27DB-BD31-4B8C-83A1-F6EECF244321}">
                <p14:modId xmlns:p14="http://schemas.microsoft.com/office/powerpoint/2010/main" val="199791569"/>
              </p:ext>
            </p:extLst>
          </p:nvPr>
        </p:nvGraphicFramePr>
        <p:xfrm>
          <a:off x="3413775" y="2620857"/>
          <a:ext cx="2290789" cy="756779"/>
        </p:xfrm>
        <a:graphic>
          <a:graphicData uri="http://schemas.openxmlformats.org/presentationml/2006/ole">
            <mc:AlternateContent xmlns:mc="http://schemas.openxmlformats.org/markup-compatibility/2006">
              <mc:Choice xmlns:v="urn:schemas-microsoft-com:vml" Requires="v">
                <p:oleObj spid="_x0000_s19463" name="Equation" r:id="rId3" imgW="1422360" imgH="469800" progId="Equation.DSMT4">
                  <p:embed/>
                </p:oleObj>
              </mc:Choice>
              <mc:Fallback>
                <p:oleObj name="Equation" r:id="rId3" imgW="1422360" imgH="469800" progId="Equation.DSMT4">
                  <p:embed/>
                  <p:pic>
                    <p:nvPicPr>
                      <p:cNvPr id="0" name=""/>
                      <p:cNvPicPr/>
                      <p:nvPr/>
                    </p:nvPicPr>
                    <p:blipFill>
                      <a:blip r:embed="rId4"/>
                      <a:stretch>
                        <a:fillRect/>
                      </a:stretch>
                    </p:blipFill>
                    <p:spPr>
                      <a:xfrm>
                        <a:off x="3413775" y="2620857"/>
                        <a:ext cx="2290789" cy="756779"/>
                      </a:xfrm>
                      <a:prstGeom prst="rect">
                        <a:avLst/>
                      </a:prstGeom>
                    </p:spPr>
                  </p:pic>
                </p:oleObj>
              </mc:Fallback>
            </mc:AlternateContent>
          </a:graphicData>
        </a:graphic>
      </p:graphicFrame>
      <p:sp>
        <p:nvSpPr>
          <p:cNvPr id="5" name="Content Placeholder 4"/>
          <p:cNvSpPr>
            <a:spLocks noGrp="1"/>
          </p:cNvSpPr>
          <p:nvPr>
            <p:ph sz="quarter" idx="14"/>
          </p:nvPr>
        </p:nvSpPr>
        <p:spPr>
          <a:xfrm>
            <a:off x="457200" y="3521984"/>
            <a:ext cx="8229600" cy="2737414"/>
          </a:xfrm>
        </p:spPr>
        <p:txBody>
          <a:bodyPr/>
          <a:lstStyle/>
          <a:p>
            <a:pPr lvl="1"/>
            <a:r>
              <a:rPr lang="en-US" altLang="en-US" sz="2200" dirty="0">
                <a:latin typeface="Arial (Body)"/>
              </a:rPr>
              <a:t>Then no investor would want to hold euro deposits, driving down the demand and price of euros.</a:t>
            </a:r>
          </a:p>
          <a:p>
            <a:pPr lvl="1"/>
            <a:r>
              <a:rPr lang="en-US" altLang="en-US" sz="2200" dirty="0">
                <a:latin typeface="Arial (Body)"/>
              </a:rPr>
              <a:t>Then all investors would want to hold dollar deposits, driving up the demand and price of dollars.</a:t>
            </a:r>
          </a:p>
          <a:p>
            <a:pPr lvl="1"/>
            <a:r>
              <a:rPr lang="en-US" altLang="en-US" sz="2200" dirty="0">
                <a:latin typeface="Arial (Body)"/>
              </a:rPr>
              <a:t>The dollar would appreciate and the euro would depreciate, increasing the right side until equality was achieved.</a:t>
            </a:r>
            <a:endParaRPr lang="en-US" sz="2200" dirty="0">
              <a:latin typeface="Arial (Body)"/>
            </a:endParaRPr>
          </a:p>
        </p:txBody>
      </p:sp>
    </p:spTree>
    <p:extLst>
      <p:ext uri="{BB962C8B-B14F-4D97-AF65-F5344CB8AC3E}">
        <p14:creationId xmlns:p14="http://schemas.microsoft.com/office/powerpoint/2010/main" val="19907475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Model of Foreign Exchange Markets </a:t>
            </a:r>
            <a:r>
              <a:rPr lang="en-US" altLang="en-US" sz="2000" b="0" dirty="0"/>
              <a:t>(4 of 6)</a:t>
            </a:r>
            <a:endParaRPr lang="en-IN" dirty="0"/>
          </a:p>
        </p:txBody>
      </p:sp>
      <p:sp>
        <p:nvSpPr>
          <p:cNvPr id="3" name="Content Placeholder 2"/>
          <p:cNvSpPr>
            <a:spLocks noGrp="1"/>
          </p:cNvSpPr>
          <p:nvPr>
            <p:ph sz="quarter" idx="13"/>
          </p:nvPr>
        </p:nvSpPr>
        <p:spPr>
          <a:xfrm>
            <a:off x="457200" y="1556327"/>
            <a:ext cx="8229600" cy="3741537"/>
          </a:xfrm>
        </p:spPr>
        <p:txBody>
          <a:bodyPr/>
          <a:lstStyle/>
          <a:p>
            <a:r>
              <a:rPr lang="en-US" altLang="en-US" dirty="0">
                <a:latin typeface="Arial (Body)"/>
              </a:rPr>
              <a:t>How do changes in the current exchange rate affect the expected rate of return of foreign currency deposits?</a:t>
            </a:r>
          </a:p>
          <a:p>
            <a:pPr eaLnBrk="1" hangingPunct="1"/>
            <a:r>
              <a:rPr lang="en-US" altLang="en-US" dirty="0">
                <a:latin typeface="Arial (Body)"/>
              </a:rPr>
              <a:t>Depreciation of the domestic currency today lowers the expected rate of return on foreign currency deposits.</a:t>
            </a:r>
          </a:p>
          <a:p>
            <a:pPr lvl="1" eaLnBrk="1" hangingPunct="1"/>
            <a:r>
              <a:rPr lang="en-US" altLang="en-US" dirty="0">
                <a:latin typeface="Arial (Body)"/>
              </a:rPr>
              <a:t>When the domestic currency depreciates, the initial cost of investing in foreign currency deposits increases, thereby lowering the expected rate of return of foreign currency deposits.</a:t>
            </a:r>
          </a:p>
        </p:txBody>
      </p:sp>
    </p:spTree>
    <p:extLst>
      <p:ext uri="{BB962C8B-B14F-4D97-AF65-F5344CB8AC3E}">
        <p14:creationId xmlns:p14="http://schemas.microsoft.com/office/powerpoint/2010/main" val="15258810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Model of Foreign Exchange Markets </a:t>
            </a:r>
            <a:r>
              <a:rPr lang="en-US" altLang="en-US" sz="2000" b="0" dirty="0"/>
              <a:t>(5 of 6)</a:t>
            </a:r>
            <a:endParaRPr lang="en-IN" dirty="0"/>
          </a:p>
        </p:txBody>
      </p:sp>
      <p:sp>
        <p:nvSpPr>
          <p:cNvPr id="3" name="Content Placeholder 2"/>
          <p:cNvSpPr>
            <a:spLocks noGrp="1"/>
          </p:cNvSpPr>
          <p:nvPr>
            <p:ph sz="quarter" idx="13"/>
          </p:nvPr>
        </p:nvSpPr>
        <p:spPr>
          <a:xfrm>
            <a:off x="457200" y="1556327"/>
            <a:ext cx="8229600" cy="2949685"/>
          </a:xfrm>
        </p:spPr>
        <p:txBody>
          <a:bodyPr/>
          <a:lstStyle/>
          <a:p>
            <a:pPr eaLnBrk="1" hangingPunct="1"/>
            <a:r>
              <a:rPr lang="en-US" altLang="en-US" dirty="0">
                <a:latin typeface="Arial (Body)"/>
              </a:rPr>
              <a:t>Appreciation of the domestic currency today raises the expected return of deposits on foreign currency deposits. </a:t>
            </a:r>
          </a:p>
          <a:p>
            <a:pPr lvl="1" eaLnBrk="1" hangingPunct="1"/>
            <a:r>
              <a:rPr lang="en-US" altLang="en-US" dirty="0">
                <a:latin typeface="Arial (Body)"/>
              </a:rPr>
              <a:t>When the domestic currency appreciates, the initial cost of investing in foreign currency deposits decreases, thereby lowering the expected rate of return of foreign currency deposits.</a:t>
            </a:r>
          </a:p>
        </p:txBody>
      </p:sp>
    </p:spTree>
    <p:extLst>
      <p:ext uri="{BB962C8B-B14F-4D97-AF65-F5344CB8AC3E}">
        <p14:creationId xmlns:p14="http://schemas.microsoft.com/office/powerpoint/2010/main" val="29915795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1"/>
            <a:ext cx="8450580" cy="1173480"/>
          </a:xfrm>
        </p:spPr>
        <p:txBody>
          <a:bodyPr anchor="ctr"/>
          <a:lstStyle/>
          <a:p>
            <a:r>
              <a:rPr lang="en-US" altLang="en-US" sz="2400" dirty="0"/>
              <a:t>Table 14.4 Today’</a:t>
            </a:r>
            <a:r>
              <a:rPr lang="en-US" altLang="ja-JP" sz="2400" dirty="0"/>
              <a:t>s Dollar/Euro Exchange Rate and the Expected Dollar Return on Euro Deposits When </a:t>
            </a:r>
            <a:r>
              <a:rPr lang="en-US" sz="100" dirty="0">
                <a:effectLst/>
                <a:ea typeface="Calibri" panose="020F0502020204030204" pitchFamily="34" charset="0"/>
              </a:rPr>
              <a:t>upper E to the lower e power, sub $ per euro minus upper E sub $ per euro = $1.05</a:t>
            </a:r>
            <a:r>
              <a:rPr lang="en-US" altLang="ja-JP" sz="100" dirty="0"/>
              <a:t> </a:t>
            </a:r>
            <a:r>
              <a:rPr lang="en-US" altLang="ja-JP" sz="2400" dirty="0"/>
              <a:t>         per Euro</a:t>
            </a:r>
            <a:endParaRPr lang="en-IN" sz="2400" dirty="0"/>
          </a:p>
        </p:txBody>
      </p:sp>
      <p:graphicFrame>
        <p:nvGraphicFramePr>
          <p:cNvPr id="4" name="Object 3">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258892658"/>
              </p:ext>
            </p:extLst>
          </p:nvPr>
        </p:nvGraphicFramePr>
        <p:xfrm>
          <a:off x="7499308" y="503997"/>
          <a:ext cx="1335392" cy="354978"/>
        </p:xfrm>
        <a:graphic>
          <a:graphicData uri="http://schemas.openxmlformats.org/presentationml/2006/ole">
            <mc:AlternateContent xmlns:mc="http://schemas.openxmlformats.org/markup-compatibility/2006">
              <mc:Choice xmlns:v="urn:schemas-microsoft-com:vml" Requires="v">
                <p:oleObj spid="_x0000_s20512" name="Equation" r:id="rId3" imgW="914400" imgH="241200" progId="Equation.DSMT4">
                  <p:embed/>
                </p:oleObj>
              </mc:Choice>
              <mc:Fallback>
                <p:oleObj name="Equation" r:id="rId3" imgW="914400" imgH="241200" progId="Equation.DSMT4">
                  <p:embed/>
                  <p:pic>
                    <p:nvPicPr>
                      <p:cNvPr id="0" name=""/>
                      <p:cNvPicPr/>
                      <p:nvPr/>
                    </p:nvPicPr>
                    <p:blipFill>
                      <a:blip r:embed="rId4"/>
                      <a:stretch>
                        <a:fillRect/>
                      </a:stretch>
                    </p:blipFill>
                    <p:spPr>
                      <a:xfrm>
                        <a:off x="7499308" y="503997"/>
                        <a:ext cx="1335392" cy="354978"/>
                      </a:xfrm>
                      <a:prstGeom prst="rect">
                        <a:avLst/>
                      </a:prstGeom>
                      <a:solidFill>
                        <a:schemeClr val="bg1"/>
                      </a:solidFill>
                    </p:spPr>
                  </p:pic>
                </p:oleObj>
              </mc:Fallback>
            </mc:AlternateContent>
          </a:graphicData>
        </a:graphic>
      </p:graphicFrame>
      <p:graphicFrame>
        <p:nvGraphicFramePr>
          <p:cNvPr id="5" name="Content Placeholder 4">
            <a:extLst>
              <a:ext uri="{C183D7F6-B498-43B3-948B-1728B52AA6E4}">
                <adec:decorative xmlns:adec="http://schemas.microsoft.com/office/drawing/2017/decorative" xmlns="" val="1"/>
              </a:ext>
            </a:extLst>
          </p:cNvPr>
          <p:cNvGraphicFramePr>
            <a:graphicFrameLocks noGrp="1"/>
          </p:cNvGraphicFramePr>
          <p:nvPr>
            <p:ph sz="quarter" idx="13"/>
            <p:extLst>
              <p:ext uri="{D42A27DB-BD31-4B8C-83A1-F6EECF244321}">
                <p14:modId xmlns:p14="http://schemas.microsoft.com/office/powerpoint/2010/main" val="1155230836"/>
              </p:ext>
            </p:extLst>
          </p:nvPr>
        </p:nvGraphicFramePr>
        <p:xfrm>
          <a:off x="457200" y="1555750"/>
          <a:ext cx="8229600" cy="3098800"/>
        </p:xfrm>
        <a:graphic>
          <a:graphicData uri="http://schemas.openxmlformats.org/drawingml/2006/table">
            <a:tbl>
              <a:tblPr firstRow="1" bandRow="1">
                <a:tableStyleId>{40F9630F-82C1-40B7-BC3A-925EFCFF5E92}</a:tableStyleId>
              </a:tblPr>
              <a:tblGrid>
                <a:gridCol w="2057400">
                  <a:extLst>
                    <a:ext uri="{9D8B030D-6E8A-4147-A177-3AD203B41FA5}">
                      <a16:colId xmlns:a16="http://schemas.microsoft.com/office/drawing/2014/main" val="2270217506"/>
                    </a:ext>
                  </a:extLst>
                </a:gridCol>
                <a:gridCol w="2057400">
                  <a:extLst>
                    <a:ext uri="{9D8B030D-6E8A-4147-A177-3AD203B41FA5}">
                      <a16:colId xmlns:a16="http://schemas.microsoft.com/office/drawing/2014/main" val="390871780"/>
                    </a:ext>
                  </a:extLst>
                </a:gridCol>
                <a:gridCol w="2057400">
                  <a:extLst>
                    <a:ext uri="{9D8B030D-6E8A-4147-A177-3AD203B41FA5}">
                      <a16:colId xmlns:a16="http://schemas.microsoft.com/office/drawing/2014/main" val="485045170"/>
                    </a:ext>
                  </a:extLst>
                </a:gridCol>
                <a:gridCol w="2057400">
                  <a:extLst>
                    <a:ext uri="{9D8B030D-6E8A-4147-A177-3AD203B41FA5}">
                      <a16:colId xmlns:a16="http://schemas.microsoft.com/office/drawing/2014/main" val="2267929793"/>
                    </a:ext>
                  </a:extLst>
                </a:gridCol>
              </a:tblGrid>
              <a:tr h="370840">
                <a:tc>
                  <a:txBody>
                    <a:bodyPr/>
                    <a:lstStyle/>
                    <a:p>
                      <a:pPr algn="ctr"/>
                      <a:r>
                        <a:rPr lang="en-US" noProof="0">
                          <a:latin typeface="+mn-lt"/>
                        </a:rPr>
                        <a:t>Today’s Dollar/Euro Exchange 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Interest</a:t>
                      </a:r>
                      <a:r>
                        <a:rPr lang="en-US" baseline="0" noProof="0">
                          <a:latin typeface="+mn-lt"/>
                        </a:rPr>
                        <a:t> Rate on Euro</a:t>
                      </a:r>
                      <a:endParaRPr lang="en-US" noProof="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Expected Dollar Depreciation Rate against Euro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Expected Dollar Return</a:t>
                      </a:r>
                      <a:r>
                        <a:rPr lang="en-US" baseline="0" noProof="0">
                          <a:latin typeface="+mn-lt"/>
                        </a:rPr>
                        <a:t> on Euro Deposits</a:t>
                      </a:r>
                      <a:endParaRPr lang="en-US" noProof="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7315706"/>
                  </a:ext>
                </a:extLst>
              </a:tr>
              <a:tr h="513080">
                <a:tc>
                  <a:txBody>
                    <a:bodyPr/>
                    <a:lstStyle/>
                    <a:p>
                      <a:pPr algn="ctr"/>
                      <a:r>
                        <a:rPr lang="en-US" sz="100" b="0" i="0" u="none" strike="noStrike" cap="none" noProof="0">
                          <a:solidFill>
                            <a:schemeClr val="dk1"/>
                          </a:solidFill>
                          <a:effectLst/>
                          <a:latin typeface="Arial"/>
                          <a:ea typeface="Arial"/>
                          <a:cs typeface="Arial"/>
                          <a:sym typeface="Arial"/>
                        </a:rPr>
                        <a:t>E sub $ per euro</a:t>
                      </a:r>
                      <a:endParaRPr lang="en-US" sz="100" noProof="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a:solidFill>
                            <a:schemeClr val="dk1"/>
                          </a:solidFill>
                          <a:effectLst/>
                          <a:latin typeface="Arial"/>
                          <a:ea typeface="Arial"/>
                          <a:cs typeface="Arial"/>
                          <a:sym typeface="Arial"/>
                        </a:rPr>
                        <a:t>R sub euro</a:t>
                      </a:r>
                      <a:endParaRPr lang="en-US" sz="100" noProof="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a:solidFill>
                            <a:schemeClr val="dk1"/>
                          </a:solidFill>
                          <a:effectLst/>
                          <a:latin typeface="Arial"/>
                          <a:ea typeface="Arial"/>
                          <a:cs typeface="Arial"/>
                          <a:sym typeface="Arial"/>
                        </a:rPr>
                        <a:t>start fraction upper 1.05 minus upper E sub $ per euro over upper E sub $ per euro end fraction</a:t>
                      </a:r>
                      <a:endParaRPr lang="en-US" sz="100" noProof="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a:solidFill>
                            <a:schemeClr val="dk1"/>
                          </a:solidFill>
                          <a:effectLst/>
                          <a:latin typeface="Arial"/>
                          <a:ea typeface="Arial"/>
                          <a:cs typeface="Arial"/>
                          <a:sym typeface="Arial"/>
                        </a:rPr>
                        <a:t>R sub euro + start fraction 1.05 minus upper E sub $ per euro over upper E sub $ per euro end fraction</a:t>
                      </a:r>
                      <a:endParaRPr lang="en-US" sz="100" noProof="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310218"/>
                  </a:ext>
                </a:extLst>
              </a:tr>
              <a:tr h="370840">
                <a:tc>
                  <a:txBody>
                    <a:bodyPr/>
                    <a:lstStyle/>
                    <a:p>
                      <a:pPr algn="ctr"/>
                      <a:r>
                        <a:rPr lang="en-US" noProof="0">
                          <a:latin typeface="+mn-lt"/>
                        </a:rPr>
                        <a:t>1.07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a:solidFill>
                            <a:schemeClr val="dk1"/>
                          </a:solidFill>
                          <a:effectLst/>
                          <a:latin typeface="Arial"/>
                          <a:ea typeface="Arial"/>
                          <a:cs typeface="Arial"/>
                          <a:sym typeface="Arial"/>
                        </a:rPr>
                        <a:t>Negative 0.019</a:t>
                      </a:r>
                      <a:endParaRPr lang="en-US" sz="100" noProof="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29984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latin typeface="+mn-lt"/>
                        </a:rPr>
                        <a:t>1.05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9938451"/>
                  </a:ext>
                </a:extLst>
              </a:tr>
              <a:tr h="370840">
                <a:tc>
                  <a:txBody>
                    <a:bodyPr/>
                    <a:lstStyle/>
                    <a:p>
                      <a:pPr algn="ctr"/>
                      <a:r>
                        <a:rPr lang="en-US" noProof="0">
                          <a:latin typeface="+mn-lt"/>
                        </a:rPr>
                        <a:t>1.03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62316428"/>
                  </a:ext>
                </a:extLst>
              </a:tr>
              <a:tr h="370840">
                <a:tc>
                  <a:txBody>
                    <a:bodyPr/>
                    <a:lstStyle/>
                    <a:p>
                      <a:pPr algn="ctr"/>
                      <a:r>
                        <a:rPr lang="en-US" noProof="0">
                          <a:latin typeface="+mn-lt"/>
                        </a:rPr>
                        <a:t>1.02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0.079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7470375"/>
                  </a:ext>
                </a:extLst>
              </a:tr>
              <a:tr h="370840">
                <a:tc>
                  <a:txBody>
                    <a:bodyPr/>
                    <a:lstStyle/>
                    <a:p>
                      <a:pPr algn="ctr"/>
                      <a:r>
                        <a:rPr lang="en-US" noProof="0">
                          <a:latin typeface="+mn-lt"/>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dirty="0">
                          <a:latin typeface="+mn-lt"/>
                        </a:rPr>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7264298"/>
                  </a:ext>
                </a:extLst>
              </a:tr>
            </a:tbl>
          </a:graphicData>
        </a:graphic>
      </p:graphicFrame>
      <p:graphicFrame>
        <p:nvGraphicFramePr>
          <p:cNvPr id="7" name="Object 6">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441548521"/>
              </p:ext>
            </p:extLst>
          </p:nvPr>
        </p:nvGraphicFramePr>
        <p:xfrm>
          <a:off x="1386917" y="2320618"/>
          <a:ext cx="313172" cy="245091"/>
        </p:xfrm>
        <a:graphic>
          <a:graphicData uri="http://schemas.openxmlformats.org/presentationml/2006/ole">
            <mc:AlternateContent xmlns:mc="http://schemas.openxmlformats.org/markup-compatibility/2006">
              <mc:Choice xmlns:v="urn:schemas-microsoft-com:vml" Requires="v">
                <p:oleObj spid="_x0000_s20513" name="Equation" r:id="rId5" imgW="291960" imgH="228600" progId="Equation.DSMT4">
                  <p:embed/>
                </p:oleObj>
              </mc:Choice>
              <mc:Fallback>
                <p:oleObj name="Equation" r:id="rId5" imgW="291960" imgH="228600" progId="Equation.DSMT4">
                  <p:embed/>
                  <p:pic>
                    <p:nvPicPr>
                      <p:cNvPr id="0" name=""/>
                      <p:cNvPicPr/>
                      <p:nvPr/>
                    </p:nvPicPr>
                    <p:blipFill>
                      <a:blip r:embed="rId6"/>
                      <a:stretch>
                        <a:fillRect/>
                      </a:stretch>
                    </p:blipFill>
                    <p:spPr>
                      <a:xfrm>
                        <a:off x="1386917" y="2320618"/>
                        <a:ext cx="313172" cy="245091"/>
                      </a:xfrm>
                      <a:prstGeom prst="rect">
                        <a:avLst/>
                      </a:prstGeom>
                      <a:solidFill>
                        <a:schemeClr val="bg1"/>
                      </a:solidFill>
                    </p:spPr>
                  </p:pic>
                </p:oleObj>
              </mc:Fallback>
            </mc:AlternateContent>
          </a:graphicData>
        </a:graphic>
      </p:graphicFrame>
      <p:graphicFrame>
        <p:nvGraphicFramePr>
          <p:cNvPr id="8" name="Object 7">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965674686"/>
              </p:ext>
            </p:extLst>
          </p:nvPr>
        </p:nvGraphicFramePr>
        <p:xfrm>
          <a:off x="3471636" y="2327275"/>
          <a:ext cx="215900" cy="228600"/>
        </p:xfrm>
        <a:graphic>
          <a:graphicData uri="http://schemas.openxmlformats.org/presentationml/2006/ole">
            <mc:AlternateContent xmlns:mc="http://schemas.openxmlformats.org/markup-compatibility/2006">
              <mc:Choice xmlns:v="urn:schemas-microsoft-com:vml" Requires="v">
                <p:oleObj spid="_x0000_s20514" name="Equation" r:id="rId7" imgW="215640" imgH="228600" progId="Equation.DSMT4">
                  <p:embed/>
                </p:oleObj>
              </mc:Choice>
              <mc:Fallback>
                <p:oleObj name="Equation" r:id="rId7" imgW="215640" imgH="228600" progId="Equation.DSMT4">
                  <p:embed/>
                  <p:pic>
                    <p:nvPicPr>
                      <p:cNvPr id="0" name=""/>
                      <p:cNvPicPr/>
                      <p:nvPr/>
                    </p:nvPicPr>
                    <p:blipFill>
                      <a:blip r:embed="rId8"/>
                      <a:stretch>
                        <a:fillRect/>
                      </a:stretch>
                    </p:blipFill>
                    <p:spPr>
                      <a:xfrm>
                        <a:off x="3471636" y="2327275"/>
                        <a:ext cx="215900" cy="228600"/>
                      </a:xfrm>
                      <a:prstGeom prst="rect">
                        <a:avLst/>
                      </a:prstGeom>
                      <a:solidFill>
                        <a:schemeClr val="bg1"/>
                      </a:solidFill>
                    </p:spPr>
                  </p:pic>
                </p:oleObj>
              </mc:Fallback>
            </mc:AlternateContent>
          </a:graphicData>
        </a:graphic>
      </p:graphicFrame>
      <p:graphicFrame>
        <p:nvGraphicFramePr>
          <p:cNvPr id="9" name="Object 8">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1120423519"/>
              </p:ext>
            </p:extLst>
          </p:nvPr>
        </p:nvGraphicFramePr>
        <p:xfrm>
          <a:off x="5248277" y="2325603"/>
          <a:ext cx="681182" cy="415636"/>
        </p:xfrm>
        <a:graphic>
          <a:graphicData uri="http://schemas.openxmlformats.org/presentationml/2006/ole">
            <mc:AlternateContent xmlns:mc="http://schemas.openxmlformats.org/markup-compatibility/2006">
              <mc:Choice xmlns:v="urn:schemas-microsoft-com:vml" Requires="v">
                <p:oleObj spid="_x0000_s20515" name="Equation" r:id="rId9" imgW="749160" imgH="457200" progId="Equation.DSMT4">
                  <p:embed/>
                </p:oleObj>
              </mc:Choice>
              <mc:Fallback>
                <p:oleObj name="Equation" r:id="rId9" imgW="749160" imgH="457200" progId="Equation.DSMT4">
                  <p:embed/>
                  <p:pic>
                    <p:nvPicPr>
                      <p:cNvPr id="0" name=""/>
                      <p:cNvPicPr/>
                      <p:nvPr/>
                    </p:nvPicPr>
                    <p:blipFill>
                      <a:blip r:embed="rId10"/>
                      <a:stretch>
                        <a:fillRect/>
                      </a:stretch>
                    </p:blipFill>
                    <p:spPr>
                      <a:xfrm>
                        <a:off x="5248277" y="2325603"/>
                        <a:ext cx="681182" cy="415636"/>
                      </a:xfrm>
                      <a:prstGeom prst="rect">
                        <a:avLst/>
                      </a:prstGeom>
                      <a:solidFill>
                        <a:schemeClr val="bg1"/>
                      </a:solidFill>
                    </p:spPr>
                  </p:pic>
                </p:oleObj>
              </mc:Fallback>
            </mc:AlternateContent>
          </a:graphicData>
        </a:graphic>
      </p:graphicFrame>
      <p:graphicFrame>
        <p:nvGraphicFramePr>
          <p:cNvPr id="10" name="Object 9">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379235020"/>
              </p:ext>
            </p:extLst>
          </p:nvPr>
        </p:nvGraphicFramePr>
        <p:xfrm>
          <a:off x="7102252" y="2326696"/>
          <a:ext cx="926628" cy="397125"/>
        </p:xfrm>
        <a:graphic>
          <a:graphicData uri="http://schemas.openxmlformats.org/presentationml/2006/ole">
            <mc:AlternateContent xmlns:mc="http://schemas.openxmlformats.org/markup-compatibility/2006">
              <mc:Choice xmlns:v="urn:schemas-microsoft-com:vml" Requires="v">
                <p:oleObj spid="_x0000_s20516" name="Equation" r:id="rId11" imgW="1066680" imgH="457200" progId="Equation.DSMT4">
                  <p:embed/>
                </p:oleObj>
              </mc:Choice>
              <mc:Fallback>
                <p:oleObj name="Equation" r:id="rId11" imgW="1066680" imgH="457200" progId="Equation.DSMT4">
                  <p:embed/>
                  <p:pic>
                    <p:nvPicPr>
                      <p:cNvPr id="0" name=""/>
                      <p:cNvPicPr/>
                      <p:nvPr/>
                    </p:nvPicPr>
                    <p:blipFill>
                      <a:blip r:embed="rId12"/>
                      <a:stretch>
                        <a:fillRect/>
                      </a:stretch>
                    </p:blipFill>
                    <p:spPr>
                      <a:xfrm>
                        <a:off x="7102252" y="2326696"/>
                        <a:ext cx="926628" cy="397125"/>
                      </a:xfrm>
                      <a:prstGeom prst="rect">
                        <a:avLst/>
                      </a:prstGeom>
                      <a:solidFill>
                        <a:schemeClr val="bg1"/>
                      </a:solidFill>
                    </p:spPr>
                  </p:pic>
                </p:oleObj>
              </mc:Fallback>
            </mc:AlternateContent>
          </a:graphicData>
        </a:graphic>
      </p:graphicFrame>
      <p:graphicFrame>
        <p:nvGraphicFramePr>
          <p:cNvPr id="11" name="Object 10">
            <a:extLs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4229007414"/>
              </p:ext>
            </p:extLst>
          </p:nvPr>
        </p:nvGraphicFramePr>
        <p:xfrm>
          <a:off x="5345789" y="2894694"/>
          <a:ext cx="520700" cy="177800"/>
        </p:xfrm>
        <a:graphic>
          <a:graphicData uri="http://schemas.openxmlformats.org/presentationml/2006/ole">
            <mc:AlternateContent xmlns:mc="http://schemas.openxmlformats.org/markup-compatibility/2006">
              <mc:Choice xmlns:v="urn:schemas-microsoft-com:vml" Requires="v">
                <p:oleObj spid="_x0000_s20517" name="Equation" r:id="rId13" imgW="520560" imgH="177480" progId="Equation.DSMT4">
                  <p:embed/>
                </p:oleObj>
              </mc:Choice>
              <mc:Fallback>
                <p:oleObj name="Equation" r:id="rId13" imgW="520560" imgH="177480" progId="Equation.DSMT4">
                  <p:embed/>
                  <p:pic>
                    <p:nvPicPr>
                      <p:cNvPr id="0" name=""/>
                      <p:cNvPicPr/>
                      <p:nvPr/>
                    </p:nvPicPr>
                    <p:blipFill>
                      <a:blip r:embed="rId14"/>
                      <a:stretch>
                        <a:fillRect/>
                      </a:stretch>
                    </p:blipFill>
                    <p:spPr>
                      <a:xfrm>
                        <a:off x="5345789" y="2894694"/>
                        <a:ext cx="520700" cy="17780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1192700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C183D7F6-B498-43B3-948B-1728B52AA6E4}">
                <adec:decorative xmlns:adec="http://schemas.microsoft.com/office/drawing/2017/decorative" xmlns="" val="1"/>
              </a:ext>
            </a:extLst>
          </p:cNvPr>
          <p:cNvSpPr>
            <a:spLocks noGrp="1"/>
          </p:cNvSpPr>
          <p:nvPr>
            <p:ph type="title"/>
          </p:nvPr>
        </p:nvSpPr>
        <p:spPr/>
        <p:txBody>
          <a:bodyPr anchor="ctr"/>
          <a:lstStyle/>
          <a:p>
            <a:r>
              <a:rPr lang="en-US" altLang="en-US" sz="2400">
                <a:cs typeface="Times New Roman" panose="02020603050405020304" pitchFamily="18" charset="0"/>
              </a:rPr>
              <a:t>Figure 14.3 The Relation Between the Current Dollar/Euro Exchange Rate and the Expected Dollar Return on Euro Deposits</a:t>
            </a:r>
            <a:endParaRPr lang="en-US" sz="2400">
              <a:cs typeface="Times New Roman" panose="02020603050405020304" pitchFamily="18" charset="0"/>
            </a:endParaRPr>
          </a:p>
        </p:txBody>
      </p:sp>
      <p:pic>
        <p:nvPicPr>
          <p:cNvPr id="6" name="Content Placeholder 5" descr="A graph shows today’s dollar relative to euro exchange rate versus expected dollar return on euro deposits.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2941582" y="1524944"/>
            <a:ext cx="3341076" cy="3671875"/>
          </a:xfrm>
        </p:spPr>
      </p:pic>
      <p:sp>
        <p:nvSpPr>
          <p:cNvPr id="5" name="Content Placeholder 4">
            <a:extLst>
              <a:ext uri="{C183D7F6-B498-43B3-948B-1728B52AA6E4}">
                <adec:decorative xmlns:adec="http://schemas.microsoft.com/office/drawing/2017/decorative" xmlns="" val="1"/>
              </a:ext>
            </a:extLst>
          </p:cNvPr>
          <p:cNvSpPr>
            <a:spLocks noGrp="1"/>
          </p:cNvSpPr>
          <p:nvPr>
            <p:ph sz="quarter" idx="14"/>
          </p:nvPr>
        </p:nvSpPr>
        <p:spPr>
          <a:xfrm>
            <a:off x="468314" y="5182466"/>
            <a:ext cx="1255712" cy="434303"/>
          </a:xfrm>
        </p:spPr>
        <p:txBody>
          <a:bodyPr/>
          <a:lstStyle/>
          <a:p>
            <a:pPr marL="432" indent="0">
              <a:buNone/>
            </a:pPr>
            <a:r>
              <a:rPr lang="en-US" sz="1800" b="0" i="0" u="none" strike="noStrike" baseline="0"/>
              <a:t>Given that</a:t>
            </a:r>
            <a:endParaRPr lang="en-US" sz="1800"/>
          </a:p>
        </p:txBody>
      </p:sp>
      <p:graphicFrame>
        <p:nvGraphicFramePr>
          <p:cNvPr id="7" name="Object 6" descr="E sub dollars to euros super e, = 1.05 and R sub euros  = 0.05 ">
            <a:extLst>
              <a:ext uri="{FF2B5EF4-FFF2-40B4-BE49-F238E27FC236}">
                <a16:creationId xmlns:a16="http://schemas.microsoft.com/office/drawing/2014/main" id="{A8A40A73-3DDB-4998-9BC2-82C996B85A11}"/>
              </a:ext>
            </a:extLst>
          </p:cNvPr>
          <p:cNvGraphicFramePr>
            <a:graphicFrameLocks noChangeAspect="1"/>
          </p:cNvGraphicFramePr>
          <p:nvPr>
            <p:extLst>
              <p:ext uri="{D42A27DB-BD31-4B8C-83A1-F6EECF244321}">
                <p14:modId xmlns:p14="http://schemas.microsoft.com/office/powerpoint/2010/main" val="322520358"/>
              </p:ext>
            </p:extLst>
          </p:nvPr>
        </p:nvGraphicFramePr>
        <p:xfrm>
          <a:off x="1798805" y="5266554"/>
          <a:ext cx="2425077" cy="350215"/>
        </p:xfrm>
        <a:graphic>
          <a:graphicData uri="http://schemas.openxmlformats.org/presentationml/2006/ole">
            <mc:AlternateContent xmlns:mc="http://schemas.openxmlformats.org/markup-compatibility/2006">
              <mc:Choice xmlns:v="urn:schemas-microsoft-com:vml" Requires="v">
                <p:oleObj spid="_x0000_s21511" name="Equation" r:id="rId5" imgW="1676160" imgH="241200" progId="Equation.DSMT4">
                  <p:embed/>
                </p:oleObj>
              </mc:Choice>
              <mc:Fallback>
                <p:oleObj name="Equation" r:id="rId5" imgW="1676160" imgH="241200" progId="Equation.DSMT4">
                  <p:embed/>
                  <p:pic>
                    <p:nvPicPr>
                      <p:cNvPr id="24" name="Object 23" descr="E sub dollars to euros super 1, point 1 to , E sub dollars to euros super 2, point 2.">
                        <a:extLst>
                          <a:ext uri="{FF2B5EF4-FFF2-40B4-BE49-F238E27FC236}">
                            <a16:creationId xmlns:a16="http://schemas.microsoft.com/office/drawing/2014/main" id="{864892C3-1868-4EAA-8BC4-8F7CD07A5675}"/>
                          </a:ext>
                        </a:extLst>
                      </p:cNvPr>
                      <p:cNvPicPr/>
                      <p:nvPr/>
                    </p:nvPicPr>
                    <p:blipFill>
                      <a:blip r:embed="rId6"/>
                      <a:stretch>
                        <a:fillRect/>
                      </a:stretch>
                    </p:blipFill>
                    <p:spPr>
                      <a:xfrm>
                        <a:off x="1798805" y="5266554"/>
                        <a:ext cx="2425077" cy="350215"/>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CF1FF24F-C021-4D4E-AE6F-5CD852A002EA}"/>
              </a:ext>
              <a:ext uri="{C183D7F6-B498-43B3-948B-1728B52AA6E4}">
                <adec:decorative xmlns:adec="http://schemas.microsoft.com/office/drawing/2017/decorative" xmlns="" val="1"/>
              </a:ext>
            </a:extLst>
          </p:cNvPr>
          <p:cNvSpPr>
            <a:spLocks noGrp="1"/>
          </p:cNvSpPr>
          <p:nvPr>
            <p:ph sz="quarter" idx="15"/>
          </p:nvPr>
        </p:nvSpPr>
        <p:spPr>
          <a:xfrm>
            <a:off x="4331927" y="5298980"/>
            <a:ext cx="3745274" cy="317789"/>
          </a:xfrm>
        </p:spPr>
        <p:txBody>
          <a:bodyPr lIns="0" tIns="0" rIns="0" bIns="0"/>
          <a:lstStyle/>
          <a:p>
            <a:pPr marL="432" indent="0" algn="l">
              <a:buNone/>
            </a:pPr>
            <a:r>
              <a:rPr lang="en-US" sz="1800" b="0" i="0" u="none" strike="noStrike" baseline="0"/>
              <a:t>an appreciation of the dollar against</a:t>
            </a:r>
            <a:endParaRPr lang="en-US"/>
          </a:p>
        </p:txBody>
      </p:sp>
      <p:sp>
        <p:nvSpPr>
          <p:cNvPr id="4" name="Content Placeholder 3">
            <a:extLst>
              <a:ext uri="{FF2B5EF4-FFF2-40B4-BE49-F238E27FC236}">
                <a16:creationId xmlns:a16="http://schemas.microsoft.com/office/drawing/2014/main" id="{2C7FD820-41F9-4B48-A8A3-29E1943C3B5B}"/>
              </a:ext>
              <a:ext uri="{C183D7F6-B498-43B3-948B-1728B52AA6E4}">
                <adec:decorative xmlns:adec="http://schemas.microsoft.com/office/drawing/2017/decorative" xmlns="" val="1"/>
              </a:ext>
            </a:extLst>
          </p:cNvPr>
          <p:cNvSpPr>
            <a:spLocks noGrp="1"/>
          </p:cNvSpPr>
          <p:nvPr>
            <p:ph sz="quarter" idx="16"/>
          </p:nvPr>
        </p:nvSpPr>
        <p:spPr>
          <a:xfrm>
            <a:off x="457200" y="5691332"/>
            <a:ext cx="8559438" cy="487795"/>
          </a:xfrm>
        </p:spPr>
        <p:txBody>
          <a:bodyPr/>
          <a:lstStyle/>
          <a:p>
            <a:pPr marL="432" indent="0" algn="l">
              <a:buNone/>
            </a:pPr>
            <a:r>
              <a:rPr lang="en-US" sz="1800" b="0" i="0" u="none" strike="noStrike" baseline="0"/>
              <a:t>the euro raises the expected return on euro deposits, measured in terms of dollars.</a:t>
            </a:r>
            <a:endParaRPr lang="en-US"/>
          </a:p>
        </p:txBody>
      </p:sp>
    </p:spTree>
    <p:extLst>
      <p:ext uri="{BB962C8B-B14F-4D97-AF65-F5344CB8AC3E}">
        <p14:creationId xmlns:p14="http://schemas.microsoft.com/office/powerpoint/2010/main" val="9691429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a:t>Figure 14.4 Determination of the Equilibrium Dollar/Euro Exchange Rate</a:t>
            </a:r>
            <a:endParaRPr lang="en-US" sz="3200"/>
          </a:p>
        </p:txBody>
      </p:sp>
      <p:pic>
        <p:nvPicPr>
          <p:cNvPr id="4" name="Content Placeholder 3" descr="A graph plots dollar to euro exchange rate versus the rates of return, in dollar term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684860" y="1574468"/>
            <a:ext cx="3774279" cy="3653503"/>
          </a:xfrm>
        </p:spPr>
      </p:pic>
      <p:sp>
        <p:nvSpPr>
          <p:cNvPr id="5" name="Content Placeholder 4"/>
          <p:cNvSpPr>
            <a:spLocks noGrp="1"/>
          </p:cNvSpPr>
          <p:nvPr>
            <p:ph sz="quarter" idx="14"/>
          </p:nvPr>
        </p:nvSpPr>
        <p:spPr>
          <a:xfrm>
            <a:off x="457200" y="5437781"/>
            <a:ext cx="8229600" cy="812190"/>
          </a:xfrm>
        </p:spPr>
        <p:txBody>
          <a:bodyPr/>
          <a:lstStyle/>
          <a:p>
            <a:pPr marL="432" indent="0">
              <a:buNone/>
            </a:pPr>
            <a:r>
              <a:rPr lang="en-US" sz="2000">
                <a:latin typeface="Arial (Body)"/>
              </a:rPr>
              <a:t>Equilibrium in the foreign exchange market is at point 1, where the expected dollar returns on dollar and euro deposits are equal.</a:t>
            </a:r>
          </a:p>
        </p:txBody>
      </p:sp>
    </p:spTree>
    <p:extLst>
      <p:ext uri="{BB962C8B-B14F-4D97-AF65-F5344CB8AC3E}">
        <p14:creationId xmlns:p14="http://schemas.microsoft.com/office/powerpoint/2010/main" val="8160946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Model of Foreign Exchange Markets </a:t>
            </a:r>
            <a:r>
              <a:rPr lang="en-US" altLang="en-US" sz="2000" b="0" dirty="0"/>
              <a:t>(6 of 6) </a:t>
            </a:r>
            <a:endParaRPr lang="en-IN" dirty="0"/>
          </a:p>
        </p:txBody>
      </p:sp>
      <p:sp>
        <p:nvSpPr>
          <p:cNvPr id="3" name="Content Placeholder 2"/>
          <p:cNvSpPr>
            <a:spLocks noGrp="1"/>
          </p:cNvSpPr>
          <p:nvPr>
            <p:ph sz="quarter" idx="13"/>
          </p:nvPr>
        </p:nvSpPr>
        <p:spPr>
          <a:xfrm>
            <a:off x="457200" y="1556327"/>
            <a:ext cx="8229600" cy="3977698"/>
          </a:xfrm>
        </p:spPr>
        <p:txBody>
          <a:bodyPr/>
          <a:lstStyle/>
          <a:p>
            <a:pPr eaLnBrk="1" hangingPunct="1"/>
            <a:r>
              <a:rPr lang="en-US" altLang="en-US" dirty="0">
                <a:latin typeface="Arial (Body)"/>
              </a:rPr>
              <a:t>The effects of changing interest rates: </a:t>
            </a:r>
          </a:p>
          <a:p>
            <a:pPr lvl="1" eaLnBrk="1" hangingPunct="1"/>
            <a:r>
              <a:rPr lang="en-US" altLang="en-US" dirty="0">
                <a:latin typeface="Arial (Body)"/>
              </a:rPr>
              <a:t>An increase in the interest rate paid on deposits denominated in a particular currency will increase the rate of return on those deposits. </a:t>
            </a:r>
          </a:p>
          <a:p>
            <a:pPr lvl="1" eaLnBrk="1" hangingPunct="1"/>
            <a:r>
              <a:rPr lang="en-US" altLang="en-US" dirty="0">
                <a:latin typeface="Arial (Body)"/>
              </a:rPr>
              <a:t>This leads to an appreciation of the currency.</a:t>
            </a:r>
          </a:p>
          <a:p>
            <a:pPr lvl="1" eaLnBrk="1" hangingPunct="1"/>
            <a:r>
              <a:rPr lang="en-US" altLang="en-US" dirty="0">
                <a:latin typeface="Arial (Body)"/>
              </a:rPr>
              <a:t>Higher interest rates on dollar-denominated assets cause the dollar to appreciate.</a:t>
            </a:r>
          </a:p>
          <a:p>
            <a:pPr lvl="1" eaLnBrk="1" hangingPunct="1"/>
            <a:r>
              <a:rPr lang="en-US" altLang="en-US" dirty="0">
                <a:latin typeface="Arial (Body)"/>
              </a:rPr>
              <a:t>Higher interest rates on euro-denominated assets cause the dollar to depreciate.</a:t>
            </a:r>
            <a:endParaRPr lang="en-IN" dirty="0"/>
          </a:p>
        </p:txBody>
      </p:sp>
    </p:spTree>
    <p:extLst>
      <p:ext uri="{BB962C8B-B14F-4D97-AF65-F5344CB8AC3E}">
        <p14:creationId xmlns:p14="http://schemas.microsoft.com/office/powerpoint/2010/main" val="14585022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a:t>Figure 14.5 Effect of a Rise in the Dollar Interest Rate</a:t>
            </a:r>
            <a:endParaRPr lang="en-US" sz="3200"/>
          </a:p>
        </p:txBody>
      </p:sp>
      <p:pic>
        <p:nvPicPr>
          <p:cNvPr id="6" name="Content Placeholder 5" descr="A graph shows the effect of a rise in the dollar interest rate, with the dollar to euro exchange rate plotted versus the rates of dollar return.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2761762" y="1700213"/>
            <a:ext cx="3341076" cy="3331664"/>
          </a:xfrm>
        </p:spPr>
      </p:pic>
      <p:sp>
        <p:nvSpPr>
          <p:cNvPr id="5" name="Content Placeholder 4"/>
          <p:cNvSpPr>
            <a:spLocks noGrp="1"/>
          </p:cNvSpPr>
          <p:nvPr>
            <p:ph sz="quarter" idx="14"/>
          </p:nvPr>
        </p:nvSpPr>
        <p:spPr>
          <a:xfrm>
            <a:off x="457200" y="5244032"/>
            <a:ext cx="5854700" cy="420168"/>
          </a:xfrm>
        </p:spPr>
        <p:txBody>
          <a:bodyPr/>
          <a:lstStyle/>
          <a:p>
            <a:pPr marL="432" indent="0" algn="l">
              <a:buNone/>
            </a:pPr>
            <a:r>
              <a:rPr lang="en-US" sz="1800" b="0" i="0" u="none" strike="noStrike" baseline="0"/>
              <a:t>A rise in the interest rate offered by dollar deposits from</a:t>
            </a:r>
            <a:endParaRPr lang="en-US" sz="2000"/>
          </a:p>
        </p:txBody>
      </p:sp>
      <p:graphicFrame>
        <p:nvGraphicFramePr>
          <p:cNvPr id="8" name="Object 7" descr="R sub dollars, super 1, to , E sub dollars  super 2.">
            <a:extLst>
              <a:ext uri="{FF2B5EF4-FFF2-40B4-BE49-F238E27FC236}">
                <a16:creationId xmlns:a16="http://schemas.microsoft.com/office/drawing/2014/main" id="{D61235B9-5C59-4933-8160-AB6CE10744D2}"/>
              </a:ext>
            </a:extLst>
          </p:cNvPr>
          <p:cNvGraphicFramePr>
            <a:graphicFrameLocks noChangeAspect="1"/>
          </p:cNvGraphicFramePr>
          <p:nvPr>
            <p:extLst>
              <p:ext uri="{D42A27DB-BD31-4B8C-83A1-F6EECF244321}">
                <p14:modId xmlns:p14="http://schemas.microsoft.com/office/powerpoint/2010/main" val="342730586"/>
              </p:ext>
            </p:extLst>
          </p:nvPr>
        </p:nvGraphicFramePr>
        <p:xfrm>
          <a:off x="6345238" y="5323030"/>
          <a:ext cx="830262" cy="336550"/>
        </p:xfrm>
        <a:graphic>
          <a:graphicData uri="http://schemas.openxmlformats.org/presentationml/2006/ole">
            <mc:AlternateContent xmlns:mc="http://schemas.openxmlformats.org/markup-compatibility/2006">
              <mc:Choice xmlns:v="urn:schemas-microsoft-com:vml" Requires="v">
                <p:oleObj spid="_x0000_s22540" name="Equation" r:id="rId5" imgW="596880" imgH="241200" progId="Equation.DSMT4">
                  <p:embed/>
                </p:oleObj>
              </mc:Choice>
              <mc:Fallback>
                <p:oleObj name="Equation" r:id="rId5" imgW="596880" imgH="241200" progId="Equation.DSMT4">
                  <p:embed/>
                  <p:pic>
                    <p:nvPicPr>
                      <p:cNvPr id="7" name="Object 6" descr="E sub dollars to euros super 1, point 1 to , E sub dollars to euros super 2, point 2.">
                        <a:extLst>
                          <a:ext uri="{FF2B5EF4-FFF2-40B4-BE49-F238E27FC236}">
                            <a16:creationId xmlns:a16="http://schemas.microsoft.com/office/drawing/2014/main" id="{F733EB8D-6583-4565-A242-809DCC46EEAC}"/>
                          </a:ext>
                        </a:extLst>
                      </p:cNvPr>
                      <p:cNvPicPr/>
                      <p:nvPr/>
                    </p:nvPicPr>
                    <p:blipFill>
                      <a:blip r:embed="rId6"/>
                      <a:stretch>
                        <a:fillRect/>
                      </a:stretch>
                    </p:blipFill>
                    <p:spPr>
                      <a:xfrm>
                        <a:off x="6345238" y="5323030"/>
                        <a:ext cx="830262" cy="336550"/>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AEC5C03C-E67A-4164-80B5-FBCD7A385A79}"/>
              </a:ext>
            </a:extLst>
          </p:cNvPr>
          <p:cNvSpPr>
            <a:spLocks noGrp="1"/>
          </p:cNvSpPr>
          <p:nvPr>
            <p:ph sz="quarter" idx="15"/>
          </p:nvPr>
        </p:nvSpPr>
        <p:spPr>
          <a:xfrm>
            <a:off x="457200" y="5734050"/>
            <a:ext cx="3835400" cy="473075"/>
          </a:xfrm>
        </p:spPr>
        <p:txBody>
          <a:bodyPr/>
          <a:lstStyle/>
          <a:p>
            <a:pPr marL="432" indent="0" algn="l">
              <a:buNone/>
            </a:pPr>
            <a:r>
              <a:rPr lang="en-US" sz="1800" b="0" i="0" u="none" strike="noStrike" baseline="0"/>
              <a:t>causes the dollar to appreciate from</a:t>
            </a:r>
            <a:endParaRPr lang="en-US"/>
          </a:p>
        </p:txBody>
      </p:sp>
      <p:graphicFrame>
        <p:nvGraphicFramePr>
          <p:cNvPr id="7" name="Object 6" descr="E sub dollars to euros super 1, point 1 to , E sub dollars to euros super 2, point 2.">
            <a:extLst>
              <a:ext uri="{FF2B5EF4-FFF2-40B4-BE49-F238E27FC236}">
                <a16:creationId xmlns:a16="http://schemas.microsoft.com/office/drawing/2014/main" id="{F733EB8D-6583-4565-A242-809DCC46EEAC}"/>
              </a:ext>
            </a:extLst>
          </p:cNvPr>
          <p:cNvGraphicFramePr>
            <a:graphicFrameLocks noChangeAspect="1"/>
          </p:cNvGraphicFramePr>
          <p:nvPr>
            <p:extLst>
              <p:ext uri="{D42A27DB-BD31-4B8C-83A1-F6EECF244321}">
                <p14:modId xmlns:p14="http://schemas.microsoft.com/office/powerpoint/2010/main" val="4273217893"/>
              </p:ext>
            </p:extLst>
          </p:nvPr>
        </p:nvGraphicFramePr>
        <p:xfrm>
          <a:off x="4384675" y="5807075"/>
          <a:ext cx="2630488" cy="336550"/>
        </p:xfrm>
        <a:graphic>
          <a:graphicData uri="http://schemas.openxmlformats.org/presentationml/2006/ole">
            <mc:AlternateContent xmlns:mc="http://schemas.openxmlformats.org/markup-compatibility/2006">
              <mc:Choice xmlns:v="urn:schemas-microsoft-com:vml" Requires="v">
                <p:oleObj spid="_x0000_s22541" name="Equation" r:id="rId7" imgW="1892160" imgH="241200" progId="Equation.DSMT4">
                  <p:embed/>
                </p:oleObj>
              </mc:Choice>
              <mc:Fallback>
                <p:oleObj name="Equation" r:id="rId7" imgW="1892160" imgH="241200" progId="Equation.DSMT4">
                  <p:embed/>
                  <p:pic>
                    <p:nvPicPr>
                      <p:cNvPr id="24" name="Object 23" descr="E sub dollars to euros super 1, point 1 to , E sub dollars to euros super 2, point 2.">
                        <a:extLst>
                          <a:ext uri="{FF2B5EF4-FFF2-40B4-BE49-F238E27FC236}">
                            <a16:creationId xmlns:a16="http://schemas.microsoft.com/office/drawing/2014/main" id="{864892C3-1868-4EAA-8BC4-8F7CD07A5675}"/>
                          </a:ext>
                        </a:extLst>
                      </p:cNvPr>
                      <p:cNvPicPr/>
                      <p:nvPr/>
                    </p:nvPicPr>
                    <p:blipFill>
                      <a:blip r:embed="rId8"/>
                      <a:stretch>
                        <a:fillRect/>
                      </a:stretch>
                    </p:blipFill>
                    <p:spPr>
                      <a:xfrm>
                        <a:off x="4384675" y="5807075"/>
                        <a:ext cx="2630488" cy="336550"/>
                      </a:xfrm>
                      <a:prstGeom prst="rect">
                        <a:avLst/>
                      </a:prstGeom>
                    </p:spPr>
                  </p:pic>
                </p:oleObj>
              </mc:Fallback>
            </mc:AlternateContent>
          </a:graphicData>
        </a:graphic>
      </p:graphicFrame>
    </p:spTree>
    <p:extLst>
      <p:ext uri="{BB962C8B-B14F-4D97-AF65-F5344CB8AC3E}">
        <p14:creationId xmlns:p14="http://schemas.microsoft.com/office/powerpoint/2010/main" val="42599572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006DCBB-EA42-48CB-BC6C-532E6B24696D}"/>
              </a:ext>
            </a:extLst>
          </p:cNvPr>
          <p:cNvSpPr>
            <a:spLocks noGrp="1"/>
          </p:cNvSpPr>
          <p:nvPr>
            <p:ph type="title"/>
          </p:nvPr>
        </p:nvSpPr>
        <p:spPr/>
        <p:txBody>
          <a:bodyPr/>
          <a:lstStyle/>
          <a:p>
            <a:r>
              <a:rPr lang="en-US" altLang="en-US" sz="3200"/>
              <a:t>Figure 14.6 Effect of a Rise in the Euro Interest Rate</a:t>
            </a:r>
            <a:endParaRPr lang="en-US" sz="3200"/>
          </a:p>
        </p:txBody>
      </p:sp>
      <p:pic>
        <p:nvPicPr>
          <p:cNvPr id="22" name="Content Placeholder 21" descr="A graph shows the effect of a rise in the euro interest rate, with the dollar to euro exchange rate plotted versus the rates of dollar return. For long description in Notes pane, press F6.">
            <a:extLst>
              <a:ext uri="{FF2B5EF4-FFF2-40B4-BE49-F238E27FC236}">
                <a16:creationId xmlns:a16="http://schemas.microsoft.com/office/drawing/2014/main" id="{3133EEE9-52BD-4617-AE75-C208161336E2}"/>
              </a:ext>
            </a:extLst>
          </p:cNvPr>
          <p:cNvPicPr>
            <a:picLocks noGrp="1" noChangeAspect="1"/>
          </p:cNvPicPr>
          <p:nvPr>
            <p:ph sz="quarter" idx="13"/>
          </p:nvPr>
        </p:nvPicPr>
        <p:blipFill>
          <a:blip r:embed="rId4"/>
          <a:stretch>
            <a:fillRect/>
          </a:stretch>
        </p:blipFill>
        <p:spPr>
          <a:xfrm>
            <a:off x="3044358" y="1564792"/>
            <a:ext cx="3160058" cy="2969591"/>
          </a:xfrm>
        </p:spPr>
      </p:pic>
      <p:sp>
        <p:nvSpPr>
          <p:cNvPr id="8" name="Content Placeholder 7">
            <a:extLst>
              <a:ext uri="{FF2B5EF4-FFF2-40B4-BE49-F238E27FC236}">
                <a16:creationId xmlns:a16="http://schemas.microsoft.com/office/drawing/2014/main" id="{C8403F76-0886-4F44-AF0A-47793675F9FA}"/>
              </a:ext>
            </a:extLst>
          </p:cNvPr>
          <p:cNvSpPr>
            <a:spLocks noGrp="1"/>
          </p:cNvSpPr>
          <p:nvPr>
            <p:ph sz="quarter" idx="14"/>
          </p:nvPr>
        </p:nvSpPr>
        <p:spPr>
          <a:xfrm>
            <a:off x="457200" y="5137137"/>
            <a:ext cx="7667625" cy="288303"/>
          </a:xfrm>
        </p:spPr>
        <p:txBody>
          <a:bodyPr tIns="0" rIns="0" bIns="0"/>
          <a:lstStyle/>
          <a:p>
            <a:pPr marL="432" indent="0" algn="l">
              <a:buNone/>
            </a:pPr>
            <a:r>
              <a:rPr lang="en-US" sz="1600" b="0" i="0" u="none" strike="noStrike" baseline="0" dirty="0"/>
              <a:t>A rise in the interest rate paid by euro deposits causes the dollar to depreciate from</a:t>
            </a:r>
            <a:endParaRPr lang="en-US" sz="1600" dirty="0"/>
          </a:p>
        </p:txBody>
      </p:sp>
      <p:graphicFrame>
        <p:nvGraphicFramePr>
          <p:cNvPr id="24" name="Object 23" descr="E sub dollars to euros super 1, point 1 to , E sub dollars to euros super 2, point 2.">
            <a:extLst>
              <a:ext uri="{FF2B5EF4-FFF2-40B4-BE49-F238E27FC236}">
                <a16:creationId xmlns:a16="http://schemas.microsoft.com/office/drawing/2014/main" id="{864892C3-1868-4EAA-8BC4-8F7CD07A5675}"/>
              </a:ext>
            </a:extLst>
          </p:cNvPr>
          <p:cNvGraphicFramePr>
            <a:graphicFrameLocks noChangeAspect="1"/>
          </p:cNvGraphicFramePr>
          <p:nvPr>
            <p:extLst>
              <p:ext uri="{D42A27DB-BD31-4B8C-83A1-F6EECF244321}">
                <p14:modId xmlns:p14="http://schemas.microsoft.com/office/powerpoint/2010/main" val="1511186179"/>
              </p:ext>
            </p:extLst>
          </p:nvPr>
        </p:nvGraphicFramePr>
        <p:xfrm>
          <a:off x="549856" y="5559612"/>
          <a:ext cx="2553126" cy="326652"/>
        </p:xfrm>
        <a:graphic>
          <a:graphicData uri="http://schemas.openxmlformats.org/presentationml/2006/ole">
            <mc:AlternateContent xmlns:mc="http://schemas.openxmlformats.org/markup-compatibility/2006">
              <mc:Choice xmlns:v="urn:schemas-microsoft-com:vml" Requires="v">
                <p:oleObj spid="_x0000_s23564" name="Equation" r:id="rId5" imgW="1892160" imgH="241200" progId="Equation.DSMT4">
                  <p:embed/>
                </p:oleObj>
              </mc:Choice>
              <mc:Fallback>
                <p:oleObj name="Equation" r:id="rId5" imgW="1892160" imgH="241200" progId="Equation.DSMT4">
                  <p:embed/>
                  <p:pic>
                    <p:nvPicPr>
                      <p:cNvPr id="23" name="Object 22" descr="$ per euro">
                        <a:extLst>
                          <a:ext uri="{FF2B5EF4-FFF2-40B4-BE49-F238E27FC236}">
                            <a16:creationId xmlns:a16="http://schemas.microsoft.com/office/drawing/2014/main" id="{A6D7DA4C-4C19-4CCB-89E1-B7733DF2FEA4}"/>
                          </a:ext>
                        </a:extLst>
                      </p:cNvPr>
                      <p:cNvPicPr/>
                      <p:nvPr/>
                    </p:nvPicPr>
                    <p:blipFill>
                      <a:blip r:embed="rId6"/>
                      <a:stretch>
                        <a:fillRect/>
                      </a:stretch>
                    </p:blipFill>
                    <p:spPr>
                      <a:xfrm>
                        <a:off x="549856" y="5559612"/>
                        <a:ext cx="2553126" cy="326652"/>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CAAA564D-7E2A-4211-934F-D2F1887D055E}"/>
              </a:ext>
            </a:extLst>
          </p:cNvPr>
          <p:cNvSpPr>
            <a:spLocks noGrp="1"/>
          </p:cNvSpPr>
          <p:nvPr>
            <p:ph sz="quarter" idx="15"/>
          </p:nvPr>
        </p:nvSpPr>
        <p:spPr>
          <a:xfrm>
            <a:off x="3234690" y="5581278"/>
            <a:ext cx="4714875" cy="298821"/>
          </a:xfrm>
        </p:spPr>
        <p:txBody>
          <a:bodyPr lIns="0" tIns="0" rIns="0" bIns="0"/>
          <a:lstStyle/>
          <a:p>
            <a:pPr marL="432" indent="0" algn="l">
              <a:buNone/>
            </a:pPr>
            <a:r>
              <a:rPr lang="en-US" sz="1600" b="0" i="0" u="none" strike="noStrike" baseline="0"/>
              <a:t>(This figure also describes the effect of a rise in the</a:t>
            </a:r>
            <a:endParaRPr lang="en-US" sz="1600"/>
          </a:p>
        </p:txBody>
      </p:sp>
      <p:sp>
        <p:nvSpPr>
          <p:cNvPr id="10" name="Content Placeholder 9">
            <a:extLst>
              <a:ext uri="{FF2B5EF4-FFF2-40B4-BE49-F238E27FC236}">
                <a16:creationId xmlns:a16="http://schemas.microsoft.com/office/drawing/2014/main" id="{726242CF-EC0E-4CC3-BC1D-AA3F1891B39F}"/>
              </a:ext>
            </a:extLst>
          </p:cNvPr>
          <p:cNvSpPr>
            <a:spLocks noGrp="1"/>
          </p:cNvSpPr>
          <p:nvPr>
            <p:ph sz="quarter" idx="16"/>
          </p:nvPr>
        </p:nvSpPr>
        <p:spPr>
          <a:xfrm>
            <a:off x="496889" y="6018384"/>
            <a:ext cx="1617662" cy="267481"/>
          </a:xfrm>
        </p:spPr>
        <p:txBody>
          <a:bodyPr tIns="0" rIns="0" bIns="0"/>
          <a:lstStyle/>
          <a:p>
            <a:pPr marL="432" indent="0">
              <a:buNone/>
            </a:pPr>
            <a:r>
              <a:rPr lang="en-US" sz="1600" b="0" i="0" u="none" strike="noStrike" baseline="0"/>
              <a:t>expected future</a:t>
            </a:r>
            <a:endParaRPr lang="en-US" sz="1600"/>
          </a:p>
        </p:txBody>
      </p:sp>
      <p:graphicFrame>
        <p:nvGraphicFramePr>
          <p:cNvPr id="23" name="Object 22" descr="$ per euro">
            <a:extLst>
              <a:ext uri="{FF2B5EF4-FFF2-40B4-BE49-F238E27FC236}">
                <a16:creationId xmlns:a16="http://schemas.microsoft.com/office/drawing/2014/main" id="{A6D7DA4C-4C19-4CCB-89E1-B7733DF2FEA4}"/>
              </a:ext>
            </a:extLst>
          </p:cNvPr>
          <p:cNvGraphicFramePr>
            <a:graphicFrameLocks noChangeAspect="1"/>
          </p:cNvGraphicFramePr>
          <p:nvPr>
            <p:extLst>
              <p:ext uri="{D42A27DB-BD31-4B8C-83A1-F6EECF244321}">
                <p14:modId xmlns:p14="http://schemas.microsoft.com/office/powerpoint/2010/main" val="2841007647"/>
              </p:ext>
            </p:extLst>
          </p:nvPr>
        </p:nvGraphicFramePr>
        <p:xfrm>
          <a:off x="2153343" y="6049658"/>
          <a:ext cx="431087" cy="258652"/>
        </p:xfrm>
        <a:graphic>
          <a:graphicData uri="http://schemas.openxmlformats.org/presentationml/2006/ole">
            <mc:AlternateContent xmlns:mc="http://schemas.openxmlformats.org/markup-compatibility/2006">
              <mc:Choice xmlns:v="urn:schemas-microsoft-com:vml" Requires="v">
                <p:oleObj spid="_x0000_s23565" name="Equation" r:id="rId7" imgW="317160" imgH="190440" progId="Equation.DSMT4">
                  <p:embed/>
                </p:oleObj>
              </mc:Choice>
              <mc:Fallback>
                <p:oleObj name="Equation" r:id="rId7" imgW="317160" imgH="190440" progId="Equation.DSMT4">
                  <p:embed/>
                  <p:pic>
                    <p:nvPicPr>
                      <p:cNvPr id="10" name="Object 9" descr="$ per euro"/>
                      <p:cNvPicPr/>
                      <p:nvPr/>
                    </p:nvPicPr>
                    <p:blipFill>
                      <a:blip r:embed="rId8"/>
                      <a:stretch>
                        <a:fillRect/>
                      </a:stretch>
                    </p:blipFill>
                    <p:spPr>
                      <a:xfrm>
                        <a:off x="2153343" y="6049658"/>
                        <a:ext cx="431087" cy="258652"/>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8303AF65-B9B3-4586-9C4B-E23BC9C33063}"/>
              </a:ext>
            </a:extLst>
          </p:cNvPr>
          <p:cNvSpPr>
            <a:spLocks noGrp="1"/>
          </p:cNvSpPr>
          <p:nvPr>
            <p:ph sz="quarter" idx="17"/>
          </p:nvPr>
        </p:nvSpPr>
        <p:spPr>
          <a:xfrm>
            <a:off x="2679701" y="6001703"/>
            <a:ext cx="1536699" cy="312737"/>
          </a:xfrm>
        </p:spPr>
        <p:txBody>
          <a:bodyPr lIns="0" tIns="0" rIns="0" bIns="0"/>
          <a:lstStyle/>
          <a:p>
            <a:pPr marL="432" indent="0">
              <a:buNone/>
            </a:pPr>
            <a:r>
              <a:rPr lang="en-US" sz="1600" b="0" i="0" u="none" strike="noStrike" baseline="0"/>
              <a:t>exchange rate.)</a:t>
            </a:r>
            <a:endParaRPr lang="en-US" sz="1600"/>
          </a:p>
        </p:txBody>
      </p:sp>
    </p:spTree>
    <p:extLst>
      <p:ext uri="{BB962C8B-B14F-4D97-AF65-F5344CB8AC3E}">
        <p14:creationId xmlns:p14="http://schemas.microsoft.com/office/powerpoint/2010/main" val="294238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Effect of Changing Expectations on the Current Exchange Rate</a:t>
            </a:r>
            <a:endParaRPr lang="en-IN" sz="3200" dirty="0"/>
          </a:p>
        </p:txBody>
      </p:sp>
      <p:sp>
        <p:nvSpPr>
          <p:cNvPr id="3" name="Content Placeholder 2"/>
          <p:cNvSpPr>
            <a:spLocks noGrp="1"/>
          </p:cNvSpPr>
          <p:nvPr>
            <p:ph sz="quarter" idx="13"/>
          </p:nvPr>
        </p:nvSpPr>
        <p:spPr>
          <a:xfrm>
            <a:off x="457200" y="1556327"/>
            <a:ext cx="8229600" cy="4307145"/>
          </a:xfrm>
        </p:spPr>
        <p:txBody>
          <a:bodyPr/>
          <a:lstStyle/>
          <a:p>
            <a:pPr eaLnBrk="1" hangingPunct="1"/>
            <a:r>
              <a:rPr lang="en-US" altLang="en-US" dirty="0">
                <a:latin typeface="Arial (Body)"/>
              </a:rPr>
              <a:t>If people expect the euro to appreciate in the future, then euro-denominated assets will pay in valuable euros, so that these future euros will be able to buy many dollars and many dollar-denominated goods.</a:t>
            </a:r>
          </a:p>
          <a:p>
            <a:pPr lvl="1" eaLnBrk="1" hangingPunct="1"/>
            <a:r>
              <a:rPr lang="en-US" altLang="en-US" dirty="0">
                <a:latin typeface="Arial (Body)"/>
              </a:rPr>
              <a:t>The expected rate of return on euros therefore increases.</a:t>
            </a:r>
          </a:p>
          <a:p>
            <a:pPr lvl="1" eaLnBrk="1" hangingPunct="1"/>
            <a:r>
              <a:rPr lang="en-US" altLang="en-US" dirty="0">
                <a:latin typeface="Arial (Body)"/>
              </a:rPr>
              <a:t>An expected appreciation of a currency leads to an actual appreciation (a self-fulfilling prophecy).</a:t>
            </a:r>
          </a:p>
          <a:p>
            <a:pPr lvl="1" eaLnBrk="1" hangingPunct="1"/>
            <a:r>
              <a:rPr lang="en-US" altLang="en-US" dirty="0">
                <a:latin typeface="Arial (Body)"/>
              </a:rPr>
              <a:t>An expected depreciation of a currency leads to an actual depreciation (a self-fulfilling prophecy).</a:t>
            </a:r>
          </a:p>
        </p:txBody>
      </p:sp>
    </p:spTree>
    <p:extLst>
      <p:ext uri="{BB962C8B-B14F-4D97-AF65-F5344CB8AC3E}">
        <p14:creationId xmlns:p14="http://schemas.microsoft.com/office/powerpoint/2010/main" val="8361588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Explains Carry Trade?</a:t>
            </a:r>
            <a:endParaRPr lang="en-IN" dirty="0"/>
          </a:p>
        </p:txBody>
      </p:sp>
      <p:sp>
        <p:nvSpPr>
          <p:cNvPr id="3" name="Content Placeholder 2"/>
          <p:cNvSpPr>
            <a:spLocks noGrp="1"/>
          </p:cNvSpPr>
          <p:nvPr>
            <p:ph sz="quarter" idx="13"/>
          </p:nvPr>
        </p:nvSpPr>
        <p:spPr>
          <a:xfrm>
            <a:off x="457200" y="1556327"/>
            <a:ext cx="8229600" cy="4175170"/>
          </a:xfrm>
        </p:spPr>
        <p:txBody>
          <a:bodyPr/>
          <a:lstStyle/>
          <a:p>
            <a:r>
              <a:rPr lang="en-US" sz="2000" dirty="0">
                <a:latin typeface="Arial (Body)"/>
              </a:rPr>
              <a:t>International investors frequently borrow low-interest currencies and buy high-interest currencies, with results that can be profitable over long periods—this activity is called carry trade.</a:t>
            </a:r>
          </a:p>
          <a:p>
            <a:r>
              <a:rPr lang="en-US" sz="2000" dirty="0">
                <a:latin typeface="Arial (Body)"/>
              </a:rPr>
              <a:t>The extent of carry trade positions can become very large when sizable international interest differentials open up. Is the prevalence of the carry trade evidence that interest parity is wrong?</a:t>
            </a:r>
          </a:p>
          <a:p>
            <a:r>
              <a:rPr lang="en-US" sz="2000" dirty="0">
                <a:latin typeface="Arial (Body)"/>
              </a:rPr>
              <a:t>While interest parity does not hold exactly in practice, in part because of the risk and liquidity factors mentioned earlier, economists are still trying to understand if the carry trade requires additional explanation.</a:t>
            </a:r>
          </a:p>
          <a:p>
            <a:pPr lvl="1"/>
            <a:r>
              <a:rPr lang="en-US" sz="2000" dirty="0">
                <a:latin typeface="Arial (Body)"/>
              </a:rPr>
              <a:t>The high-interest currencies that carry traders target may experience abrupt crashes.</a:t>
            </a:r>
          </a:p>
        </p:txBody>
      </p:sp>
    </p:spTree>
    <p:extLst>
      <p:ext uri="{BB962C8B-B14F-4D97-AF65-F5344CB8AC3E}">
        <p14:creationId xmlns:p14="http://schemas.microsoft.com/office/powerpoint/2010/main" val="42861269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7232"/>
            <a:ext cx="8229600" cy="1207142"/>
          </a:xfrm>
        </p:spPr>
        <p:txBody>
          <a:bodyPr anchor="ctr"/>
          <a:lstStyle/>
          <a:p>
            <a:r>
              <a:rPr lang="en-US" altLang="en-US" sz="2400"/>
              <a:t>Figure 14.7 Cumulative Total Investment Return in Australian Dollars Compared with Japanese Yen, 2006–2020</a:t>
            </a:r>
            <a:endParaRPr lang="en-US" sz="2400"/>
          </a:p>
        </p:txBody>
      </p:sp>
      <p:pic>
        <p:nvPicPr>
          <p:cNvPr id="6" name="Content Placeholder 5" descr="A double line graph compares the Australian dollar to Japanese yen.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1922389" y="1505135"/>
            <a:ext cx="5888905" cy="2873868"/>
          </a:xfrm>
        </p:spPr>
      </p:pic>
      <p:sp>
        <p:nvSpPr>
          <p:cNvPr id="5" name="Content Placeholder 4"/>
          <p:cNvSpPr>
            <a:spLocks noGrp="1"/>
          </p:cNvSpPr>
          <p:nvPr>
            <p:ph sz="quarter" idx="14"/>
          </p:nvPr>
        </p:nvSpPr>
        <p:spPr>
          <a:xfrm>
            <a:off x="457200" y="4446093"/>
            <a:ext cx="8138359" cy="622505"/>
          </a:xfrm>
        </p:spPr>
        <p:txBody>
          <a:bodyPr/>
          <a:lstStyle/>
          <a:p>
            <a:pPr marL="432" indent="0">
              <a:buNone/>
            </a:pPr>
            <a:r>
              <a:rPr lang="en-US" sz="1600"/>
              <a:t>The Australian dollar-yen carry trade has been profitable on average but is subject to sudden large reversals, as in 2008.</a:t>
            </a:r>
          </a:p>
        </p:txBody>
      </p:sp>
      <p:sp>
        <p:nvSpPr>
          <p:cNvPr id="3" name="Content Placeholder 2">
            <a:extLst>
              <a:ext uri="{FF2B5EF4-FFF2-40B4-BE49-F238E27FC236}">
                <a16:creationId xmlns:a16="http://schemas.microsoft.com/office/drawing/2014/main" id="{0B4AF62C-11B8-48B1-AE4A-B3D4FC5E3B7A}"/>
              </a:ext>
            </a:extLst>
          </p:cNvPr>
          <p:cNvSpPr>
            <a:spLocks noGrp="1"/>
          </p:cNvSpPr>
          <p:nvPr>
            <p:ph sz="quarter" idx="15"/>
          </p:nvPr>
        </p:nvSpPr>
        <p:spPr>
          <a:xfrm>
            <a:off x="485481" y="5194033"/>
            <a:ext cx="7572669" cy="402466"/>
          </a:xfrm>
        </p:spPr>
        <p:txBody>
          <a:bodyPr lIns="90000" tIns="0" rIns="0" bIns="0"/>
          <a:lstStyle/>
          <a:p>
            <a:pPr marL="432" indent="0">
              <a:buNone/>
            </a:pPr>
            <a:r>
              <a:rPr lang="en-US" sz="1200" b="1" i="0" u="none" strike="noStrike" baseline="0" dirty="0"/>
              <a:t>Source: </a:t>
            </a:r>
            <a:r>
              <a:rPr lang="en-US" sz="1200" b="0" i="0" u="none" strike="noStrike" baseline="0" dirty="0"/>
              <a:t>Quarterly Japanese yen/Australian dollar exchange rate, 90-day Australia bank bill rate, and 90-day Japan certificate of deposit rate from F</a:t>
            </a:r>
            <a:r>
              <a:rPr lang="en-US" sz="100" b="0" i="0" u="none" strike="noStrike" baseline="0" dirty="0"/>
              <a:t> </a:t>
            </a:r>
            <a:r>
              <a:rPr lang="en-US" sz="1200" b="0" i="0" u="none" strike="noStrike" baseline="0" dirty="0"/>
              <a:t>R</a:t>
            </a:r>
            <a:r>
              <a:rPr lang="en-US" sz="100" b="0" i="0" u="none" strike="noStrike" baseline="0" dirty="0"/>
              <a:t> </a:t>
            </a:r>
            <a:r>
              <a:rPr lang="en-US" sz="1200" b="0" i="0" u="none" strike="noStrike" baseline="0" dirty="0"/>
              <a:t>E</a:t>
            </a:r>
            <a:r>
              <a:rPr lang="en-US" sz="100" b="0" i="0" u="none" strike="noStrike" baseline="0" dirty="0"/>
              <a:t> </a:t>
            </a:r>
            <a:r>
              <a:rPr lang="en-US" sz="1200" b="0" i="0" u="none" strike="noStrike" baseline="0" dirty="0"/>
              <a:t>D database. The chart compares the cumulative value over time of a</a:t>
            </a:r>
            <a:endParaRPr lang="en-US" sz="1200" dirty="0"/>
          </a:p>
        </p:txBody>
      </p:sp>
      <p:graphicFrame>
        <p:nvGraphicFramePr>
          <p:cNvPr id="18" name="Object 17" descr="yen 100">
            <a:extLst>
              <a:ext uri="{FF2B5EF4-FFF2-40B4-BE49-F238E27FC236}">
                <a16:creationId xmlns:a16="http://schemas.microsoft.com/office/drawing/2014/main" id="{AD8750EA-5767-43DF-BEB8-BEEB59FEBE4A}"/>
              </a:ext>
            </a:extLst>
          </p:cNvPr>
          <p:cNvGraphicFramePr>
            <a:graphicFrameLocks noChangeAspect="1"/>
          </p:cNvGraphicFramePr>
          <p:nvPr>
            <p:extLst>
              <p:ext uri="{D42A27DB-BD31-4B8C-83A1-F6EECF244321}">
                <p14:modId xmlns:p14="http://schemas.microsoft.com/office/powerpoint/2010/main" val="2232766096"/>
              </p:ext>
            </p:extLst>
          </p:nvPr>
        </p:nvGraphicFramePr>
        <p:xfrm>
          <a:off x="8084729" y="5404237"/>
          <a:ext cx="393700" cy="203200"/>
        </p:xfrm>
        <a:graphic>
          <a:graphicData uri="http://schemas.openxmlformats.org/presentationml/2006/ole">
            <mc:AlternateContent xmlns:mc="http://schemas.openxmlformats.org/markup-compatibility/2006">
              <mc:Choice xmlns:v="urn:schemas-microsoft-com:vml" Requires="v">
                <p:oleObj spid="_x0000_s24583" name="Equation" r:id="rId5" imgW="393480" imgH="203040" progId="Equation.DSMT4">
                  <p:embed/>
                </p:oleObj>
              </mc:Choice>
              <mc:Fallback>
                <p:oleObj name="Equation" r:id="rId5" imgW="393480" imgH="203040" progId="Equation.DSMT4">
                  <p:embed/>
                  <p:pic>
                    <p:nvPicPr>
                      <p:cNvPr id="0" name=""/>
                      <p:cNvPicPr/>
                      <p:nvPr/>
                    </p:nvPicPr>
                    <p:blipFill>
                      <a:blip r:embed="rId6"/>
                      <a:stretch>
                        <a:fillRect/>
                      </a:stretch>
                    </p:blipFill>
                    <p:spPr>
                      <a:xfrm>
                        <a:off x="8084729" y="5404237"/>
                        <a:ext cx="393700" cy="20320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FBA1EFE8-53CA-4A47-AEE3-4DD4F8992B16}"/>
              </a:ext>
            </a:extLst>
          </p:cNvPr>
          <p:cNvSpPr>
            <a:spLocks noGrp="1"/>
          </p:cNvSpPr>
          <p:nvPr>
            <p:ph sz="quarter" idx="16"/>
          </p:nvPr>
        </p:nvSpPr>
        <p:spPr>
          <a:xfrm>
            <a:off x="457200" y="5659222"/>
            <a:ext cx="8015811" cy="638475"/>
          </a:xfrm>
        </p:spPr>
        <p:txBody>
          <a:bodyPr lIns="90000" tIns="0" rIns="0" bIns="0"/>
          <a:lstStyle/>
          <a:p>
            <a:pPr marL="432" indent="0" algn="l">
              <a:buNone/>
            </a:pPr>
            <a:r>
              <a:rPr lang="en-US" sz="1200" b="0" i="0" u="none" strike="noStrike" baseline="0"/>
              <a:t>investment in Japanese interest-bearing 90-day bonds, rolled over every quarter, with the same yen investment converted into Australian dollars, invested in 90-day Australian bonds and rolled over every quarter, and then converted back into yen at the end of the investment period.</a:t>
            </a:r>
            <a:endParaRPr lang="en-US" sz="1200"/>
          </a:p>
        </p:txBody>
      </p:sp>
    </p:spTree>
    <p:extLst>
      <p:ext uri="{BB962C8B-B14F-4D97-AF65-F5344CB8AC3E}">
        <p14:creationId xmlns:p14="http://schemas.microsoft.com/office/powerpoint/2010/main" val="18435157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a:t>Forward Exchange Rates and Covered Interest Parity </a:t>
            </a:r>
            <a:r>
              <a:rPr lang="en-US" altLang="en-US" sz="2000" b="0"/>
              <a:t>(1 of 5)</a:t>
            </a:r>
            <a:endParaRPr lang="en-US"/>
          </a:p>
        </p:txBody>
      </p:sp>
      <p:sp>
        <p:nvSpPr>
          <p:cNvPr id="4" name="Content Placeholder 3"/>
          <p:cNvSpPr>
            <a:spLocks noGrp="1"/>
          </p:cNvSpPr>
          <p:nvPr>
            <p:ph sz="quarter" idx="13"/>
          </p:nvPr>
        </p:nvSpPr>
        <p:spPr>
          <a:xfrm>
            <a:off x="457200" y="1552574"/>
            <a:ext cx="8229600" cy="1066639"/>
          </a:xfrm>
        </p:spPr>
        <p:txBody>
          <a:bodyPr/>
          <a:lstStyle/>
          <a:p>
            <a:r>
              <a:rPr lang="en-US" altLang="en-US" sz="2000">
                <a:latin typeface="Arial (Body)"/>
              </a:rPr>
              <a:t>Covered interest parity (C</a:t>
            </a:r>
            <a:r>
              <a:rPr lang="en-US" altLang="en-US" sz="100">
                <a:latin typeface="Arial (Body)"/>
              </a:rPr>
              <a:t> </a:t>
            </a:r>
            <a:r>
              <a:rPr lang="en-US" altLang="en-US" sz="2000">
                <a:latin typeface="Arial (Body)"/>
              </a:rPr>
              <a:t>I</a:t>
            </a:r>
            <a:r>
              <a:rPr lang="en-US" altLang="en-US" sz="100">
                <a:latin typeface="Arial (Body)"/>
              </a:rPr>
              <a:t> </a:t>
            </a:r>
            <a:r>
              <a:rPr lang="en-US" altLang="en-US" sz="2000">
                <a:latin typeface="Arial (Body)"/>
              </a:rPr>
              <a:t>P) relates interest rates across countries and the rate of change between forward exchange rates and the spot exchange rate:</a:t>
            </a:r>
          </a:p>
        </p:txBody>
      </p:sp>
      <p:graphicFrame>
        <p:nvGraphicFramePr>
          <p:cNvPr id="18" name="Object 17" descr="R sub $ = R sub euro + start fraction F sub $ per euro minus E sub $ per euro over E sub $ per euro end fraction"/>
          <p:cNvGraphicFramePr>
            <a:graphicFrameLocks noChangeAspect="1"/>
          </p:cNvGraphicFramePr>
          <p:nvPr>
            <p:extLst>
              <p:ext uri="{D42A27DB-BD31-4B8C-83A1-F6EECF244321}">
                <p14:modId xmlns:p14="http://schemas.microsoft.com/office/powerpoint/2010/main" val="2498633527"/>
              </p:ext>
            </p:extLst>
          </p:nvPr>
        </p:nvGraphicFramePr>
        <p:xfrm>
          <a:off x="3310171" y="2692665"/>
          <a:ext cx="2384875" cy="809958"/>
        </p:xfrm>
        <a:graphic>
          <a:graphicData uri="http://schemas.openxmlformats.org/presentationml/2006/ole">
            <mc:AlternateContent xmlns:mc="http://schemas.openxmlformats.org/markup-compatibility/2006">
              <mc:Choice xmlns:v="urn:schemas-microsoft-com:vml" Requires="v">
                <p:oleObj spid="_x0000_s25612" name="Equation" r:id="rId3" imgW="1346040" imgH="457200" progId="Equation.DSMT4">
                  <p:embed/>
                </p:oleObj>
              </mc:Choice>
              <mc:Fallback>
                <p:oleObj name="Equation" r:id="rId3" imgW="1346040" imgH="457200" progId="Equation.DSMT4">
                  <p:embed/>
                  <p:pic>
                    <p:nvPicPr>
                      <p:cNvPr id="0" name=""/>
                      <p:cNvPicPr/>
                      <p:nvPr/>
                    </p:nvPicPr>
                    <p:blipFill>
                      <a:blip r:embed="rId4"/>
                      <a:stretch>
                        <a:fillRect/>
                      </a:stretch>
                    </p:blipFill>
                    <p:spPr>
                      <a:xfrm>
                        <a:off x="3310171" y="2692665"/>
                        <a:ext cx="2384875" cy="809958"/>
                      </a:xfrm>
                      <a:prstGeom prst="rect">
                        <a:avLst/>
                      </a:prstGeom>
                    </p:spPr>
                  </p:pic>
                </p:oleObj>
              </mc:Fallback>
            </mc:AlternateContent>
          </a:graphicData>
        </a:graphic>
      </p:graphicFrame>
      <p:sp>
        <p:nvSpPr>
          <p:cNvPr id="5" name="Content Placeholder 4"/>
          <p:cNvSpPr>
            <a:spLocks noGrp="1"/>
          </p:cNvSpPr>
          <p:nvPr>
            <p:ph sz="quarter" idx="14"/>
          </p:nvPr>
        </p:nvSpPr>
        <p:spPr>
          <a:xfrm>
            <a:off x="457201" y="3642939"/>
            <a:ext cx="906650" cy="467148"/>
          </a:xfrm>
        </p:spPr>
        <p:txBody>
          <a:bodyPr/>
          <a:lstStyle/>
          <a:p>
            <a:pPr marL="432" indent="0">
              <a:buNone/>
            </a:pPr>
            <a:r>
              <a:rPr lang="en-US" altLang="en-US" sz="2000">
                <a:latin typeface="Arial (Body)"/>
              </a:rPr>
              <a:t>where</a:t>
            </a:r>
            <a:endParaRPr lang="en-US" sz="2000"/>
          </a:p>
        </p:txBody>
      </p:sp>
      <p:graphicFrame>
        <p:nvGraphicFramePr>
          <p:cNvPr id="19" name="Object 18" descr="F sub $ per euro"/>
          <p:cNvGraphicFramePr>
            <a:graphicFrameLocks noChangeAspect="1"/>
          </p:cNvGraphicFramePr>
          <p:nvPr>
            <p:extLst>
              <p:ext uri="{D42A27DB-BD31-4B8C-83A1-F6EECF244321}">
                <p14:modId xmlns:p14="http://schemas.microsoft.com/office/powerpoint/2010/main" val="95820918"/>
              </p:ext>
            </p:extLst>
          </p:nvPr>
        </p:nvGraphicFramePr>
        <p:xfrm>
          <a:off x="1453493" y="3723616"/>
          <a:ext cx="390476" cy="334694"/>
        </p:xfrm>
        <a:graphic>
          <a:graphicData uri="http://schemas.openxmlformats.org/presentationml/2006/ole">
            <mc:AlternateContent xmlns:mc="http://schemas.openxmlformats.org/markup-compatibility/2006">
              <mc:Choice xmlns:v="urn:schemas-microsoft-com:vml" Requires="v">
                <p:oleObj spid="_x0000_s25613" name="Equation" r:id="rId5" imgW="266400" imgH="228600" progId="Equation.DSMT4">
                  <p:embed/>
                </p:oleObj>
              </mc:Choice>
              <mc:Fallback>
                <p:oleObj name="Equation" r:id="rId5" imgW="266400" imgH="228600" progId="Equation.DSMT4">
                  <p:embed/>
                  <p:pic>
                    <p:nvPicPr>
                      <p:cNvPr id="0" name=""/>
                      <p:cNvPicPr/>
                      <p:nvPr/>
                    </p:nvPicPr>
                    <p:blipFill>
                      <a:blip r:embed="rId6"/>
                      <a:stretch>
                        <a:fillRect/>
                      </a:stretch>
                    </p:blipFill>
                    <p:spPr>
                      <a:xfrm>
                        <a:off x="1453493" y="3723616"/>
                        <a:ext cx="390476" cy="334694"/>
                      </a:xfrm>
                      <a:prstGeom prst="rect">
                        <a:avLst/>
                      </a:prstGeom>
                    </p:spPr>
                  </p:pic>
                </p:oleObj>
              </mc:Fallback>
            </mc:AlternateContent>
          </a:graphicData>
        </a:graphic>
      </p:graphicFrame>
      <p:sp>
        <p:nvSpPr>
          <p:cNvPr id="6" name="Content Placeholder 5"/>
          <p:cNvSpPr>
            <a:spLocks noGrp="1"/>
          </p:cNvSpPr>
          <p:nvPr>
            <p:ph sz="quarter" idx="15"/>
          </p:nvPr>
        </p:nvSpPr>
        <p:spPr>
          <a:xfrm>
            <a:off x="1947672" y="3730105"/>
            <a:ext cx="3543300" cy="360618"/>
          </a:xfrm>
        </p:spPr>
        <p:txBody>
          <a:bodyPr lIns="0" tIns="0" rIns="0" bIns="0"/>
          <a:lstStyle/>
          <a:p>
            <a:pPr marL="432" indent="0">
              <a:buNone/>
            </a:pPr>
            <a:r>
              <a:rPr lang="en-US" altLang="en-US" sz="2000">
                <a:latin typeface="Arial (Body)"/>
              </a:rPr>
              <a:t>is the forward exchange rate.</a:t>
            </a:r>
          </a:p>
        </p:txBody>
      </p:sp>
      <p:sp>
        <p:nvSpPr>
          <p:cNvPr id="7" name="Content Placeholder 6"/>
          <p:cNvSpPr>
            <a:spLocks noGrp="1"/>
          </p:cNvSpPr>
          <p:nvPr>
            <p:ph sz="quarter" idx="16"/>
          </p:nvPr>
        </p:nvSpPr>
        <p:spPr>
          <a:xfrm>
            <a:off x="457200" y="4283162"/>
            <a:ext cx="8229600" cy="1761722"/>
          </a:xfrm>
        </p:spPr>
        <p:txBody>
          <a:bodyPr/>
          <a:lstStyle/>
          <a:p>
            <a:pPr>
              <a:lnSpc>
                <a:spcPct val="90000"/>
              </a:lnSpc>
              <a:spcBef>
                <a:spcPct val="50000"/>
              </a:spcBef>
            </a:pPr>
            <a:r>
              <a:rPr lang="en-US" altLang="en-US" sz="2000"/>
              <a:t>It says that rates of return on dollar deposits and </a:t>
            </a:r>
            <a:r>
              <a:rPr lang="en-US" altLang="ja-JP" sz="2000"/>
              <a:t>“covered” foreign currency deposits are the same.</a:t>
            </a:r>
          </a:p>
          <a:p>
            <a:pPr lvl="1">
              <a:lnSpc>
                <a:spcPct val="90000"/>
              </a:lnSpc>
              <a:spcBef>
                <a:spcPct val="40000"/>
              </a:spcBef>
            </a:pPr>
            <a:r>
              <a:rPr lang="en-US" altLang="en-US" sz="2000"/>
              <a:t>How could you earn a risk-free return in the foreign exchange markets if covered interest parity did not hold?</a:t>
            </a:r>
          </a:p>
          <a:p>
            <a:pPr lvl="1">
              <a:lnSpc>
                <a:spcPct val="90000"/>
              </a:lnSpc>
            </a:pPr>
            <a:r>
              <a:rPr lang="en-US" altLang="en-US" sz="2000"/>
              <a:t>Covered positions using the forward rate involve little risk.</a:t>
            </a:r>
            <a:endParaRPr lang="en-US" sz="2000"/>
          </a:p>
        </p:txBody>
      </p:sp>
    </p:spTree>
    <p:extLst>
      <p:ext uri="{BB962C8B-B14F-4D97-AF65-F5344CB8AC3E}">
        <p14:creationId xmlns:p14="http://schemas.microsoft.com/office/powerpoint/2010/main" val="1601970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Forward Exchange Rates and Covered Interest Parity </a:t>
            </a:r>
            <a:r>
              <a:rPr lang="en-US" sz="2000" b="0"/>
              <a:t>(2 of 5)</a:t>
            </a:r>
            <a:endParaRPr lang="en-US"/>
          </a:p>
        </p:txBody>
      </p:sp>
      <p:sp>
        <p:nvSpPr>
          <p:cNvPr id="51" name="Content Placeholder 50"/>
          <p:cNvSpPr>
            <a:spLocks noGrp="1"/>
          </p:cNvSpPr>
          <p:nvPr>
            <p:ph sz="quarter" idx="13"/>
          </p:nvPr>
        </p:nvSpPr>
        <p:spPr>
          <a:xfrm>
            <a:off x="457199" y="1593309"/>
            <a:ext cx="7943851" cy="316482"/>
          </a:xfrm>
        </p:spPr>
        <p:txBody>
          <a:bodyPr lIns="0" tIns="0" rIns="0" bIns="0"/>
          <a:lstStyle/>
          <a:p>
            <a:r>
              <a:rPr lang="en-US" dirty="0">
                <a:solidFill>
                  <a:schemeClr val="tx1"/>
                </a:solidFill>
                <a:latin typeface="Arial (Body)"/>
              </a:rPr>
              <a:t>For example, suppose </a:t>
            </a:r>
            <a:r>
              <a:rPr lang="en-US" altLang="en-US" dirty="0">
                <a:solidFill>
                  <a:schemeClr val="tx1"/>
                </a:solidFill>
                <a:latin typeface="Arial (Body)"/>
              </a:rPr>
              <a:t>the 1-year forward price of euros in terms of dollars</a:t>
            </a:r>
            <a:endParaRPr lang="en-US" dirty="0"/>
          </a:p>
        </p:txBody>
      </p:sp>
      <p:sp>
        <p:nvSpPr>
          <p:cNvPr id="52" name="Content Placeholder 51"/>
          <p:cNvSpPr>
            <a:spLocks noGrp="1"/>
          </p:cNvSpPr>
          <p:nvPr>
            <p:ph sz="quarter" idx="14"/>
          </p:nvPr>
        </p:nvSpPr>
        <p:spPr>
          <a:xfrm>
            <a:off x="480786" y="2020200"/>
            <a:ext cx="560858" cy="355355"/>
          </a:xfrm>
        </p:spPr>
        <p:txBody>
          <a:bodyPr lIns="0" tIns="0" rIns="0" bIns="0"/>
          <a:lstStyle/>
          <a:p>
            <a:pPr marL="255600" indent="0">
              <a:buNone/>
            </a:pPr>
            <a:r>
              <a:rPr lang="en-US" altLang="en-US" sz="2000" dirty="0">
                <a:solidFill>
                  <a:schemeClr val="tx1"/>
                </a:solidFill>
                <a:latin typeface="Arial (Body)"/>
              </a:rPr>
              <a:t>is</a:t>
            </a:r>
            <a:endParaRPr lang="en-US" sz="2000" dirty="0"/>
          </a:p>
        </p:txBody>
      </p:sp>
      <p:graphicFrame>
        <p:nvGraphicFramePr>
          <p:cNvPr id="18" name="Object 17" descr="F sub $ per euro = $1.113"/>
          <p:cNvGraphicFramePr>
            <a:graphicFrameLocks noChangeAspect="1"/>
          </p:cNvGraphicFramePr>
          <p:nvPr>
            <p:extLst>
              <p:ext uri="{D42A27DB-BD31-4B8C-83A1-F6EECF244321}">
                <p14:modId xmlns:p14="http://schemas.microsoft.com/office/powerpoint/2010/main" val="1558199166"/>
              </p:ext>
            </p:extLst>
          </p:nvPr>
        </p:nvGraphicFramePr>
        <p:xfrm>
          <a:off x="1112017" y="2041417"/>
          <a:ext cx="1271361" cy="313487"/>
        </p:xfrm>
        <a:graphic>
          <a:graphicData uri="http://schemas.openxmlformats.org/presentationml/2006/ole">
            <mc:AlternateContent xmlns:mc="http://schemas.openxmlformats.org/markup-compatibility/2006">
              <mc:Choice xmlns:v="urn:schemas-microsoft-com:vml" Requires="v">
                <p:oleObj spid="_x0000_s26671" name="Equation" r:id="rId4" imgW="927000" imgH="228600" progId="Equation.DSMT4">
                  <p:embed/>
                </p:oleObj>
              </mc:Choice>
              <mc:Fallback>
                <p:oleObj name="Equation" r:id="rId4" imgW="927000" imgH="228600" progId="Equation.DSMT4">
                  <p:embed/>
                  <p:pic>
                    <p:nvPicPr>
                      <p:cNvPr id="0" name=""/>
                      <p:cNvPicPr/>
                      <p:nvPr/>
                    </p:nvPicPr>
                    <p:blipFill>
                      <a:blip r:embed="rId5"/>
                      <a:stretch>
                        <a:fillRect/>
                      </a:stretch>
                    </p:blipFill>
                    <p:spPr>
                      <a:xfrm>
                        <a:off x="1112017" y="2041417"/>
                        <a:ext cx="1271361" cy="313487"/>
                      </a:xfrm>
                      <a:prstGeom prst="rect">
                        <a:avLst/>
                      </a:prstGeom>
                    </p:spPr>
                  </p:pic>
                </p:oleObj>
              </mc:Fallback>
            </mc:AlternateContent>
          </a:graphicData>
        </a:graphic>
      </p:graphicFrame>
      <p:sp>
        <p:nvSpPr>
          <p:cNvPr id="53" name="Content Placeholder 52"/>
          <p:cNvSpPr>
            <a:spLocks noGrp="1"/>
          </p:cNvSpPr>
          <p:nvPr>
            <p:ph sz="quarter" idx="15"/>
          </p:nvPr>
        </p:nvSpPr>
        <p:spPr>
          <a:xfrm>
            <a:off x="2481594" y="2029366"/>
            <a:ext cx="3074079" cy="343964"/>
          </a:xfrm>
        </p:spPr>
        <p:txBody>
          <a:bodyPr lIns="0" tIns="0" rIns="0" bIns="0"/>
          <a:lstStyle/>
          <a:p>
            <a:pPr marL="432" indent="0">
              <a:buNone/>
            </a:pPr>
            <a:r>
              <a:rPr lang="en-US" altLang="en-US" dirty="0">
                <a:solidFill>
                  <a:schemeClr val="tx1"/>
                </a:solidFill>
                <a:latin typeface="Arial (Body)"/>
              </a:rPr>
              <a:t>and the spot exchange rate is</a:t>
            </a:r>
            <a:endParaRPr lang="en-US" dirty="0"/>
          </a:p>
        </p:txBody>
      </p:sp>
      <p:graphicFrame>
        <p:nvGraphicFramePr>
          <p:cNvPr id="19" name="Object 18" descr="E sub $ per euro = $1.05"/>
          <p:cNvGraphicFramePr>
            <a:graphicFrameLocks noChangeAspect="1"/>
          </p:cNvGraphicFramePr>
          <p:nvPr>
            <p:extLst>
              <p:ext uri="{D42A27DB-BD31-4B8C-83A1-F6EECF244321}">
                <p14:modId xmlns:p14="http://schemas.microsoft.com/office/powerpoint/2010/main" val="1421408824"/>
              </p:ext>
            </p:extLst>
          </p:nvPr>
        </p:nvGraphicFramePr>
        <p:xfrm>
          <a:off x="5675345" y="2020459"/>
          <a:ext cx="1208230" cy="334233"/>
        </p:xfrm>
        <a:graphic>
          <a:graphicData uri="http://schemas.openxmlformats.org/presentationml/2006/ole">
            <mc:AlternateContent xmlns:mc="http://schemas.openxmlformats.org/markup-compatibility/2006">
              <mc:Choice xmlns:v="urn:schemas-microsoft-com:vml" Requires="v">
                <p:oleObj spid="_x0000_s26672" name="Equation" r:id="rId6" imgW="825480" imgH="228600" progId="Equation.DSMT4">
                  <p:embed/>
                </p:oleObj>
              </mc:Choice>
              <mc:Fallback>
                <p:oleObj name="Equation" r:id="rId6" imgW="825480" imgH="228600" progId="Equation.DSMT4">
                  <p:embed/>
                  <p:pic>
                    <p:nvPicPr>
                      <p:cNvPr id="0" name=""/>
                      <p:cNvPicPr/>
                      <p:nvPr/>
                    </p:nvPicPr>
                    <p:blipFill>
                      <a:blip r:embed="rId7"/>
                      <a:stretch>
                        <a:fillRect/>
                      </a:stretch>
                    </p:blipFill>
                    <p:spPr>
                      <a:xfrm>
                        <a:off x="5675345" y="2020459"/>
                        <a:ext cx="1208230" cy="334233"/>
                      </a:xfrm>
                      <a:prstGeom prst="rect">
                        <a:avLst/>
                      </a:prstGeom>
                    </p:spPr>
                  </p:pic>
                </p:oleObj>
              </mc:Fallback>
            </mc:AlternateContent>
          </a:graphicData>
        </a:graphic>
      </p:graphicFrame>
      <p:sp>
        <p:nvSpPr>
          <p:cNvPr id="54" name="Content Placeholder 53"/>
          <p:cNvSpPr>
            <a:spLocks noGrp="1"/>
          </p:cNvSpPr>
          <p:nvPr>
            <p:ph sz="quarter" idx="16"/>
          </p:nvPr>
        </p:nvSpPr>
        <p:spPr>
          <a:xfrm>
            <a:off x="6962386" y="2002762"/>
            <a:ext cx="1072114" cy="336057"/>
          </a:xfrm>
        </p:spPr>
        <p:txBody>
          <a:bodyPr lIns="0" tIns="0" rIns="0" bIns="0"/>
          <a:lstStyle/>
          <a:p>
            <a:pPr marL="432" indent="0">
              <a:buNone/>
            </a:pPr>
            <a:r>
              <a:rPr lang="en-US" altLang="en-US" dirty="0">
                <a:solidFill>
                  <a:schemeClr val="tx1"/>
                </a:solidFill>
                <a:latin typeface="Arial (Body)"/>
              </a:rPr>
              <a:t>per euro.</a:t>
            </a:r>
          </a:p>
        </p:txBody>
      </p:sp>
      <p:sp>
        <p:nvSpPr>
          <p:cNvPr id="55" name="Content Placeholder 54"/>
          <p:cNvSpPr>
            <a:spLocks noGrp="1"/>
          </p:cNvSpPr>
          <p:nvPr>
            <p:ph sz="quarter" idx="17"/>
          </p:nvPr>
        </p:nvSpPr>
        <p:spPr>
          <a:xfrm>
            <a:off x="460870" y="2494291"/>
            <a:ext cx="500862" cy="322361"/>
          </a:xfrm>
        </p:spPr>
        <p:txBody>
          <a:bodyPr lIns="0" tIns="0" rIns="0" bIns="0"/>
          <a:lstStyle/>
          <a:p>
            <a:r>
              <a:rPr lang="en-US">
                <a:solidFill>
                  <a:schemeClr val="tx1"/>
                </a:solidFill>
                <a:latin typeface="Arial (Body)"/>
              </a:rPr>
              <a:t>If</a:t>
            </a:r>
            <a:endParaRPr lang="en-US"/>
          </a:p>
        </p:txBody>
      </p:sp>
      <p:graphicFrame>
        <p:nvGraphicFramePr>
          <p:cNvPr id="20" name="Object 19" descr="R sub euro = 0.04,"/>
          <p:cNvGraphicFramePr>
            <a:graphicFrameLocks noChangeAspect="1"/>
          </p:cNvGraphicFramePr>
          <p:nvPr>
            <p:extLst>
              <p:ext uri="{D42A27DB-BD31-4B8C-83A1-F6EECF244321}">
                <p14:modId xmlns:p14="http://schemas.microsoft.com/office/powerpoint/2010/main" val="3760317658"/>
              </p:ext>
            </p:extLst>
          </p:nvPr>
        </p:nvGraphicFramePr>
        <p:xfrm>
          <a:off x="1014698" y="2513675"/>
          <a:ext cx="929704" cy="304267"/>
        </p:xfrm>
        <a:graphic>
          <a:graphicData uri="http://schemas.openxmlformats.org/presentationml/2006/ole">
            <mc:AlternateContent xmlns:mc="http://schemas.openxmlformats.org/markup-compatibility/2006">
              <mc:Choice xmlns:v="urn:schemas-microsoft-com:vml" Requires="v">
                <p:oleObj spid="_x0000_s26673" name="Equation" r:id="rId8" imgW="698400" imgH="228600" progId="Equation.DSMT4">
                  <p:embed/>
                </p:oleObj>
              </mc:Choice>
              <mc:Fallback>
                <p:oleObj name="Equation" r:id="rId8" imgW="698400" imgH="228600" progId="Equation.DSMT4">
                  <p:embed/>
                  <p:pic>
                    <p:nvPicPr>
                      <p:cNvPr id="0" name=""/>
                      <p:cNvPicPr/>
                      <p:nvPr/>
                    </p:nvPicPr>
                    <p:blipFill>
                      <a:blip r:embed="rId9"/>
                      <a:stretch>
                        <a:fillRect/>
                      </a:stretch>
                    </p:blipFill>
                    <p:spPr>
                      <a:xfrm>
                        <a:off x="1014698" y="2513675"/>
                        <a:ext cx="929704" cy="304267"/>
                      </a:xfrm>
                      <a:prstGeom prst="rect">
                        <a:avLst/>
                      </a:prstGeom>
                    </p:spPr>
                  </p:pic>
                </p:oleObj>
              </mc:Fallback>
            </mc:AlternateContent>
          </a:graphicData>
        </a:graphic>
      </p:graphicFrame>
      <p:sp>
        <p:nvSpPr>
          <p:cNvPr id="56" name="Content Placeholder 55"/>
          <p:cNvSpPr>
            <a:spLocks noGrp="1"/>
          </p:cNvSpPr>
          <p:nvPr>
            <p:ph sz="quarter" idx="18"/>
          </p:nvPr>
        </p:nvSpPr>
        <p:spPr>
          <a:xfrm>
            <a:off x="2024490" y="2501393"/>
            <a:ext cx="6596321" cy="335171"/>
          </a:xfrm>
        </p:spPr>
        <p:txBody>
          <a:bodyPr lIns="0" tIns="0" rIns="0" bIns="0"/>
          <a:lstStyle/>
          <a:p>
            <a:pPr marL="432" indent="0">
              <a:buNone/>
            </a:pPr>
            <a:r>
              <a:rPr lang="en-US">
                <a:solidFill>
                  <a:schemeClr val="tx1"/>
                </a:solidFill>
                <a:latin typeface="Arial (Body)"/>
              </a:rPr>
              <a:t>compare the rate of return on a covered euro deposit to a 10%</a:t>
            </a:r>
            <a:endParaRPr lang="en-US"/>
          </a:p>
        </p:txBody>
      </p:sp>
      <p:sp>
        <p:nvSpPr>
          <p:cNvPr id="57" name="Content Placeholder 56"/>
          <p:cNvSpPr>
            <a:spLocks noGrp="1"/>
          </p:cNvSpPr>
          <p:nvPr>
            <p:ph sz="quarter" idx="19"/>
          </p:nvPr>
        </p:nvSpPr>
        <p:spPr>
          <a:xfrm>
            <a:off x="454019" y="2948403"/>
            <a:ext cx="3599508" cy="330269"/>
          </a:xfrm>
        </p:spPr>
        <p:txBody>
          <a:bodyPr lIns="0" tIns="0" rIns="0" bIns="0"/>
          <a:lstStyle/>
          <a:p>
            <a:pPr marL="255600" indent="0">
              <a:buNone/>
            </a:pPr>
            <a:r>
              <a:rPr lang="en-US">
                <a:solidFill>
                  <a:schemeClr val="tx1"/>
                </a:solidFill>
                <a:latin typeface="Arial (Body)"/>
              </a:rPr>
              <a:t>rate of return on a dollar deposit</a:t>
            </a:r>
            <a:endParaRPr lang="en-US"/>
          </a:p>
        </p:txBody>
      </p:sp>
      <p:graphicFrame>
        <p:nvGraphicFramePr>
          <p:cNvPr id="21" name="Object 20" descr="R sub $ = 0.10"/>
          <p:cNvGraphicFramePr>
            <a:graphicFrameLocks noChangeAspect="1"/>
          </p:cNvGraphicFramePr>
          <p:nvPr>
            <p:extLst>
              <p:ext uri="{D42A27DB-BD31-4B8C-83A1-F6EECF244321}">
                <p14:modId xmlns:p14="http://schemas.microsoft.com/office/powerpoint/2010/main" val="1835282824"/>
              </p:ext>
            </p:extLst>
          </p:nvPr>
        </p:nvGraphicFramePr>
        <p:xfrm>
          <a:off x="4119919" y="2991048"/>
          <a:ext cx="968121" cy="276606"/>
        </p:xfrm>
        <a:graphic>
          <a:graphicData uri="http://schemas.openxmlformats.org/presentationml/2006/ole">
            <mc:AlternateContent xmlns:mc="http://schemas.openxmlformats.org/markup-compatibility/2006">
              <mc:Choice xmlns:v="urn:schemas-microsoft-com:vml" Requires="v">
                <p:oleObj spid="_x0000_s26674" name="Equation" r:id="rId10" imgW="799920" imgH="228600" progId="Equation.DSMT4">
                  <p:embed/>
                </p:oleObj>
              </mc:Choice>
              <mc:Fallback>
                <p:oleObj name="Equation" r:id="rId10" imgW="799920" imgH="228600" progId="Equation.DSMT4">
                  <p:embed/>
                  <p:pic>
                    <p:nvPicPr>
                      <p:cNvPr id="0" name=""/>
                      <p:cNvPicPr/>
                      <p:nvPr/>
                    </p:nvPicPr>
                    <p:blipFill>
                      <a:blip r:embed="rId11"/>
                      <a:stretch>
                        <a:fillRect/>
                      </a:stretch>
                    </p:blipFill>
                    <p:spPr>
                      <a:xfrm>
                        <a:off x="4119919" y="2991048"/>
                        <a:ext cx="968121" cy="276606"/>
                      </a:xfrm>
                      <a:prstGeom prst="rect">
                        <a:avLst/>
                      </a:prstGeom>
                    </p:spPr>
                  </p:pic>
                </p:oleObj>
              </mc:Fallback>
            </mc:AlternateContent>
          </a:graphicData>
        </a:graphic>
      </p:graphicFrame>
      <p:sp>
        <p:nvSpPr>
          <p:cNvPr id="58" name="Content Placeholder 57"/>
          <p:cNvSpPr>
            <a:spLocks noGrp="1"/>
          </p:cNvSpPr>
          <p:nvPr>
            <p:ph sz="quarter" idx="20"/>
          </p:nvPr>
        </p:nvSpPr>
        <p:spPr>
          <a:xfrm>
            <a:off x="454501" y="3382689"/>
            <a:ext cx="993999" cy="346834"/>
          </a:xfrm>
        </p:spPr>
        <p:txBody>
          <a:bodyPr lIns="0" tIns="0" rIns="0" bIns="0"/>
          <a:lstStyle/>
          <a:p>
            <a:pPr lvl="1"/>
            <a:r>
              <a:rPr lang="en-US">
                <a:solidFill>
                  <a:schemeClr val="tx1"/>
                </a:solidFill>
                <a:latin typeface="Arial (Body)"/>
              </a:rPr>
              <a:t>A</a:t>
            </a:r>
            <a:endParaRPr lang="en-US"/>
          </a:p>
        </p:txBody>
      </p:sp>
      <p:graphicFrame>
        <p:nvGraphicFramePr>
          <p:cNvPr id="22" name="Object 21" descr="1 euro"/>
          <p:cNvGraphicFramePr>
            <a:graphicFrameLocks noChangeAspect="1"/>
          </p:cNvGraphicFramePr>
          <p:nvPr>
            <p:extLst>
              <p:ext uri="{D42A27DB-BD31-4B8C-83A1-F6EECF244321}">
                <p14:modId xmlns:p14="http://schemas.microsoft.com/office/powerpoint/2010/main" val="492893178"/>
              </p:ext>
            </p:extLst>
          </p:nvPr>
        </p:nvGraphicFramePr>
        <p:xfrm>
          <a:off x="1526170" y="3434616"/>
          <a:ext cx="245872" cy="215138"/>
        </p:xfrm>
        <a:graphic>
          <a:graphicData uri="http://schemas.openxmlformats.org/presentationml/2006/ole">
            <mc:AlternateContent xmlns:mc="http://schemas.openxmlformats.org/markup-compatibility/2006">
              <mc:Choice xmlns:v="urn:schemas-microsoft-com:vml" Requires="v">
                <p:oleObj spid="_x0000_s26675" name="Equation" r:id="rId12" imgW="203040" imgH="177480" progId="Equation.DSMT4">
                  <p:embed/>
                </p:oleObj>
              </mc:Choice>
              <mc:Fallback>
                <p:oleObj name="Equation" r:id="rId12" imgW="203040" imgH="177480" progId="Equation.DSMT4">
                  <p:embed/>
                  <p:pic>
                    <p:nvPicPr>
                      <p:cNvPr id="0" name=""/>
                      <p:cNvPicPr/>
                      <p:nvPr/>
                    </p:nvPicPr>
                    <p:blipFill>
                      <a:blip r:embed="rId13"/>
                      <a:stretch>
                        <a:fillRect/>
                      </a:stretch>
                    </p:blipFill>
                    <p:spPr>
                      <a:xfrm>
                        <a:off x="1526170" y="3434616"/>
                        <a:ext cx="245872" cy="215138"/>
                      </a:xfrm>
                      <a:prstGeom prst="rect">
                        <a:avLst/>
                      </a:prstGeom>
                    </p:spPr>
                  </p:pic>
                </p:oleObj>
              </mc:Fallback>
            </mc:AlternateContent>
          </a:graphicData>
        </a:graphic>
      </p:graphicFrame>
      <p:sp>
        <p:nvSpPr>
          <p:cNvPr id="59" name="Content Placeholder 58"/>
          <p:cNvSpPr>
            <a:spLocks noGrp="1"/>
          </p:cNvSpPr>
          <p:nvPr>
            <p:ph sz="quarter" idx="21"/>
          </p:nvPr>
        </p:nvSpPr>
        <p:spPr>
          <a:xfrm>
            <a:off x="1947605" y="3376823"/>
            <a:ext cx="4033540" cy="326906"/>
          </a:xfrm>
        </p:spPr>
        <p:txBody>
          <a:bodyPr lIns="0" tIns="0" rIns="0" bIns="0"/>
          <a:lstStyle/>
          <a:p>
            <a:pPr marL="0" lvl="1" indent="0">
              <a:buNone/>
            </a:pPr>
            <a:r>
              <a:rPr lang="en-US" dirty="0">
                <a:solidFill>
                  <a:schemeClr val="tx1"/>
                </a:solidFill>
                <a:latin typeface="Arial (Body)"/>
              </a:rPr>
              <a:t>deposit costs $1.05 today and is worth</a:t>
            </a:r>
            <a:endParaRPr lang="en-US" dirty="0"/>
          </a:p>
        </p:txBody>
      </p:sp>
      <p:graphicFrame>
        <p:nvGraphicFramePr>
          <p:cNvPr id="23" name="Object 22" descr="1.04 euros"/>
          <p:cNvGraphicFramePr>
            <a:graphicFrameLocks noChangeAspect="1"/>
          </p:cNvGraphicFramePr>
          <p:nvPr>
            <p:extLst>
              <p:ext uri="{D42A27DB-BD31-4B8C-83A1-F6EECF244321}">
                <p14:modId xmlns:p14="http://schemas.microsoft.com/office/powerpoint/2010/main" val="771852702"/>
              </p:ext>
            </p:extLst>
          </p:nvPr>
        </p:nvGraphicFramePr>
        <p:xfrm>
          <a:off x="5987251" y="3401950"/>
          <a:ext cx="632199" cy="260317"/>
        </p:xfrm>
        <a:graphic>
          <a:graphicData uri="http://schemas.openxmlformats.org/presentationml/2006/ole">
            <mc:AlternateContent xmlns:mc="http://schemas.openxmlformats.org/markup-compatibility/2006">
              <mc:Choice xmlns:v="urn:schemas-microsoft-com:vml" Requires="v">
                <p:oleObj spid="_x0000_s26676" name="Equation" r:id="rId14" imgW="431640" imgH="177480" progId="Equation.DSMT4">
                  <p:embed/>
                </p:oleObj>
              </mc:Choice>
              <mc:Fallback>
                <p:oleObj name="Equation" r:id="rId14" imgW="431640" imgH="177480" progId="Equation.DSMT4">
                  <p:embed/>
                  <p:pic>
                    <p:nvPicPr>
                      <p:cNvPr id="0" name=""/>
                      <p:cNvPicPr/>
                      <p:nvPr/>
                    </p:nvPicPr>
                    <p:blipFill>
                      <a:blip r:embed="rId15"/>
                      <a:stretch>
                        <a:fillRect/>
                      </a:stretch>
                    </p:blipFill>
                    <p:spPr>
                      <a:xfrm>
                        <a:off x="5987251" y="3401950"/>
                        <a:ext cx="632199" cy="260317"/>
                      </a:xfrm>
                      <a:prstGeom prst="rect">
                        <a:avLst/>
                      </a:prstGeom>
                    </p:spPr>
                  </p:pic>
                </p:oleObj>
              </mc:Fallback>
            </mc:AlternateContent>
          </a:graphicData>
        </a:graphic>
      </p:graphicFrame>
      <p:sp>
        <p:nvSpPr>
          <p:cNvPr id="60" name="Content Placeholder 59"/>
          <p:cNvSpPr>
            <a:spLocks noGrp="1"/>
          </p:cNvSpPr>
          <p:nvPr>
            <p:ph sz="quarter" idx="22"/>
          </p:nvPr>
        </p:nvSpPr>
        <p:spPr>
          <a:xfrm>
            <a:off x="6783330" y="3382689"/>
            <a:ext cx="1323425" cy="341586"/>
          </a:xfrm>
        </p:spPr>
        <p:txBody>
          <a:bodyPr lIns="0" tIns="0" rIns="0" bIns="0"/>
          <a:lstStyle/>
          <a:p>
            <a:pPr marL="0" lvl="1" indent="0">
              <a:buNone/>
            </a:pPr>
            <a:r>
              <a:rPr lang="en-US" dirty="0">
                <a:solidFill>
                  <a:schemeClr val="tx1"/>
                </a:solidFill>
                <a:latin typeface="Arial (Body)"/>
              </a:rPr>
              <a:t>after 1 year.</a:t>
            </a:r>
          </a:p>
        </p:txBody>
      </p:sp>
      <p:sp>
        <p:nvSpPr>
          <p:cNvPr id="61" name="Content Placeholder 60"/>
          <p:cNvSpPr>
            <a:spLocks noGrp="1"/>
          </p:cNvSpPr>
          <p:nvPr>
            <p:ph sz="quarter" idx="23"/>
          </p:nvPr>
        </p:nvSpPr>
        <p:spPr>
          <a:xfrm>
            <a:off x="457592" y="3824429"/>
            <a:ext cx="1545431" cy="420382"/>
          </a:xfrm>
        </p:spPr>
        <p:txBody>
          <a:bodyPr lIns="0" tIns="0" rIns="0" bIns="0"/>
          <a:lstStyle/>
          <a:p>
            <a:pPr lvl="1"/>
            <a:r>
              <a:rPr lang="en-US">
                <a:solidFill>
                  <a:schemeClr val="tx1"/>
                </a:solidFill>
                <a:latin typeface="Arial (Body)"/>
              </a:rPr>
              <a:t>Selling</a:t>
            </a:r>
            <a:endParaRPr lang="en-US"/>
          </a:p>
        </p:txBody>
      </p:sp>
      <p:graphicFrame>
        <p:nvGraphicFramePr>
          <p:cNvPr id="24" name="Object 23" descr="1.04 euros"/>
          <p:cNvGraphicFramePr>
            <a:graphicFrameLocks noChangeAspect="1"/>
          </p:cNvGraphicFramePr>
          <p:nvPr>
            <p:extLst>
              <p:ext uri="{D42A27DB-BD31-4B8C-83A1-F6EECF244321}">
                <p14:modId xmlns:p14="http://schemas.microsoft.com/office/powerpoint/2010/main" val="3768888829"/>
              </p:ext>
            </p:extLst>
          </p:nvPr>
        </p:nvGraphicFramePr>
        <p:xfrm>
          <a:off x="2047193" y="3882031"/>
          <a:ext cx="543693" cy="223874"/>
        </p:xfrm>
        <a:graphic>
          <a:graphicData uri="http://schemas.openxmlformats.org/presentationml/2006/ole">
            <mc:AlternateContent xmlns:mc="http://schemas.openxmlformats.org/markup-compatibility/2006">
              <mc:Choice xmlns:v="urn:schemas-microsoft-com:vml" Requires="v">
                <p:oleObj spid="_x0000_s26677" name="Equation" r:id="rId16" imgW="431640" imgH="177480" progId="Equation.DSMT4">
                  <p:embed/>
                </p:oleObj>
              </mc:Choice>
              <mc:Fallback>
                <p:oleObj name="Equation" r:id="rId16" imgW="431640" imgH="177480" progId="Equation.DSMT4">
                  <p:embed/>
                  <p:pic>
                    <p:nvPicPr>
                      <p:cNvPr id="0" name=""/>
                      <p:cNvPicPr/>
                      <p:nvPr/>
                    </p:nvPicPr>
                    <p:blipFill>
                      <a:blip r:embed="rId17"/>
                      <a:stretch>
                        <a:fillRect/>
                      </a:stretch>
                    </p:blipFill>
                    <p:spPr>
                      <a:xfrm>
                        <a:off x="2047193" y="3882031"/>
                        <a:ext cx="543693" cy="223874"/>
                      </a:xfrm>
                      <a:prstGeom prst="rect">
                        <a:avLst/>
                      </a:prstGeom>
                    </p:spPr>
                  </p:pic>
                </p:oleObj>
              </mc:Fallback>
            </mc:AlternateContent>
          </a:graphicData>
        </a:graphic>
      </p:graphicFrame>
      <p:sp>
        <p:nvSpPr>
          <p:cNvPr id="62" name="Content Placeholder 61"/>
          <p:cNvSpPr>
            <a:spLocks noGrp="1"/>
          </p:cNvSpPr>
          <p:nvPr>
            <p:ph sz="quarter" idx="24"/>
          </p:nvPr>
        </p:nvSpPr>
        <p:spPr>
          <a:xfrm>
            <a:off x="2763876" y="3835019"/>
            <a:ext cx="5637174" cy="315096"/>
          </a:xfrm>
        </p:spPr>
        <p:txBody>
          <a:bodyPr lIns="0" tIns="0" rIns="0" bIns="0"/>
          <a:lstStyle/>
          <a:p>
            <a:pPr marL="0" lvl="1" indent="0">
              <a:buNone/>
            </a:pPr>
            <a:r>
              <a:rPr lang="en-US" dirty="0">
                <a:solidFill>
                  <a:schemeClr val="tx1"/>
                </a:solidFill>
                <a:latin typeface="Arial (Body)"/>
              </a:rPr>
              <a:t>forward today at the forward exchange rate $1.113 per</a:t>
            </a:r>
            <a:endParaRPr lang="en-US" dirty="0"/>
          </a:p>
        </p:txBody>
      </p:sp>
      <p:sp>
        <p:nvSpPr>
          <p:cNvPr id="63" name="Content Placeholder 62"/>
          <p:cNvSpPr>
            <a:spLocks noGrp="1"/>
          </p:cNvSpPr>
          <p:nvPr>
            <p:ph sz="quarter" idx="25"/>
          </p:nvPr>
        </p:nvSpPr>
        <p:spPr>
          <a:xfrm>
            <a:off x="457201" y="4279513"/>
            <a:ext cx="4713708" cy="368040"/>
          </a:xfrm>
        </p:spPr>
        <p:txBody>
          <a:bodyPr lIns="0" tIns="0" rIns="0" bIns="0"/>
          <a:lstStyle/>
          <a:p>
            <a:pPr marL="741600" lvl="1" indent="0">
              <a:buNone/>
            </a:pPr>
            <a:r>
              <a:rPr lang="en-US" dirty="0">
                <a:solidFill>
                  <a:schemeClr val="tx1"/>
                </a:solidFill>
                <a:latin typeface="Arial (Body)"/>
              </a:rPr>
              <a:t>euro yield a dollar value after 1 year of</a:t>
            </a:r>
            <a:endParaRPr lang="en-US" dirty="0"/>
          </a:p>
        </p:txBody>
      </p:sp>
      <p:graphicFrame>
        <p:nvGraphicFramePr>
          <p:cNvPr id="25" name="Object 24" descr="Left parenthesis $1.113 per euro right parenthesis times left parenthesis 1.04 euro right parenthesis = $1.158."/>
          <p:cNvGraphicFramePr>
            <a:graphicFrameLocks noChangeAspect="1"/>
          </p:cNvGraphicFramePr>
          <p:nvPr>
            <p:extLst>
              <p:ext uri="{D42A27DB-BD31-4B8C-83A1-F6EECF244321}">
                <p14:modId xmlns:p14="http://schemas.microsoft.com/office/powerpoint/2010/main" val="2401300981"/>
              </p:ext>
            </p:extLst>
          </p:nvPr>
        </p:nvGraphicFramePr>
        <p:xfrm>
          <a:off x="5225212" y="4267008"/>
          <a:ext cx="3660775" cy="371476"/>
        </p:xfrm>
        <a:graphic>
          <a:graphicData uri="http://schemas.openxmlformats.org/presentationml/2006/ole">
            <mc:AlternateContent xmlns:mc="http://schemas.openxmlformats.org/markup-compatibility/2006">
              <mc:Choice xmlns:v="urn:schemas-microsoft-com:vml" Requires="v">
                <p:oleObj spid="_x0000_s26678" name="Equation" r:id="rId18" imgW="2501640" imgH="253800" progId="Equation.DSMT4">
                  <p:embed/>
                </p:oleObj>
              </mc:Choice>
              <mc:Fallback>
                <p:oleObj name="Equation" r:id="rId18" imgW="2501640" imgH="253800" progId="Equation.DSMT4">
                  <p:embed/>
                  <p:pic>
                    <p:nvPicPr>
                      <p:cNvPr id="0" name=""/>
                      <p:cNvPicPr/>
                      <p:nvPr/>
                    </p:nvPicPr>
                    <p:blipFill>
                      <a:blip r:embed="rId19"/>
                      <a:stretch>
                        <a:fillRect/>
                      </a:stretch>
                    </p:blipFill>
                    <p:spPr>
                      <a:xfrm>
                        <a:off x="5225212" y="4267008"/>
                        <a:ext cx="3660775" cy="371476"/>
                      </a:xfrm>
                      <a:prstGeom prst="rect">
                        <a:avLst/>
                      </a:prstGeom>
                    </p:spPr>
                  </p:pic>
                </p:oleObj>
              </mc:Fallback>
            </mc:AlternateContent>
          </a:graphicData>
        </a:graphic>
      </p:graphicFrame>
      <p:sp>
        <p:nvSpPr>
          <p:cNvPr id="64" name="Content Placeholder 63"/>
          <p:cNvSpPr>
            <a:spLocks noGrp="1"/>
          </p:cNvSpPr>
          <p:nvPr>
            <p:ph sz="quarter" idx="26"/>
          </p:nvPr>
        </p:nvSpPr>
        <p:spPr>
          <a:xfrm>
            <a:off x="457201" y="4702530"/>
            <a:ext cx="7296149" cy="355261"/>
          </a:xfrm>
        </p:spPr>
        <p:txBody>
          <a:bodyPr lIns="0" tIns="0" rIns="0" bIns="0"/>
          <a:lstStyle/>
          <a:p>
            <a:pPr lvl="1"/>
            <a:r>
              <a:rPr lang="en-US" dirty="0">
                <a:solidFill>
                  <a:schemeClr val="tx1"/>
                </a:solidFill>
                <a:latin typeface="Arial (Body)"/>
              </a:rPr>
              <a:t>The rate of return on the covered purchase of a euro deposit is</a:t>
            </a:r>
            <a:endParaRPr lang="en-US" dirty="0"/>
          </a:p>
        </p:txBody>
      </p:sp>
      <p:graphicFrame>
        <p:nvGraphicFramePr>
          <p:cNvPr id="75" name="Object 74" descr="Start fraction left parenthesis 1.158 minus 1.05 right parenthesis over 1.05 end fraction = 0.103."/>
          <p:cNvGraphicFramePr>
            <a:graphicFrameLocks noChangeAspect="1"/>
          </p:cNvGraphicFramePr>
          <p:nvPr>
            <p:extLst>
              <p:ext uri="{D42A27DB-BD31-4B8C-83A1-F6EECF244321}">
                <p14:modId xmlns:p14="http://schemas.microsoft.com/office/powerpoint/2010/main" val="917354068"/>
              </p:ext>
            </p:extLst>
          </p:nvPr>
        </p:nvGraphicFramePr>
        <p:xfrm>
          <a:off x="1203700" y="5114728"/>
          <a:ext cx="2569362" cy="338074"/>
        </p:xfrm>
        <a:graphic>
          <a:graphicData uri="http://schemas.openxmlformats.org/presentationml/2006/ole">
            <mc:AlternateContent xmlns:mc="http://schemas.openxmlformats.org/markup-compatibility/2006">
              <mc:Choice xmlns:v="urn:schemas-microsoft-com:vml" Requires="v">
                <p:oleObj spid="_x0000_s26679" name="Equation" r:id="rId20" imgW="1930320" imgH="253800" progId="Equation.DSMT4">
                  <p:embed/>
                </p:oleObj>
              </mc:Choice>
              <mc:Fallback>
                <p:oleObj name="Equation" r:id="rId20" imgW="1930320" imgH="253800" progId="Equation.DSMT4">
                  <p:embed/>
                  <p:pic>
                    <p:nvPicPr>
                      <p:cNvPr id="0" name=""/>
                      <p:cNvPicPr/>
                      <p:nvPr/>
                    </p:nvPicPr>
                    <p:blipFill>
                      <a:blip r:embed="rId21"/>
                      <a:stretch>
                        <a:fillRect/>
                      </a:stretch>
                    </p:blipFill>
                    <p:spPr>
                      <a:xfrm>
                        <a:off x="1203700" y="5114728"/>
                        <a:ext cx="2569362" cy="338074"/>
                      </a:xfrm>
                      <a:prstGeom prst="rect">
                        <a:avLst/>
                      </a:prstGeom>
                    </p:spPr>
                  </p:pic>
                </p:oleObj>
              </mc:Fallback>
            </mc:AlternateContent>
          </a:graphicData>
        </a:graphic>
      </p:graphicFrame>
      <p:sp>
        <p:nvSpPr>
          <p:cNvPr id="65" name="Content Placeholder 64"/>
          <p:cNvSpPr>
            <a:spLocks noGrp="1"/>
          </p:cNvSpPr>
          <p:nvPr>
            <p:ph sz="quarter" idx="27"/>
          </p:nvPr>
        </p:nvSpPr>
        <p:spPr>
          <a:xfrm>
            <a:off x="3874610" y="5128999"/>
            <a:ext cx="3991575" cy="345678"/>
          </a:xfrm>
        </p:spPr>
        <p:txBody>
          <a:bodyPr lIns="0" tIns="0" rIns="0" bIns="0"/>
          <a:lstStyle/>
          <a:p>
            <a:pPr marL="0" lvl="1" indent="0">
              <a:buNone/>
            </a:pPr>
            <a:r>
              <a:rPr lang="en-US" sz="1800" dirty="0">
                <a:solidFill>
                  <a:schemeClr val="tx1"/>
                </a:solidFill>
                <a:latin typeface="Arial (Body)"/>
              </a:rPr>
              <a:t>or 10.3%, is greater than a 10% rate</a:t>
            </a:r>
            <a:endParaRPr lang="en-US" sz="1800" dirty="0"/>
          </a:p>
        </p:txBody>
      </p:sp>
      <p:sp>
        <p:nvSpPr>
          <p:cNvPr id="66" name="Content Placeholder 65"/>
          <p:cNvSpPr>
            <a:spLocks noGrp="1"/>
          </p:cNvSpPr>
          <p:nvPr>
            <p:ph sz="quarter" idx="28"/>
          </p:nvPr>
        </p:nvSpPr>
        <p:spPr>
          <a:xfrm>
            <a:off x="457201" y="5612570"/>
            <a:ext cx="7197968" cy="337974"/>
          </a:xfrm>
        </p:spPr>
        <p:txBody>
          <a:bodyPr lIns="0" tIns="0" rIns="0" bIns="0"/>
          <a:lstStyle/>
          <a:p>
            <a:pPr marL="741600" lvl="1" indent="0">
              <a:buNone/>
            </a:pPr>
            <a:r>
              <a:rPr lang="en-US" sz="1800" dirty="0">
                <a:solidFill>
                  <a:schemeClr val="tx1"/>
                </a:solidFill>
                <a:latin typeface="Arial (Body)"/>
              </a:rPr>
              <a:t>of return on a dollar deposit and covered interest parity fails.</a:t>
            </a:r>
          </a:p>
        </p:txBody>
      </p:sp>
    </p:spTree>
    <p:extLst>
      <p:ext uri="{BB962C8B-B14F-4D97-AF65-F5344CB8AC3E}">
        <p14:creationId xmlns:p14="http://schemas.microsoft.com/office/powerpoint/2010/main" val="6649157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Forward Exchange Rates and Covered Interest Parity </a:t>
            </a:r>
            <a:r>
              <a:rPr lang="en-US" sz="2000" b="0" dirty="0"/>
              <a:t>(3 of 5)</a:t>
            </a:r>
            <a:endParaRPr lang="en-IN" dirty="0"/>
          </a:p>
        </p:txBody>
      </p:sp>
      <p:sp>
        <p:nvSpPr>
          <p:cNvPr id="4" name="Content Placeholder 3"/>
          <p:cNvSpPr>
            <a:spLocks noGrp="1"/>
          </p:cNvSpPr>
          <p:nvPr>
            <p:ph sz="quarter" idx="13"/>
          </p:nvPr>
        </p:nvSpPr>
        <p:spPr>
          <a:xfrm>
            <a:off x="457200" y="1556327"/>
            <a:ext cx="8229600" cy="992974"/>
          </a:xfrm>
        </p:spPr>
        <p:txBody>
          <a:bodyPr/>
          <a:lstStyle/>
          <a:p>
            <a:r>
              <a:rPr lang="en-US" dirty="0">
                <a:latin typeface="Arial (Body)"/>
              </a:rPr>
              <a:t>The </a:t>
            </a:r>
            <a:r>
              <a:rPr lang="en-US" b="1" dirty="0">
                <a:latin typeface="Arial (Body)"/>
              </a:rPr>
              <a:t>forward premium </a:t>
            </a:r>
            <a:r>
              <a:rPr lang="en-US" dirty="0">
                <a:latin typeface="Arial (Body)"/>
              </a:rPr>
              <a:t>on euros against dollars (also called the forward discount on dollars against euros) is</a:t>
            </a:r>
          </a:p>
        </p:txBody>
      </p:sp>
      <p:graphicFrame>
        <p:nvGraphicFramePr>
          <p:cNvPr id="6" name="Object 5" descr="Start fraction F sub $ per euro minus E sub $ per euro over E sub $ per euro end fraction"/>
          <p:cNvGraphicFramePr>
            <a:graphicFrameLocks noChangeAspect="1"/>
          </p:cNvGraphicFramePr>
          <p:nvPr>
            <p:extLst>
              <p:ext uri="{D42A27DB-BD31-4B8C-83A1-F6EECF244321}">
                <p14:modId xmlns:p14="http://schemas.microsoft.com/office/powerpoint/2010/main" val="3003706226"/>
              </p:ext>
            </p:extLst>
          </p:nvPr>
        </p:nvGraphicFramePr>
        <p:xfrm>
          <a:off x="3522997" y="2698684"/>
          <a:ext cx="1237435" cy="809958"/>
        </p:xfrm>
        <a:graphic>
          <a:graphicData uri="http://schemas.openxmlformats.org/presentationml/2006/ole">
            <mc:AlternateContent xmlns:mc="http://schemas.openxmlformats.org/markup-compatibility/2006">
              <mc:Choice xmlns:v="urn:schemas-microsoft-com:vml" Requires="v">
                <p:oleObj spid="_x0000_s27655" name="Equation" r:id="rId3" imgW="698400" imgH="457200" progId="Equation.DSMT4">
                  <p:embed/>
                </p:oleObj>
              </mc:Choice>
              <mc:Fallback>
                <p:oleObj name="Equation" r:id="rId3" imgW="698400" imgH="457200" progId="Equation.DSMT4">
                  <p:embed/>
                  <p:pic>
                    <p:nvPicPr>
                      <p:cNvPr id="0" name=""/>
                      <p:cNvPicPr/>
                      <p:nvPr/>
                    </p:nvPicPr>
                    <p:blipFill>
                      <a:blip r:embed="rId4"/>
                      <a:stretch>
                        <a:fillRect/>
                      </a:stretch>
                    </p:blipFill>
                    <p:spPr>
                      <a:xfrm>
                        <a:off x="3522997" y="2698684"/>
                        <a:ext cx="1237435" cy="809958"/>
                      </a:xfrm>
                      <a:prstGeom prst="rect">
                        <a:avLst/>
                      </a:prstGeom>
                    </p:spPr>
                  </p:pic>
                </p:oleObj>
              </mc:Fallback>
            </mc:AlternateContent>
          </a:graphicData>
        </a:graphic>
      </p:graphicFrame>
      <p:sp>
        <p:nvSpPr>
          <p:cNvPr id="5" name="Content Placeholder 4"/>
          <p:cNvSpPr>
            <a:spLocks noGrp="1"/>
          </p:cNvSpPr>
          <p:nvPr>
            <p:ph sz="quarter" idx="14"/>
          </p:nvPr>
        </p:nvSpPr>
        <p:spPr>
          <a:xfrm>
            <a:off x="457200" y="3658025"/>
            <a:ext cx="8229600" cy="2105025"/>
          </a:xfrm>
        </p:spPr>
        <p:txBody>
          <a:bodyPr/>
          <a:lstStyle/>
          <a:p>
            <a:r>
              <a:rPr lang="en-US" dirty="0">
                <a:latin typeface="Arial (Body)"/>
              </a:rPr>
              <a:t>Using this terminology, the covered interest parity condition becomes:</a:t>
            </a:r>
          </a:p>
          <a:p>
            <a:pPr lvl="1"/>
            <a:r>
              <a:rPr lang="en-US" dirty="0">
                <a:latin typeface="Arial (Body)"/>
              </a:rPr>
              <a:t>The interest rate on dollar deposits equals the interest rate on euro deposits plus the forward premium on euros against dollars.</a:t>
            </a:r>
          </a:p>
        </p:txBody>
      </p:sp>
    </p:spTree>
    <p:extLst>
      <p:ext uri="{BB962C8B-B14F-4D97-AF65-F5344CB8AC3E}">
        <p14:creationId xmlns:p14="http://schemas.microsoft.com/office/powerpoint/2010/main" val="26594403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Forward Exchange Rates and Covered Interest Parity </a:t>
            </a:r>
            <a:r>
              <a:rPr lang="en-US" sz="2000" b="0" dirty="0"/>
              <a:t>(4 of 5)</a:t>
            </a:r>
            <a:endParaRPr lang="en-IN" dirty="0"/>
          </a:p>
        </p:txBody>
      </p:sp>
      <p:sp>
        <p:nvSpPr>
          <p:cNvPr id="3" name="Content Placeholder 2"/>
          <p:cNvSpPr>
            <a:spLocks noGrp="1"/>
          </p:cNvSpPr>
          <p:nvPr>
            <p:ph sz="quarter" idx="13"/>
          </p:nvPr>
        </p:nvSpPr>
        <p:spPr/>
        <p:txBody>
          <a:bodyPr/>
          <a:lstStyle/>
          <a:p>
            <a:r>
              <a:rPr lang="en-US" sz="2200" dirty="0">
                <a:latin typeface="Arial (Body)"/>
              </a:rPr>
              <a:t>Figure 14-8 graphs the difference between dollar interbank interest rates and the covered return to investing in three foreign interbank markets.</a:t>
            </a:r>
          </a:p>
          <a:p>
            <a:pPr lvl="1"/>
            <a:r>
              <a:rPr lang="en-US" sz="2200" dirty="0">
                <a:latin typeface="Arial (Body)"/>
              </a:rPr>
              <a:t>Big deviations from C</a:t>
            </a:r>
            <a:r>
              <a:rPr lang="en-US" sz="100" dirty="0">
                <a:latin typeface="Arial (Body)"/>
              </a:rPr>
              <a:t> </a:t>
            </a:r>
            <a:r>
              <a:rPr lang="en-US" sz="2200" dirty="0">
                <a:latin typeface="Arial (Body)"/>
              </a:rPr>
              <a:t>I</a:t>
            </a:r>
            <a:r>
              <a:rPr lang="en-US" sz="100" dirty="0">
                <a:latin typeface="Arial (Body)"/>
              </a:rPr>
              <a:t> </a:t>
            </a:r>
            <a:r>
              <a:rPr lang="en-US" sz="2200" dirty="0">
                <a:latin typeface="Arial (Body)"/>
              </a:rPr>
              <a:t>P emerged around the time of the worldwide banking crisis in 2007–2008. C</a:t>
            </a:r>
            <a:r>
              <a:rPr lang="en-US" sz="100" dirty="0">
                <a:latin typeface="Arial (Body)"/>
              </a:rPr>
              <a:t> </a:t>
            </a:r>
            <a:r>
              <a:rPr lang="en-US" sz="2200" dirty="0">
                <a:latin typeface="Arial (Body)"/>
              </a:rPr>
              <a:t>I</a:t>
            </a:r>
            <a:r>
              <a:rPr lang="en-US" sz="100" dirty="0">
                <a:latin typeface="Arial (Body)"/>
              </a:rPr>
              <a:t> </a:t>
            </a:r>
            <a:r>
              <a:rPr lang="en-US" sz="2200" dirty="0">
                <a:latin typeface="Arial (Body)"/>
              </a:rPr>
              <a:t>P did not reestablish itself after the crisis passed.</a:t>
            </a:r>
          </a:p>
          <a:p>
            <a:pPr lvl="1"/>
            <a:r>
              <a:rPr lang="en-US" sz="2200" dirty="0">
                <a:latin typeface="Arial (Body)"/>
              </a:rPr>
              <a:t>The deviations from C</a:t>
            </a:r>
            <a:r>
              <a:rPr lang="en-US" sz="100" dirty="0">
                <a:latin typeface="Arial (Body)"/>
              </a:rPr>
              <a:t> </a:t>
            </a:r>
            <a:r>
              <a:rPr lang="en-US" sz="2200" dirty="0">
                <a:latin typeface="Arial (Body)"/>
              </a:rPr>
              <a:t>I</a:t>
            </a:r>
            <a:r>
              <a:rPr lang="en-US" sz="100" dirty="0">
                <a:latin typeface="Arial (Body)"/>
              </a:rPr>
              <a:t> </a:t>
            </a:r>
            <a:r>
              <a:rPr lang="en-US" sz="2200" dirty="0">
                <a:latin typeface="Arial (Body)"/>
              </a:rPr>
              <a:t>P tend to be negative, implying that it would be profitable to arbitrage by borrowing dollars, selling them for foreign currencies, and then investing the proceeds in foreign money markets while selling the proceeds forward to complete the round trip out of dollars and back</a:t>
            </a:r>
          </a:p>
        </p:txBody>
      </p:sp>
    </p:spTree>
    <p:extLst>
      <p:ext uri="{BB962C8B-B14F-4D97-AF65-F5344CB8AC3E}">
        <p14:creationId xmlns:p14="http://schemas.microsoft.com/office/powerpoint/2010/main" val="26380277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Figure 14.8 </a:t>
            </a:r>
            <a:r>
              <a:rPr lang="en-US" sz="2400" dirty="0"/>
              <a:t>U.S. Dollar Three-Month Interest Rate Less Covered Rate on Three-Month Foreign Bank Deposits</a:t>
            </a:r>
            <a:endParaRPr lang="en-IN" sz="2400" dirty="0"/>
          </a:p>
        </p:txBody>
      </p:sp>
      <p:pic>
        <p:nvPicPr>
          <p:cNvPr id="6" name="Content Placeholder 5" descr="A triple line graph depicts three month interest rate less covered rate on three month foreign bank deposit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327193" y="1559307"/>
            <a:ext cx="6489613" cy="3653503"/>
          </a:xfrm>
        </p:spPr>
      </p:pic>
      <p:sp>
        <p:nvSpPr>
          <p:cNvPr id="5" name="Content Placeholder 4"/>
          <p:cNvSpPr>
            <a:spLocks noGrp="1"/>
          </p:cNvSpPr>
          <p:nvPr>
            <p:ph sz="quarter" idx="14"/>
          </p:nvPr>
        </p:nvSpPr>
        <p:spPr>
          <a:xfrm>
            <a:off x="457200" y="5322629"/>
            <a:ext cx="8229600" cy="890801"/>
          </a:xfrm>
        </p:spPr>
        <p:txBody>
          <a:bodyPr/>
          <a:lstStyle/>
          <a:p>
            <a:pPr marL="432" indent="0">
              <a:buNone/>
            </a:pPr>
            <a:r>
              <a:rPr lang="en-US" sz="1600" dirty="0">
                <a:latin typeface="Arial (Body)"/>
              </a:rPr>
              <a:t>Covered interest parity held well up until the financial crisis that started in 2008, but it has not held closely since then. The three non-U.S. investment currencies shown are the euro, pound, and yen.</a:t>
            </a:r>
          </a:p>
        </p:txBody>
      </p:sp>
    </p:spTree>
    <p:extLst>
      <p:ext uri="{BB962C8B-B14F-4D97-AF65-F5344CB8AC3E}">
        <p14:creationId xmlns:p14="http://schemas.microsoft.com/office/powerpoint/2010/main" val="40719063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Forward Exchange Rates and Covered Interest Parity </a:t>
            </a:r>
            <a:r>
              <a:rPr lang="en-US" altLang="en-US" sz="2000" b="0" dirty="0"/>
              <a:t>(5 of 5) </a:t>
            </a:r>
            <a:endParaRPr lang="en-IN" dirty="0"/>
          </a:p>
        </p:txBody>
      </p:sp>
      <p:sp>
        <p:nvSpPr>
          <p:cNvPr id="4" name="Content Placeholder 3"/>
          <p:cNvSpPr>
            <a:spLocks noGrp="1"/>
          </p:cNvSpPr>
          <p:nvPr>
            <p:ph sz="quarter" idx="13"/>
          </p:nvPr>
        </p:nvSpPr>
        <p:spPr>
          <a:xfrm>
            <a:off x="457200" y="1552574"/>
            <a:ext cx="8229600" cy="476251"/>
          </a:xfrm>
        </p:spPr>
        <p:txBody>
          <a:bodyPr/>
          <a:lstStyle/>
          <a:p>
            <a:r>
              <a:rPr lang="en-US" sz="2200" dirty="0">
                <a:solidFill>
                  <a:schemeClr val="tx1"/>
                </a:solidFill>
                <a:latin typeface="Arial (Body)"/>
              </a:rPr>
              <a:t>By comparing the uncovered interest parity (UIP) condition,</a:t>
            </a:r>
          </a:p>
        </p:txBody>
      </p:sp>
      <p:graphicFrame>
        <p:nvGraphicFramePr>
          <p:cNvPr id="18" name="Object 17" descr="R sub $ = R sub euro + start fraction upper E to the lower e power, sub $ per euro minus upper E sub $ per euro over upper E sub $ per euro end fraction"/>
          <p:cNvGraphicFramePr>
            <a:graphicFrameLocks noChangeAspect="1"/>
          </p:cNvGraphicFramePr>
          <p:nvPr>
            <p:extLst>
              <p:ext uri="{D42A27DB-BD31-4B8C-83A1-F6EECF244321}">
                <p14:modId xmlns:p14="http://schemas.microsoft.com/office/powerpoint/2010/main" val="1314866084"/>
              </p:ext>
            </p:extLst>
          </p:nvPr>
        </p:nvGraphicFramePr>
        <p:xfrm>
          <a:off x="3800835" y="2207123"/>
          <a:ext cx="2101130" cy="687981"/>
        </p:xfrm>
        <a:graphic>
          <a:graphicData uri="http://schemas.openxmlformats.org/presentationml/2006/ole">
            <mc:AlternateContent xmlns:mc="http://schemas.openxmlformats.org/markup-compatibility/2006">
              <mc:Choice xmlns:v="urn:schemas-microsoft-com:vml" Requires="v">
                <p:oleObj spid="_x0000_s28684" name="Equation" r:id="rId3" imgW="1434960" imgH="469800" progId="Equation.DSMT4">
                  <p:embed/>
                </p:oleObj>
              </mc:Choice>
              <mc:Fallback>
                <p:oleObj name="Equation" r:id="rId3" imgW="1434960" imgH="469800" progId="Equation.DSMT4">
                  <p:embed/>
                  <p:pic>
                    <p:nvPicPr>
                      <p:cNvPr id="0" name=""/>
                      <p:cNvPicPr/>
                      <p:nvPr/>
                    </p:nvPicPr>
                    <p:blipFill>
                      <a:blip r:embed="rId4"/>
                      <a:stretch>
                        <a:fillRect/>
                      </a:stretch>
                    </p:blipFill>
                    <p:spPr>
                      <a:xfrm>
                        <a:off x="3800835" y="2207123"/>
                        <a:ext cx="2101130" cy="687981"/>
                      </a:xfrm>
                      <a:prstGeom prst="rect">
                        <a:avLst/>
                      </a:prstGeom>
                    </p:spPr>
                  </p:pic>
                </p:oleObj>
              </mc:Fallback>
            </mc:AlternateContent>
          </a:graphicData>
        </a:graphic>
      </p:graphicFrame>
      <p:sp>
        <p:nvSpPr>
          <p:cNvPr id="5" name="Content Placeholder 4"/>
          <p:cNvSpPr>
            <a:spLocks noGrp="1"/>
          </p:cNvSpPr>
          <p:nvPr>
            <p:ph sz="quarter" idx="14"/>
          </p:nvPr>
        </p:nvSpPr>
        <p:spPr>
          <a:xfrm>
            <a:off x="457200" y="2991473"/>
            <a:ext cx="8338008" cy="1031252"/>
          </a:xfrm>
        </p:spPr>
        <p:txBody>
          <a:bodyPr tIns="0"/>
          <a:lstStyle/>
          <a:p>
            <a:pPr marL="255600" indent="0">
              <a:buNone/>
            </a:pPr>
            <a:r>
              <a:rPr lang="en-US" sz="2200" dirty="0">
                <a:solidFill>
                  <a:schemeClr val="tx1"/>
                </a:solidFill>
                <a:latin typeface="Arial (Body)"/>
              </a:rPr>
              <a:t>with the covered interest parity condition, you will find that both conditions can be true at the same time only if the 1-year forward rate quoted today equals the spot exchange rate</a:t>
            </a:r>
            <a:endParaRPr lang="en-IN" sz="2200" dirty="0"/>
          </a:p>
        </p:txBody>
      </p:sp>
      <p:sp>
        <p:nvSpPr>
          <p:cNvPr id="6" name="Content Placeholder 5"/>
          <p:cNvSpPr>
            <a:spLocks noGrp="1"/>
          </p:cNvSpPr>
          <p:nvPr>
            <p:ph sz="quarter" idx="15"/>
          </p:nvPr>
        </p:nvSpPr>
        <p:spPr>
          <a:xfrm>
            <a:off x="457199" y="4134577"/>
            <a:ext cx="6282965" cy="382654"/>
          </a:xfrm>
        </p:spPr>
        <p:txBody>
          <a:bodyPr tIns="0"/>
          <a:lstStyle/>
          <a:p>
            <a:pPr marL="255600" indent="0">
              <a:buNone/>
            </a:pPr>
            <a:r>
              <a:rPr lang="en-US" sz="2200" dirty="0">
                <a:solidFill>
                  <a:schemeClr val="tx1"/>
                </a:solidFill>
                <a:latin typeface="Arial (Body)"/>
              </a:rPr>
              <a:t>people expect to materialize a year from today:</a:t>
            </a:r>
            <a:endParaRPr lang="en-IN" sz="2200" dirty="0"/>
          </a:p>
        </p:txBody>
      </p:sp>
      <p:graphicFrame>
        <p:nvGraphicFramePr>
          <p:cNvPr id="19" name="Object 18" descr="F sub $ per euro = upper E to the lower e power, sub $ per euro"/>
          <p:cNvGraphicFramePr>
            <a:graphicFrameLocks noChangeAspect="1"/>
          </p:cNvGraphicFramePr>
          <p:nvPr>
            <p:extLst>
              <p:ext uri="{D42A27DB-BD31-4B8C-83A1-F6EECF244321}">
                <p14:modId xmlns:p14="http://schemas.microsoft.com/office/powerpoint/2010/main" val="2209648378"/>
              </p:ext>
            </p:extLst>
          </p:nvPr>
        </p:nvGraphicFramePr>
        <p:xfrm>
          <a:off x="6817567" y="4134057"/>
          <a:ext cx="1084035" cy="388616"/>
        </p:xfrm>
        <a:graphic>
          <a:graphicData uri="http://schemas.openxmlformats.org/presentationml/2006/ole">
            <mc:AlternateContent xmlns:mc="http://schemas.openxmlformats.org/markup-compatibility/2006">
              <mc:Choice xmlns:v="urn:schemas-microsoft-com:vml" Requires="v">
                <p:oleObj spid="_x0000_s28685" name="Equation" r:id="rId5" imgW="672840" imgH="241200" progId="Equation.DSMT4">
                  <p:embed/>
                </p:oleObj>
              </mc:Choice>
              <mc:Fallback>
                <p:oleObj name="Equation" r:id="rId5" imgW="672840" imgH="241200" progId="Equation.DSMT4">
                  <p:embed/>
                  <p:pic>
                    <p:nvPicPr>
                      <p:cNvPr id="0" name=""/>
                      <p:cNvPicPr/>
                      <p:nvPr/>
                    </p:nvPicPr>
                    <p:blipFill>
                      <a:blip r:embed="rId6"/>
                      <a:stretch>
                        <a:fillRect/>
                      </a:stretch>
                    </p:blipFill>
                    <p:spPr>
                      <a:xfrm>
                        <a:off x="6817567" y="4134057"/>
                        <a:ext cx="1084035" cy="388616"/>
                      </a:xfrm>
                      <a:prstGeom prst="rect">
                        <a:avLst/>
                      </a:prstGeom>
                    </p:spPr>
                  </p:pic>
                </p:oleObj>
              </mc:Fallback>
            </mc:AlternateContent>
          </a:graphicData>
        </a:graphic>
      </p:graphicFrame>
      <p:sp>
        <p:nvSpPr>
          <p:cNvPr id="7" name="Content Placeholder 6"/>
          <p:cNvSpPr>
            <a:spLocks noGrp="1"/>
          </p:cNvSpPr>
          <p:nvPr>
            <p:ph sz="quarter" idx="16"/>
          </p:nvPr>
        </p:nvSpPr>
        <p:spPr>
          <a:xfrm>
            <a:off x="457200" y="4606144"/>
            <a:ext cx="8077200" cy="791356"/>
          </a:xfrm>
        </p:spPr>
        <p:txBody>
          <a:bodyPr tIns="0"/>
          <a:lstStyle/>
          <a:p>
            <a:r>
              <a:rPr lang="en-US" sz="2200" dirty="0">
                <a:solidFill>
                  <a:schemeClr val="tx1"/>
                </a:solidFill>
                <a:latin typeface="Arial (Body)"/>
              </a:rPr>
              <a:t>Covered transactions do not involve exchange rate risk, whereas uncovered transactions do.</a:t>
            </a:r>
          </a:p>
        </p:txBody>
      </p:sp>
    </p:spTree>
    <p:extLst>
      <p:ext uri="{BB962C8B-B14F-4D97-AF65-F5344CB8AC3E}">
        <p14:creationId xmlns:p14="http://schemas.microsoft.com/office/powerpoint/2010/main" val="22893162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(1 of 4)</a:t>
            </a:r>
            <a:endParaRPr lang="en-IN" dirty="0"/>
          </a:p>
        </p:txBody>
      </p:sp>
      <p:sp>
        <p:nvSpPr>
          <p:cNvPr id="3" name="Content Placeholder 2"/>
          <p:cNvSpPr>
            <a:spLocks noGrp="1"/>
          </p:cNvSpPr>
          <p:nvPr>
            <p:ph sz="quarter" idx="13"/>
          </p:nvPr>
        </p:nvSpPr>
        <p:spPr>
          <a:xfrm>
            <a:off x="466602" y="1552576"/>
            <a:ext cx="8220197" cy="785380"/>
          </a:xfrm>
        </p:spPr>
        <p:txBody>
          <a:bodyPr/>
          <a:lstStyle/>
          <a:p>
            <a:pPr marL="432000" indent="-432000">
              <a:spcBef>
                <a:spcPts val="600"/>
              </a:spcBef>
              <a:buFont typeface="Times" pitchFamily="-1" charset="0"/>
              <a:buAutoNum type="arabicPeriod"/>
            </a:pPr>
            <a:r>
              <a:rPr lang="en-US" altLang="en-US" sz="2200" dirty="0">
                <a:latin typeface="Arial (Body)"/>
              </a:rPr>
              <a:t>An </a:t>
            </a:r>
            <a:r>
              <a:rPr lang="en-US" altLang="en-US" sz="2200" b="1" dirty="0">
                <a:latin typeface="Arial (Body)"/>
              </a:rPr>
              <a:t>exchange rate </a:t>
            </a:r>
            <a:r>
              <a:rPr lang="en-US" altLang="en-US" sz="2200" dirty="0">
                <a:latin typeface="Arial (Body)"/>
              </a:rPr>
              <a:t>is the price of one country’</a:t>
            </a:r>
            <a:r>
              <a:rPr lang="en-US" altLang="ja-JP" sz="2200" dirty="0">
                <a:latin typeface="Arial (Body)"/>
              </a:rPr>
              <a:t>s currency in terms of another country’s currency.</a:t>
            </a:r>
            <a:endParaRPr lang="en-IN" sz="2200" dirty="0"/>
          </a:p>
        </p:txBody>
      </p:sp>
      <p:sp>
        <p:nvSpPr>
          <p:cNvPr id="4" name="Content Placeholder 3">
            <a:extLst>
              <a:ext uri="{FF2B5EF4-FFF2-40B4-BE49-F238E27FC236}">
                <a16:creationId xmlns:a16="http://schemas.microsoft.com/office/drawing/2014/main" id="{6B0A82A0-D38C-4F87-8D8E-65A004379EFC}"/>
              </a:ext>
            </a:extLst>
          </p:cNvPr>
          <p:cNvSpPr>
            <a:spLocks noGrp="1"/>
          </p:cNvSpPr>
          <p:nvPr>
            <p:ph sz="quarter" idx="14"/>
          </p:nvPr>
        </p:nvSpPr>
        <p:spPr>
          <a:xfrm>
            <a:off x="468313" y="2502878"/>
            <a:ext cx="8312005" cy="926124"/>
          </a:xfrm>
        </p:spPr>
        <p:txBody>
          <a:bodyPr/>
          <a:lstStyle/>
          <a:p>
            <a:pPr lvl="1"/>
            <a:r>
              <a:rPr lang="en-US" altLang="en-US" sz="2400" dirty="0">
                <a:latin typeface="Arial (Body)"/>
              </a:rPr>
              <a:t>It enables us to translate different countries’</a:t>
            </a:r>
            <a:r>
              <a:rPr lang="en-US" altLang="ja-JP" sz="2400" dirty="0">
                <a:latin typeface="Arial (Body)"/>
              </a:rPr>
              <a:t> prices into comparable terms. </a:t>
            </a:r>
          </a:p>
        </p:txBody>
      </p:sp>
      <p:sp>
        <p:nvSpPr>
          <p:cNvPr id="5" name="Content Placeholder 4">
            <a:extLst>
              <a:ext uri="{FF2B5EF4-FFF2-40B4-BE49-F238E27FC236}">
                <a16:creationId xmlns:a16="http://schemas.microsoft.com/office/drawing/2014/main" id="{09826AAC-30BC-4007-9DA5-96C51FE8858F}"/>
              </a:ext>
            </a:extLst>
          </p:cNvPr>
          <p:cNvSpPr>
            <a:spLocks noGrp="1"/>
          </p:cNvSpPr>
          <p:nvPr>
            <p:ph sz="quarter" idx="15"/>
          </p:nvPr>
        </p:nvSpPr>
        <p:spPr>
          <a:xfrm>
            <a:off x="457200" y="3553689"/>
            <a:ext cx="8416636" cy="2791549"/>
          </a:xfrm>
        </p:spPr>
        <p:txBody>
          <a:bodyPr/>
          <a:lstStyle/>
          <a:p>
            <a:pPr marL="432000" indent="-432000">
              <a:spcBef>
                <a:spcPts val="600"/>
              </a:spcBef>
              <a:buFont typeface="+mj-lt"/>
              <a:buAutoNum type="arabicPeriod" startAt="2"/>
            </a:pPr>
            <a:r>
              <a:rPr lang="en-US" altLang="en-US" sz="2400" b="1" dirty="0">
                <a:latin typeface="Arial (Body)"/>
              </a:rPr>
              <a:t>Depreciation of a currency </a:t>
            </a:r>
            <a:r>
              <a:rPr lang="en-US" altLang="en-US" sz="2400" dirty="0">
                <a:latin typeface="Arial (Body)"/>
              </a:rPr>
              <a:t>means that it becomes less valuable and goods denominated in it are less expensive: exports are cheaper and imports more expensive.</a:t>
            </a:r>
          </a:p>
          <a:p>
            <a:pPr marL="432000" indent="-432000">
              <a:spcBef>
                <a:spcPts val="600"/>
              </a:spcBef>
              <a:buFont typeface="+mj-lt"/>
              <a:buAutoNum type="arabicPeriod" startAt="2"/>
            </a:pPr>
            <a:r>
              <a:rPr lang="en-US" altLang="en-US" sz="2400" b="1" dirty="0">
                <a:latin typeface="Arial (Body)"/>
              </a:rPr>
              <a:t>Appreciation of a currency</a:t>
            </a:r>
            <a:r>
              <a:rPr lang="en-US" altLang="en-US" sz="2400" dirty="0">
                <a:latin typeface="Arial (Body)"/>
              </a:rPr>
              <a:t> means that it becomes more valuable and goods denominated in it are more expensive: exports are more expensive and imports cheaper.</a:t>
            </a:r>
            <a:endParaRPr lang="en-IN" sz="2400" dirty="0"/>
          </a:p>
        </p:txBody>
      </p:sp>
    </p:spTree>
    <p:extLst>
      <p:ext uri="{BB962C8B-B14F-4D97-AF65-F5344CB8AC3E}">
        <p14:creationId xmlns:p14="http://schemas.microsoft.com/office/powerpoint/2010/main" val="13425067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(2 of 4)</a:t>
            </a:r>
            <a:endParaRPr lang="en-IN" dirty="0"/>
          </a:p>
        </p:txBody>
      </p:sp>
      <p:sp>
        <p:nvSpPr>
          <p:cNvPr id="3" name="Content Placeholder 2"/>
          <p:cNvSpPr>
            <a:spLocks noGrp="1"/>
          </p:cNvSpPr>
          <p:nvPr>
            <p:ph sz="quarter" idx="13"/>
          </p:nvPr>
        </p:nvSpPr>
        <p:spPr>
          <a:xfrm>
            <a:off x="466602" y="1552575"/>
            <a:ext cx="8220197" cy="1325707"/>
          </a:xfrm>
        </p:spPr>
        <p:txBody>
          <a:bodyPr/>
          <a:lstStyle/>
          <a:p>
            <a:pPr marL="432000" indent="-432000">
              <a:buFont typeface="Times" pitchFamily="-1" charset="0"/>
              <a:buAutoNum type="arabicPeriod" startAt="4"/>
            </a:pPr>
            <a:r>
              <a:rPr lang="en-US" altLang="en-US" dirty="0">
                <a:latin typeface="Arial (Body)"/>
              </a:rPr>
              <a:t>Commercial and investment banks that invest in deposits of different currencies dominate the foreign exchange market.</a:t>
            </a:r>
            <a:endParaRPr lang="en-IN" dirty="0"/>
          </a:p>
        </p:txBody>
      </p:sp>
      <p:sp>
        <p:nvSpPr>
          <p:cNvPr id="4" name="Content Placeholder 3">
            <a:extLst>
              <a:ext uri="{FF2B5EF4-FFF2-40B4-BE49-F238E27FC236}">
                <a16:creationId xmlns:a16="http://schemas.microsoft.com/office/drawing/2014/main" id="{E976EA0A-BF6B-4FA4-9FC7-3662E1A05C4B}"/>
              </a:ext>
            </a:extLst>
          </p:cNvPr>
          <p:cNvSpPr>
            <a:spLocks noGrp="1"/>
          </p:cNvSpPr>
          <p:nvPr>
            <p:ph sz="quarter" idx="14"/>
          </p:nvPr>
        </p:nvSpPr>
        <p:spPr>
          <a:xfrm>
            <a:off x="468313" y="2955682"/>
            <a:ext cx="8218486" cy="955029"/>
          </a:xfrm>
        </p:spPr>
        <p:txBody>
          <a:bodyPr/>
          <a:lstStyle/>
          <a:p>
            <a:pPr lvl="1"/>
            <a:r>
              <a:rPr lang="en-US" altLang="en-US" dirty="0">
                <a:latin typeface="Arial (Body)"/>
              </a:rPr>
              <a:t>Expected rates of return are most important in determining the willingness to hold these deposits.</a:t>
            </a:r>
          </a:p>
        </p:txBody>
      </p:sp>
      <p:sp>
        <p:nvSpPr>
          <p:cNvPr id="5" name="Content Placeholder 4">
            <a:extLst>
              <a:ext uri="{FF2B5EF4-FFF2-40B4-BE49-F238E27FC236}">
                <a16:creationId xmlns:a16="http://schemas.microsoft.com/office/drawing/2014/main" id="{E6A0D2BD-1D28-4CCA-A61F-55BDB5770920}"/>
              </a:ext>
            </a:extLst>
          </p:cNvPr>
          <p:cNvSpPr>
            <a:spLocks noGrp="1"/>
          </p:cNvSpPr>
          <p:nvPr>
            <p:ph sz="quarter" idx="15"/>
          </p:nvPr>
        </p:nvSpPr>
        <p:spPr>
          <a:xfrm>
            <a:off x="468313" y="3976518"/>
            <a:ext cx="8229600" cy="1364856"/>
          </a:xfrm>
        </p:spPr>
        <p:txBody>
          <a:bodyPr/>
          <a:lstStyle/>
          <a:p>
            <a:pPr marL="432000" indent="-432000">
              <a:buFont typeface="+mj-lt"/>
              <a:buAutoNum type="arabicPeriod" startAt="5"/>
            </a:pPr>
            <a:r>
              <a:rPr lang="en-US" altLang="en-US" dirty="0">
                <a:latin typeface="Arial (Body)"/>
              </a:rPr>
              <a:t>Rates of return on currency deposits in the foreign exchange market are influenced by interest rates and expected exchange rates.</a:t>
            </a:r>
            <a:endParaRPr lang="en-IN" dirty="0"/>
          </a:p>
        </p:txBody>
      </p:sp>
    </p:spTree>
    <p:extLst>
      <p:ext uri="{BB962C8B-B14F-4D97-AF65-F5344CB8AC3E}">
        <p14:creationId xmlns:p14="http://schemas.microsoft.com/office/powerpoint/2010/main" val="11522764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(3 of 4)</a:t>
            </a:r>
            <a:endParaRPr lang="en-IN" dirty="0"/>
          </a:p>
        </p:txBody>
      </p:sp>
      <p:sp>
        <p:nvSpPr>
          <p:cNvPr id="3" name="Content Placeholder 2"/>
          <p:cNvSpPr>
            <a:spLocks noGrp="1"/>
          </p:cNvSpPr>
          <p:nvPr>
            <p:ph sz="quarter" idx="13"/>
          </p:nvPr>
        </p:nvSpPr>
        <p:spPr>
          <a:xfrm>
            <a:off x="457200" y="1556327"/>
            <a:ext cx="8229600" cy="2836564"/>
          </a:xfrm>
        </p:spPr>
        <p:txBody>
          <a:bodyPr/>
          <a:lstStyle/>
          <a:p>
            <a:pPr marL="429758" indent="-429758">
              <a:buFont typeface="Times" pitchFamily="-1" charset="0"/>
              <a:buAutoNum type="arabicPeriod" startAt="6"/>
            </a:pPr>
            <a:r>
              <a:rPr lang="en-US" altLang="en-US" dirty="0">
                <a:latin typeface="Arial (Body)"/>
              </a:rPr>
              <a:t>Equilibrium in the foreign exchange market occurs when rates of returns on deposits in domestic currency and in foreign currency are equal: </a:t>
            </a:r>
            <a:r>
              <a:rPr lang="en-US" altLang="en-US" b="1" dirty="0">
                <a:latin typeface="Arial (Body)"/>
              </a:rPr>
              <a:t>interest rate parity</a:t>
            </a:r>
            <a:r>
              <a:rPr lang="en-US" altLang="en-US" dirty="0">
                <a:latin typeface="Arial (Body)"/>
              </a:rPr>
              <a:t>.</a:t>
            </a:r>
          </a:p>
          <a:p>
            <a:pPr marL="429758" indent="-429758">
              <a:buFont typeface="Times" pitchFamily="-1" charset="0"/>
              <a:buAutoNum type="arabicPeriod" startAt="6"/>
            </a:pPr>
            <a:r>
              <a:rPr lang="en-US" altLang="en-US" dirty="0">
                <a:latin typeface="Arial (Body)"/>
              </a:rPr>
              <a:t>An increase in the interest rate on a currency</a:t>
            </a:r>
            <a:r>
              <a:rPr lang="en-US" altLang="en-US" dirty="0">
                <a:solidFill>
                  <a:srgbClr val="FF0000"/>
                </a:solidFill>
                <a:latin typeface="Arial (Body)"/>
              </a:rPr>
              <a:t>’</a:t>
            </a:r>
            <a:r>
              <a:rPr lang="en-US" altLang="ja-JP" dirty="0">
                <a:latin typeface="Arial (Body)"/>
              </a:rPr>
              <a:t>s deposit leads to an increase in its expected rate of return and to an appreciation of the currency.</a:t>
            </a:r>
            <a:endParaRPr lang="en-IN" dirty="0"/>
          </a:p>
        </p:txBody>
      </p:sp>
    </p:spTree>
    <p:extLst>
      <p:ext uri="{BB962C8B-B14F-4D97-AF65-F5344CB8AC3E}">
        <p14:creationId xmlns:p14="http://schemas.microsoft.com/office/powerpoint/2010/main" val="23758966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(4 of 4)</a:t>
            </a:r>
            <a:endParaRPr lang="en-IN" dirty="0"/>
          </a:p>
        </p:txBody>
      </p:sp>
      <p:sp>
        <p:nvSpPr>
          <p:cNvPr id="3" name="Content Placeholder 2"/>
          <p:cNvSpPr>
            <a:spLocks noGrp="1"/>
          </p:cNvSpPr>
          <p:nvPr>
            <p:ph sz="quarter" idx="13"/>
          </p:nvPr>
        </p:nvSpPr>
        <p:spPr>
          <a:xfrm>
            <a:off x="457200" y="1556327"/>
            <a:ext cx="8229600" cy="3241916"/>
          </a:xfrm>
        </p:spPr>
        <p:txBody>
          <a:bodyPr/>
          <a:lstStyle/>
          <a:p>
            <a:pPr marL="429758" indent="-429758">
              <a:buFont typeface="Times" pitchFamily="-1" charset="0"/>
              <a:buAutoNum type="arabicPeriod" startAt="8"/>
            </a:pPr>
            <a:r>
              <a:rPr lang="en-US" altLang="en-US" dirty="0">
                <a:latin typeface="Arial (Body)"/>
              </a:rPr>
              <a:t>An expected appreciation of a currency leads to an increase in the expected rate of return for that currency, and thus leads to an actual appreciation. </a:t>
            </a:r>
          </a:p>
          <a:p>
            <a:pPr marL="429758" indent="-429758">
              <a:buFont typeface="Times" pitchFamily="-1" charset="0"/>
              <a:buAutoNum type="arabicPeriod" startAt="8"/>
            </a:pPr>
            <a:r>
              <a:rPr lang="en-US" altLang="en-US" dirty="0">
                <a:latin typeface="Arial (Body)"/>
              </a:rPr>
              <a:t>Covered interest parity says that rates of return on domestic currency deposits and “</a:t>
            </a:r>
            <a:r>
              <a:rPr lang="en-US" altLang="ja-JP" dirty="0">
                <a:latin typeface="Arial (Body)"/>
              </a:rPr>
              <a:t>covered” foreign currency deposits using the forward exchange rate are the same.</a:t>
            </a:r>
            <a:endParaRPr lang="en-IN" dirty="0"/>
          </a:p>
        </p:txBody>
      </p:sp>
    </p:spTree>
    <p:extLst>
      <p:ext uri="{BB962C8B-B14F-4D97-AF65-F5344CB8AC3E}">
        <p14:creationId xmlns:p14="http://schemas.microsoft.com/office/powerpoint/2010/main" val="728476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148554</TotalTime>
  <Words>6061</Words>
  <Application>Microsoft Office PowerPoint</Application>
  <PresentationFormat>On-screen Show (4:3)</PresentationFormat>
  <Paragraphs>936</Paragraphs>
  <Slides>63</Slides>
  <Notes>13</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63</vt:i4>
      </vt:variant>
    </vt:vector>
  </HeadingPairs>
  <TitlesOfParts>
    <vt:vector size="74" baseType="lpstr">
      <vt:lpstr>Calibri</vt:lpstr>
      <vt:lpstr>SimSun-ExtB</vt:lpstr>
      <vt:lpstr>Verdana</vt:lpstr>
      <vt:lpstr>Arial (Body)</vt:lpstr>
      <vt:lpstr>Times New Roman</vt:lpstr>
      <vt:lpstr>Noto Sans Symbols</vt:lpstr>
      <vt:lpstr>Arial</vt:lpstr>
      <vt:lpstr>Times</vt:lpstr>
      <vt:lpstr>USHE</vt:lpstr>
      <vt:lpstr>USHE_slide options</vt:lpstr>
      <vt:lpstr>Equation</vt:lpstr>
      <vt:lpstr>International Economics: Theory and Policy</vt:lpstr>
      <vt:lpstr>Learning Objectives</vt:lpstr>
      <vt:lpstr>Preview</vt:lpstr>
      <vt:lpstr>Definitions of Exchange Rates</vt:lpstr>
      <vt:lpstr>Table 14.1 Exchange Rate Quotations (1 of 5)</vt:lpstr>
      <vt:lpstr>Table 14.1 Exchange Rate Quotations (2 of 5)</vt:lpstr>
      <vt:lpstr>Table 14.1 Exchange Rate Quotations (3 of 5)</vt:lpstr>
      <vt:lpstr>Table 14.1 Exchange Rate Quotations (4 of 5)</vt:lpstr>
      <vt:lpstr>Table 14.1 Exchange Rate Quotations (5 of 5)</vt:lpstr>
      <vt:lpstr>Depreciation and Appreciation (1 of 5)</vt:lpstr>
      <vt:lpstr>Depreciation and Appreciation (2 of 5)</vt:lpstr>
      <vt:lpstr>Depreciation and Appreciation (3 of 5)</vt:lpstr>
      <vt:lpstr>Depreciation and Appreciation (4 of 5)</vt:lpstr>
      <vt:lpstr>Depreciation and Appreciation (5 of 5)</vt:lpstr>
      <vt:lpstr>Table 14.2 Dollars per pound     Exchange Rates and the Relative Price of American Designer Jeans and British Sweaters</vt:lpstr>
      <vt:lpstr>Foreign Exchange Markets (1 of 4)</vt:lpstr>
      <vt:lpstr>Foreign Exchange Markets (2 of 4) </vt:lpstr>
      <vt:lpstr>Foreign Exchange Markets (3 of 4)</vt:lpstr>
      <vt:lpstr>Foreign Exchange Markets (4 of 4)</vt:lpstr>
      <vt:lpstr>Spot Rates and Forward Rates</vt:lpstr>
      <vt:lpstr>Figure 14.1 Dollar/Pound Spot and Forward Exchange Rates, 1983–2020 </vt:lpstr>
      <vt:lpstr>Other Methods of Currency Exchange (1 of 3)</vt:lpstr>
      <vt:lpstr>Other Methods of Currency Exchange (2 of 3)</vt:lpstr>
      <vt:lpstr>Other Methods of Currency Exchange (3 of 3)</vt:lpstr>
      <vt:lpstr>The Demand of Currency Deposits (1 of 12)</vt:lpstr>
      <vt:lpstr>The Demand of Currency Deposits (2 of 12)</vt:lpstr>
      <vt:lpstr>The Demand of Currency Deposits (3 of 12)</vt:lpstr>
      <vt:lpstr>The Demand of Currency Deposits (4 of 12)</vt:lpstr>
      <vt:lpstr>The Demand of Currency Deposits (5 of 12)</vt:lpstr>
      <vt:lpstr>The Demand of Currency Deposits (6 of 12)</vt:lpstr>
      <vt:lpstr>The Demand of Currency Deposits (7 of 12)</vt:lpstr>
      <vt:lpstr>The Demand of Currency Deposits (8 of 12)</vt:lpstr>
      <vt:lpstr>Figure 14.2 Interest Rates on Dollar and Yen Deposits, 1978–2020</vt:lpstr>
      <vt:lpstr>The Demand of Currency Deposits (9 of 12)</vt:lpstr>
      <vt:lpstr>The Demand of Currency Deposits (10 of 12)</vt:lpstr>
      <vt:lpstr>The Demand of Currency Deposits (11 of 12)</vt:lpstr>
      <vt:lpstr>The Demand of Currency Deposits (12 of 12)</vt:lpstr>
      <vt:lpstr>Model of Foreign Exchange Markets (1 of 6)</vt:lpstr>
      <vt:lpstr>Table 14.3 Comparing Dollar Rates of Return on Dollar and Euro Deposits</vt:lpstr>
      <vt:lpstr>Model of Foreign Exchange Markets (2 of 6)</vt:lpstr>
      <vt:lpstr>Model of Foreign Exchange Markets (3 of 6)</vt:lpstr>
      <vt:lpstr>Model of Foreign Exchange Markets (4 of 6)</vt:lpstr>
      <vt:lpstr>Model of Foreign Exchange Markets (5 of 6)</vt:lpstr>
      <vt:lpstr>Table 14.4 Today’s Dollar/Euro Exchange Rate and the Expected Dollar Return on Euro Deposits When upper E to the lower e power, sub $ per euro minus upper E sub $ per euro = $1.05          per Euro</vt:lpstr>
      <vt:lpstr>Figure 14.3 The Relation Between the Current Dollar/Euro Exchange Rate and the Expected Dollar Return on Euro Deposits</vt:lpstr>
      <vt:lpstr>Figure 14.4 Determination of the Equilibrium Dollar/Euro Exchange Rate</vt:lpstr>
      <vt:lpstr>Model of Foreign Exchange Markets (6 of 6) </vt:lpstr>
      <vt:lpstr>Figure 14.5 Effect of a Rise in the Dollar Interest Rate</vt:lpstr>
      <vt:lpstr>Figure 14.6 Effect of a Rise in the Euro Interest Rate</vt:lpstr>
      <vt:lpstr>The Effect of Changing Expectations on the Current Exchange Rate</vt:lpstr>
      <vt:lpstr>What Explains Carry Trade?</vt:lpstr>
      <vt:lpstr>Figure 14.7 Cumulative Total Investment Return in Australian Dollars Compared with Japanese Yen, 2006–2020</vt:lpstr>
      <vt:lpstr>Forward Exchange Rates and Covered Interest Parity (1 of 5)</vt:lpstr>
      <vt:lpstr>Forward Exchange Rates and Covered Interest Parity (2 of 5)</vt:lpstr>
      <vt:lpstr>Forward Exchange Rates and Covered Interest Parity (3 of 5)</vt:lpstr>
      <vt:lpstr>Forward Exchange Rates and Covered Interest Parity (4 of 5)</vt:lpstr>
      <vt:lpstr>Figure 14.8 U.S. Dollar Three-Month Interest Rate Less Covered Rate on Three-Month Foreign Bank Deposits</vt:lpstr>
      <vt:lpstr>Forward Exchange Rates and Covered Interest Parity (5 of 5) </vt:lpstr>
      <vt:lpstr>Summary (1 of 4)</vt:lpstr>
      <vt:lpstr>Summary (2 of 4)</vt:lpstr>
      <vt:lpstr>Summary (3 of 4)</vt:lpstr>
      <vt:lpstr>Summary (4 of 4)</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14, Exchange Rates and the Foreign Exchange Market: An Asset Approach</dc:title>
  <dc:subject>Business</dc:subject>
  <dc:creator>Krugman/Obstfeld/Melitz</dc:creator>
  <cp:keywords>International Economics</cp:keywords>
  <dc:description>Long description alt-text is inserted in the notes pane; Alt text for math equations within the title have been placed behind the title intentionally to provide a better screen reader user experience. Alt text for images/math equations within table cells have been placed behind the object intentionally to provide a better screen reader user experience; This presentation contains the hyperlinks.</dc:description>
  <cp:lastModifiedBy>admin</cp:lastModifiedBy>
  <cp:revision>1066</cp:revision>
  <dcterms:modified xsi:type="dcterms:W3CDTF">2021-11-10T09:18:40Z</dcterms:modified>
</cp:coreProperties>
</file>