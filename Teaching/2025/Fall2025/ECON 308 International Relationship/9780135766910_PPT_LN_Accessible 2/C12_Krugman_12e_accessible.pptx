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4"/>
  </p:notesMasterIdLst>
  <p:handoutMasterIdLst>
    <p:handoutMasterId r:id="rId45"/>
  </p:handoutMasterIdLst>
  <p:sldIdLst>
    <p:sldId id="330" r:id="rId3"/>
    <p:sldId id="331" r:id="rId4"/>
    <p:sldId id="336" r:id="rId5"/>
    <p:sldId id="334" r:id="rId6"/>
    <p:sldId id="333" r:id="rId7"/>
    <p:sldId id="332" r:id="rId8"/>
    <p:sldId id="337" r:id="rId9"/>
    <p:sldId id="338" r:id="rId10"/>
    <p:sldId id="371" r:id="rId11"/>
    <p:sldId id="340" r:id="rId12"/>
    <p:sldId id="342" r:id="rId13"/>
    <p:sldId id="341" r:id="rId14"/>
    <p:sldId id="343" r:id="rId15"/>
    <p:sldId id="344" r:id="rId16"/>
    <p:sldId id="345" r:id="rId17"/>
    <p:sldId id="366" r:id="rId18"/>
    <p:sldId id="346" r:id="rId19"/>
    <p:sldId id="367" r:id="rId20"/>
    <p:sldId id="347" r:id="rId21"/>
    <p:sldId id="348" r:id="rId22"/>
    <p:sldId id="349" r:id="rId23"/>
    <p:sldId id="350" r:id="rId24"/>
    <p:sldId id="351" r:id="rId25"/>
    <p:sldId id="356" r:id="rId26"/>
    <p:sldId id="355" r:id="rId27"/>
    <p:sldId id="354" r:id="rId28"/>
    <p:sldId id="368" r:id="rId29"/>
    <p:sldId id="353" r:id="rId30"/>
    <p:sldId id="352" r:id="rId31"/>
    <p:sldId id="357" r:id="rId32"/>
    <p:sldId id="358" r:id="rId33"/>
    <p:sldId id="359" r:id="rId34"/>
    <p:sldId id="369" r:id="rId35"/>
    <p:sldId id="360" r:id="rId36"/>
    <p:sldId id="370" r:id="rId37"/>
    <p:sldId id="361" r:id="rId38"/>
    <p:sldId id="362" r:id="rId39"/>
    <p:sldId id="372" r:id="rId40"/>
    <p:sldId id="364" r:id="rId41"/>
    <p:sldId id="365" r:id="rId42"/>
    <p:sldId id="298" r:id="rId43"/>
  </p:sldIdLst>
  <p:sldSz cx="9144000" cy="6858000" type="screen4x3"/>
  <p:notesSz cx="6858000" cy="9144000"/>
  <p:embeddedFontLst>
    <p:embeddedFont>
      <p:font typeface="Times" panose="02020603050405020304" pitchFamily="18" charset="0"/>
      <p:regular r:id="rId46"/>
      <p:bold r:id="rId47"/>
      <p:italic r:id="rId48"/>
      <p:boldItalic r:id="rId49"/>
    </p:embeddedFont>
    <p:embeddedFont>
      <p:font typeface="Calibri" panose="020F0502020204030204" pitchFamily="34" charset="0"/>
      <p:regular r:id="rId50"/>
      <p:bold r:id="rId51"/>
      <p:italic r:id="rId52"/>
      <p:boldItalic r:id="rId53"/>
    </p:embeddedFont>
    <p:embeddedFont>
      <p:font typeface="Noto Sans Symbols" panose="020B0604020202020204" charset="0"/>
      <p:regular r:id="rId54"/>
      <p:bold r:id="rId55"/>
      <p:italic r:id="rId56"/>
      <p:boldItalic r:id="rId57"/>
    </p:embeddedFont>
    <p:embeddedFont>
      <p:font typeface="Verdana" panose="020B060403050404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981" userDrawn="1">
          <p15:clr>
            <a:srgbClr val="A4A3A4"/>
          </p15:clr>
        </p15:guide>
        <p15:guide id="7" pos="635" userDrawn="1">
          <p15:clr>
            <a:srgbClr val="A4A3A4"/>
          </p15:clr>
        </p15:guide>
        <p15:guide id="8"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00" autoAdjust="0"/>
    <p:restoredTop sz="93923" autoAdjust="0"/>
  </p:normalViewPr>
  <p:slideViewPr>
    <p:cSldViewPr snapToGrid="0" snapToObjects="1">
      <p:cViewPr varScale="1">
        <p:scale>
          <a:sx n="76" d="100"/>
          <a:sy n="76" d="100"/>
        </p:scale>
        <p:origin x="2130" y="84"/>
      </p:cViewPr>
      <p:guideLst>
        <p:guide orient="horz" pos="3997"/>
        <p:guide pos="295"/>
        <p:guide orient="horz" pos="4178"/>
        <p:guide orient="horz" pos="119"/>
        <p:guide orient="horz" pos="709"/>
        <p:guide orient="horz" pos="981"/>
        <p:guide pos="635"/>
        <p:guide orient="horz" pos="822"/>
      </p:guideLst>
    </p:cSldViewPr>
  </p:slideViewPr>
  <p:outlineViewPr>
    <p:cViewPr>
      <p:scale>
        <a:sx n="33" d="100"/>
        <a:sy n="33" d="100"/>
      </p:scale>
      <p:origin x="0" y="-2204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9.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font" Target="fonts/font13.fntdata"/><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4.fntdata"/><Relationship Id="rId57" Type="http://schemas.openxmlformats.org/officeDocument/2006/relationships/font" Target="fonts/font12.fntdata"/><Relationship Id="rId61" Type="http://schemas.openxmlformats.org/officeDocument/2006/relationships/font" Target="fonts/font1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openxmlformats.org/officeDocument/2006/relationships/font" Target="fonts/font15.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59" Type="http://schemas.openxmlformats.org/officeDocument/2006/relationships/font" Target="fonts/font14.fntdata"/></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line graph plots the U S trade balance in R and D intensive products, in million dollars, versus year, 2005 to 20 18. The plot generally rises from (2005, negative 140) through (2006, negative 80) and falls to (2007, negative 100). The plot then falls through (20 10, negative 190), (20 15, negative 230) to (20 18, negative 310).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54861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double line graph plots the index of employment with the year 2000 = 100, versus year, 2000 to 20 15, for all manufacturing and for computers and related goods. The plot for all manufacturing generally falls from (2000, 100) through (2005, 80) to (20 19, 90). The plot for computers and related goods generally falls from (2000, 100) through (2005, 70) to (20 19, 62).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61423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produce: Boeing, negative 5; Airbus, negative 5. Boeing produces, Airbus does not: Boeing, 100; Airbus, 0. Airbus produces, Boeing does not: Boeing, 0; Airbus, 100. Neither side produces: Boeing and Airbus, 0.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3652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produce: Boeing, negative 5; Airbus, 20. Boeing produces, Airbus does not: Boeing, 100; Airbus, 0. Airbus produces, Boeing does not: Boeing, 0; Airbus, 125. Neither side produces: Boeing and Airbus, 0.</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4414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Kuznets Curve plots environmental damage versus income per capita. The curve is a modified upside down U shape, with the right side falling less steeply than the left side. 4 points are plotted from left to right: Ay and B on the left side of the peak and C and D on the right side.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2487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triple line graph plots carbon dioxide emissions in millions of metric tons versus the year, 19 80 to 20 18, for the U S, Europe, and China. The plot for the U S generally rises from (19 80, 4,800) through (19 98, 5,900) to (2006, 6,000) and then generally falls to (20 18, 5,000). The plot for Europe generally falls from (19 80, 4,790) through (19 98, 4,300) to (20 18, 5,500). The plot for China generally rises from (19 80, 1,500) through (2001, 3,200) and then rises steeply to (20 18, 10,200).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38417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 Id="rId9"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a:latin typeface="+mn-lt"/>
              </a:rPr>
              <a:t>Chapter 12</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90"/>
            <a:ext cx="3657600" cy="1053740"/>
          </a:xfrm>
        </p:spPr>
        <p:txBody>
          <a:bodyPr/>
          <a:lstStyle/>
          <a:p>
            <a:r>
              <a:rPr lang="en-US" altLang="en-US">
                <a:latin typeface="Arial (Body)"/>
              </a:rPr>
              <a:t>Controversies in Trade Policy</a:t>
            </a:r>
            <a:endParaRPr lang="en-US">
              <a:latin typeface="Arial (Body)"/>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 </a:t>
            </a:r>
            <a:r>
              <a:rPr lang="en-US" sz="2000" b="0" dirty="0">
                <a:ea typeface="Verdana" panose="020B0604030504040204" pitchFamily="34" charset="0"/>
              </a:rPr>
              <a:t>(1 of 2)</a:t>
            </a:r>
            <a:endParaRPr lang="en-IN" dirty="0"/>
          </a:p>
        </p:txBody>
      </p:sp>
      <p:sp>
        <p:nvSpPr>
          <p:cNvPr id="4" name="Content Placeholder 3"/>
          <p:cNvSpPr>
            <a:spLocks noGrp="1"/>
          </p:cNvSpPr>
          <p:nvPr>
            <p:ph sz="quarter" idx="13"/>
          </p:nvPr>
        </p:nvSpPr>
        <p:spPr>
          <a:xfrm>
            <a:off x="457200" y="1556327"/>
            <a:ext cx="8229600" cy="3379467"/>
          </a:xfrm>
        </p:spPr>
        <p:txBody>
          <a:bodyPr/>
          <a:lstStyle/>
          <a:p>
            <a:pPr marL="0" indent="0">
              <a:buNone/>
              <a:tabLst>
                <a:tab pos="715963" algn="l"/>
              </a:tabLst>
            </a:pPr>
            <a:r>
              <a:rPr lang="en-US" b="1" dirty="0">
                <a:solidFill>
                  <a:srgbClr val="007FA3"/>
                </a:solidFill>
                <a:latin typeface="Arial (Body)"/>
                <a:ea typeface="Verdana" panose="020B0604030504040204" pitchFamily="34" charset="0"/>
                <a:cs typeface="Verdana" panose="020B0604030504040204" pitchFamily="34" charset="0"/>
              </a:rPr>
              <a:t>12.1</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Summarize the more sophisticated arguments for interventionist trade policy, especially those related to externalities and economies of scale.</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12.2 </a:t>
            </a:r>
            <a:r>
              <a:rPr lang="en-US" dirty="0">
                <a:latin typeface="Arial (Body)"/>
              </a:rPr>
              <a:t>Evaluate the claims of the anti-globalization movement related to trade effects on workers, labor standards, and the environment in light of the counterarguments.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 </a:t>
            </a:r>
            <a:r>
              <a:rPr lang="en-US" sz="2000" b="0" dirty="0">
                <a:ea typeface="Verdana" panose="020B0604030504040204" pitchFamily="34" charset="0"/>
              </a:rPr>
              <a:t>(2 of 2)</a:t>
            </a:r>
            <a:endParaRPr lang="en-IN" dirty="0"/>
          </a:p>
        </p:txBody>
      </p:sp>
      <p:sp>
        <p:nvSpPr>
          <p:cNvPr id="4" name="Content Placeholder 3"/>
          <p:cNvSpPr>
            <a:spLocks noGrp="1"/>
          </p:cNvSpPr>
          <p:nvPr>
            <p:ph sz="quarter" idx="13"/>
          </p:nvPr>
        </p:nvSpPr>
        <p:spPr>
          <a:xfrm>
            <a:off x="457200" y="1556327"/>
            <a:ext cx="7900219" cy="2799363"/>
          </a:xfrm>
        </p:spPr>
        <p:txBody>
          <a:bodyPr/>
          <a:lstStyle/>
          <a:p>
            <a:pPr marL="0" indent="0">
              <a:buNone/>
            </a:pPr>
            <a:r>
              <a:rPr lang="en-US" b="1" dirty="0">
                <a:solidFill>
                  <a:srgbClr val="007FA3"/>
                </a:solidFill>
                <a:latin typeface="Arial (Body)"/>
                <a:ea typeface="Verdana" panose="020B0604030504040204" pitchFamily="34" charset="0"/>
                <a:cs typeface="Verdana" panose="020B0604030504040204" pitchFamily="34" charset="0"/>
              </a:rPr>
              <a:t>12.3</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Discuss the role of the World Trade Organization (W</a:t>
            </a:r>
            <a:r>
              <a:rPr lang="en-US" sz="100" dirty="0">
                <a:latin typeface="Arial (Body)"/>
              </a:rPr>
              <a:t> </a:t>
            </a:r>
            <a:r>
              <a:rPr lang="en-US" dirty="0">
                <a:latin typeface="Arial (Body)"/>
              </a:rPr>
              <a:t>T</a:t>
            </a:r>
            <a:r>
              <a:rPr lang="en-US" sz="100" dirty="0">
                <a:latin typeface="Arial (Body)"/>
              </a:rPr>
              <a:t> </a:t>
            </a:r>
            <a:r>
              <a:rPr lang="en-US" dirty="0">
                <a:latin typeface="Arial (Body)"/>
              </a:rPr>
              <a:t>O) as a forum for resolving trade disputes and the tension between the rulings of the W</a:t>
            </a:r>
            <a:r>
              <a:rPr lang="en-US" sz="100" dirty="0">
                <a:latin typeface="Arial (Body)"/>
              </a:rPr>
              <a:t> </a:t>
            </a:r>
            <a:r>
              <a:rPr lang="en-US" dirty="0">
                <a:latin typeface="Arial (Body)"/>
              </a:rPr>
              <a:t>T</a:t>
            </a:r>
            <a:r>
              <a:rPr lang="en-US" sz="100" dirty="0">
                <a:latin typeface="Arial (Body)"/>
              </a:rPr>
              <a:t> </a:t>
            </a:r>
            <a:r>
              <a:rPr lang="en-US" dirty="0">
                <a:latin typeface="Arial (Body)"/>
              </a:rPr>
              <a:t>O and individual national interests.</a:t>
            </a:r>
          </a:p>
          <a:p>
            <a:pPr marL="0" indent="0">
              <a:buNone/>
            </a:pPr>
            <a:r>
              <a:rPr lang="en-US" b="1" dirty="0">
                <a:solidFill>
                  <a:srgbClr val="007FA3"/>
                </a:solidFill>
                <a:latin typeface="Arial (Body)"/>
                <a:ea typeface="Verdana" panose="020B0604030504040204" pitchFamily="34" charset="0"/>
                <a:cs typeface="Verdana" panose="020B0604030504040204" pitchFamily="34" charset="0"/>
              </a:rPr>
              <a:t>12.4 </a:t>
            </a:r>
            <a:r>
              <a:rPr lang="en-US" dirty="0">
                <a:latin typeface="Arial (Body)"/>
              </a:rPr>
              <a:t>Discuss key issues in the debate over trade policy and the environment.</a:t>
            </a:r>
          </a:p>
        </p:txBody>
      </p:sp>
    </p:spTree>
    <p:extLst>
      <p:ext uri="{BB962C8B-B14F-4D97-AF65-F5344CB8AC3E}">
        <p14:creationId xmlns:p14="http://schemas.microsoft.com/office/powerpoint/2010/main" val="1270630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Preview</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3792421"/>
          </a:xfrm>
        </p:spPr>
        <p:txBody>
          <a:bodyPr/>
          <a:lstStyle/>
          <a:p>
            <a:pPr eaLnBrk="1" hangingPunct="1"/>
            <a:r>
              <a:rPr lang="en-US" altLang="en-US" dirty="0">
                <a:latin typeface="Arial (Body)"/>
              </a:rPr>
              <a:t>Arguments for “</a:t>
            </a:r>
            <a:r>
              <a:rPr lang="en-US" altLang="ja-JP" dirty="0">
                <a:latin typeface="Arial (Body)"/>
              </a:rPr>
              <a:t>activist” trade policies</a:t>
            </a:r>
          </a:p>
          <a:p>
            <a:pPr lvl="1" eaLnBrk="1" hangingPunct="1"/>
            <a:r>
              <a:rPr lang="en-US" altLang="en-US" dirty="0">
                <a:latin typeface="Arial (Body)"/>
              </a:rPr>
              <a:t>Externality or appropriability problem</a:t>
            </a:r>
          </a:p>
          <a:p>
            <a:pPr lvl="1"/>
            <a:r>
              <a:rPr lang="en-US" altLang="en-US" dirty="0">
                <a:latin typeface="Arial (Body)"/>
              </a:rPr>
              <a:t>Strategic trade policy with imperfect competition</a:t>
            </a:r>
          </a:p>
          <a:p>
            <a:r>
              <a:rPr lang="en-US" altLang="en-US" dirty="0">
                <a:latin typeface="Arial (Body)"/>
              </a:rPr>
              <a:t>Aments concerning trade and people</a:t>
            </a:r>
          </a:p>
          <a:p>
            <a:pPr lvl="1" eaLnBrk="1" hangingPunct="1"/>
            <a:r>
              <a:rPr lang="en-US" altLang="en-US" dirty="0">
                <a:latin typeface="Arial (Body)"/>
              </a:rPr>
              <a:t>Trade and low-wage labor</a:t>
            </a:r>
          </a:p>
          <a:p>
            <a:pPr lvl="1" eaLnBrk="1" hangingPunct="1"/>
            <a:r>
              <a:rPr lang="en-US" altLang="en-US" dirty="0">
                <a:latin typeface="Arial (Body)"/>
              </a:rPr>
              <a:t>Trade and the environment</a:t>
            </a:r>
          </a:p>
          <a:p>
            <a:pPr lvl="1" eaLnBrk="1" hangingPunct="1"/>
            <a:r>
              <a:rPr lang="en-US" altLang="en-US" dirty="0">
                <a:latin typeface="Arial (Body)"/>
              </a:rPr>
              <a:t>Trade and culture</a:t>
            </a:r>
          </a:p>
        </p:txBody>
      </p:sp>
    </p:spTree>
    <p:extLst>
      <p:ext uri="{BB962C8B-B14F-4D97-AF65-F5344CB8AC3E}">
        <p14:creationId xmlns:p14="http://schemas.microsoft.com/office/powerpoint/2010/main" val="1348958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400"/>
              <a:t>Arguments for an Activist Trade Policy</a:t>
            </a:r>
            <a:endParaRPr lang="en-US" sz="3400"/>
          </a:p>
        </p:txBody>
      </p:sp>
      <p:sp>
        <p:nvSpPr>
          <p:cNvPr id="2" name="Content Placeholder 1"/>
          <p:cNvSpPr>
            <a:spLocks noGrp="1"/>
          </p:cNvSpPr>
          <p:nvPr>
            <p:ph sz="quarter" idx="13"/>
          </p:nvPr>
        </p:nvSpPr>
        <p:spPr>
          <a:xfrm>
            <a:off x="457200" y="1556327"/>
            <a:ext cx="8229600" cy="4392189"/>
          </a:xfrm>
        </p:spPr>
        <p:txBody>
          <a:bodyPr/>
          <a:lstStyle/>
          <a:p>
            <a:pPr eaLnBrk="1" hangingPunct="1"/>
            <a:r>
              <a:rPr lang="en-US" altLang="en-US" dirty="0">
                <a:latin typeface="Arial (Body)"/>
              </a:rPr>
              <a:t>An activist trade policy usually means government policies that actively support export industries </a:t>
            </a:r>
            <a:br>
              <a:rPr lang="en-US" altLang="en-US" dirty="0">
                <a:latin typeface="Arial (Body)"/>
              </a:rPr>
            </a:br>
            <a:r>
              <a:rPr lang="en-US" altLang="en-US" dirty="0">
                <a:latin typeface="Arial (Body)"/>
              </a:rPr>
              <a:t>through subsidies.</a:t>
            </a:r>
          </a:p>
          <a:p>
            <a:pPr eaLnBrk="1" hangingPunct="1"/>
            <a:r>
              <a:rPr lang="en-US" altLang="en-US" dirty="0">
                <a:latin typeface="Arial (Body)"/>
              </a:rPr>
              <a:t>Arguments for activist trade policies use an assumption that import-substituting industrialization (Econ/Trade Chapter 11) and the cases against free trade (Econ/Trade Chapter 10) used: market failure.</a:t>
            </a:r>
          </a:p>
          <a:p>
            <a:pPr lvl="1" eaLnBrk="1" hangingPunct="1"/>
            <a:r>
              <a:rPr lang="en-US" altLang="en-US" dirty="0">
                <a:latin typeface="Arial (Body)"/>
              </a:rPr>
              <a:t>Externalities or an appropriability problem</a:t>
            </a:r>
          </a:p>
          <a:p>
            <a:pPr lvl="1" eaLnBrk="1" hangingPunct="1"/>
            <a:r>
              <a:rPr lang="en-US" altLang="en-US" dirty="0">
                <a:latin typeface="Arial (Body)"/>
              </a:rPr>
              <a:t>Imperfect competition that results in revenues that exceed all (opportunity) costs: “</a:t>
            </a:r>
            <a:r>
              <a:rPr lang="en-US" altLang="ja-JP" dirty="0">
                <a:latin typeface="Arial (Body)"/>
              </a:rPr>
              <a:t>excess” profits.</a:t>
            </a:r>
            <a:endParaRPr lang="en-US" altLang="en-US" dirty="0">
              <a:latin typeface="Arial (Body)"/>
            </a:endParaRPr>
          </a:p>
        </p:txBody>
      </p:sp>
    </p:spTree>
    <p:extLst>
      <p:ext uri="{BB962C8B-B14F-4D97-AF65-F5344CB8AC3E}">
        <p14:creationId xmlns:p14="http://schemas.microsoft.com/office/powerpoint/2010/main" val="409293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Technology and Externalities </a:t>
            </a:r>
            <a:r>
              <a:rPr lang="en-US" altLang="en-US" sz="2000" b="0" dirty="0"/>
              <a:t>(1 of 6)</a:t>
            </a:r>
            <a:endParaRPr lang="en-IN" dirty="0"/>
          </a:p>
        </p:txBody>
      </p:sp>
      <p:sp>
        <p:nvSpPr>
          <p:cNvPr id="2" name="Content Placeholder 1"/>
          <p:cNvSpPr>
            <a:spLocks noGrp="1"/>
          </p:cNvSpPr>
          <p:nvPr>
            <p:ph sz="quarter" idx="13"/>
          </p:nvPr>
        </p:nvSpPr>
        <p:spPr/>
        <p:txBody>
          <a:bodyPr/>
          <a:lstStyle/>
          <a:p>
            <a:pPr eaLnBrk="1" hangingPunct="1"/>
            <a:r>
              <a:rPr lang="en-US" altLang="en-US" dirty="0">
                <a:latin typeface="Arial (Body)"/>
              </a:rPr>
              <a:t>Firms that invest in new technology generally create knowledge that other firms can use without paying for it: an </a:t>
            </a:r>
            <a:r>
              <a:rPr lang="en-US" altLang="en-US" dirty="0" err="1">
                <a:latin typeface="Arial (Body)"/>
              </a:rPr>
              <a:t>appropriability</a:t>
            </a:r>
            <a:r>
              <a:rPr lang="en-US" altLang="en-US" dirty="0">
                <a:latin typeface="Arial (Body)"/>
              </a:rPr>
              <a:t> problem.</a:t>
            </a:r>
          </a:p>
          <a:p>
            <a:pPr lvl="1" eaLnBrk="1" hangingPunct="1"/>
            <a:r>
              <a:rPr lang="en-US" altLang="en-US" dirty="0">
                <a:latin typeface="Arial (Body)"/>
              </a:rPr>
              <a:t>By investing in new technology, firms are creating an extra benefit for society that is easily used by others.</a:t>
            </a:r>
          </a:p>
          <a:p>
            <a:pPr lvl="1" eaLnBrk="1" hangingPunct="1"/>
            <a:r>
              <a:rPr lang="en-US" altLang="en-US" dirty="0">
                <a:latin typeface="Arial (Body)"/>
              </a:rPr>
              <a:t>An </a:t>
            </a:r>
            <a:r>
              <a:rPr lang="en-US" altLang="en-US" dirty="0" err="1">
                <a:latin typeface="Arial (Body)"/>
              </a:rPr>
              <a:t>appropriability</a:t>
            </a:r>
            <a:r>
              <a:rPr lang="en-US" altLang="en-US" dirty="0">
                <a:latin typeface="Arial (Body)"/>
              </a:rPr>
              <a:t> problem is an example of an </a:t>
            </a:r>
            <a:r>
              <a:rPr lang="en-US" altLang="en-US" b="1" dirty="0">
                <a:latin typeface="Arial (Body)"/>
              </a:rPr>
              <a:t>externality</a:t>
            </a:r>
            <a:r>
              <a:rPr lang="en-US" altLang="en-US" dirty="0">
                <a:latin typeface="Arial (Body)"/>
              </a:rPr>
              <a:t>: benefits or costs that accrue to parties other than the one that generates it.</a:t>
            </a:r>
          </a:p>
          <a:p>
            <a:pPr lvl="1" eaLnBrk="1" hangingPunct="1"/>
            <a:r>
              <a:rPr lang="en-US" altLang="en-US" dirty="0">
                <a:latin typeface="Arial (Body)"/>
              </a:rPr>
              <a:t>An externality implies that the marginal social benefit of investment is not represented by producer surplus.</a:t>
            </a:r>
          </a:p>
        </p:txBody>
      </p:sp>
    </p:spTree>
    <p:extLst>
      <p:ext uri="{BB962C8B-B14F-4D97-AF65-F5344CB8AC3E}">
        <p14:creationId xmlns:p14="http://schemas.microsoft.com/office/powerpoint/2010/main" val="1747194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Technology and Externalities </a:t>
            </a:r>
            <a:r>
              <a:rPr lang="en-US" altLang="en-US" sz="2000" b="0" dirty="0"/>
              <a:t>(2 of 6)</a:t>
            </a:r>
            <a:endParaRPr lang="en-IN" dirty="0"/>
          </a:p>
        </p:txBody>
      </p:sp>
      <p:sp>
        <p:nvSpPr>
          <p:cNvPr id="2" name="Content Placeholder 1"/>
          <p:cNvSpPr>
            <a:spLocks noGrp="1"/>
          </p:cNvSpPr>
          <p:nvPr>
            <p:ph sz="quarter" idx="13"/>
          </p:nvPr>
        </p:nvSpPr>
        <p:spPr>
          <a:xfrm>
            <a:off x="457200" y="1556327"/>
            <a:ext cx="8229600" cy="2701041"/>
          </a:xfrm>
        </p:spPr>
        <p:txBody>
          <a:bodyPr/>
          <a:lstStyle/>
          <a:p>
            <a:pPr eaLnBrk="1" hangingPunct="1"/>
            <a:r>
              <a:rPr lang="en-US" altLang="en-US" dirty="0">
                <a:latin typeface="Arial (Body)"/>
              </a:rPr>
              <a:t>Governments may want to actively encourage investment in technology when externalities in new technologies create a high marginal social benefit.</a:t>
            </a:r>
          </a:p>
          <a:p>
            <a:pPr eaLnBrk="1" hangingPunct="1"/>
            <a:r>
              <a:rPr lang="en-US" altLang="en-US" dirty="0">
                <a:latin typeface="Arial (Body)"/>
              </a:rPr>
              <a:t>Should the U.S. government subsidize high-technology industries?</a:t>
            </a:r>
          </a:p>
        </p:txBody>
      </p:sp>
    </p:spTree>
    <p:extLst>
      <p:ext uri="{BB962C8B-B14F-4D97-AF65-F5344CB8AC3E}">
        <p14:creationId xmlns:p14="http://schemas.microsoft.com/office/powerpoint/2010/main" val="1468798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Technology and Externalities </a:t>
            </a:r>
            <a:r>
              <a:rPr lang="en-US" altLang="en-US" sz="2000" b="0" dirty="0"/>
              <a:t>(3 of 6)</a:t>
            </a:r>
            <a:endParaRPr lang="en-IN" dirty="0"/>
          </a:p>
        </p:txBody>
      </p:sp>
      <p:sp>
        <p:nvSpPr>
          <p:cNvPr id="2" name="Content Placeholder 1"/>
          <p:cNvSpPr>
            <a:spLocks noGrp="1"/>
          </p:cNvSpPr>
          <p:nvPr>
            <p:ph sz="quarter" idx="13"/>
          </p:nvPr>
        </p:nvSpPr>
        <p:spPr>
          <a:xfrm>
            <a:off x="466602" y="1552575"/>
            <a:ext cx="8220197" cy="944819"/>
          </a:xfrm>
        </p:spPr>
        <p:txBody>
          <a:bodyPr/>
          <a:lstStyle/>
          <a:p>
            <a:pPr marL="255600"/>
            <a:r>
              <a:rPr lang="en-US" altLang="en-US" dirty="0">
                <a:latin typeface="Arial (Body)"/>
              </a:rPr>
              <a:t>When considering whether a government should subsidize high-technology industries, consider:</a:t>
            </a:r>
          </a:p>
        </p:txBody>
      </p:sp>
      <p:sp>
        <p:nvSpPr>
          <p:cNvPr id="9" name="Content Placeholder 8"/>
          <p:cNvSpPr>
            <a:spLocks noGrp="1"/>
          </p:cNvSpPr>
          <p:nvPr>
            <p:ph sz="quarter" idx="14"/>
          </p:nvPr>
        </p:nvSpPr>
        <p:spPr>
          <a:xfrm>
            <a:off x="466602" y="2578321"/>
            <a:ext cx="8220197" cy="566123"/>
          </a:xfrm>
        </p:spPr>
        <p:txBody>
          <a:bodyPr/>
          <a:lstStyle/>
          <a:p>
            <a:pPr marL="432000" indent="-432000" eaLnBrk="1" hangingPunct="1">
              <a:buFontTx/>
              <a:buAutoNum type="arabicPeriod"/>
            </a:pPr>
            <a:r>
              <a:rPr lang="en-US" altLang="en-US" dirty="0">
                <a:latin typeface="Arial (Body)"/>
              </a:rPr>
              <a:t>The ability of governments to subsidize the right activity.</a:t>
            </a:r>
          </a:p>
        </p:txBody>
      </p:sp>
      <p:sp>
        <p:nvSpPr>
          <p:cNvPr id="10" name="Content Placeholder 9"/>
          <p:cNvSpPr>
            <a:spLocks noGrp="1"/>
          </p:cNvSpPr>
          <p:nvPr>
            <p:ph sz="quarter" idx="15"/>
          </p:nvPr>
        </p:nvSpPr>
        <p:spPr>
          <a:xfrm>
            <a:off x="466603" y="3273253"/>
            <a:ext cx="8220198" cy="2380296"/>
          </a:xfrm>
        </p:spPr>
        <p:txBody>
          <a:bodyPr tIns="0" rIns="0" bIns="0"/>
          <a:lstStyle/>
          <a:p>
            <a:pPr marL="741600" lvl="1"/>
            <a:r>
              <a:rPr lang="en-US" altLang="en-US" dirty="0">
                <a:latin typeface="Arial (Body)"/>
              </a:rPr>
              <a:t>Much activity by high technology firms has nothing to do with generating knowledge: subsidizing equipment purchases or non-technical workers generally does not create new technology.</a:t>
            </a:r>
          </a:p>
          <a:p>
            <a:pPr marL="741600" lvl="1"/>
            <a:r>
              <a:rPr lang="en-US" altLang="en-US" dirty="0">
                <a:latin typeface="Arial (Body)"/>
              </a:rPr>
              <a:t>Knowledge and innovation are created in industries that are not usually classified as high tech.</a:t>
            </a:r>
          </a:p>
        </p:txBody>
      </p:sp>
    </p:spTree>
    <p:extLst>
      <p:ext uri="{BB962C8B-B14F-4D97-AF65-F5344CB8AC3E}">
        <p14:creationId xmlns:p14="http://schemas.microsoft.com/office/powerpoint/2010/main" val="850300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Technology and Externalities </a:t>
            </a:r>
            <a:r>
              <a:rPr lang="en-US" altLang="en-US" sz="2000" b="0" dirty="0"/>
              <a:t>(4 of 6)</a:t>
            </a:r>
            <a:endParaRPr lang="en-US" dirty="0"/>
          </a:p>
        </p:txBody>
      </p:sp>
      <p:sp>
        <p:nvSpPr>
          <p:cNvPr id="5" name="Content Placeholder 4"/>
          <p:cNvSpPr>
            <a:spLocks noGrp="1"/>
          </p:cNvSpPr>
          <p:nvPr>
            <p:ph sz="quarter" idx="13"/>
          </p:nvPr>
        </p:nvSpPr>
        <p:spPr>
          <a:xfrm>
            <a:off x="457200" y="1552574"/>
            <a:ext cx="8229600" cy="708845"/>
          </a:xfrm>
        </p:spPr>
        <p:txBody>
          <a:bodyPr/>
          <a:lstStyle/>
          <a:p>
            <a:pPr marL="432000" indent="-432000">
              <a:buFont typeface="+mj-lt"/>
              <a:buAutoNum type="arabicPeriod" startAt="2"/>
            </a:pPr>
            <a:r>
              <a:rPr lang="en-US" altLang="en-US" sz="1800" dirty="0"/>
              <a:t>Instead of subsidizing specific industries, the United States subsidizes research and development through the tax code.</a:t>
            </a:r>
          </a:p>
        </p:txBody>
      </p:sp>
      <p:sp>
        <p:nvSpPr>
          <p:cNvPr id="6" name="Content Placeholder 5"/>
          <p:cNvSpPr>
            <a:spLocks noGrp="1"/>
          </p:cNvSpPr>
          <p:nvPr>
            <p:ph sz="quarter" idx="14"/>
          </p:nvPr>
        </p:nvSpPr>
        <p:spPr>
          <a:xfrm>
            <a:off x="457200" y="2330404"/>
            <a:ext cx="8229600" cy="602476"/>
          </a:xfrm>
        </p:spPr>
        <p:txBody>
          <a:bodyPr tIns="0" rIns="0" bIns="0"/>
          <a:lstStyle/>
          <a:p>
            <a:pPr lvl="1"/>
            <a:r>
              <a:rPr lang="en-US" altLang="en-US" sz="1800" dirty="0"/>
              <a:t>Research and development expenses can be deducted from corporate taxable income.</a:t>
            </a:r>
          </a:p>
        </p:txBody>
      </p:sp>
      <p:sp>
        <p:nvSpPr>
          <p:cNvPr id="7" name="Content Placeholder 6"/>
          <p:cNvSpPr>
            <a:spLocks noGrp="1"/>
          </p:cNvSpPr>
          <p:nvPr>
            <p:ph sz="quarter" idx="15"/>
          </p:nvPr>
        </p:nvSpPr>
        <p:spPr>
          <a:xfrm>
            <a:off x="457201" y="3020250"/>
            <a:ext cx="4881716" cy="332549"/>
          </a:xfrm>
        </p:spPr>
        <p:txBody>
          <a:bodyPr tIns="0" rIns="0" bIns="0"/>
          <a:lstStyle/>
          <a:p>
            <a:pPr marL="432000" indent="-432000">
              <a:buFont typeface="+mj-lt"/>
              <a:buAutoNum type="arabicPeriod" startAt="3"/>
            </a:pPr>
            <a:r>
              <a:rPr lang="en-US" altLang="en-US" sz="1800" dirty="0"/>
              <a:t>The economic importance of externalities.</a:t>
            </a:r>
          </a:p>
        </p:txBody>
      </p:sp>
      <p:sp>
        <p:nvSpPr>
          <p:cNvPr id="8" name="Content Placeholder 7"/>
          <p:cNvSpPr>
            <a:spLocks noGrp="1"/>
          </p:cNvSpPr>
          <p:nvPr>
            <p:ph sz="quarter" idx="16"/>
          </p:nvPr>
        </p:nvSpPr>
        <p:spPr>
          <a:xfrm>
            <a:off x="457200" y="3450871"/>
            <a:ext cx="8229600" cy="1219453"/>
          </a:xfrm>
        </p:spPr>
        <p:txBody>
          <a:bodyPr tIns="0" rIns="0" bIns="0"/>
          <a:lstStyle/>
          <a:p>
            <a:pPr marL="741600" lvl="1" indent="-285750"/>
            <a:r>
              <a:rPr lang="en-US" altLang="en-US" sz="1800" dirty="0"/>
              <a:t>It is difficult to determine the quantitative importance that externalities have on the economy.</a:t>
            </a:r>
          </a:p>
          <a:p>
            <a:pPr marL="741600" lvl="1" indent="-285750"/>
            <a:r>
              <a:rPr lang="en-US" altLang="en-US" sz="1800" dirty="0"/>
              <a:t>Therefore, it is difficult to say </a:t>
            </a:r>
            <a:r>
              <a:rPr lang="en-US" altLang="en-US" sz="1800" b="1" dirty="0"/>
              <a:t>how much</a:t>
            </a:r>
            <a:r>
              <a:rPr lang="en-US" altLang="en-US" sz="1800" dirty="0"/>
              <a:t> to subsidize activities that create externalities.</a:t>
            </a:r>
          </a:p>
        </p:txBody>
      </p:sp>
      <p:sp>
        <p:nvSpPr>
          <p:cNvPr id="10" name="Content Placeholder 9"/>
          <p:cNvSpPr>
            <a:spLocks noGrp="1"/>
          </p:cNvSpPr>
          <p:nvPr>
            <p:ph sz="quarter" idx="18"/>
          </p:nvPr>
        </p:nvSpPr>
        <p:spPr>
          <a:xfrm>
            <a:off x="457200" y="4756151"/>
            <a:ext cx="5697794" cy="336959"/>
          </a:xfrm>
        </p:spPr>
        <p:txBody>
          <a:bodyPr tIns="0" rIns="0" bIns="0"/>
          <a:lstStyle/>
          <a:p>
            <a:pPr marL="432000" indent="-432000">
              <a:buFont typeface="+mj-lt"/>
              <a:buAutoNum type="arabicPeriod" startAt="4"/>
            </a:pPr>
            <a:r>
              <a:rPr lang="en-US" altLang="en-US" sz="1800" dirty="0"/>
              <a:t>Externalities may occur across countries as well.</a:t>
            </a:r>
          </a:p>
        </p:txBody>
      </p:sp>
      <p:sp>
        <p:nvSpPr>
          <p:cNvPr id="11" name="Content Placeholder 10"/>
          <p:cNvSpPr>
            <a:spLocks noGrp="1"/>
          </p:cNvSpPr>
          <p:nvPr>
            <p:ph sz="quarter" idx="19"/>
          </p:nvPr>
        </p:nvSpPr>
        <p:spPr>
          <a:xfrm>
            <a:off x="457200" y="5189232"/>
            <a:ext cx="8229600" cy="955282"/>
          </a:xfrm>
        </p:spPr>
        <p:txBody>
          <a:bodyPr tIns="0" rIns="0" bIns="0"/>
          <a:lstStyle/>
          <a:p>
            <a:pPr lvl="1"/>
            <a:r>
              <a:rPr lang="en-US" altLang="en-US" sz="1800" dirty="0"/>
              <a:t>No individual country has an incentive to subsidize industries if all countries could take advantage of the externalities generated in a country.</a:t>
            </a:r>
          </a:p>
        </p:txBody>
      </p:sp>
    </p:spTree>
    <p:extLst>
      <p:ext uri="{BB962C8B-B14F-4D97-AF65-F5344CB8AC3E}">
        <p14:creationId xmlns:p14="http://schemas.microsoft.com/office/powerpoint/2010/main" val="769521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Technology and Externalities </a:t>
            </a:r>
            <a:r>
              <a:rPr lang="en-US" altLang="en-US" sz="2000" b="0" dirty="0">
                <a:cs typeface="Times New Roman" panose="02020603050405020304" pitchFamily="18" charset="0"/>
              </a:rPr>
              <a:t>(5 of 6)</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marL="255600"/>
            <a:r>
              <a:rPr lang="en-US" altLang="en-US" dirty="0">
                <a:latin typeface="Arial (Body)"/>
              </a:rPr>
              <a:t>Some argue that the United States should have a deliberate policy of promoting high-technology industries and helping them compete against foreign rivals.</a:t>
            </a:r>
          </a:p>
          <a:p>
            <a:pPr marL="255600"/>
            <a:r>
              <a:rPr lang="en-US" altLang="en-US" dirty="0">
                <a:latin typeface="Arial (Body)"/>
              </a:rPr>
              <a:t>Fear in the 1980s that Japan’</a:t>
            </a:r>
            <a:r>
              <a:rPr lang="en-US" altLang="ja-JP" dirty="0">
                <a:latin typeface="Arial (Body)"/>
              </a:rPr>
              <a:t>s dominance of the semiconductor memory market would translate into a broader dominance of computers and related technologies proved to be unfounded.</a:t>
            </a:r>
          </a:p>
        </p:txBody>
      </p:sp>
    </p:spTree>
    <p:extLst>
      <p:ext uri="{BB962C8B-B14F-4D97-AF65-F5344CB8AC3E}">
        <p14:creationId xmlns:p14="http://schemas.microsoft.com/office/powerpoint/2010/main" val="2960820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Technology and Externalities </a:t>
            </a:r>
            <a:r>
              <a:rPr lang="en-US" altLang="en-US" sz="2000" b="0" dirty="0">
                <a:cs typeface="Times New Roman" panose="02020603050405020304" pitchFamily="18" charset="0"/>
              </a:rPr>
              <a:t>(6 of 6)</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7713406" cy="4586896"/>
          </a:xfrm>
        </p:spPr>
        <p:txBody>
          <a:bodyPr/>
          <a:lstStyle/>
          <a:p>
            <a:pPr eaLnBrk="1" hangingPunct="1"/>
            <a:r>
              <a:rPr lang="en-US" altLang="en-US" dirty="0">
                <a:latin typeface="Arial (Body)"/>
              </a:rPr>
              <a:t>More recently, the decline in U.S. employment in the information, communication, and technology (I</a:t>
            </a:r>
            <a:r>
              <a:rPr lang="en-US" altLang="en-US" sz="100" dirty="0">
                <a:latin typeface="Arial (Body)"/>
              </a:rPr>
              <a:t> </a:t>
            </a:r>
            <a:r>
              <a:rPr lang="en-US" altLang="en-US" dirty="0">
                <a:latin typeface="Arial (Body)"/>
              </a:rPr>
              <a:t>C</a:t>
            </a:r>
            <a:r>
              <a:rPr lang="en-US" altLang="en-US" sz="100" dirty="0">
                <a:latin typeface="Arial (Body)"/>
              </a:rPr>
              <a:t> </a:t>
            </a:r>
            <a:r>
              <a:rPr lang="en-US" altLang="en-US" dirty="0">
                <a:latin typeface="Arial (Body)"/>
              </a:rPr>
              <a:t>T) industries, which are at the heart of the information technology revolution, and large U.S. trade deficits in I</a:t>
            </a:r>
            <a:r>
              <a:rPr lang="en-US" altLang="en-US" sz="100" dirty="0">
                <a:latin typeface="Arial (Body)"/>
              </a:rPr>
              <a:t> </a:t>
            </a:r>
            <a:r>
              <a:rPr lang="en-US" altLang="en-US" dirty="0">
                <a:latin typeface="Arial (Body)"/>
              </a:rPr>
              <a:t>C</a:t>
            </a:r>
            <a:r>
              <a:rPr lang="en-US" altLang="en-US" sz="100" dirty="0">
                <a:latin typeface="Arial (Body)"/>
              </a:rPr>
              <a:t> </a:t>
            </a:r>
            <a:r>
              <a:rPr lang="en-US" altLang="en-US" dirty="0">
                <a:latin typeface="Arial (Body)"/>
              </a:rPr>
              <a:t>T goods have renewed fears.</a:t>
            </a:r>
          </a:p>
        </p:txBody>
      </p:sp>
    </p:spTree>
    <p:extLst>
      <p:ext uri="{BB962C8B-B14F-4D97-AF65-F5344CB8AC3E}">
        <p14:creationId xmlns:p14="http://schemas.microsoft.com/office/powerpoint/2010/main" val="2383220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Figure 12.1 U.S. Trade Balance in R&amp;D-Intensive Goods</a:t>
            </a:r>
            <a:endParaRPr lang="en-US" sz="3200" dirty="0">
              <a:cs typeface="Times New Roman" panose="02020603050405020304" pitchFamily="18" charset="0"/>
            </a:endParaRPr>
          </a:p>
        </p:txBody>
      </p:sp>
      <p:pic>
        <p:nvPicPr>
          <p:cNvPr id="4" name="Content Placeholder 3" descr="A line graph depicts U S trade balanc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048639" y="1557338"/>
            <a:ext cx="5046722" cy="3302298"/>
          </a:xfrm>
        </p:spPr>
      </p:pic>
      <p:sp>
        <p:nvSpPr>
          <p:cNvPr id="3" name="Content Placeholder 2">
            <a:extLst>
              <a:ext uri="{FF2B5EF4-FFF2-40B4-BE49-F238E27FC236}">
                <a16:creationId xmlns:a16="http://schemas.microsoft.com/office/drawing/2014/main" id="{F25C162A-12A2-4F04-AB03-223F20CEFDD1}"/>
              </a:ext>
            </a:extLst>
          </p:cNvPr>
          <p:cNvSpPr>
            <a:spLocks noGrp="1"/>
          </p:cNvSpPr>
          <p:nvPr>
            <p:ph sz="quarter" idx="14"/>
          </p:nvPr>
        </p:nvSpPr>
        <p:spPr>
          <a:xfrm>
            <a:off x="457200" y="5001792"/>
            <a:ext cx="8229600" cy="1330181"/>
          </a:xfrm>
        </p:spPr>
        <p:txBody>
          <a:bodyPr/>
          <a:lstStyle/>
          <a:p>
            <a:pPr marL="0" indent="0">
              <a:buNone/>
            </a:pPr>
            <a:r>
              <a:rPr lang="en-US" sz="1800" dirty="0">
                <a:latin typeface="Arial (Body)"/>
              </a:rPr>
              <a:t>Since 2005, the United States has developed a large trade deficit in R&amp;D-intensive products, which are widely seen as the cutting edge of innovation. </a:t>
            </a:r>
          </a:p>
          <a:p>
            <a:pPr marL="0" indent="0">
              <a:spcBef>
                <a:spcPts val="600"/>
              </a:spcBef>
              <a:buNone/>
            </a:pPr>
            <a:r>
              <a:rPr lang="en-US" sz="1800" b="1" dirty="0">
                <a:latin typeface="Arial (Body)"/>
              </a:rPr>
              <a:t>Source: </a:t>
            </a:r>
            <a:r>
              <a:rPr lang="en-US" sz="1800" dirty="0">
                <a:latin typeface="Arial (Body)"/>
              </a:rPr>
              <a:t>National Science Foundation, </a:t>
            </a:r>
            <a:r>
              <a:rPr lang="en-US" sz="1800" b="1" dirty="0">
                <a:latin typeface="Arial (Body)"/>
              </a:rPr>
              <a:t>Science and Engineering Indicators</a:t>
            </a:r>
            <a:r>
              <a:rPr lang="en-US" sz="1800" i="1" dirty="0">
                <a:latin typeface="Arial (Body)"/>
              </a:rPr>
              <a:t> </a:t>
            </a:r>
            <a:r>
              <a:rPr lang="en-US" sz="1800" dirty="0">
                <a:latin typeface="Arial (Body)"/>
              </a:rPr>
              <a:t>2012.</a:t>
            </a:r>
          </a:p>
        </p:txBody>
      </p:sp>
    </p:spTree>
    <p:extLst>
      <p:ext uri="{BB962C8B-B14F-4D97-AF65-F5344CB8AC3E}">
        <p14:creationId xmlns:p14="http://schemas.microsoft.com/office/powerpoint/2010/main" val="73836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12.2 U.S. Manufacturing Employment</a:t>
            </a:r>
            <a:endParaRPr lang="en-US" sz="3200" dirty="0">
              <a:cs typeface="Times New Roman" panose="02020603050405020304" pitchFamily="18" charset="0"/>
            </a:endParaRPr>
          </a:p>
        </p:txBody>
      </p:sp>
      <p:pic>
        <p:nvPicPr>
          <p:cNvPr id="4" name="Content Placeholder 3" descr="A double line graph depicts U S manufacturing employmen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64493" y="1549415"/>
            <a:ext cx="6215013" cy="2800104"/>
          </a:xfrm>
        </p:spPr>
      </p:pic>
      <p:sp>
        <p:nvSpPr>
          <p:cNvPr id="3" name="Content Placeholder 2">
            <a:extLst>
              <a:ext uri="{FF2B5EF4-FFF2-40B4-BE49-F238E27FC236}">
                <a16:creationId xmlns:a16="http://schemas.microsoft.com/office/drawing/2014/main" id="{51E27D92-F462-4A15-B45E-B15FC3285E03}"/>
              </a:ext>
            </a:extLst>
          </p:cNvPr>
          <p:cNvSpPr>
            <a:spLocks noGrp="1"/>
          </p:cNvSpPr>
          <p:nvPr>
            <p:ph sz="quarter" idx="14"/>
          </p:nvPr>
        </p:nvSpPr>
        <p:spPr>
          <a:xfrm>
            <a:off x="457200" y="4764088"/>
            <a:ext cx="8229600" cy="1476375"/>
          </a:xfrm>
        </p:spPr>
        <p:txBody>
          <a:bodyPr/>
          <a:lstStyle/>
          <a:p>
            <a:pPr marL="0" indent="0">
              <a:buNone/>
            </a:pPr>
            <a:r>
              <a:rPr lang="en-US" sz="2000" dirty="0">
                <a:latin typeface="Arial (Body)"/>
              </a:rPr>
              <a:t>Since 2000, the number of workers producing computers and related goods in the United States has fallen sharply, outpacing the general decline in manufacturing employment.</a:t>
            </a:r>
          </a:p>
          <a:p>
            <a:pPr marL="0" indent="0">
              <a:spcBef>
                <a:spcPts val="600"/>
              </a:spcBef>
              <a:buNone/>
            </a:pPr>
            <a:r>
              <a:rPr lang="en-US" sz="2000" b="1" dirty="0">
                <a:latin typeface="Arial (Body)"/>
              </a:rPr>
              <a:t>Source: </a:t>
            </a:r>
            <a:r>
              <a:rPr lang="en-US" sz="2000" dirty="0">
                <a:latin typeface="Arial (Body)"/>
              </a:rPr>
              <a:t>Bureau of Labor Statistics.</a:t>
            </a:r>
          </a:p>
        </p:txBody>
      </p:sp>
    </p:spTree>
    <p:extLst>
      <p:ext uri="{BB962C8B-B14F-4D97-AF65-F5344CB8AC3E}">
        <p14:creationId xmlns:p14="http://schemas.microsoft.com/office/powerpoint/2010/main" val="3970850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(1 of 7)</a:t>
            </a:r>
            <a:endParaRPr lang="en-US" dirty="0"/>
          </a:p>
        </p:txBody>
      </p:sp>
      <p:sp>
        <p:nvSpPr>
          <p:cNvPr id="3" name="Content Placeholder 2"/>
          <p:cNvSpPr>
            <a:spLocks noGrp="1"/>
          </p:cNvSpPr>
          <p:nvPr>
            <p:ph sz="quarter" idx="13"/>
          </p:nvPr>
        </p:nvSpPr>
        <p:spPr>
          <a:xfrm>
            <a:off x="457200" y="1556327"/>
            <a:ext cx="8229600" cy="3959570"/>
          </a:xfrm>
        </p:spPr>
        <p:txBody>
          <a:bodyPr/>
          <a:lstStyle/>
          <a:p>
            <a:pPr eaLnBrk="1" hangingPunct="1"/>
            <a:r>
              <a:rPr lang="en-US" altLang="en-US" dirty="0">
                <a:latin typeface="Arial (Body)"/>
              </a:rPr>
              <a:t>Imperfectly competitive industries are typically dominated by a few firms that generate monopoly profits or </a:t>
            </a:r>
            <a:r>
              <a:rPr lang="en-US" altLang="en-US" b="1" dirty="0">
                <a:latin typeface="Arial (Body)"/>
              </a:rPr>
              <a:t>excess profits</a:t>
            </a:r>
            <a:r>
              <a:rPr lang="en-US" altLang="en-US" dirty="0">
                <a:latin typeface="Arial (Body)"/>
              </a:rPr>
              <a:t>.</a:t>
            </a:r>
          </a:p>
          <a:p>
            <a:pPr lvl="1" eaLnBrk="1" hangingPunct="1"/>
            <a:r>
              <a:rPr lang="en-US" altLang="en-US" dirty="0">
                <a:latin typeface="Arial (Body)"/>
              </a:rPr>
              <a:t>Excess profits are revenues that exceed all opportunity costs:  profits higher than what equally risky investments elsewhere in the economy earn.</a:t>
            </a:r>
          </a:p>
          <a:p>
            <a:pPr eaLnBrk="1" hangingPunct="1"/>
            <a:r>
              <a:rPr lang="en-US" altLang="en-US" dirty="0">
                <a:latin typeface="Arial (Body)"/>
              </a:rPr>
              <a:t>In an imperfectly competitive industry, government subsidies can shift excess profits  from a foreign firm to a domestic firm.</a:t>
            </a:r>
          </a:p>
        </p:txBody>
      </p:sp>
    </p:spTree>
    <p:extLst>
      <p:ext uri="{BB962C8B-B14F-4D97-AF65-F5344CB8AC3E}">
        <p14:creationId xmlns:p14="http://schemas.microsoft.com/office/powerpoint/2010/main" val="4281302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Imperfect Competition and Strategic Trade Policy </a:t>
            </a:r>
            <a:r>
              <a:rPr lang="en-US" altLang="en-US" sz="2000" b="0"/>
              <a:t>(2 of 7)</a:t>
            </a:r>
            <a:endParaRPr lang="en-US"/>
          </a:p>
        </p:txBody>
      </p:sp>
      <p:sp>
        <p:nvSpPr>
          <p:cNvPr id="3" name="Content Placeholder 2"/>
          <p:cNvSpPr>
            <a:spLocks noGrp="1"/>
          </p:cNvSpPr>
          <p:nvPr>
            <p:ph sz="quarter" idx="13"/>
          </p:nvPr>
        </p:nvSpPr>
        <p:spPr>
          <a:xfrm>
            <a:off x="457200" y="1556327"/>
            <a:ext cx="8229600" cy="3684267"/>
          </a:xfrm>
        </p:spPr>
        <p:txBody>
          <a:bodyPr/>
          <a:lstStyle/>
          <a:p>
            <a:pPr eaLnBrk="1" hangingPunct="1"/>
            <a:r>
              <a:rPr lang="en-US" altLang="en-US"/>
              <a:t>Example (called the Brander-Spencer analysis):</a:t>
            </a:r>
          </a:p>
          <a:p>
            <a:pPr lvl="1" eaLnBrk="1" hangingPunct="1"/>
            <a:r>
              <a:rPr lang="en-US" altLang="en-US"/>
              <a:t>Two firms (Boeing and Airbus) compete in the international market but are located in two different countries (United States and E</a:t>
            </a:r>
            <a:r>
              <a:rPr lang="en-US" altLang="en-US" sz="100"/>
              <a:t> </a:t>
            </a:r>
            <a:r>
              <a:rPr lang="en-US" altLang="en-US"/>
              <a:t>U).</a:t>
            </a:r>
          </a:p>
          <a:p>
            <a:pPr lvl="1" eaLnBrk="1" hangingPunct="1"/>
            <a:r>
              <a:rPr lang="en-US" altLang="en-US"/>
              <a:t>Both firms manufacture airplanes, but each firm’</a:t>
            </a:r>
            <a:r>
              <a:rPr lang="en-US" altLang="ja-JP"/>
              <a:t>s profits depends on the actions of the other. </a:t>
            </a:r>
          </a:p>
          <a:p>
            <a:pPr lvl="1" eaLnBrk="1" hangingPunct="1"/>
            <a:r>
              <a:rPr lang="en-US" altLang="en-US"/>
              <a:t>Each firm decides to produce or not depending on profit levels.</a:t>
            </a:r>
          </a:p>
        </p:txBody>
      </p:sp>
    </p:spTree>
    <p:extLst>
      <p:ext uri="{BB962C8B-B14F-4D97-AF65-F5344CB8AC3E}">
        <p14:creationId xmlns:p14="http://schemas.microsoft.com/office/powerpoint/2010/main" val="879907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Table 12.1 Two-Firm Competition</a:t>
            </a:r>
            <a:endParaRPr lang="en-US" dirty="0"/>
          </a:p>
        </p:txBody>
      </p:sp>
      <p:pic>
        <p:nvPicPr>
          <p:cNvPr id="4" name="Content Placeholder 3" descr="A decision matrix represents the outcomes of companies Airbus and Boeing choosing to produce or not produce in competition of each other.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64237" y="2623858"/>
            <a:ext cx="8015526" cy="2451659"/>
          </a:xfrm>
        </p:spPr>
      </p:pic>
    </p:spTree>
    <p:extLst>
      <p:ext uri="{BB962C8B-B14F-4D97-AF65-F5344CB8AC3E}">
        <p14:creationId xmlns:p14="http://schemas.microsoft.com/office/powerpoint/2010/main" val="108222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(3 of 7)</a:t>
            </a:r>
            <a:endParaRPr lang="en-US" dirty="0"/>
          </a:p>
        </p:txBody>
      </p:sp>
      <p:sp>
        <p:nvSpPr>
          <p:cNvPr id="3" name="Content Placeholder 2"/>
          <p:cNvSpPr>
            <a:spLocks noGrp="1"/>
          </p:cNvSpPr>
          <p:nvPr>
            <p:ph sz="quarter" idx="13"/>
          </p:nvPr>
        </p:nvSpPr>
        <p:spPr>
          <a:xfrm>
            <a:off x="457200" y="1556327"/>
            <a:ext cx="8229600" cy="4087389"/>
          </a:xfrm>
        </p:spPr>
        <p:txBody>
          <a:bodyPr/>
          <a:lstStyle/>
          <a:p>
            <a:pPr eaLnBrk="1" hangingPunct="1"/>
            <a:r>
              <a:rPr lang="en-US" altLang="en-US" dirty="0">
                <a:latin typeface="Arial (Body)"/>
              </a:rPr>
              <a:t>The predicted outcome depends on which firms invest/produce first.</a:t>
            </a:r>
          </a:p>
          <a:p>
            <a:pPr lvl="1" eaLnBrk="1" hangingPunct="1"/>
            <a:r>
              <a:rPr lang="en-US" altLang="en-US" dirty="0">
                <a:latin typeface="Arial (Body)"/>
              </a:rPr>
              <a:t>If Boeing produces first, then Airbus will not find it profitable to produce.</a:t>
            </a:r>
          </a:p>
          <a:p>
            <a:pPr lvl="1" eaLnBrk="1" hangingPunct="1"/>
            <a:r>
              <a:rPr lang="en-US" altLang="en-US" dirty="0">
                <a:latin typeface="Arial (Body)"/>
              </a:rPr>
              <a:t>If Airbus produces first, then Boeing will not find it profitable to produce.</a:t>
            </a:r>
          </a:p>
          <a:p>
            <a:pPr eaLnBrk="1" hangingPunct="1"/>
            <a:r>
              <a:rPr lang="en-US" altLang="en-US" dirty="0">
                <a:latin typeface="Arial (Body)"/>
              </a:rPr>
              <a:t>But a subsidy by the European Union can alter the outcome by making it profitable for Airbus to produce </a:t>
            </a:r>
            <a:r>
              <a:rPr lang="en-US" altLang="en-US" b="1" dirty="0">
                <a:latin typeface="Arial (Body)"/>
              </a:rPr>
              <a:t>regardless of Boeing’</a:t>
            </a:r>
            <a:r>
              <a:rPr lang="en-US" altLang="ja-JP" b="1" dirty="0">
                <a:latin typeface="Arial (Body)"/>
              </a:rPr>
              <a:t>s action</a:t>
            </a:r>
            <a:r>
              <a:rPr lang="en-US" altLang="ja-JP" dirty="0">
                <a:latin typeface="Arial (Body)"/>
              </a:rPr>
              <a:t>.</a:t>
            </a:r>
            <a:endParaRPr lang="en-US" altLang="en-US" dirty="0">
              <a:latin typeface="Arial (Body)"/>
            </a:endParaRPr>
          </a:p>
        </p:txBody>
      </p:sp>
    </p:spTree>
    <p:extLst>
      <p:ext uri="{BB962C8B-B14F-4D97-AF65-F5344CB8AC3E}">
        <p14:creationId xmlns:p14="http://schemas.microsoft.com/office/powerpoint/2010/main" val="346849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12.2 Effects of a Subsidy to Airbus</a:t>
            </a:r>
            <a:endParaRPr lang="en-US" sz="3200" dirty="0"/>
          </a:p>
        </p:txBody>
      </p:sp>
      <p:pic>
        <p:nvPicPr>
          <p:cNvPr id="4" name="Content Placeholder 3" descr="A decision matrix represents the outcomes of companies Airbus and Boeing choosing to produce or not produce in competition of each other, with the added effect of a subsidy to Airbu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83291" y="2642912"/>
            <a:ext cx="7977417" cy="2413550"/>
          </a:xfrm>
        </p:spPr>
      </p:pic>
    </p:spTree>
    <p:extLst>
      <p:ext uri="{BB962C8B-B14F-4D97-AF65-F5344CB8AC3E}">
        <p14:creationId xmlns:p14="http://schemas.microsoft.com/office/powerpoint/2010/main" val="2319761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(4 of 7)</a:t>
            </a:r>
            <a:endParaRPr lang="en-US" dirty="0"/>
          </a:p>
        </p:txBody>
      </p:sp>
      <p:sp>
        <p:nvSpPr>
          <p:cNvPr id="3" name="Content Placeholder 2"/>
          <p:cNvSpPr>
            <a:spLocks noGrp="1"/>
          </p:cNvSpPr>
          <p:nvPr>
            <p:ph sz="quarter" idx="13"/>
          </p:nvPr>
        </p:nvSpPr>
        <p:spPr>
          <a:xfrm>
            <a:off x="457199" y="1556327"/>
            <a:ext cx="8352503" cy="3035338"/>
          </a:xfrm>
        </p:spPr>
        <p:txBody>
          <a:bodyPr/>
          <a:lstStyle/>
          <a:p>
            <a:pPr eaLnBrk="1" hangingPunct="1"/>
            <a:r>
              <a:rPr lang="en-US" altLang="en-US" dirty="0">
                <a:latin typeface="Arial (Body)"/>
              </a:rPr>
              <a:t>If Boeing expects that the European Union will subsidize Airbus, Boeing will be deterred from entering the industry.</a:t>
            </a:r>
          </a:p>
          <a:p>
            <a:pPr lvl="1" eaLnBrk="1" hangingPunct="1"/>
            <a:r>
              <a:rPr lang="en-US" altLang="en-US" dirty="0">
                <a:latin typeface="Arial (Body)"/>
              </a:rPr>
              <a:t>Thus, the subsidy of 25 will generate profits of 125 for Airbus. </a:t>
            </a:r>
          </a:p>
          <a:p>
            <a:pPr lvl="1" eaLnBrk="1" hangingPunct="1"/>
            <a:r>
              <a:rPr lang="en-US" altLang="en-US" dirty="0">
                <a:latin typeface="Arial (Body)"/>
              </a:rPr>
              <a:t>The subsidy raises profits more than the amount of the subsidy itself due to its deterrent effect on foreign competition.</a:t>
            </a:r>
          </a:p>
        </p:txBody>
      </p:sp>
    </p:spTree>
    <p:extLst>
      <p:ext uri="{BB962C8B-B14F-4D97-AF65-F5344CB8AC3E}">
        <p14:creationId xmlns:p14="http://schemas.microsoft.com/office/powerpoint/2010/main" val="3192445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(5 of 7)</a:t>
            </a:r>
            <a:endParaRPr lang="en-US" dirty="0"/>
          </a:p>
        </p:txBody>
      </p:sp>
      <p:sp>
        <p:nvSpPr>
          <p:cNvPr id="3" name="Content Placeholder 2"/>
          <p:cNvSpPr>
            <a:spLocks noGrp="1"/>
          </p:cNvSpPr>
          <p:nvPr>
            <p:ph sz="quarter" idx="13"/>
          </p:nvPr>
        </p:nvSpPr>
        <p:spPr>
          <a:xfrm>
            <a:off x="457199" y="1556327"/>
            <a:ext cx="8411497" cy="1019725"/>
          </a:xfrm>
        </p:spPr>
        <p:txBody>
          <a:bodyPr/>
          <a:lstStyle/>
          <a:p>
            <a:pPr eaLnBrk="1" hangingPunct="1"/>
            <a:r>
              <a:rPr lang="en-US" altLang="en-US" dirty="0">
                <a:latin typeface="Arial (Body)"/>
              </a:rPr>
              <a:t>A government policy to give a domestic firm a strategic advantage in production is called a </a:t>
            </a:r>
            <a:r>
              <a:rPr lang="en-US" altLang="en-US" b="1" dirty="0">
                <a:latin typeface="Arial (Body)"/>
              </a:rPr>
              <a:t>strategic trade policy</a:t>
            </a:r>
            <a:r>
              <a:rPr lang="en-US" altLang="en-US" dirty="0">
                <a:latin typeface="Arial (Body)"/>
              </a:rPr>
              <a:t>.</a:t>
            </a:r>
          </a:p>
        </p:txBody>
      </p:sp>
    </p:spTree>
    <p:extLst>
      <p:ext uri="{BB962C8B-B14F-4D97-AF65-F5344CB8AC3E}">
        <p14:creationId xmlns:p14="http://schemas.microsoft.com/office/powerpoint/2010/main" val="1082613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(6 of 7)</a:t>
            </a:r>
            <a:endParaRPr lang="en-US" dirty="0"/>
          </a:p>
        </p:txBody>
      </p:sp>
      <p:sp>
        <p:nvSpPr>
          <p:cNvPr id="3" name="Content Placeholder 2"/>
          <p:cNvSpPr>
            <a:spLocks noGrp="1"/>
          </p:cNvSpPr>
          <p:nvPr>
            <p:ph sz="quarter" idx="13"/>
          </p:nvPr>
        </p:nvSpPr>
        <p:spPr>
          <a:xfrm>
            <a:off x="466602" y="1552575"/>
            <a:ext cx="5059127" cy="517294"/>
          </a:xfrm>
        </p:spPr>
        <p:txBody>
          <a:bodyPr/>
          <a:lstStyle/>
          <a:p>
            <a:pPr marL="255600"/>
            <a:r>
              <a:rPr lang="en-US" altLang="en-US" dirty="0">
                <a:latin typeface="Arial (Body)"/>
              </a:rPr>
              <a:t>Criticisms of this analysis include:</a:t>
            </a:r>
          </a:p>
        </p:txBody>
      </p:sp>
      <p:sp>
        <p:nvSpPr>
          <p:cNvPr id="4" name="Content Placeholder 3"/>
          <p:cNvSpPr>
            <a:spLocks noGrp="1"/>
          </p:cNvSpPr>
          <p:nvPr>
            <p:ph sz="quarter" idx="14"/>
          </p:nvPr>
        </p:nvSpPr>
        <p:spPr>
          <a:xfrm>
            <a:off x="466603" y="2127105"/>
            <a:ext cx="8220196" cy="888234"/>
          </a:xfrm>
        </p:spPr>
        <p:txBody>
          <a:bodyPr/>
          <a:lstStyle/>
          <a:p>
            <a:pPr marL="432000" indent="-432000" eaLnBrk="1" hangingPunct="1">
              <a:buFont typeface="Times" pitchFamily="-1" charset="0"/>
              <a:buAutoNum type="arabicPeriod"/>
            </a:pPr>
            <a:r>
              <a:rPr lang="en-US" altLang="en-US" dirty="0">
                <a:latin typeface="Arial (Body)"/>
              </a:rPr>
              <a:t>Practical use of strategic trade policy requires more information about firms than is likely available.</a:t>
            </a:r>
          </a:p>
        </p:txBody>
      </p:sp>
      <p:sp>
        <p:nvSpPr>
          <p:cNvPr id="5" name="Content Placeholder 4"/>
          <p:cNvSpPr>
            <a:spLocks noGrp="1"/>
          </p:cNvSpPr>
          <p:nvPr>
            <p:ph sz="quarter" idx="15"/>
          </p:nvPr>
        </p:nvSpPr>
        <p:spPr>
          <a:xfrm>
            <a:off x="466603" y="3102058"/>
            <a:ext cx="8220197" cy="3131593"/>
          </a:xfrm>
        </p:spPr>
        <p:txBody>
          <a:bodyPr tIns="0" rIns="0" bIns="0"/>
          <a:lstStyle/>
          <a:p>
            <a:pPr marL="741600" lvl="1" eaLnBrk="1" hangingPunct="1"/>
            <a:r>
              <a:rPr lang="en-US" altLang="en-US" dirty="0">
                <a:latin typeface="Arial (Body)"/>
              </a:rPr>
              <a:t>The predictions from the simple example differ if the numbers are slightly different.</a:t>
            </a:r>
          </a:p>
          <a:p>
            <a:pPr marL="741600" lvl="1" eaLnBrk="1" hangingPunct="1"/>
            <a:r>
              <a:rPr lang="en-US" altLang="en-US" dirty="0">
                <a:latin typeface="Arial (Body)"/>
              </a:rPr>
              <a:t>What if governments or economists are not exactly right when predicting the profits of firms?</a:t>
            </a:r>
          </a:p>
          <a:p>
            <a:pPr marL="1144800" lvl="2" eaLnBrk="1" hangingPunct="1"/>
            <a:r>
              <a:rPr lang="en-US" altLang="en-US" dirty="0">
                <a:latin typeface="Arial (Body)"/>
              </a:rPr>
              <a:t>For example, what if Boeing has a better technology that only it can recognize, so that even if Airbus produces, Boeing still finds it profitable to produce?</a:t>
            </a:r>
            <a:endParaRPr lang="en-US" dirty="0"/>
          </a:p>
        </p:txBody>
      </p:sp>
    </p:spTree>
    <p:extLst>
      <p:ext uri="{BB962C8B-B14F-4D97-AF65-F5344CB8AC3E}">
        <p14:creationId xmlns:p14="http://schemas.microsoft.com/office/powerpoint/2010/main" val="8615695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Imperfect Competition and Strategic Trade Policy </a:t>
            </a:r>
            <a:r>
              <a:rPr lang="en-US" altLang="en-US" sz="2000" b="0" dirty="0"/>
              <a:t>(7 of 7)</a:t>
            </a:r>
            <a:endParaRPr lang="en-US" dirty="0"/>
          </a:p>
        </p:txBody>
      </p:sp>
      <p:sp>
        <p:nvSpPr>
          <p:cNvPr id="3" name="Content Placeholder 2"/>
          <p:cNvSpPr>
            <a:spLocks noGrp="1"/>
          </p:cNvSpPr>
          <p:nvPr>
            <p:ph sz="quarter" idx="13"/>
          </p:nvPr>
        </p:nvSpPr>
        <p:spPr>
          <a:xfrm>
            <a:off x="466603" y="1552575"/>
            <a:ext cx="5865372" cy="517294"/>
          </a:xfrm>
        </p:spPr>
        <p:txBody>
          <a:bodyPr/>
          <a:lstStyle/>
          <a:p>
            <a:pPr marL="432000" indent="-432000" eaLnBrk="1" hangingPunct="1">
              <a:buFont typeface="Times" pitchFamily="-1" charset="0"/>
              <a:buAutoNum type="arabicPeriod" startAt="2"/>
            </a:pPr>
            <a:r>
              <a:rPr lang="en-US" altLang="en-US" dirty="0">
                <a:latin typeface="Arial (Body)"/>
              </a:rPr>
              <a:t>Foreign retaliation also could result: </a:t>
            </a:r>
          </a:p>
        </p:txBody>
      </p:sp>
      <p:sp>
        <p:nvSpPr>
          <p:cNvPr id="4" name="Content Placeholder 3"/>
          <p:cNvSpPr>
            <a:spLocks noGrp="1"/>
          </p:cNvSpPr>
          <p:nvPr>
            <p:ph sz="quarter" idx="14"/>
          </p:nvPr>
        </p:nvSpPr>
        <p:spPr>
          <a:xfrm>
            <a:off x="457201" y="2176069"/>
            <a:ext cx="8229598" cy="1588880"/>
          </a:xfrm>
        </p:spPr>
        <p:txBody>
          <a:bodyPr tIns="0" rIns="0" bIns="0"/>
          <a:lstStyle/>
          <a:p>
            <a:pPr marL="741600" lvl="1"/>
            <a:r>
              <a:rPr lang="en-US" altLang="en-US" dirty="0">
                <a:latin typeface="Arial (Body)"/>
              </a:rPr>
              <a:t>If the European Union subsidizes Airbus, the United States could subsidize Boeing, which would deter neither firm from producing, start a trade war, and waste taxpayer funds.</a:t>
            </a:r>
          </a:p>
        </p:txBody>
      </p:sp>
      <p:sp>
        <p:nvSpPr>
          <p:cNvPr id="5" name="Content Placeholder 4"/>
          <p:cNvSpPr>
            <a:spLocks noGrp="1"/>
          </p:cNvSpPr>
          <p:nvPr>
            <p:ph sz="quarter" idx="15"/>
          </p:nvPr>
        </p:nvSpPr>
        <p:spPr>
          <a:xfrm>
            <a:off x="466603" y="3849708"/>
            <a:ext cx="8220198" cy="915808"/>
          </a:xfrm>
        </p:spPr>
        <p:txBody>
          <a:bodyPr tIns="0" rIns="0" bIns="0"/>
          <a:lstStyle/>
          <a:p>
            <a:pPr marL="432000" indent="-432000">
              <a:buFont typeface="+mj-lt"/>
              <a:buAutoNum type="arabicPeriod" startAt="3"/>
            </a:pPr>
            <a:r>
              <a:rPr lang="en-US" altLang="en-US" dirty="0">
                <a:latin typeface="Arial (Body)"/>
              </a:rPr>
              <a:t>Strategic trade policy, like any trade policy, could be manipulated by politically powerful groups.</a:t>
            </a:r>
            <a:endParaRPr lang="en-US" dirty="0"/>
          </a:p>
        </p:txBody>
      </p:sp>
    </p:spTree>
    <p:extLst>
      <p:ext uri="{BB962C8B-B14F-4D97-AF65-F5344CB8AC3E}">
        <p14:creationId xmlns:p14="http://schemas.microsoft.com/office/powerpoint/2010/main" val="2778818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(1 of 6)</a:t>
            </a:r>
            <a:endParaRPr lang="en-US" dirty="0"/>
          </a:p>
        </p:txBody>
      </p:sp>
      <p:sp>
        <p:nvSpPr>
          <p:cNvPr id="3" name="Content Placeholder 2"/>
          <p:cNvSpPr>
            <a:spLocks noGrp="1"/>
          </p:cNvSpPr>
          <p:nvPr>
            <p:ph sz="quarter" idx="13"/>
          </p:nvPr>
        </p:nvSpPr>
        <p:spPr>
          <a:xfrm>
            <a:off x="457200" y="1556327"/>
            <a:ext cx="8229600" cy="3222150"/>
          </a:xfrm>
        </p:spPr>
        <p:txBody>
          <a:bodyPr/>
          <a:lstStyle/>
          <a:p>
            <a:pPr eaLnBrk="1" hangingPunct="1"/>
            <a:r>
              <a:rPr lang="en-US" altLang="en-US" dirty="0">
                <a:latin typeface="Arial (Body)"/>
              </a:rPr>
              <a:t>Manufactured exports from low- and middle-income countries have been increasing.</a:t>
            </a:r>
          </a:p>
          <a:p>
            <a:pPr eaLnBrk="1" hangingPunct="1"/>
            <a:r>
              <a:rPr lang="en-US" altLang="en-US" dirty="0">
                <a:latin typeface="Arial (Body)"/>
              </a:rPr>
              <a:t>Compared to rich-country standards, workers who produce these goods are paid low wages and may work under poor conditions.</a:t>
            </a:r>
          </a:p>
          <a:p>
            <a:pPr eaLnBrk="1" hangingPunct="1"/>
            <a:r>
              <a:rPr lang="en-US" altLang="en-US" dirty="0">
                <a:latin typeface="Arial (Body)"/>
              </a:rPr>
              <a:t>Some have opposed free trade for this reason.</a:t>
            </a:r>
          </a:p>
        </p:txBody>
      </p:sp>
    </p:spTree>
    <p:extLst>
      <p:ext uri="{BB962C8B-B14F-4D97-AF65-F5344CB8AC3E}">
        <p14:creationId xmlns:p14="http://schemas.microsoft.com/office/powerpoint/2010/main" val="2472857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(2 of 6)</a:t>
            </a:r>
            <a:endParaRPr lang="en-US" dirty="0"/>
          </a:p>
        </p:txBody>
      </p:sp>
      <p:sp>
        <p:nvSpPr>
          <p:cNvPr id="3" name="Content Placeholder 2"/>
          <p:cNvSpPr>
            <a:spLocks noGrp="1"/>
          </p:cNvSpPr>
          <p:nvPr>
            <p:ph sz="quarter" idx="13"/>
          </p:nvPr>
        </p:nvSpPr>
        <p:spPr>
          <a:xfrm>
            <a:off x="457200" y="1556327"/>
            <a:ext cx="8229600" cy="3290976"/>
          </a:xfrm>
        </p:spPr>
        <p:txBody>
          <a:bodyPr/>
          <a:lstStyle/>
          <a:p>
            <a:pPr eaLnBrk="1" hangingPunct="1"/>
            <a:r>
              <a:rPr lang="en-US" altLang="en-US" dirty="0">
                <a:latin typeface="Arial (Body)"/>
              </a:rPr>
              <a:t>One example of this situation is the </a:t>
            </a:r>
            <a:r>
              <a:rPr lang="en-US" altLang="en-US" b="1" dirty="0">
                <a:latin typeface="Arial (Body)"/>
              </a:rPr>
              <a:t>maquiladora</a:t>
            </a:r>
            <a:r>
              <a:rPr lang="en-US" altLang="en-US" dirty="0">
                <a:latin typeface="Arial (Body)"/>
              </a:rPr>
              <a:t> sector: Mexican firms that produce for export to the United States.</a:t>
            </a:r>
          </a:p>
          <a:p>
            <a:r>
              <a:rPr lang="en-US" altLang="en-US" dirty="0">
                <a:latin typeface="Arial (Body)"/>
              </a:rPr>
              <a:t>Opponents of the North American Free Trade Agreement have argued that it is now easier for employers to replace high-wage workers in the United States with low-wage workers in Mexico.</a:t>
            </a:r>
          </a:p>
        </p:txBody>
      </p:sp>
    </p:spTree>
    <p:extLst>
      <p:ext uri="{BB962C8B-B14F-4D97-AF65-F5344CB8AC3E}">
        <p14:creationId xmlns:p14="http://schemas.microsoft.com/office/powerpoint/2010/main" val="700967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(3 of 6)</a:t>
            </a:r>
            <a:endParaRPr lang="en-US" dirty="0"/>
          </a:p>
        </p:txBody>
      </p:sp>
      <p:sp>
        <p:nvSpPr>
          <p:cNvPr id="3" name="Content Placeholder 2"/>
          <p:cNvSpPr>
            <a:spLocks noGrp="1"/>
          </p:cNvSpPr>
          <p:nvPr>
            <p:ph sz="quarter" idx="13"/>
          </p:nvPr>
        </p:nvSpPr>
        <p:spPr>
          <a:xfrm>
            <a:off x="457200" y="1556327"/>
            <a:ext cx="8229600" cy="4185712"/>
          </a:xfrm>
        </p:spPr>
        <p:txBody>
          <a:bodyPr/>
          <a:lstStyle/>
          <a:p>
            <a:pPr eaLnBrk="1" hangingPunct="1"/>
            <a:r>
              <a:rPr lang="en-US" altLang="en-US" dirty="0">
                <a:latin typeface="Arial (Body)"/>
              </a:rPr>
              <a:t>The above claim can be true, but we cannot conclude that trade hurts workers.</a:t>
            </a:r>
          </a:p>
          <a:p>
            <a:r>
              <a:rPr lang="en-US" altLang="en-US" dirty="0">
                <a:latin typeface="Arial (Body)"/>
              </a:rPr>
              <a:t>A </a:t>
            </a:r>
            <a:r>
              <a:rPr lang="en-US" altLang="en-US" dirty="0" err="1">
                <a:latin typeface="Arial (Body)"/>
              </a:rPr>
              <a:t>Ricardian</a:t>
            </a:r>
            <a:r>
              <a:rPr lang="en-US" altLang="en-US" dirty="0">
                <a:latin typeface="Arial (Body)"/>
              </a:rPr>
              <a:t> model predicts that while wages in Mexico should remain lower than those in the United States due to low productivity in Mexico, they will rise relative to their </a:t>
            </a:r>
            <a:r>
              <a:rPr lang="en-US" altLang="en-US" dirty="0" err="1">
                <a:latin typeface="Arial (Body)"/>
              </a:rPr>
              <a:t>pretrade</a:t>
            </a:r>
            <a:r>
              <a:rPr lang="en-US" altLang="en-US" dirty="0">
                <a:latin typeface="Arial (Body)"/>
              </a:rPr>
              <a:t> level.</a:t>
            </a:r>
          </a:p>
          <a:p>
            <a:r>
              <a:rPr lang="en-US" altLang="en-US" dirty="0">
                <a:latin typeface="Arial (Body)"/>
              </a:rPr>
              <a:t>A </a:t>
            </a:r>
            <a:r>
              <a:rPr lang="en-US" altLang="en-US" dirty="0" err="1">
                <a:latin typeface="Arial (Body)"/>
              </a:rPr>
              <a:t>Heckscher</a:t>
            </a:r>
            <a:r>
              <a:rPr lang="en-US" altLang="en-US" dirty="0">
                <a:latin typeface="Arial (Body)"/>
              </a:rPr>
              <a:t>-Ohlin model does predict that unskilled workers in the United States will lose from NAFTA, but it also predicts that unskilled workers in Mexico will gain.</a:t>
            </a:r>
          </a:p>
        </p:txBody>
      </p:sp>
    </p:spTree>
    <p:extLst>
      <p:ext uri="{BB962C8B-B14F-4D97-AF65-F5344CB8AC3E}">
        <p14:creationId xmlns:p14="http://schemas.microsoft.com/office/powerpoint/2010/main" val="361420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(4 of 6)</a:t>
            </a:r>
            <a:endParaRPr lang="en-US" dirty="0"/>
          </a:p>
        </p:txBody>
      </p:sp>
      <p:sp>
        <p:nvSpPr>
          <p:cNvPr id="3" name="Content Placeholder 2"/>
          <p:cNvSpPr>
            <a:spLocks noGrp="1"/>
          </p:cNvSpPr>
          <p:nvPr>
            <p:ph sz="quarter" idx="13"/>
          </p:nvPr>
        </p:nvSpPr>
        <p:spPr>
          <a:xfrm>
            <a:off x="457200" y="1556326"/>
            <a:ext cx="8106697" cy="4539673"/>
          </a:xfrm>
        </p:spPr>
        <p:txBody>
          <a:bodyPr/>
          <a:lstStyle/>
          <a:p>
            <a:pPr eaLnBrk="1" hangingPunct="1"/>
            <a:r>
              <a:rPr lang="en-US" altLang="en-US" dirty="0">
                <a:latin typeface="Arial (Body)"/>
              </a:rPr>
              <a:t>Despite the low wages earned by workers in Mexico, both theories predict that those workers are better off with trade than they would be if trade had not taken place. </a:t>
            </a:r>
          </a:p>
          <a:p>
            <a:pPr lvl="1" eaLnBrk="1" hangingPunct="1"/>
            <a:r>
              <a:rPr lang="en-US" altLang="en-US" dirty="0">
                <a:latin typeface="Arial (Body)"/>
              </a:rPr>
              <a:t>Evidence consistent with these predictions would show that wages in </a:t>
            </a:r>
            <a:r>
              <a:rPr lang="en-US" altLang="en-US" b="1" dirty="0">
                <a:latin typeface="Arial (Body)"/>
              </a:rPr>
              <a:t>maquiladoras</a:t>
            </a:r>
            <a:r>
              <a:rPr lang="en-US" altLang="en-US" dirty="0">
                <a:latin typeface="Arial (Body)"/>
              </a:rPr>
              <a:t> have risen relative to wages in other Mexican sectors. </a:t>
            </a:r>
          </a:p>
          <a:p>
            <a:pPr lvl="1"/>
            <a:r>
              <a:rPr lang="en-US" altLang="en-US" dirty="0">
                <a:latin typeface="Arial (Body)"/>
              </a:rPr>
              <a:t>One could also compare working conditions in </a:t>
            </a:r>
            <a:r>
              <a:rPr lang="en-US" altLang="en-US" b="1" dirty="0">
                <a:latin typeface="Arial (Body)"/>
              </a:rPr>
              <a:t>maquiladoras</a:t>
            </a:r>
            <a:r>
              <a:rPr lang="en-US" altLang="en-US" dirty="0">
                <a:latin typeface="Arial (Body)"/>
              </a:rPr>
              <a:t> with the working conditions in other Mexican sectors, rather than with those in the United States.</a:t>
            </a:r>
          </a:p>
        </p:txBody>
      </p:sp>
    </p:spTree>
    <p:extLst>
      <p:ext uri="{BB962C8B-B14F-4D97-AF65-F5344CB8AC3E}">
        <p14:creationId xmlns:p14="http://schemas.microsoft.com/office/powerpoint/2010/main" val="3224554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Table 12.3 Real Wages</a:t>
            </a:r>
            <a:endParaRPr lang="en-US" dirty="0"/>
          </a:p>
        </p:txBody>
      </p:sp>
      <p:graphicFrame>
        <p:nvGraphicFramePr>
          <p:cNvPr id="7" name="Content Placeholder 6"/>
          <p:cNvGraphicFramePr>
            <a:graphicFrameLocks noGrp="1"/>
          </p:cNvGraphicFramePr>
          <p:nvPr>
            <p:ph sz="quarter" idx="13"/>
            <p:extLst>
              <p:ext uri="{D42A27DB-BD31-4B8C-83A1-F6EECF244321}">
                <p14:modId xmlns:p14="http://schemas.microsoft.com/office/powerpoint/2010/main" val="2491405189"/>
              </p:ext>
            </p:extLst>
          </p:nvPr>
        </p:nvGraphicFramePr>
        <p:xfrm>
          <a:off x="619432" y="1555749"/>
          <a:ext cx="7266039" cy="1637631"/>
        </p:xfrm>
        <a:graphic>
          <a:graphicData uri="http://schemas.openxmlformats.org/drawingml/2006/table">
            <a:tbl>
              <a:tblPr firstRow="1" bandRow="1">
                <a:tableStyleId>{2D5ABB26-0587-4C30-8999-92F81FD0307C}</a:tableStyleId>
              </a:tblPr>
              <a:tblGrid>
                <a:gridCol w="2182762">
                  <a:extLst>
                    <a:ext uri="{9D8B030D-6E8A-4147-A177-3AD203B41FA5}">
                      <a16:colId xmlns:a16="http://schemas.microsoft.com/office/drawing/2014/main" val="1107825038"/>
                    </a:ext>
                  </a:extLst>
                </a:gridCol>
                <a:gridCol w="2661264">
                  <a:extLst>
                    <a:ext uri="{9D8B030D-6E8A-4147-A177-3AD203B41FA5}">
                      <a16:colId xmlns:a16="http://schemas.microsoft.com/office/drawing/2014/main" val="4080562739"/>
                    </a:ext>
                  </a:extLst>
                </a:gridCol>
                <a:gridCol w="2422013">
                  <a:extLst>
                    <a:ext uri="{9D8B030D-6E8A-4147-A177-3AD203B41FA5}">
                      <a16:colId xmlns:a16="http://schemas.microsoft.com/office/drawing/2014/main" val="2153468618"/>
                    </a:ext>
                  </a:extLst>
                </a:gridCol>
              </a:tblGrid>
              <a:tr h="631791">
                <a:tc>
                  <a:txBody>
                    <a:bodyPr/>
                    <a:lstStyle/>
                    <a:p>
                      <a:pPr algn="l"/>
                      <a:r>
                        <a:rPr lang="en-US" sz="1800" b="1" dirty="0"/>
                        <a:t>(A) Before 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High-Tech Goods/Hour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Low-Tech Goods/Hour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7767169"/>
                  </a:ext>
                </a:extLst>
              </a:tr>
              <a:tr h="359015">
                <a:tc>
                  <a:txBody>
                    <a:bodyPr/>
                    <a:lstStyle/>
                    <a:p>
                      <a:pPr algn="l"/>
                      <a:r>
                        <a:rPr lang="en-US" sz="1800" dirty="0"/>
                        <a:t>United States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6928835"/>
                  </a:ext>
                </a:extLst>
              </a:tr>
              <a:tr h="631791">
                <a:tc>
                  <a:txBody>
                    <a:bodyPr/>
                    <a:lstStyle/>
                    <a:p>
                      <a:pPr algn="l"/>
                      <a:r>
                        <a:rPr lang="en-US" sz="1800" dirty="0"/>
                        <a:t>Mexico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1 eighth</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1 half</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4365949"/>
                  </a:ext>
                </a:extLst>
              </a:tr>
            </a:tbl>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14636419"/>
              </p:ext>
            </p:extLst>
          </p:nvPr>
        </p:nvGraphicFramePr>
        <p:xfrm>
          <a:off x="3993456" y="2584305"/>
          <a:ext cx="213191" cy="550745"/>
        </p:xfrm>
        <a:graphic>
          <a:graphicData uri="http://schemas.openxmlformats.org/presentationml/2006/ole">
            <mc:AlternateContent xmlns:mc="http://schemas.openxmlformats.org/markup-compatibility/2006">
              <mc:Choice xmlns:v="urn:schemas-microsoft-com:vml" Requires="v">
                <p:oleObj spid="_x0000_s1186" name="Equation" r:id="rId3" imgW="152280" imgH="393480" progId="Equation.DSMT4">
                  <p:embed/>
                </p:oleObj>
              </mc:Choice>
              <mc:Fallback>
                <p:oleObj name="Equation" r:id="rId3" imgW="152280" imgH="393480" progId="Equation.DSMT4">
                  <p:embed/>
                  <p:pic>
                    <p:nvPicPr>
                      <p:cNvPr id="0" name=""/>
                      <p:cNvPicPr/>
                      <p:nvPr/>
                    </p:nvPicPr>
                    <p:blipFill>
                      <a:blip r:embed="rId4"/>
                      <a:stretch>
                        <a:fillRect/>
                      </a:stretch>
                    </p:blipFill>
                    <p:spPr>
                      <a:xfrm>
                        <a:off x="3993456" y="2584305"/>
                        <a:ext cx="213191" cy="550745"/>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5371113"/>
              </p:ext>
            </p:extLst>
          </p:nvPr>
        </p:nvGraphicFramePr>
        <p:xfrm>
          <a:off x="6622647" y="2581659"/>
          <a:ext cx="211080" cy="545292"/>
        </p:xfrm>
        <a:graphic>
          <a:graphicData uri="http://schemas.openxmlformats.org/presentationml/2006/ole">
            <mc:AlternateContent xmlns:mc="http://schemas.openxmlformats.org/markup-compatibility/2006">
              <mc:Choice xmlns:v="urn:schemas-microsoft-com:vml" Requires="v">
                <p:oleObj spid="_x0000_s1187" name="Equation" r:id="rId5" imgW="152280" imgH="393480" progId="Equation.DSMT4">
                  <p:embed/>
                </p:oleObj>
              </mc:Choice>
              <mc:Fallback>
                <p:oleObj name="Equation" r:id="rId5" imgW="152280" imgH="393480" progId="Equation.DSMT4">
                  <p:embed/>
                  <p:pic>
                    <p:nvPicPr>
                      <p:cNvPr id="0" name=""/>
                      <p:cNvPicPr/>
                      <p:nvPr/>
                    </p:nvPicPr>
                    <p:blipFill>
                      <a:blip r:embed="rId6"/>
                      <a:stretch>
                        <a:fillRect/>
                      </a:stretch>
                    </p:blipFill>
                    <p:spPr>
                      <a:xfrm>
                        <a:off x="6622647" y="2581659"/>
                        <a:ext cx="211080" cy="545292"/>
                      </a:xfrm>
                      <a:prstGeom prst="rect">
                        <a:avLst/>
                      </a:prstGeom>
                      <a:solidFill>
                        <a:schemeClr val="bg1"/>
                      </a:solidFill>
                    </p:spPr>
                  </p:pic>
                </p:oleObj>
              </mc:Fallback>
            </mc:AlternateContent>
          </a:graphicData>
        </a:graphic>
      </p:graphicFrame>
      <p:graphicFrame>
        <p:nvGraphicFramePr>
          <p:cNvPr id="10" name="Content Placeholder 9"/>
          <p:cNvGraphicFramePr>
            <a:graphicFrameLocks noGrp="1"/>
          </p:cNvGraphicFramePr>
          <p:nvPr>
            <p:ph sz="quarter" idx="14"/>
            <p:extLst>
              <p:ext uri="{D42A27DB-BD31-4B8C-83A1-F6EECF244321}">
                <p14:modId xmlns:p14="http://schemas.microsoft.com/office/powerpoint/2010/main" val="2053448500"/>
              </p:ext>
            </p:extLst>
          </p:nvPr>
        </p:nvGraphicFramePr>
        <p:xfrm>
          <a:off x="619432" y="3971923"/>
          <a:ext cx="7108723" cy="1830851"/>
        </p:xfrm>
        <a:graphic>
          <a:graphicData uri="http://schemas.openxmlformats.org/drawingml/2006/table">
            <a:tbl>
              <a:tblPr firstRow="1" bandRow="1">
                <a:tableStyleId>{2D5ABB26-0587-4C30-8999-92F81FD0307C}</a:tableStyleId>
              </a:tblPr>
              <a:tblGrid>
                <a:gridCol w="1986116">
                  <a:extLst>
                    <a:ext uri="{9D8B030D-6E8A-4147-A177-3AD203B41FA5}">
                      <a16:colId xmlns:a16="http://schemas.microsoft.com/office/drawing/2014/main" val="2698931982"/>
                    </a:ext>
                  </a:extLst>
                </a:gridCol>
                <a:gridCol w="2585884">
                  <a:extLst>
                    <a:ext uri="{9D8B030D-6E8A-4147-A177-3AD203B41FA5}">
                      <a16:colId xmlns:a16="http://schemas.microsoft.com/office/drawing/2014/main" val="3706150252"/>
                    </a:ext>
                  </a:extLst>
                </a:gridCol>
                <a:gridCol w="2536723">
                  <a:extLst>
                    <a:ext uri="{9D8B030D-6E8A-4147-A177-3AD203B41FA5}">
                      <a16:colId xmlns:a16="http://schemas.microsoft.com/office/drawing/2014/main" val="2838328069"/>
                    </a:ext>
                  </a:extLst>
                </a:gridCol>
              </a:tblGrid>
              <a:tr h="671974">
                <a:tc>
                  <a:txBody>
                    <a:bodyPr/>
                    <a:lstStyle/>
                    <a:p>
                      <a:pPr algn="l"/>
                      <a:r>
                        <a:rPr lang="en-US" sz="1800" b="1" dirty="0"/>
                        <a:t>(B) After Trade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High-Tech Goods/Hour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Low-Tech Goods/Hour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2861778"/>
                  </a:ext>
                </a:extLst>
              </a:tr>
              <a:tr h="486903">
                <a:tc>
                  <a:txBody>
                    <a:bodyPr/>
                    <a:lstStyle/>
                    <a:p>
                      <a:pPr algn="l"/>
                      <a:r>
                        <a:rPr lang="en-US" sz="1800" dirty="0"/>
                        <a:t>United States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0369730"/>
                  </a:ext>
                </a:extLst>
              </a:tr>
              <a:tr h="671974">
                <a:tc>
                  <a:txBody>
                    <a:bodyPr/>
                    <a:lstStyle/>
                    <a:p>
                      <a:pPr algn="l"/>
                      <a:r>
                        <a:rPr lang="en-US" sz="1800" dirty="0"/>
                        <a:t>Mexico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1 fourth</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 b="0" i="0" u="none" strike="noStrike" cap="none" dirty="0">
                          <a:solidFill>
                            <a:schemeClr val="tx1"/>
                          </a:solidFill>
                          <a:effectLst/>
                          <a:latin typeface="+mn-lt"/>
                          <a:ea typeface="+mn-ea"/>
                          <a:cs typeface="+mn-cs"/>
                          <a:sym typeface="Arial"/>
                        </a:rPr>
                        <a:t>1 half</a:t>
                      </a:r>
                      <a:endParaRPr lang="en-US"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9595149"/>
                  </a:ext>
                </a:extLst>
              </a:tr>
            </a:tbl>
          </a:graphicData>
        </a:graphic>
      </p:graphicFrame>
      <p:graphicFrame>
        <p:nvGraphicFramePr>
          <p:cNvPr id="12" name="Object 1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82184841"/>
              </p:ext>
            </p:extLst>
          </p:nvPr>
        </p:nvGraphicFramePr>
        <p:xfrm>
          <a:off x="3786535" y="5191105"/>
          <a:ext cx="206921" cy="534548"/>
        </p:xfrm>
        <a:graphic>
          <a:graphicData uri="http://schemas.openxmlformats.org/presentationml/2006/ole">
            <mc:AlternateContent xmlns:mc="http://schemas.openxmlformats.org/markup-compatibility/2006">
              <mc:Choice xmlns:v="urn:schemas-microsoft-com:vml" Requires="v">
                <p:oleObj spid="_x0000_s1188" name="Equation" r:id="rId7" imgW="152280" imgH="393480" progId="Equation.DSMT4">
                  <p:embed/>
                </p:oleObj>
              </mc:Choice>
              <mc:Fallback>
                <p:oleObj name="Equation" r:id="rId7" imgW="152280" imgH="393480" progId="Equation.DSMT4">
                  <p:embed/>
                  <p:pic>
                    <p:nvPicPr>
                      <p:cNvPr id="8" name="Object 7"/>
                      <p:cNvPicPr/>
                      <p:nvPr/>
                    </p:nvPicPr>
                    <p:blipFill>
                      <a:blip r:embed="rId8"/>
                      <a:stretch>
                        <a:fillRect/>
                      </a:stretch>
                    </p:blipFill>
                    <p:spPr>
                      <a:xfrm>
                        <a:off x="3786535" y="5191105"/>
                        <a:ext cx="206921" cy="534548"/>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60736899"/>
              </p:ext>
            </p:extLst>
          </p:nvPr>
        </p:nvGraphicFramePr>
        <p:xfrm>
          <a:off x="6435835" y="5201302"/>
          <a:ext cx="211080" cy="545292"/>
        </p:xfrm>
        <a:graphic>
          <a:graphicData uri="http://schemas.openxmlformats.org/presentationml/2006/ole">
            <mc:AlternateContent xmlns:mc="http://schemas.openxmlformats.org/markup-compatibility/2006">
              <mc:Choice xmlns:v="urn:schemas-microsoft-com:vml" Requires="v">
                <p:oleObj spid="_x0000_s1189" name="Equation" r:id="rId9" imgW="152280" imgH="393480" progId="Equation.DSMT4">
                  <p:embed/>
                </p:oleObj>
              </mc:Choice>
              <mc:Fallback>
                <p:oleObj name="Equation" r:id="rId9" imgW="152280" imgH="393480" progId="Equation.DSMT4">
                  <p:embed/>
                  <p:pic>
                    <p:nvPicPr>
                      <p:cNvPr id="9" name="Object 8"/>
                      <p:cNvPicPr/>
                      <p:nvPr/>
                    </p:nvPicPr>
                    <p:blipFill>
                      <a:blip r:embed="rId6"/>
                      <a:stretch>
                        <a:fillRect/>
                      </a:stretch>
                    </p:blipFill>
                    <p:spPr>
                      <a:xfrm>
                        <a:off x="6435835" y="5201302"/>
                        <a:ext cx="211080" cy="54529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4199358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(5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rPr>
              <a:t>Some labor activists want to include labor standards in trade negotiations.</a:t>
            </a:r>
          </a:p>
          <a:p>
            <a:pPr lvl="1" eaLnBrk="1" hangingPunct="1"/>
            <a:r>
              <a:rPr lang="en-US" altLang="en-US" dirty="0">
                <a:latin typeface="Arial (Body)"/>
              </a:rPr>
              <a:t>However, labor standards imposed by foreign countries are opposed by governments of low- and middle-income countries.</a:t>
            </a:r>
          </a:p>
          <a:p>
            <a:pPr lvl="1" eaLnBrk="1" hangingPunct="1"/>
            <a:r>
              <a:rPr lang="en-US" altLang="en-US" dirty="0">
                <a:latin typeface="Arial (Body)"/>
              </a:rPr>
              <a:t>International standards could be used as a protectionist policy or a basis for lawsuits when domestic producers did not meet them.</a:t>
            </a:r>
          </a:p>
          <a:p>
            <a:pPr lvl="1" eaLnBrk="1" hangingPunct="1"/>
            <a:r>
              <a:rPr lang="en-US" altLang="en-US" dirty="0">
                <a:latin typeface="Arial (Body)"/>
              </a:rPr>
              <a:t>Standards set by high-income countries would be expensive for low- and middle-income producers.</a:t>
            </a:r>
          </a:p>
        </p:txBody>
      </p:sp>
    </p:spTree>
    <p:extLst>
      <p:ext uri="{BB962C8B-B14F-4D97-AF65-F5344CB8AC3E}">
        <p14:creationId xmlns:p14="http://schemas.microsoft.com/office/powerpoint/2010/main" val="2338379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Low-Wage Labor </a:t>
            </a:r>
            <a:r>
              <a:rPr lang="en-US" altLang="en-US" sz="2000" b="0" dirty="0"/>
              <a:t>(6 of 6)</a:t>
            </a:r>
            <a:endParaRPr lang="en-US" dirty="0"/>
          </a:p>
        </p:txBody>
      </p:sp>
      <p:sp>
        <p:nvSpPr>
          <p:cNvPr id="3" name="Content Placeholder 2"/>
          <p:cNvSpPr>
            <a:spLocks noGrp="1"/>
          </p:cNvSpPr>
          <p:nvPr>
            <p:ph sz="quarter" idx="13"/>
          </p:nvPr>
        </p:nvSpPr>
        <p:spPr/>
        <p:txBody>
          <a:bodyPr/>
          <a:lstStyle/>
          <a:p>
            <a:pPr eaLnBrk="1" hangingPunct="1"/>
            <a:r>
              <a:rPr lang="en-US" altLang="en-US" dirty="0">
                <a:latin typeface="Arial (Body)"/>
              </a:rPr>
              <a:t>A policy that could be agreeable for governments of low- and middle-income countries is a system that monitors wages and working conditions and makes this information available to consumers.</a:t>
            </a:r>
          </a:p>
          <a:p>
            <a:pPr lvl="1" eaLnBrk="1" hangingPunct="1"/>
            <a:r>
              <a:rPr lang="en-US" altLang="en-US" dirty="0">
                <a:latin typeface="Arial (Body)"/>
              </a:rPr>
              <a:t>Products could be certified as made with acceptable wage rates and working conditions.</a:t>
            </a:r>
          </a:p>
          <a:p>
            <a:pPr lvl="1" eaLnBrk="1" hangingPunct="1"/>
            <a:r>
              <a:rPr lang="en-US" altLang="en-US" dirty="0">
                <a:latin typeface="Arial (Body)"/>
              </a:rPr>
              <a:t>But this policy would have a limited effect, since a large majority of workers in low- and middle-income countries do not work in the export sector.</a:t>
            </a:r>
          </a:p>
        </p:txBody>
      </p:sp>
    </p:spTree>
    <p:extLst>
      <p:ext uri="{BB962C8B-B14F-4D97-AF65-F5344CB8AC3E}">
        <p14:creationId xmlns:p14="http://schemas.microsoft.com/office/powerpoint/2010/main" val="1888699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and the Environment </a:t>
            </a:r>
            <a:r>
              <a:rPr lang="en-US" altLang="en-US" sz="2000" b="0" dirty="0">
                <a:cs typeface="Times New Roman" panose="02020603050405020304" pitchFamily="18" charset="0"/>
              </a:rPr>
              <a:t>(1 of 5) </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Compared to rich-country standards, environmental standards in low- and middle-income countries are lax.</a:t>
            </a:r>
          </a:p>
          <a:p>
            <a:pPr eaLnBrk="1" hangingPunct="1"/>
            <a:r>
              <a:rPr lang="en-US" altLang="en-US" dirty="0">
                <a:latin typeface="Arial (Body)"/>
              </a:rPr>
              <a:t>Some have opposed free trade for this reason.</a:t>
            </a:r>
          </a:p>
          <a:p>
            <a:pPr eaLnBrk="1" hangingPunct="1"/>
            <a:r>
              <a:rPr lang="en-US" altLang="en-US" dirty="0">
                <a:latin typeface="Arial (Body)"/>
              </a:rPr>
              <a:t>But we cannot conclude that trade hurts the environment, since consumption and production  in the absence of trade have degraded the environment.</a:t>
            </a:r>
          </a:p>
        </p:txBody>
      </p:sp>
    </p:spTree>
    <p:extLst>
      <p:ext uri="{BB962C8B-B14F-4D97-AF65-F5344CB8AC3E}">
        <p14:creationId xmlns:p14="http://schemas.microsoft.com/office/powerpoint/2010/main" val="4172162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and the Environment </a:t>
            </a:r>
            <a:r>
              <a:rPr lang="en-US" altLang="en-US" sz="2000" b="0" dirty="0">
                <a:cs typeface="Times New Roman" panose="02020603050405020304" pitchFamily="18" charset="0"/>
              </a:rPr>
              <a:t>(2 of 5) </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Some environmental activists want to include environmental standards in trade negotiations.</a:t>
            </a:r>
          </a:p>
          <a:p>
            <a:pPr lvl="1" eaLnBrk="1" hangingPunct="1"/>
            <a:r>
              <a:rPr lang="en-US" altLang="en-US" dirty="0">
                <a:latin typeface="Arial (Body)"/>
              </a:rPr>
              <a:t>However, environmental standards imposed by foreign countries are opposed by governments of low- and middle-income countries.</a:t>
            </a:r>
          </a:p>
          <a:p>
            <a:pPr lvl="1" eaLnBrk="1" hangingPunct="1"/>
            <a:r>
              <a:rPr lang="en-US" altLang="en-US" dirty="0">
                <a:latin typeface="Arial (Body)"/>
              </a:rPr>
              <a:t>International standards could be used as a protectionist policy or a basis for lawsuits when domestic producers did not meet them.</a:t>
            </a:r>
          </a:p>
          <a:p>
            <a:pPr lvl="1" eaLnBrk="1" hangingPunct="1"/>
            <a:r>
              <a:rPr lang="en-US" altLang="en-US" dirty="0">
                <a:latin typeface="Arial (Body)"/>
              </a:rPr>
              <a:t>Standards set by high-income countries would be expensive for low- and middle-income producers.</a:t>
            </a:r>
          </a:p>
        </p:txBody>
      </p:sp>
    </p:spTree>
    <p:extLst>
      <p:ext uri="{BB962C8B-B14F-4D97-AF65-F5344CB8AC3E}">
        <p14:creationId xmlns:p14="http://schemas.microsoft.com/office/powerpoint/2010/main" val="1770289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and the Environment </a:t>
            </a:r>
            <a:r>
              <a:rPr lang="en-US" altLang="en-US" sz="2000" b="0" dirty="0">
                <a:cs typeface="Times New Roman" panose="02020603050405020304" pitchFamily="18" charset="0"/>
              </a:rPr>
              <a:t>(3 of 5) </a:t>
            </a:r>
            <a:endParaRPr lang="en-US" dirty="0">
              <a:cs typeface="Times New Roman" panose="02020603050405020304" pitchFamily="18" charset="0"/>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As poor countries grow richer, possibly partly due to trade, they produce more and can consume more, leading to more environmental degradation.</a:t>
            </a:r>
          </a:p>
          <a:p>
            <a:pPr eaLnBrk="1" hangingPunct="1"/>
            <a:r>
              <a:rPr lang="en-US" altLang="en-US" dirty="0">
                <a:latin typeface="Arial (Body)"/>
              </a:rPr>
              <a:t>But as countries grow richer, they want to pay for more stringent environment protection.</a:t>
            </a:r>
          </a:p>
          <a:p>
            <a:pPr eaLnBrk="1" hangingPunct="1"/>
            <a:r>
              <a:rPr lang="en-US" altLang="en-US" dirty="0">
                <a:latin typeface="Arial (Body)"/>
              </a:rPr>
              <a:t>Both of these ideas are represented as an </a:t>
            </a:r>
            <a:r>
              <a:rPr lang="en-US" altLang="en-US" b="1" dirty="0">
                <a:latin typeface="Arial (Body)"/>
              </a:rPr>
              <a:t>environmental Kuznets curve</a:t>
            </a:r>
            <a:r>
              <a:rPr lang="en-US" altLang="en-US" dirty="0">
                <a:latin typeface="Arial (Body)"/>
              </a:rPr>
              <a:t>:</a:t>
            </a:r>
          </a:p>
          <a:p>
            <a:pPr lvl="1" eaLnBrk="1" hangingPunct="1"/>
            <a:r>
              <a:rPr lang="en-US" altLang="en-US" dirty="0">
                <a:latin typeface="Arial (Body)"/>
              </a:rPr>
              <a:t>an inverted “</a:t>
            </a:r>
            <a:r>
              <a:rPr lang="en-US" altLang="ja-JP" dirty="0">
                <a:latin typeface="Arial (Body)"/>
              </a:rPr>
              <a:t>U-shaped” relationship between environmental degradation and income per person</a:t>
            </a:r>
            <a:endParaRPr lang="en-US" altLang="en-US" dirty="0">
              <a:latin typeface="Arial (Body)"/>
            </a:endParaRPr>
          </a:p>
        </p:txBody>
      </p:sp>
    </p:spTree>
    <p:extLst>
      <p:ext uri="{BB962C8B-B14F-4D97-AF65-F5344CB8AC3E}">
        <p14:creationId xmlns:p14="http://schemas.microsoft.com/office/powerpoint/2010/main" val="3081652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Figure 12.3 The Environmental Kuznets Curve</a:t>
            </a:r>
            <a:endParaRPr lang="en-US" sz="3200" dirty="0">
              <a:cs typeface="Times New Roman" panose="02020603050405020304" pitchFamily="18" charset="0"/>
            </a:endParaRPr>
          </a:p>
        </p:txBody>
      </p:sp>
      <p:pic>
        <p:nvPicPr>
          <p:cNvPr id="8" name="Content Placeholder 7" descr="A graph depicts the Kuznets Curve.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24645" y="1565264"/>
            <a:ext cx="3694710" cy="2800104"/>
          </a:xfrm>
        </p:spPr>
      </p:pic>
      <p:sp>
        <p:nvSpPr>
          <p:cNvPr id="5" name="Content Placeholder 4"/>
          <p:cNvSpPr>
            <a:spLocks noGrp="1"/>
          </p:cNvSpPr>
          <p:nvPr>
            <p:ph sz="quarter" idx="14"/>
          </p:nvPr>
        </p:nvSpPr>
        <p:spPr>
          <a:xfrm>
            <a:off x="457200" y="4490821"/>
            <a:ext cx="8229600" cy="1811655"/>
          </a:xfrm>
        </p:spPr>
        <p:txBody>
          <a:bodyPr/>
          <a:lstStyle/>
          <a:p>
            <a:pPr marL="432" indent="0">
              <a:buNone/>
            </a:pPr>
            <a:r>
              <a:rPr lang="en-US" sz="1800" dirty="0">
                <a:latin typeface="Arial (Body)"/>
              </a:rPr>
              <a:t>Empirical evidence suggests that as economies grow, they initially do increasing environmental damage—but they become more environmentally friendly once they become sufficiently rich. China, where the environment is deteriorating as the economy expands, is in effect moving from A to B. Richer countries may be moving from C to D, using some of their growth to improve the environment.</a:t>
            </a:r>
          </a:p>
        </p:txBody>
      </p:sp>
    </p:spTree>
    <p:extLst>
      <p:ext uri="{BB962C8B-B14F-4D97-AF65-F5344CB8AC3E}">
        <p14:creationId xmlns:p14="http://schemas.microsoft.com/office/powerpoint/2010/main" val="2977817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and the Environment </a:t>
            </a:r>
            <a:r>
              <a:rPr lang="en-US" altLang="en-US" sz="2000" b="0" dirty="0">
                <a:cs typeface="Times New Roman" panose="02020603050405020304" pitchFamily="18" charset="0"/>
              </a:rPr>
              <a:t>(4 of 5) </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4116886"/>
          </a:xfrm>
        </p:spPr>
        <p:txBody>
          <a:bodyPr/>
          <a:lstStyle/>
          <a:p>
            <a:pPr eaLnBrk="1" hangingPunct="1"/>
            <a:r>
              <a:rPr lang="en-US" altLang="en-US" dirty="0">
                <a:latin typeface="Arial (Body)"/>
              </a:rPr>
              <a:t>Because rich countries usually have strict environmental regulations and poor countries do not, environmentally hazardous activities may be moved to poor countries.</a:t>
            </a:r>
          </a:p>
          <a:p>
            <a:pPr lvl="1" eaLnBrk="1" hangingPunct="1"/>
            <a:r>
              <a:rPr lang="en-US" altLang="en-US" dirty="0">
                <a:latin typeface="Arial (Body)"/>
              </a:rPr>
              <a:t>A </a:t>
            </a:r>
            <a:r>
              <a:rPr lang="en-US" altLang="en-US" b="1" dirty="0">
                <a:latin typeface="Arial (Body)"/>
              </a:rPr>
              <a:t>pollution haven</a:t>
            </a:r>
            <a:r>
              <a:rPr lang="en-US" altLang="en-US" dirty="0">
                <a:latin typeface="Arial (Body)"/>
              </a:rPr>
              <a:t> is a place where an economic activity that is subject to strict environmental controls in some countries is moved to (sold to) other countries with less strict regulation.</a:t>
            </a:r>
          </a:p>
          <a:p>
            <a:pPr lvl="1" eaLnBrk="1" hangingPunct="1"/>
            <a:r>
              <a:rPr lang="en-US" altLang="en-US" dirty="0">
                <a:latin typeface="Arial (Body)"/>
              </a:rPr>
              <a:t>Yet, there is evidence that pollution havens are insignificant relative to the pollution that occurs without international trade.</a:t>
            </a:r>
          </a:p>
        </p:txBody>
      </p:sp>
    </p:spTree>
    <p:extLst>
      <p:ext uri="{BB962C8B-B14F-4D97-AF65-F5344CB8AC3E}">
        <p14:creationId xmlns:p14="http://schemas.microsoft.com/office/powerpoint/2010/main" val="1240959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sz="3400" dirty="0">
                <a:cs typeface="Times New Roman" panose="02020603050405020304" pitchFamily="18" charset="0"/>
              </a:rPr>
              <a:t>Figure 12.4 </a:t>
            </a:r>
            <a:r>
              <a:rPr lang="fr-FR" altLang="en-US" sz="3400" dirty="0" err="1">
                <a:cs typeface="Times New Roman" panose="02020603050405020304" pitchFamily="18" charset="0"/>
              </a:rPr>
              <a:t>Carbon</a:t>
            </a:r>
            <a:r>
              <a:rPr lang="fr-FR" altLang="en-US" sz="3400" dirty="0">
                <a:cs typeface="Times New Roman" panose="02020603050405020304" pitchFamily="18" charset="0"/>
              </a:rPr>
              <a:t> </a:t>
            </a:r>
            <a:r>
              <a:rPr lang="fr-FR" altLang="en-US" sz="3400" dirty="0" err="1">
                <a:cs typeface="Times New Roman" panose="02020603050405020304" pitchFamily="18" charset="0"/>
              </a:rPr>
              <a:t>Dioxide</a:t>
            </a:r>
            <a:r>
              <a:rPr lang="fr-FR" altLang="en-US" sz="3400" dirty="0">
                <a:cs typeface="Times New Roman" panose="02020603050405020304" pitchFamily="18" charset="0"/>
              </a:rPr>
              <a:t> Emissions</a:t>
            </a:r>
            <a:endParaRPr lang="en-US" sz="3400" dirty="0">
              <a:cs typeface="Times New Roman" panose="02020603050405020304" pitchFamily="18" charset="0"/>
            </a:endParaRPr>
          </a:p>
        </p:txBody>
      </p:sp>
      <p:pic>
        <p:nvPicPr>
          <p:cNvPr id="6" name="Content Placeholder 5" descr="A triple line graph depicts emissions for 3 entit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08916" y="1561669"/>
            <a:ext cx="4726168" cy="3456227"/>
          </a:xfrm>
        </p:spPr>
      </p:pic>
      <p:sp>
        <p:nvSpPr>
          <p:cNvPr id="5" name="Content Placeholder 4"/>
          <p:cNvSpPr>
            <a:spLocks noGrp="1"/>
          </p:cNvSpPr>
          <p:nvPr>
            <p:ph sz="quarter" idx="14"/>
          </p:nvPr>
        </p:nvSpPr>
        <p:spPr>
          <a:xfrm>
            <a:off x="457200" y="5181598"/>
            <a:ext cx="8229600" cy="1091382"/>
          </a:xfrm>
        </p:spPr>
        <p:txBody>
          <a:bodyPr/>
          <a:lstStyle/>
          <a:p>
            <a:pPr marL="0" indent="0">
              <a:spcBef>
                <a:spcPts val="600"/>
              </a:spcBef>
              <a:buNone/>
            </a:pPr>
            <a:r>
              <a:rPr lang="en-US" sz="1800" dirty="0">
                <a:latin typeface="Arial (Body)"/>
              </a:rPr>
              <a:t>The rapid economic growth of China has turned it from a minor factor in climate change to the world’s largest emitter of carbon dioxide.</a:t>
            </a:r>
          </a:p>
          <a:p>
            <a:pPr marL="0" indent="0">
              <a:spcBef>
                <a:spcPts val="600"/>
              </a:spcBef>
              <a:buNone/>
            </a:pPr>
            <a:r>
              <a:rPr lang="en-US" sz="1800" b="1" dirty="0">
                <a:latin typeface="Arial (Body)"/>
              </a:rPr>
              <a:t>Source: </a:t>
            </a:r>
            <a:r>
              <a:rPr lang="en-US" sz="1800" dirty="0">
                <a:latin typeface="Arial (Body)"/>
              </a:rPr>
              <a:t>Global Carbon Project.</a:t>
            </a:r>
          </a:p>
        </p:txBody>
      </p:sp>
    </p:spTree>
    <p:extLst>
      <p:ext uri="{BB962C8B-B14F-4D97-AF65-F5344CB8AC3E}">
        <p14:creationId xmlns:p14="http://schemas.microsoft.com/office/powerpoint/2010/main" val="346500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Trade and the Environment </a:t>
            </a:r>
            <a:r>
              <a:rPr lang="en-US" altLang="en-US" sz="2000" b="0" dirty="0">
                <a:cs typeface="Times New Roman" panose="02020603050405020304" pitchFamily="18" charset="0"/>
              </a:rPr>
              <a:t>(5 of 5) </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4461015"/>
          </a:xfrm>
        </p:spPr>
        <p:txBody>
          <a:bodyPr/>
          <a:lstStyle/>
          <a:p>
            <a:pPr eaLnBrk="1" hangingPunct="1"/>
            <a:r>
              <a:rPr lang="en-US" altLang="en-US" dirty="0">
                <a:latin typeface="Arial (Body)"/>
              </a:rPr>
              <a:t>Pollution in some countries may cause a negative externality for other countries.</a:t>
            </a:r>
          </a:p>
          <a:p>
            <a:pPr lvl="1"/>
            <a:r>
              <a:rPr lang="en-US" altLang="en-US" dirty="0">
                <a:latin typeface="Arial (Body)"/>
              </a:rPr>
              <a:t>For example, production in China could cause air pollution in Korea (or on the West Coast of the United States).</a:t>
            </a:r>
          </a:p>
          <a:p>
            <a:pPr lvl="1" eaLnBrk="1" hangingPunct="1"/>
            <a:r>
              <a:rPr lang="en-US" altLang="en-US" dirty="0">
                <a:latin typeface="Arial (Body)"/>
              </a:rPr>
              <a:t>To the degree that pollution causes negative externalities for other countries, they should want to include it in international negotiations.</a:t>
            </a:r>
          </a:p>
          <a:p>
            <a:pPr lvl="1" eaLnBrk="1" hangingPunct="1"/>
            <a:r>
              <a:rPr lang="en-US" altLang="en-US" dirty="0">
                <a:latin typeface="Arial (Body)"/>
              </a:rPr>
              <a:t>Emissions of carbon dioxide is an example of pollution that causes a negative externality and that has been included in international negotiations.</a:t>
            </a:r>
          </a:p>
        </p:txBody>
      </p:sp>
    </p:spTree>
    <p:extLst>
      <p:ext uri="{BB962C8B-B14F-4D97-AF65-F5344CB8AC3E}">
        <p14:creationId xmlns:p14="http://schemas.microsoft.com/office/powerpoint/2010/main" val="3791136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 and Culture</a:t>
            </a:r>
            <a:endParaRPr lang="en-US" dirty="0"/>
          </a:p>
        </p:txBody>
      </p:sp>
      <p:sp>
        <p:nvSpPr>
          <p:cNvPr id="3" name="Content Placeholder 2"/>
          <p:cNvSpPr>
            <a:spLocks noGrp="1"/>
          </p:cNvSpPr>
          <p:nvPr>
            <p:ph sz="quarter" idx="13"/>
          </p:nvPr>
        </p:nvSpPr>
        <p:spPr>
          <a:xfrm>
            <a:off x="457200" y="1556327"/>
            <a:ext cx="8229600" cy="3241815"/>
          </a:xfrm>
        </p:spPr>
        <p:txBody>
          <a:bodyPr/>
          <a:lstStyle/>
          <a:p>
            <a:pPr eaLnBrk="1" hangingPunct="1"/>
            <a:r>
              <a:rPr lang="en-US" altLang="en-US" dirty="0">
                <a:latin typeface="Arial (Body)"/>
              </a:rPr>
              <a:t>Some activists believe that trade destroys culture in other countries.</a:t>
            </a:r>
          </a:p>
          <a:p>
            <a:pPr lvl="1" eaLnBrk="1" hangingPunct="1"/>
            <a:r>
              <a:rPr lang="en-US" altLang="en-US" dirty="0">
                <a:latin typeface="Arial (Body)"/>
              </a:rPr>
              <a:t>This belief neglects the principle that we should allow people to define their culture through the choices that </a:t>
            </a:r>
            <a:r>
              <a:rPr lang="en-US" altLang="en-US" b="1" dirty="0">
                <a:latin typeface="Arial (Body)"/>
              </a:rPr>
              <a:t>they</a:t>
            </a:r>
            <a:r>
              <a:rPr lang="en-US" altLang="en-US" dirty="0">
                <a:latin typeface="Arial (Body)"/>
              </a:rPr>
              <a:t> make, not through standards set by others.</a:t>
            </a:r>
          </a:p>
          <a:p>
            <a:pPr lvl="1" eaLnBrk="1" hangingPunct="1"/>
            <a:r>
              <a:rPr lang="en-US" altLang="en-US" dirty="0">
                <a:latin typeface="Arial (Body)"/>
              </a:rPr>
              <a:t>Also, any economic change, not just trade, leads to changes in everyday life.</a:t>
            </a:r>
          </a:p>
        </p:txBody>
      </p:sp>
    </p:spTree>
    <p:extLst>
      <p:ext uri="{BB962C8B-B14F-4D97-AF65-F5344CB8AC3E}">
        <p14:creationId xmlns:p14="http://schemas.microsoft.com/office/powerpoint/2010/main" val="1007079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(1 of 3)</a:t>
            </a:r>
            <a:endParaRPr lang="en-US" dirty="0">
              <a:cs typeface="Times New Roman" panose="02020603050405020304" pitchFamily="18" charset="0"/>
            </a:endParaRPr>
          </a:p>
        </p:txBody>
      </p:sp>
      <p:sp>
        <p:nvSpPr>
          <p:cNvPr id="5" name="Content Placeholder 4"/>
          <p:cNvSpPr>
            <a:spLocks noGrp="1"/>
          </p:cNvSpPr>
          <p:nvPr>
            <p:ph sz="quarter" idx="13"/>
          </p:nvPr>
        </p:nvSpPr>
        <p:spPr>
          <a:xfrm>
            <a:off x="457200" y="1552574"/>
            <a:ext cx="8232128" cy="1259452"/>
          </a:xfrm>
        </p:spPr>
        <p:txBody>
          <a:bodyPr/>
          <a:lstStyle/>
          <a:p>
            <a:pPr marL="432000" indent="-432000" eaLnBrk="1" hangingPunct="1">
              <a:buFont typeface="Times" pitchFamily="-1" charset="0"/>
              <a:buAutoNum type="arabicPeriod"/>
            </a:pPr>
            <a:r>
              <a:rPr lang="en-US" altLang="en-US" dirty="0">
                <a:latin typeface="Arial (Body)"/>
              </a:rPr>
              <a:t>One argument for an activist trade policy is that investment in high-technology industries produces externalities for the economy.</a:t>
            </a:r>
          </a:p>
        </p:txBody>
      </p:sp>
      <p:sp>
        <p:nvSpPr>
          <p:cNvPr id="9" name="Content Placeholder 8"/>
          <p:cNvSpPr>
            <a:spLocks noGrp="1"/>
          </p:cNvSpPr>
          <p:nvPr>
            <p:ph sz="quarter" idx="14"/>
          </p:nvPr>
        </p:nvSpPr>
        <p:spPr>
          <a:xfrm>
            <a:off x="457200" y="2872445"/>
            <a:ext cx="8229600" cy="785154"/>
          </a:xfrm>
        </p:spPr>
        <p:txBody>
          <a:bodyPr tIns="0" rIns="0" bIns="0"/>
          <a:lstStyle/>
          <a:p>
            <a:pPr lvl="1" indent="-284400"/>
            <a:r>
              <a:rPr lang="en-US" altLang="en-US" dirty="0">
                <a:latin typeface="Arial (Body)"/>
              </a:rPr>
              <a:t>But it is hard to identify which activities produce externalities and if so, to what degree they do.</a:t>
            </a:r>
          </a:p>
        </p:txBody>
      </p:sp>
      <p:sp>
        <p:nvSpPr>
          <p:cNvPr id="7" name="Content Placeholder 6"/>
          <p:cNvSpPr>
            <a:spLocks noGrp="1"/>
          </p:cNvSpPr>
          <p:nvPr>
            <p:ph sz="quarter" idx="15"/>
          </p:nvPr>
        </p:nvSpPr>
        <p:spPr>
          <a:xfrm>
            <a:off x="457200" y="3727852"/>
            <a:ext cx="8232128" cy="1178446"/>
          </a:xfrm>
        </p:spPr>
        <p:txBody>
          <a:bodyPr tIns="0" rIns="0" bIns="0"/>
          <a:lstStyle/>
          <a:p>
            <a:pPr marL="432000" indent="-432000">
              <a:buFont typeface="+mj-lt"/>
              <a:buAutoNum type="arabicPeriod" startAt="2"/>
            </a:pPr>
            <a:r>
              <a:rPr lang="en-US" altLang="en-US" dirty="0">
                <a:latin typeface="Arial (Body)"/>
              </a:rPr>
              <a:t>A second argument for an activist trade policy is that governments can give domestic firms a strategic advantage in industries with excess profits.</a:t>
            </a:r>
          </a:p>
        </p:txBody>
      </p:sp>
      <p:sp>
        <p:nvSpPr>
          <p:cNvPr id="8" name="Content Placeholder 7"/>
          <p:cNvSpPr>
            <a:spLocks noGrp="1"/>
          </p:cNvSpPr>
          <p:nvPr>
            <p:ph sz="quarter" idx="16"/>
          </p:nvPr>
        </p:nvSpPr>
        <p:spPr>
          <a:xfrm>
            <a:off x="457200" y="5025078"/>
            <a:ext cx="8232128" cy="1159412"/>
          </a:xfrm>
        </p:spPr>
        <p:txBody>
          <a:bodyPr tIns="0" rIns="0" bIns="0"/>
          <a:lstStyle/>
          <a:p>
            <a:pPr lvl="1" indent="-284400"/>
            <a:r>
              <a:rPr lang="en-US" altLang="en-US" dirty="0">
                <a:latin typeface="Arial (Body)"/>
              </a:rPr>
              <a:t>But it is unclear if such a policy would succeed at giving a firm a strategic advantage or if it would be worthwhile.</a:t>
            </a:r>
          </a:p>
        </p:txBody>
      </p:sp>
    </p:spTree>
    <p:extLst>
      <p:ext uri="{BB962C8B-B14F-4D97-AF65-F5344CB8AC3E}">
        <p14:creationId xmlns:p14="http://schemas.microsoft.com/office/powerpoint/2010/main" val="1870754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(2 of 3)</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1619492"/>
          </a:xfrm>
        </p:spPr>
        <p:txBody>
          <a:bodyPr/>
          <a:lstStyle/>
          <a:p>
            <a:pPr marL="432000" indent="-432000" eaLnBrk="1" hangingPunct="1">
              <a:buFont typeface="Times" pitchFamily="-1" charset="0"/>
              <a:buAutoNum type="arabicPeriod" startAt="3"/>
            </a:pPr>
            <a:r>
              <a:rPr lang="en-US" altLang="en-US" dirty="0">
                <a:latin typeface="Arial (Body)"/>
              </a:rPr>
              <a:t>Some have opposed free trade because of the fact that workers in low- and middle-income countries earn lower wages and have worse working conditions than workers in high-income countries.</a:t>
            </a:r>
          </a:p>
        </p:txBody>
      </p:sp>
      <p:sp>
        <p:nvSpPr>
          <p:cNvPr id="6" name="Content Placeholder 5"/>
          <p:cNvSpPr>
            <a:spLocks noGrp="1"/>
          </p:cNvSpPr>
          <p:nvPr>
            <p:ph sz="quarter" idx="14"/>
          </p:nvPr>
        </p:nvSpPr>
        <p:spPr>
          <a:xfrm>
            <a:off x="457200" y="3264886"/>
            <a:ext cx="8229600" cy="1661073"/>
          </a:xfrm>
        </p:spPr>
        <p:txBody>
          <a:bodyPr/>
          <a:lstStyle/>
          <a:p>
            <a:pPr lvl="1"/>
            <a:r>
              <a:rPr lang="en-US" dirty="0"/>
              <a:t>But workers in low- and middle-income countries are predicted to have lower wages due to lower productivity, yet still have higher wages compared to their situation without trade.</a:t>
            </a:r>
          </a:p>
        </p:txBody>
      </p:sp>
    </p:spTree>
    <p:extLst>
      <p:ext uri="{BB962C8B-B14F-4D97-AF65-F5344CB8AC3E}">
        <p14:creationId xmlns:p14="http://schemas.microsoft.com/office/powerpoint/2010/main" val="1282992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Summary </a:t>
            </a:r>
            <a:r>
              <a:rPr lang="en-US" altLang="en-US" sz="2000" b="0" dirty="0">
                <a:cs typeface="Times New Roman" panose="02020603050405020304" pitchFamily="18" charset="0"/>
              </a:rPr>
              <a:t>(3 of 3)</a:t>
            </a:r>
            <a:endParaRPr lang="en-US" dirty="0">
              <a:cs typeface="Times New Roman" panose="02020603050405020304" pitchFamily="18" charset="0"/>
            </a:endParaRPr>
          </a:p>
        </p:txBody>
      </p:sp>
      <p:sp>
        <p:nvSpPr>
          <p:cNvPr id="3" name="Content Placeholder 2"/>
          <p:cNvSpPr>
            <a:spLocks noGrp="1"/>
          </p:cNvSpPr>
          <p:nvPr>
            <p:ph sz="quarter" idx="13"/>
          </p:nvPr>
        </p:nvSpPr>
        <p:spPr>
          <a:xfrm>
            <a:off x="457200" y="1556327"/>
            <a:ext cx="8229600" cy="2278254"/>
          </a:xfrm>
        </p:spPr>
        <p:txBody>
          <a:bodyPr/>
          <a:lstStyle/>
          <a:p>
            <a:pPr marL="432000" indent="-432000">
              <a:buFont typeface="+mj-lt"/>
              <a:buAutoNum type="arabicPeriod" startAt="4"/>
            </a:pPr>
            <a:r>
              <a:rPr lang="en-US" altLang="en-US" dirty="0">
                <a:latin typeface="Arial (Body)"/>
              </a:rPr>
              <a:t>Some have proposed that trade negotiations should involve labor, environmental, or “</a:t>
            </a:r>
            <a:r>
              <a:rPr lang="en-US" altLang="ja-JP" dirty="0">
                <a:latin typeface="Arial (Body)"/>
              </a:rPr>
              <a:t>cultural” standards, but these standards are generally opposed by governments of low- and middle-income countries.</a:t>
            </a:r>
            <a:endParaRPr lang="en-US" altLang="en-US" dirty="0">
              <a:latin typeface="Arial (Body)"/>
            </a:endParaRPr>
          </a:p>
        </p:txBody>
      </p:sp>
    </p:spTree>
    <p:extLst>
      <p:ext uri="{BB962C8B-B14F-4D97-AF65-F5344CB8AC3E}">
        <p14:creationId xmlns:p14="http://schemas.microsoft.com/office/powerpoint/2010/main" val="2326096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147674</TotalTime>
  <Words>3079</Words>
  <Application>Microsoft Office PowerPoint</Application>
  <PresentationFormat>On-screen Show (4:3)</PresentationFormat>
  <Paragraphs>194</Paragraphs>
  <Slides>41</Slides>
  <Notes>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51" baseType="lpstr">
      <vt:lpstr>Arial</vt:lpstr>
      <vt:lpstr>Times</vt:lpstr>
      <vt:lpstr>Arial (Body)</vt:lpstr>
      <vt:lpstr>Calibri</vt:lpstr>
      <vt:lpstr>Noto Sans Symbols</vt:lpstr>
      <vt:lpstr>Verdana</vt:lpstr>
      <vt:lpstr>Times New Roman</vt:lpstr>
      <vt:lpstr>USHE</vt:lpstr>
      <vt:lpstr>USHE_slide options</vt:lpstr>
      <vt:lpstr>Equation</vt:lpstr>
      <vt:lpstr>International Economics: Theory and Policy</vt:lpstr>
      <vt:lpstr>Learning Objectives (1 of 2)</vt:lpstr>
      <vt:lpstr>Learning Objectives (2 of 2)</vt:lpstr>
      <vt:lpstr>Preview</vt:lpstr>
      <vt:lpstr>Arguments for an Activist Trade Policy</vt:lpstr>
      <vt:lpstr>Technology and Externalities (1 of 6)</vt:lpstr>
      <vt:lpstr>Technology and Externalities (2 of 6)</vt:lpstr>
      <vt:lpstr>Technology and Externalities (3 of 6)</vt:lpstr>
      <vt:lpstr>Technology and Externalities (4 of 6)</vt:lpstr>
      <vt:lpstr>Technology and Externalities (5 of 6)</vt:lpstr>
      <vt:lpstr>Technology and Externalities (6 of 6)</vt:lpstr>
      <vt:lpstr>Figure 12.1 U.S. Trade Balance in R&amp;D-Intensive Goods</vt:lpstr>
      <vt:lpstr>Figure 12.2 U.S. Manufacturing Employment</vt:lpstr>
      <vt:lpstr>Imperfect Competition and Strategic Trade Policy (1 of 7)</vt:lpstr>
      <vt:lpstr>Imperfect Competition and Strategic Trade Policy (2 of 7)</vt:lpstr>
      <vt:lpstr>Table 12.1 Two-Firm Competition</vt:lpstr>
      <vt:lpstr>Imperfect Competition and Strategic Trade Policy (3 of 7)</vt:lpstr>
      <vt:lpstr>Table 12.2 Effects of a Subsidy to Airbus</vt:lpstr>
      <vt:lpstr>Imperfect Competition and Strategic Trade Policy (4 of 7)</vt:lpstr>
      <vt:lpstr>Imperfect Competition and Strategic Trade Policy (5 of 7)</vt:lpstr>
      <vt:lpstr>Imperfect Competition and Strategic Trade Policy (6 of 7)</vt:lpstr>
      <vt:lpstr>Imperfect Competition and Strategic Trade Policy (7 of 7)</vt:lpstr>
      <vt:lpstr>Trade and Low-Wage Labor (1 of 6)</vt:lpstr>
      <vt:lpstr>Trade and Low-Wage Labor (2 of 6)</vt:lpstr>
      <vt:lpstr>Trade and Low-Wage Labor (3 of 6)</vt:lpstr>
      <vt:lpstr>Trade and Low-Wage Labor (4 of 6)</vt:lpstr>
      <vt:lpstr>Table 12.3 Real Wages</vt:lpstr>
      <vt:lpstr>Trade and Low-Wage Labor (5 of 6)</vt:lpstr>
      <vt:lpstr>Trade and Low-Wage Labor (6 of 6)</vt:lpstr>
      <vt:lpstr>Trade and the Environment (1 of 5) </vt:lpstr>
      <vt:lpstr>Trade and the Environment (2 of 5) </vt:lpstr>
      <vt:lpstr>Trade and the Environment (3 of 5) </vt:lpstr>
      <vt:lpstr>Figure 12.3 The Environmental Kuznets Curve</vt:lpstr>
      <vt:lpstr>Trade and the Environment (4 of 5) </vt:lpstr>
      <vt:lpstr>Figure 12.4 Carbon Dioxide Emissions</vt:lpstr>
      <vt:lpstr>Trade and the Environment (5 of 5) </vt:lpstr>
      <vt:lpstr>Trade and Culture</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12, Controversies in Trade Policy</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admin</cp:lastModifiedBy>
  <cp:revision>944</cp:revision>
  <dcterms:modified xsi:type="dcterms:W3CDTF">2021-11-02T05:35:05Z</dcterms:modified>
</cp:coreProperties>
</file>