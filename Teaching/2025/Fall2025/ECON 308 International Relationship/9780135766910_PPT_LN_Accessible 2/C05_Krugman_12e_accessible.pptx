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81"/>
  </p:notesMasterIdLst>
  <p:handoutMasterIdLst>
    <p:handoutMasterId r:id="rId82"/>
  </p:handoutMasterIdLst>
  <p:sldIdLst>
    <p:sldId id="330" r:id="rId3"/>
    <p:sldId id="331" r:id="rId4"/>
    <p:sldId id="334" r:id="rId5"/>
    <p:sldId id="333" r:id="rId6"/>
    <p:sldId id="332" r:id="rId7"/>
    <p:sldId id="336" r:id="rId8"/>
    <p:sldId id="337" r:id="rId9"/>
    <p:sldId id="338" r:id="rId10"/>
    <p:sldId id="339" r:id="rId11"/>
    <p:sldId id="522" r:id="rId12"/>
    <p:sldId id="523" r:id="rId13"/>
    <p:sldId id="524" r:id="rId14"/>
    <p:sldId id="521" r:id="rId15"/>
    <p:sldId id="525" r:id="rId16"/>
    <p:sldId id="526" r:id="rId17"/>
    <p:sldId id="527" r:id="rId18"/>
    <p:sldId id="528" r:id="rId19"/>
    <p:sldId id="529" r:id="rId20"/>
    <p:sldId id="530" r:id="rId21"/>
    <p:sldId id="531" r:id="rId22"/>
    <p:sldId id="532" r:id="rId23"/>
    <p:sldId id="533" r:id="rId24"/>
    <p:sldId id="534" r:id="rId25"/>
    <p:sldId id="535" r:id="rId26"/>
    <p:sldId id="536" r:id="rId27"/>
    <p:sldId id="537" r:id="rId28"/>
    <p:sldId id="538" r:id="rId29"/>
    <p:sldId id="539" r:id="rId30"/>
    <p:sldId id="540" r:id="rId31"/>
    <p:sldId id="541" r:id="rId32"/>
    <p:sldId id="542" r:id="rId33"/>
    <p:sldId id="543" r:id="rId34"/>
    <p:sldId id="544" r:id="rId35"/>
    <p:sldId id="545" r:id="rId36"/>
    <p:sldId id="546" r:id="rId37"/>
    <p:sldId id="547" r:id="rId38"/>
    <p:sldId id="548" r:id="rId39"/>
    <p:sldId id="549" r:id="rId40"/>
    <p:sldId id="550" r:id="rId41"/>
    <p:sldId id="552" r:id="rId42"/>
    <p:sldId id="551" r:id="rId43"/>
    <p:sldId id="553" r:id="rId44"/>
    <p:sldId id="554" r:id="rId45"/>
    <p:sldId id="555" r:id="rId46"/>
    <p:sldId id="556" r:id="rId47"/>
    <p:sldId id="557" r:id="rId48"/>
    <p:sldId id="558" r:id="rId49"/>
    <p:sldId id="559" r:id="rId50"/>
    <p:sldId id="560" r:id="rId51"/>
    <p:sldId id="561" r:id="rId52"/>
    <p:sldId id="562" r:id="rId53"/>
    <p:sldId id="563" r:id="rId54"/>
    <p:sldId id="564" r:id="rId55"/>
    <p:sldId id="565" r:id="rId56"/>
    <p:sldId id="566" r:id="rId57"/>
    <p:sldId id="567" r:id="rId58"/>
    <p:sldId id="568" r:id="rId59"/>
    <p:sldId id="569" r:id="rId60"/>
    <p:sldId id="570" r:id="rId61"/>
    <p:sldId id="571" r:id="rId62"/>
    <p:sldId id="572" r:id="rId63"/>
    <p:sldId id="573" r:id="rId64"/>
    <p:sldId id="574" r:id="rId65"/>
    <p:sldId id="575" r:id="rId66"/>
    <p:sldId id="576" r:id="rId67"/>
    <p:sldId id="577" r:id="rId68"/>
    <p:sldId id="578" r:id="rId69"/>
    <p:sldId id="579" r:id="rId70"/>
    <p:sldId id="580" r:id="rId71"/>
    <p:sldId id="581" r:id="rId72"/>
    <p:sldId id="582" r:id="rId73"/>
    <p:sldId id="583" r:id="rId74"/>
    <p:sldId id="585" r:id="rId75"/>
    <p:sldId id="584" r:id="rId76"/>
    <p:sldId id="586" r:id="rId77"/>
    <p:sldId id="587" r:id="rId78"/>
    <p:sldId id="588" r:id="rId79"/>
    <p:sldId id="589" r:id="rId80"/>
  </p:sldIdLst>
  <p:sldSz cx="9144000" cy="6858000" type="screen4x3"/>
  <p:notesSz cx="6858000" cy="9144000"/>
  <p:embeddedFontLst>
    <p:embeddedFont>
      <p:font typeface="Times" panose="02020603050405020304" pitchFamily="18" charset="0"/>
      <p:regular r:id="rId83"/>
      <p:bold r:id="rId84"/>
      <p:italic r:id="rId85"/>
      <p:boldItalic r:id="rId86"/>
    </p:embeddedFont>
    <p:embeddedFont>
      <p:font typeface="Noto Sans Symbols" panose="020B0604020202020204" charset="0"/>
      <p:regular r:id="rId87"/>
      <p:bold r:id="rId88"/>
      <p:italic r:id="rId89"/>
      <p:boldItalic r:id="rId90"/>
    </p:embeddedFont>
    <p:embeddedFont>
      <p:font typeface="Verdana" panose="020B0604030504040204" pitchFamily="34" charset="0"/>
      <p:regular r:id="rId91"/>
      <p:bold r:id="rId92"/>
      <p:italic r:id="rId93"/>
      <p:boldItalic r:id="rId94"/>
    </p:embeddedFont>
    <p:embeddedFont>
      <p:font typeface="MS PGothic" panose="020B0600070205080204" pitchFamily="34" charset="-128"/>
      <p:regular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3"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8"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9854" autoAdjust="0"/>
  </p:normalViewPr>
  <p:slideViewPr>
    <p:cSldViewPr snapToGrid="0" snapToObjects="1">
      <p:cViewPr varScale="1">
        <p:scale>
          <a:sx n="81" d="100"/>
          <a:sy n="81" d="100"/>
        </p:scale>
        <p:origin x="1626" y="90"/>
      </p:cViewPr>
      <p:guideLst>
        <p:guide orient="horz" pos="3997"/>
        <p:guide pos="363"/>
        <p:guide orient="horz" pos="4178"/>
        <p:guide orient="horz" pos="119"/>
        <p:guide orient="horz" pos="709"/>
        <p:guide orient="horz" pos="1071"/>
        <p:guide pos="635"/>
      </p:guideLst>
    </p:cSldViewPr>
  </p:slideViewPr>
  <p:outlineViewPr>
    <p:cViewPr>
      <p:scale>
        <a:sx n="33" d="100"/>
        <a:sy n="33" d="100"/>
      </p:scale>
      <p:origin x="0" y="-11220"/>
    </p:cViewPr>
  </p:outlineViewPr>
  <p:notesTextViewPr>
    <p:cViewPr>
      <p:scale>
        <a:sx n="100" d="100"/>
        <a:sy n="100" d="100"/>
      </p:scale>
      <p:origin x="0" y="0"/>
    </p:cViewPr>
  </p:notesTextViewPr>
  <p:sorterViewPr>
    <p:cViewPr>
      <p:scale>
        <a:sx n="100" d="100"/>
        <a:sy n="100" d="100"/>
      </p:scale>
      <p:origin x="0" y="-2478"/>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font" Target="fonts/font2.fntdata"/><Relationship Id="rId89" Type="http://schemas.openxmlformats.org/officeDocument/2006/relationships/font" Target="fonts/font7.fntdata"/><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font" Target="fonts/font5.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handoutMaster" Target="handoutMasters/handoutMaster1.xml"/><Relationship Id="rId90" Type="http://schemas.openxmlformats.org/officeDocument/2006/relationships/font" Target="fonts/font8.fntdata"/><Relationship Id="rId95" Type="http://schemas.openxmlformats.org/officeDocument/2006/relationships/font" Target="fonts/font1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font" Target="fonts/font3.fntdata"/><Relationship Id="rId93" Type="http://schemas.openxmlformats.org/officeDocument/2006/relationships/font" Target="fonts/font11.fntdata"/><Relationship Id="rId98"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emf"/><Relationship Id="rId1" Type="http://schemas.openxmlformats.org/officeDocument/2006/relationships/image" Target="../media/image3.e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Two lines fall from the y-axis to the x-axis. The first line falls from y = 2,000 to x = 1,000, which is point 2 on the x-axis. For the first line, labor constraint slope = negative 2. The second line falls from point 1, where y = 1,000, to x = 1,500. For the second line, capital constraint slope = negative two-thirds. The two lines intersect at point 3, (750, 500). The production possibility frontier slope = the opportunity cost of cloth in terms of food. The second line is highlighted to the left of point 3, when it is below the first line; the first line is highlighted to the right of point 3, when it is below the second line.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546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97418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2163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 P curve falls with increasing steepness, through point Q, which is slightly closer to the x-axis than the y-axis. A line tangent to the curve at Q is an isovalue line, with slope = negative P sub C over P sub F. There are 2 more, parallel isovalue lines below the one that passes through Q, and another parallel isovalue line above it.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8003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3020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start fraction a sub start expression L C end expression over a sub start expression K C end expression end fraction is greater than start fraction a sub start expression L F end expression over a sub start expression K F end expression end fraction or start fraction L sub C over K sub C end fraction is greater than start fraction L sub F over K sub F end fraction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7613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15827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1539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9255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75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the left of the y-axis, the x-axis shows relative price of cloth, P sub C over P sub F, which increases leftward. To the right of the y-axis, the x-axis shows labor-capital ratio, L over K, which increases rightward. The curve S S falls with decreasing steepness, to the left of the y-axis. Two curves, F F and C C, fall with decreasing steepness on the right side of the y-axis; curve F F is to the left of curve C C. All 3 curves pass through points at y = w over r, super 1, and a higher point at y = w over r, super 2; the x-axis points for each curve when y = w over r, super 2, are to the left of the x-axis points where y = w over r, super 1.</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65505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0142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20218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1524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T T super 1 falls with increasing steepness through point 1, at x = Q sub C super 1, y = Q sub F super 1. The slope at point 1 = negative P sub C over P sub F. The plot for T T super 2 begins higher on the y=axis than T T super 1, and falls with a more gradual decrease in steepness, to the right of T T super 1, through point 2. At point 2, x – Q sub C super 2, and y = Q sub F super 2. The slope at point 2 = negative P sub C over P sub F.</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6329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9892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8408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0059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 D curve falls with decreasing steepness from left to right. An R S curve rises with increasing steepness, and intersects the R D curve at point 1, where y = P sub C over P sub F, super 1. The plot for R S asterisk rises with parallel, increasing steepness above R S, and intersects R D at point 3, where y = P sub C over P sub F, super 3. Point 2 is plotted in the R D curve midway between points 3 and 1; at point 2, y = P sub C over P sub F, super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9294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2544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61234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9106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92010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0935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4349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3543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5987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52537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21678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7799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6928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23811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65956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ay, for the effects of trade, has two curves that fall with decreasing steepness. Curve L L falls through 2 points; w sub s over w sub u increases from the lower point to the higher point; and S sub L over U sub L increases from right to left between the points. Curve H H, to the right of L L, falls through 2 points; w sub s over w sub u increases from the lower point to the higher point; and S sub H over U sub H increases from right to left between the points. Graph b, for the effects of skill-biased technological change, has 4 plots, as it shifts the curves for L L and H H to the right. For the curve L L, w sub s over w sub u increases from the lower point, on the left curve, to the higher point, on the right curve; S sub L over U sub L increases from left to right between the points. For curve H H, w sub s over w sub u increases from the lower point, on the left curve, to the higher point, on the right curve; S sub H over U sub H increases from left to right between the points.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5158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least skill-intensive rises generally from (1965, 0.145) to (2005, 0.25). The plot for second least skill-intensive rises generally from (1965, 0.235) to (2005, 0.32). The plot for second most skill-intensive rises generally from (1965, 0.325) to (2005, 0.420). The plot for most skill-intensive rises generally from (1965, 0.58) to (2005, 0.86).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32593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58254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598521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world average generally falls from 68% in 1975, to 61% in 1995, to 60% in 2012. The plot for the U S generally falls from 63% in 1975 through 62% in 1995, to 57% in 2012. All values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699691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499525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322521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0029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81476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3821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615275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406352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88431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96048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083157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049385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761533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graph plots the share of the U S imports by sector versus six countries, three developing and three developed. Four skill sectors for each country are represented, least skill intensive, second least skill intensive, second most skill intensive, and the most skill intensive. The following list provides share of U S imports, by sector, for each country. Developing countries are as follows. Bangladesh, least, 0.975. Second least, 0.050, second most, 0.001, and most, 0.002. Cambodia, least, 0.99, second least, 0.02, second most, 0.01, most, zero. Haiti, least, 0.98, second least, 0.004, second most, 0.005, most, 0.004. Developed countries are as follows. France, least, 0.060, second least, 0.10, second most, 0.12, most, 0.78. Germany, least, 0.24, second least, 0.12, second most, 0.121, most, 0.48. United Kingdom, least, 0.1, second least, 0.08, second most, 0.18, most, 0.64.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477595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48773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 graph plots the share of U S imports by sector versus the years 19 83 to 20 12 for the skill sectors. The following list provides share of U S imports for each sector, by year range. Least skill intensive, 19 83 to 87, 5.8. 19 88 to 92, 4.5. 19 93 to 97, 3.8. 19 98 to 2002, 2.5. 2003 to 2007, 2. 2008 to 20 12, 2. Second least skill intensive. 19 83 to 87, 1.7. 19 88 to 92, 2.1. 19 93 to 97, 2. 19 98 to 2002, 2. 2003 to 2007, 2. 2008 to 20 12, 2. Second most skill intensive. 19 83 to 87, 1.6. 19 88 to 92, 2.4. 19 93 to 97, 3.2. 19 98 to 2002, 3.6. 2003 to 2007, 3. 2008 to 20 12, 2.3. Most skill intensive. 19 83 to 87, 1.8. 19 88 to 92, 1.2. 19 93 to 97, 1.9. 19 98 to 2002, 2.3. 2003 to 2007, 3.3. 2008 to 20 12, 4. All values are estimated.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669727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18342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214328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730245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94429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2 falls to the right with decreasing steepness through point 1, which intersects an isocost line. 2 additional, parallel isocost lines are to the right of the intersecting line, and 2 to the left.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217889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versus units of labor used to produce one calorie of food, ay sub L F. Curve 2 falls with decreasing steepness through point 2, then point 1. At point 2, slop = negative w over r, whole super 2. At point 1, slope = negative w over r, whole super 1. The slope is steeper at point 2.</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380095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F F falls with decreasing steepness, above and to the left of curve C C, which also falls with decreasing steepness. A line with slope negative w over r, intersects roughly the midpoint on each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33985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F F falls with decreasing steepness, above and to the left of curve C C super 2, which falls with decreasing steepness. Shifted up and to the left of curve C C super 2, curve C C super 1 falls with parallel slope. A line with slope negative w over r, super 2, intersects roughly the midpoint on curve C C super 2. A second line, with a lesser slope of negative w over r, super 1, intersects curves F F and C C super 1 at roughly the midpoint of each curve.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57513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78</a:t>
            </a:fld>
            <a:endParaRPr lang="en-US" dirty="0"/>
          </a:p>
        </p:txBody>
      </p:sp>
    </p:spTree>
    <p:extLst>
      <p:ext uri="{BB962C8B-B14F-4D97-AF65-F5344CB8AC3E}">
        <p14:creationId xmlns:p14="http://schemas.microsoft.com/office/powerpoint/2010/main" val="2657566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19413"/>
            <a:ext cx="8229600" cy="88207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4156075"/>
            <a:ext cx="8229600" cy="1039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5549900"/>
            <a:ext cx="8229600"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595313" y="6483350"/>
            <a:ext cx="8091487" cy="63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e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8.emf"/><Relationship Id="rId5" Type="http://schemas.openxmlformats.org/officeDocument/2006/relationships/oleObject" Target="../embeddings/oleObject6.bin"/><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0.emf"/><Relationship Id="rId5" Type="http://schemas.openxmlformats.org/officeDocument/2006/relationships/oleObject" Target="../embeddings/oleObject8.bin"/><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2.emf"/><Relationship Id="rId5" Type="http://schemas.openxmlformats.org/officeDocument/2006/relationships/oleObject" Target="../embeddings/oleObject10.bin"/><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5.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4.xml"/><Relationship Id="rId7" Type="http://schemas.openxmlformats.org/officeDocument/2006/relationships/image" Target="../media/image17.emf"/><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image" Target="../media/image16.emf"/><Relationship Id="rId4" Type="http://schemas.openxmlformats.org/officeDocument/2006/relationships/oleObject" Target="../embeddings/oleObject12.bin"/><Relationship Id="rId9"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vmlDrawing" Target="../drawings/vmlDrawing7.vml"/><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22.emf"/><Relationship Id="rId4" Type="http://schemas.openxmlformats.org/officeDocument/2006/relationships/oleObject" Target="../embeddings/oleObject16.bin"/></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5.wmf"/><Relationship Id="rId2" Type="http://schemas.openxmlformats.org/officeDocument/2006/relationships/slideLayout" Target="../slideLayouts/slideLayout5.xml"/><Relationship Id="rId1" Type="http://schemas.openxmlformats.org/officeDocument/2006/relationships/vmlDrawing" Target="../drawings/vmlDrawing9.vml"/><Relationship Id="rId6" Type="http://schemas.openxmlformats.org/officeDocument/2006/relationships/oleObject" Target="../embeddings/oleObject18.bin"/><Relationship Id="rId5" Type="http://schemas.openxmlformats.org/officeDocument/2006/relationships/image" Target="../media/image24.wmf"/><Relationship Id="rId4" Type="http://schemas.openxmlformats.org/officeDocument/2006/relationships/oleObject" Target="../embeddings/oleObject17.bin"/></Relationships>
</file>

<file path=ppt/slides/_rels/slide2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13.xml"/><Relationship Id="rId7" Type="http://schemas.openxmlformats.org/officeDocument/2006/relationships/image" Target="../media/image29.emf"/><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28.wmf"/><Relationship Id="rId4" Type="http://schemas.openxmlformats.org/officeDocument/2006/relationships/oleObject" Target="../embeddings/oleObject19.bin"/><Relationship Id="rId9" Type="http://schemas.openxmlformats.org/officeDocument/2006/relationships/image" Target="../media/image30.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vmlDrawing" Target="../drawings/vmlDrawing11.vml"/><Relationship Id="rId5" Type="http://schemas.openxmlformats.org/officeDocument/2006/relationships/image" Target="../media/image31.wmf"/><Relationship Id="rId4"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33.emf"/><Relationship Id="rId4" Type="http://schemas.openxmlformats.org/officeDocument/2006/relationships/oleObject" Target="../embeddings/oleObject23.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vmlDrawing" Target="../drawings/vmlDrawing13.vml"/><Relationship Id="rId6" Type="http://schemas.openxmlformats.org/officeDocument/2006/relationships/image" Target="../media/image40.wmf"/><Relationship Id="rId5" Type="http://schemas.openxmlformats.org/officeDocument/2006/relationships/oleObject" Target="../embeddings/oleObject24.bin"/><Relationship Id="rId4" Type="http://schemas.openxmlformats.org/officeDocument/2006/relationships/image" Target="../media/image41.jpg"/></Relationships>
</file>

<file path=ppt/slides/_rels/slide7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notesSlide" Target="../notesSlides/notesSlide62.xml"/><Relationship Id="rId7" Type="http://schemas.openxmlformats.org/officeDocument/2006/relationships/oleObject" Target="../embeddings/oleObject26.bin"/><Relationship Id="rId2" Type="http://schemas.openxmlformats.org/officeDocument/2006/relationships/slideLayout" Target="../slideLayouts/slideLayout5.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25.bin"/><Relationship Id="rId4" Type="http://schemas.openxmlformats.org/officeDocument/2006/relationships/image" Target="../media/image46.jpg"/></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5</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89"/>
            <a:ext cx="3657600" cy="1786139"/>
          </a:xfrm>
        </p:spPr>
        <p:txBody>
          <a:bodyPr/>
          <a:lstStyle/>
          <a:p>
            <a:pPr algn="ctr"/>
            <a:r>
              <a:rPr lang="en-US" altLang="en-US" dirty="0">
                <a:ea typeface="ヒラギノ角ゴ Pro W3" pitchFamily="-84" charset="-128"/>
              </a:rPr>
              <a:t>Resources and Trade: The Heckscher-Ohlin Model</a:t>
            </a:r>
            <a:endParaRPr lang="en-US" dirty="0">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cs typeface="Verdana" panose="020B0604030504040204" pitchFamily="34" charset="0"/>
              </a:rPr>
              <a:t>Copyright © </a:t>
            </a:r>
            <a:r>
              <a:rPr lang="en-US" dirty="0"/>
              <a:t>2022, 2018, 2015 </a:t>
            </a:r>
            <a:r>
              <a:rPr lang="en-US" altLang="en-US" sz="1200" b="0" dirty="0">
                <a:latin typeface="Verdana"/>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Learning Objectives</a:t>
            </a:r>
            <a:endParaRPr lang="en-US" dirty="0"/>
          </a:p>
        </p:txBody>
      </p:sp>
      <p:sp>
        <p:nvSpPr>
          <p:cNvPr id="4" name="Content Placeholder 3"/>
          <p:cNvSpPr>
            <a:spLocks noGrp="1"/>
          </p:cNvSpPr>
          <p:nvPr>
            <p:ph sz="quarter" idx="13"/>
          </p:nvPr>
        </p:nvSpPr>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5.1</a:t>
            </a:r>
            <a:r>
              <a:rPr lang="en-US" sz="2400" b="1" dirty="0">
                <a:solidFill>
                  <a:schemeClr val="bg2"/>
                </a:solidFill>
              </a:rPr>
              <a:t> </a:t>
            </a:r>
            <a:r>
              <a:rPr lang="en-US" sz="2400" dirty="0"/>
              <a:t>Explain how differences in resources generate a specific pattern of trade.</a:t>
            </a:r>
          </a:p>
          <a:p>
            <a:pPr marL="0" indent="0">
              <a:buNone/>
            </a:pPr>
            <a:r>
              <a:rPr lang="en-US" sz="2400" b="1" dirty="0">
                <a:solidFill>
                  <a:srgbClr val="007FA3"/>
                </a:solidFill>
                <a:ea typeface="Verdana" panose="020B0604030504040204" pitchFamily="34" charset="0"/>
                <a:cs typeface="Verdana" panose="020B0604030504040204" pitchFamily="34" charset="0"/>
              </a:rPr>
              <a:t>5.2 </a:t>
            </a:r>
            <a:r>
              <a:rPr lang="en-US" sz="2400" dirty="0"/>
              <a:t>Discuss why the gains from trade will not be equally spread even in the long run and identify the likely winners and losers.</a:t>
            </a:r>
          </a:p>
          <a:p>
            <a:pPr marL="0" indent="0">
              <a:buNone/>
            </a:pPr>
            <a:r>
              <a:rPr lang="en-US" sz="2400" b="1" dirty="0">
                <a:solidFill>
                  <a:srgbClr val="007FA3"/>
                </a:solidFill>
                <a:ea typeface="Verdana" panose="020B0604030504040204" pitchFamily="34" charset="0"/>
                <a:cs typeface="Verdana" panose="020B0604030504040204" pitchFamily="34" charset="0"/>
              </a:rPr>
              <a:t>5.3 </a:t>
            </a:r>
            <a:r>
              <a:rPr lang="en-US" sz="2400" dirty="0"/>
              <a:t>Understand the possible links between increased trade and rising wage inequality in the developed world.</a:t>
            </a:r>
          </a:p>
          <a:p>
            <a:pPr marL="0" indent="0">
              <a:buNone/>
            </a:pPr>
            <a:r>
              <a:rPr lang="en-US" sz="2400" b="1" dirty="0">
                <a:solidFill>
                  <a:srgbClr val="007FA3"/>
                </a:solidFill>
                <a:ea typeface="Verdana" panose="020B0604030504040204" pitchFamily="34" charset="0"/>
                <a:cs typeface="Verdana" panose="020B0604030504040204" pitchFamily="34" charset="0"/>
              </a:rPr>
              <a:t>5.4 </a:t>
            </a:r>
            <a:r>
              <a:rPr lang="en-US" sz="2400" dirty="0"/>
              <a:t>See how empirical patterns of trade and factor prices support some (but not all) of the predictions of the factor-proportions theory.</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Preview</a:t>
            </a:r>
            <a:endParaRPr lang="en-IN" dirty="0"/>
          </a:p>
        </p:txBody>
      </p:sp>
      <p:sp>
        <p:nvSpPr>
          <p:cNvPr id="7" name="Content Placeholder 6"/>
          <p:cNvSpPr>
            <a:spLocks noGrp="1"/>
          </p:cNvSpPr>
          <p:nvPr>
            <p:ph sz="quarter" idx="13"/>
          </p:nvPr>
        </p:nvSpPr>
        <p:spPr>
          <a:xfrm>
            <a:off x="457200" y="1556327"/>
            <a:ext cx="7916091" cy="4522740"/>
          </a:xfrm>
        </p:spPr>
        <p:txBody>
          <a:bodyPr/>
          <a:lstStyle/>
          <a:p>
            <a:r>
              <a:rPr lang="en-US" altLang="en-US" sz="2400" dirty="0">
                <a:ea typeface="ヒラギノ角ゴ Pro W3" pitchFamily="-84" charset="-128"/>
              </a:rPr>
              <a:t>Production possibilities</a:t>
            </a:r>
          </a:p>
          <a:p>
            <a:r>
              <a:rPr lang="en-US" altLang="en-US" sz="2400" dirty="0">
                <a:ea typeface="ヒラギノ角ゴ Pro W3" pitchFamily="-84" charset="-128"/>
              </a:rPr>
              <a:t>Changing the mix of inputs</a:t>
            </a:r>
          </a:p>
          <a:p>
            <a:r>
              <a:rPr lang="en-US" altLang="en-US" sz="2400" dirty="0">
                <a:ea typeface="ヒラギノ角ゴ Pro W3" pitchFamily="-84" charset="-128"/>
              </a:rPr>
              <a:t>Relationships among factor prices and goods prices, and resources and output</a:t>
            </a:r>
          </a:p>
          <a:p>
            <a:r>
              <a:rPr lang="en-US" altLang="en-US" sz="2400" dirty="0">
                <a:ea typeface="ヒラギノ角ゴ Pro W3" pitchFamily="-84" charset="-128"/>
              </a:rPr>
              <a:t>Trade in the Heckscher-Ohlin model</a:t>
            </a:r>
          </a:p>
          <a:p>
            <a:r>
              <a:rPr lang="en-US" altLang="en-US" sz="2400" dirty="0">
                <a:ea typeface="ヒラギノ角ゴ Pro W3" pitchFamily="-84" charset="-128"/>
              </a:rPr>
              <a:t>Factor price equalization</a:t>
            </a:r>
          </a:p>
          <a:p>
            <a:r>
              <a:rPr lang="en-US" altLang="en-US" sz="2400" dirty="0">
                <a:ea typeface="ヒラギノ角ゴ Pro W3" pitchFamily="-84" charset="-128"/>
              </a:rPr>
              <a:t>Trade and income distribution</a:t>
            </a:r>
          </a:p>
          <a:p>
            <a:r>
              <a:rPr lang="en-US" altLang="en-US" sz="2400" dirty="0">
                <a:ea typeface="ヒラギノ角ゴ Pro W3" pitchFamily="-84" charset="-128"/>
              </a:rPr>
              <a:t>Empirical evidence</a:t>
            </a:r>
            <a:endParaRPr lang="en-US" sz="2400"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Introduction</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r>
              <a:rPr lang="en-US" altLang="en-US" sz="2400" dirty="0">
                <a:ea typeface="ヒラギノ角ゴ Pro W3" pitchFamily="-84" charset="-128"/>
              </a:rPr>
              <a:t>In addition to differences in labor productivity, trade occurs due to differences in resources across countries.</a:t>
            </a:r>
          </a:p>
          <a:p>
            <a:r>
              <a:rPr lang="en-US" altLang="en-US" sz="2400" dirty="0">
                <a:ea typeface="ヒラギノ角ゴ Pro W3" pitchFamily="-84" charset="-128"/>
              </a:rPr>
              <a:t>The Heckscher-Ohlin theory argues that trade occurs due to differences in labor, labor skills, physical capital, capital, or other factors of production across countries.</a:t>
            </a:r>
          </a:p>
          <a:p>
            <a:pPr lvl="1"/>
            <a:r>
              <a:rPr lang="en-US" altLang="en-US" sz="2400" dirty="0">
                <a:ea typeface="ヒラギノ角ゴ Pro W3" pitchFamily="-84" charset="-128"/>
              </a:rPr>
              <a:t>Countries have different </a:t>
            </a:r>
            <a:r>
              <a:rPr lang="en-US" altLang="en-US" sz="2400" b="1" dirty="0">
                <a:ea typeface="ヒラギノ角ゴ Pro W3" pitchFamily="-84" charset="-128"/>
              </a:rPr>
              <a:t>relative abundance </a:t>
            </a:r>
            <a:r>
              <a:rPr lang="en-US" altLang="en-US" sz="2400" dirty="0">
                <a:ea typeface="ヒラギノ角ゴ Pro W3" pitchFamily="-84" charset="-128"/>
              </a:rPr>
              <a:t>of factors of production.</a:t>
            </a:r>
          </a:p>
          <a:p>
            <a:pPr lvl="1"/>
            <a:r>
              <a:rPr lang="en-US" altLang="en-US" sz="2400" dirty="0">
                <a:ea typeface="ヒラギノ角ゴ Pro W3" pitchFamily="-84" charset="-128"/>
              </a:rPr>
              <a:t>Production processes use factors of production with different </a:t>
            </a:r>
            <a:r>
              <a:rPr lang="en-US" altLang="en-US" sz="2400" b="1" dirty="0">
                <a:ea typeface="ヒラギノ角ゴ Pro W3" pitchFamily="-84" charset="-128"/>
              </a:rPr>
              <a:t>relative intensity</a:t>
            </a:r>
            <a:r>
              <a:rPr lang="en-US" altLang="en-US" sz="2400" dirty="0">
                <a:ea typeface="ヒラギノ角ゴ Pro W3" pitchFamily="-84" charset="-128"/>
              </a:rPr>
              <a:t>.</a:t>
            </a:r>
            <a:endParaRPr lang="en-US" sz="2400" dirty="0"/>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Two-Factor Heckscher-Ohlin Model </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pPr marL="432000" indent="-432000">
              <a:buFont typeface="Times" pitchFamily="-84" charset="0"/>
              <a:buAutoNum type="arabicPeriod"/>
            </a:pPr>
            <a:r>
              <a:rPr lang="en-US" altLang="en-US" sz="2400" dirty="0">
                <a:ea typeface="ヒラギノ角ゴ Pro W3" pitchFamily="-84" charset="-128"/>
              </a:rPr>
              <a:t>Two countries: home and foreign.</a:t>
            </a:r>
          </a:p>
          <a:p>
            <a:pPr marL="432000" indent="-432000">
              <a:buFont typeface="Times" pitchFamily="-84" charset="0"/>
              <a:buAutoNum type="arabicPeriod"/>
            </a:pPr>
            <a:r>
              <a:rPr lang="en-US" altLang="en-US" sz="2400" dirty="0">
                <a:ea typeface="ヒラギノ角ゴ Pro W3" pitchFamily="-84" charset="-128"/>
              </a:rPr>
              <a:t>Two goods: cloth and food.</a:t>
            </a:r>
          </a:p>
          <a:p>
            <a:pPr marL="432000" indent="-432000">
              <a:buFont typeface="Times" pitchFamily="-84" charset="0"/>
              <a:buAutoNum type="arabicPeriod"/>
            </a:pPr>
            <a:r>
              <a:rPr lang="en-US" altLang="en-US" sz="2400" dirty="0">
                <a:ea typeface="ヒラギノ角ゴ Pro W3" pitchFamily="-84" charset="-128"/>
              </a:rPr>
              <a:t>Two factors of production: labor and capital.</a:t>
            </a:r>
          </a:p>
          <a:p>
            <a:pPr marL="432000" indent="-432000">
              <a:buFont typeface="Times" pitchFamily="-84" charset="0"/>
              <a:buAutoNum type="arabicPeriod"/>
            </a:pPr>
            <a:r>
              <a:rPr lang="en-US" altLang="en-US" sz="2400" dirty="0">
                <a:ea typeface="ヒラギノ角ゴ Pro W3" pitchFamily="-84" charset="-128"/>
              </a:rPr>
              <a:t>The mix of labor and capital used varies across goods.</a:t>
            </a:r>
          </a:p>
          <a:p>
            <a:pPr marL="432000" indent="-432000">
              <a:buFont typeface="Times" pitchFamily="-84" charset="0"/>
              <a:buAutoNum type="arabicPeriod"/>
            </a:pPr>
            <a:r>
              <a:rPr lang="en-US" altLang="en-US" sz="2400" dirty="0">
                <a:ea typeface="ヒラギノ角ゴ Pro W3" pitchFamily="-84" charset="-128"/>
              </a:rPr>
              <a:t>The supply of labor and capital in each country is constant and varies across countries.</a:t>
            </a:r>
          </a:p>
          <a:p>
            <a:pPr marL="432000" indent="-432000">
              <a:buFont typeface="Times" pitchFamily="-84" charset="0"/>
              <a:buAutoNum type="arabicPeriod"/>
            </a:pPr>
            <a:r>
              <a:rPr lang="en-US" altLang="en-US" sz="2400" dirty="0">
                <a:ea typeface="ヒラギノ角ゴ Pro W3" pitchFamily="-84" charset="-128"/>
              </a:rPr>
              <a:t>In the long run, both labor and capital can move across sectors, equalizing their returns (wage and rental rate) across sectors.</a:t>
            </a:r>
            <a:endParaRPr lang="en-US" sz="2400" b="1"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(1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1813890"/>
          </a:xfrm>
        </p:spPr>
        <p:txBody>
          <a:bodyPr/>
          <a:lstStyle/>
          <a:p>
            <a:r>
              <a:rPr lang="en-US" altLang="en-US" sz="2400" dirty="0">
                <a:ea typeface="ヒラギノ角ゴ Pro W3" pitchFamily="-84" charset="-128"/>
              </a:rPr>
              <a:t>With more than one factor of production, the opportunity cost in production is no longer constant and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no longer a straight line. Why?</a:t>
            </a:r>
          </a:p>
          <a:p>
            <a:r>
              <a:rPr lang="en-US" altLang="en-US" sz="2400" dirty="0">
                <a:ea typeface="ヒラギノ角ゴ Pro W3" pitchFamily="-84" charset="-128"/>
              </a:rPr>
              <a:t>Numerical example:</a:t>
            </a:r>
            <a:endParaRPr lang="en-US" sz="2400" b="1" dirty="0"/>
          </a:p>
        </p:txBody>
      </p:sp>
      <p:sp>
        <p:nvSpPr>
          <p:cNvPr id="3" name="Content Placeholder 2">
            <a:extLst>
              <a:ext uri="{FF2B5EF4-FFF2-40B4-BE49-F238E27FC236}">
                <a16:creationId xmlns:a16="http://schemas.microsoft.com/office/drawing/2014/main" id="{8FC18890-8F99-4DF0-A659-A9DF6668AA5D}"/>
              </a:ext>
            </a:extLst>
          </p:cNvPr>
          <p:cNvSpPr>
            <a:spLocks noGrp="1"/>
          </p:cNvSpPr>
          <p:nvPr>
            <p:ph sz="quarter" idx="14"/>
          </p:nvPr>
        </p:nvSpPr>
        <p:spPr>
          <a:xfrm>
            <a:off x="457200" y="3463027"/>
            <a:ext cx="8427156" cy="1120261"/>
          </a:xfrm>
        </p:spPr>
        <p:txBody>
          <a:bodyPr/>
          <a:lstStyle/>
          <a:p>
            <a:pPr marL="457200" lvl="1" indent="0">
              <a:spcBef>
                <a:spcPts val="1200"/>
              </a:spcBef>
              <a:buNone/>
            </a:pPr>
            <a:r>
              <a:rPr lang="en-US" altLang="en-US" sz="2400" i="1" dirty="0">
                <a:ea typeface="ヒラギノ角ゴ Pro W3" pitchFamily="-84" charset="-128"/>
              </a:rPr>
              <a:t>K</a:t>
            </a:r>
            <a:r>
              <a:rPr lang="en-US" altLang="en-US" sz="2400" dirty="0">
                <a:ea typeface="ヒラギノ角ゴ Pro W3" pitchFamily="-84" charset="-128"/>
              </a:rPr>
              <a:t> = 3000, total amount of capital available for production</a:t>
            </a:r>
          </a:p>
          <a:p>
            <a:pPr marL="457200" lvl="1" indent="0">
              <a:spcBef>
                <a:spcPts val="1200"/>
              </a:spcBef>
              <a:buNone/>
            </a:pPr>
            <a:r>
              <a:rPr lang="en-US" altLang="en-US" sz="2400" i="1" dirty="0">
                <a:ea typeface="ヒラギノ角ゴ Pro W3" pitchFamily="-84" charset="-128"/>
              </a:rPr>
              <a:t>L</a:t>
            </a:r>
            <a:r>
              <a:rPr lang="en-US" altLang="en-US" sz="2400" dirty="0">
                <a:ea typeface="ヒラギノ角ゴ Pro W3" pitchFamily="-84" charset="-128"/>
              </a:rPr>
              <a:t> = 2000, total amount of labor available for production</a:t>
            </a:r>
            <a:endParaRPr lang="en-US" sz="2400" b="1" dirty="0"/>
          </a:p>
        </p:txBody>
      </p:sp>
    </p:spTree>
    <p:extLst>
      <p:ext uri="{BB962C8B-B14F-4D97-AF65-F5344CB8AC3E}">
        <p14:creationId xmlns:p14="http://schemas.microsoft.com/office/powerpoint/2010/main" val="1213776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(2 of 11)</a:t>
            </a:r>
            <a:endParaRPr lang="en-IN" dirty="0"/>
          </a:p>
        </p:txBody>
      </p:sp>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3"/>
          </p:nvPr>
        </p:nvSpPr>
        <p:spPr>
          <a:xfrm>
            <a:off x="457199" y="1556328"/>
            <a:ext cx="8573911" cy="508606"/>
          </a:xfrm>
        </p:spPr>
        <p:txBody>
          <a:bodyPr/>
          <a:lstStyle/>
          <a:p>
            <a:r>
              <a:rPr lang="en-US" altLang="en-US" sz="2400" dirty="0">
                <a:ea typeface="ヒラギノ角ゴ Pro W3" pitchFamily="-84" charset="-128"/>
              </a:rPr>
              <a:t>Suppose use a fixed mix of capital and labor in each sector.</a:t>
            </a:r>
          </a:p>
        </p:txBody>
      </p:sp>
      <p:graphicFrame>
        <p:nvGraphicFramePr>
          <p:cNvPr id="22" name="Object 21" descr="a sub start expression K C end expression = 2, ">
            <a:extLst>
              <a:ext uri="{FF2B5EF4-FFF2-40B4-BE49-F238E27FC236}">
                <a16:creationId xmlns:a16="http://schemas.microsoft.com/office/drawing/2014/main" id="{4C4FBFA0-49DF-4016-A32B-FEF8A692F570}"/>
              </a:ext>
            </a:extLst>
          </p:cNvPr>
          <p:cNvGraphicFramePr>
            <a:graphicFrameLocks noChangeAspect="1"/>
          </p:cNvGraphicFramePr>
          <p:nvPr>
            <p:extLst>
              <p:ext uri="{D42A27DB-BD31-4B8C-83A1-F6EECF244321}">
                <p14:modId xmlns:p14="http://schemas.microsoft.com/office/powerpoint/2010/main" val="4171789702"/>
              </p:ext>
            </p:extLst>
          </p:nvPr>
        </p:nvGraphicFramePr>
        <p:xfrm>
          <a:off x="991587" y="2253107"/>
          <a:ext cx="1214441" cy="476251"/>
        </p:xfrm>
        <a:graphic>
          <a:graphicData uri="http://schemas.openxmlformats.org/presentationml/2006/ole">
            <mc:AlternateContent xmlns:mc="http://schemas.openxmlformats.org/markup-compatibility/2006">
              <mc:Choice xmlns:v="urn:schemas-microsoft-com:vml" Requires="v">
                <p:oleObj spid="_x0000_s1030" name="Equation" r:id="rId3" imgW="1376362" imgH="539693" progId="Equation.DSMT4">
                  <p:embed/>
                </p:oleObj>
              </mc:Choice>
              <mc:Fallback>
                <p:oleObj name="Equation" r:id="rId3" imgW="1376362" imgH="539693" progId="Equation.DSMT4">
                  <p:embed/>
                  <p:pic>
                    <p:nvPicPr>
                      <p:cNvPr id="0" name=""/>
                      <p:cNvPicPr/>
                      <p:nvPr/>
                    </p:nvPicPr>
                    <p:blipFill>
                      <a:blip r:embed="rId4"/>
                      <a:stretch>
                        <a:fillRect/>
                      </a:stretch>
                    </p:blipFill>
                    <p:spPr>
                      <a:xfrm>
                        <a:off x="991587" y="2253107"/>
                        <a:ext cx="1214441" cy="476251"/>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2827DBFD-C545-4AB7-B166-33F8AA90234B}"/>
              </a:ext>
            </a:extLst>
          </p:cNvPr>
          <p:cNvSpPr>
            <a:spLocks noGrp="1"/>
          </p:cNvSpPr>
          <p:nvPr>
            <p:ph sz="quarter" idx="14"/>
          </p:nvPr>
        </p:nvSpPr>
        <p:spPr>
          <a:xfrm>
            <a:off x="2447430" y="2193862"/>
            <a:ext cx="5801710" cy="509587"/>
          </a:xfrm>
        </p:spPr>
        <p:txBody>
          <a:bodyPr/>
          <a:lstStyle/>
          <a:p>
            <a:pPr marL="0" lvl="1" indent="0">
              <a:buNone/>
            </a:pPr>
            <a:r>
              <a:rPr lang="en-US" altLang="en-US" dirty="0">
                <a:ea typeface="ヒラギノ角ゴ Pro W3" pitchFamily="-84" charset="-128"/>
              </a:rPr>
              <a:t>capital used to produce one yard of cloth</a:t>
            </a:r>
            <a:endParaRPr lang="en-US" dirty="0"/>
          </a:p>
        </p:txBody>
      </p:sp>
      <p:graphicFrame>
        <p:nvGraphicFramePr>
          <p:cNvPr id="23" name="Object 22" descr="a sub start expression L C end expression = 2,">
            <a:extLst>
              <a:ext uri="{FF2B5EF4-FFF2-40B4-BE49-F238E27FC236}">
                <a16:creationId xmlns:a16="http://schemas.microsoft.com/office/drawing/2014/main" id="{2DB49D01-C224-47BF-9BD3-FFE6B7F26807}"/>
              </a:ext>
            </a:extLst>
          </p:cNvPr>
          <p:cNvGraphicFramePr>
            <a:graphicFrameLocks noChangeAspect="1"/>
          </p:cNvGraphicFramePr>
          <p:nvPr>
            <p:extLst>
              <p:ext uri="{D42A27DB-BD31-4B8C-83A1-F6EECF244321}">
                <p14:modId xmlns:p14="http://schemas.microsoft.com/office/powerpoint/2010/main" val="340479696"/>
              </p:ext>
            </p:extLst>
          </p:nvPr>
        </p:nvGraphicFramePr>
        <p:xfrm>
          <a:off x="971666" y="2869347"/>
          <a:ext cx="1220808" cy="476565"/>
        </p:xfrm>
        <a:graphic>
          <a:graphicData uri="http://schemas.openxmlformats.org/presentationml/2006/ole">
            <mc:AlternateContent xmlns:mc="http://schemas.openxmlformats.org/markup-compatibility/2006">
              <mc:Choice xmlns:v="urn:schemas-microsoft-com:vml" Requires="v">
                <p:oleObj spid="_x0000_s1031" name="Equation" r:id="rId5" imgW="1252940" imgH="489220" progId="Equation.DSMT4">
                  <p:embed/>
                </p:oleObj>
              </mc:Choice>
              <mc:Fallback>
                <p:oleObj name="Equation" r:id="rId5" imgW="1252940" imgH="489220" progId="Equation.DSMT4">
                  <p:embed/>
                  <p:pic>
                    <p:nvPicPr>
                      <p:cNvPr id="0" name=""/>
                      <p:cNvPicPr/>
                      <p:nvPr/>
                    </p:nvPicPr>
                    <p:blipFill>
                      <a:blip r:embed="rId6"/>
                      <a:stretch>
                        <a:fillRect/>
                      </a:stretch>
                    </p:blipFill>
                    <p:spPr>
                      <a:xfrm>
                        <a:off x="971666" y="2869347"/>
                        <a:ext cx="1220808" cy="476565"/>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4CB2470D-3965-4E2C-B4C3-BFD9A43AC9B1}"/>
              </a:ext>
            </a:extLst>
          </p:cNvPr>
          <p:cNvSpPr>
            <a:spLocks noGrp="1"/>
          </p:cNvSpPr>
          <p:nvPr>
            <p:ph sz="quarter" idx="15"/>
          </p:nvPr>
        </p:nvSpPr>
        <p:spPr>
          <a:xfrm>
            <a:off x="2447430" y="2804163"/>
            <a:ext cx="5565228" cy="509588"/>
          </a:xfrm>
        </p:spPr>
        <p:txBody>
          <a:bodyPr/>
          <a:lstStyle/>
          <a:p>
            <a:pPr marL="432" lvl="1" indent="0">
              <a:spcBef>
                <a:spcPts val="1500"/>
              </a:spcBef>
              <a:buNone/>
            </a:pPr>
            <a:r>
              <a:rPr lang="en-US" altLang="en-US" sz="2400" dirty="0">
                <a:latin typeface="+mn-lt"/>
                <a:ea typeface="ヒラギノ角ゴ Pro W3" pitchFamily="-84" charset="-128"/>
              </a:rPr>
              <a:t>labor used to produce one yard of cloth</a:t>
            </a:r>
          </a:p>
        </p:txBody>
      </p:sp>
      <p:graphicFrame>
        <p:nvGraphicFramePr>
          <p:cNvPr id="24" name="Object 23" descr="a sub start expression K F end expression = 3,">
            <a:extLst>
              <a:ext uri="{FF2B5EF4-FFF2-40B4-BE49-F238E27FC236}">
                <a16:creationId xmlns:a16="http://schemas.microsoft.com/office/drawing/2014/main" id="{0EE6E487-2D8F-47DF-BB17-4FE5ADA78AC9}"/>
              </a:ext>
            </a:extLst>
          </p:cNvPr>
          <p:cNvGraphicFramePr>
            <a:graphicFrameLocks noChangeAspect="1"/>
          </p:cNvGraphicFramePr>
          <p:nvPr>
            <p:extLst>
              <p:ext uri="{D42A27DB-BD31-4B8C-83A1-F6EECF244321}">
                <p14:modId xmlns:p14="http://schemas.microsoft.com/office/powerpoint/2010/main" val="2771469153"/>
              </p:ext>
            </p:extLst>
          </p:nvPr>
        </p:nvGraphicFramePr>
        <p:xfrm>
          <a:off x="1017371" y="3518584"/>
          <a:ext cx="1138670" cy="444500"/>
        </p:xfrm>
        <a:graphic>
          <a:graphicData uri="http://schemas.openxmlformats.org/presentationml/2006/ole">
            <mc:AlternateContent xmlns:mc="http://schemas.openxmlformats.org/markup-compatibility/2006">
              <mc:Choice xmlns:v="urn:schemas-microsoft-com:vml" Requires="v">
                <p:oleObj spid="_x0000_s1032"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1017371" y="3518584"/>
                        <a:ext cx="1138670" cy="444500"/>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11AA8382-392C-4712-9B58-758E817E8F4C}"/>
              </a:ext>
            </a:extLst>
          </p:cNvPr>
          <p:cNvSpPr>
            <a:spLocks noGrp="1"/>
          </p:cNvSpPr>
          <p:nvPr>
            <p:ph sz="quarter" idx="16"/>
          </p:nvPr>
        </p:nvSpPr>
        <p:spPr>
          <a:xfrm>
            <a:off x="2447430" y="3455732"/>
            <a:ext cx="5959366" cy="539750"/>
          </a:xfrm>
        </p:spPr>
        <p:txBody>
          <a:bodyPr/>
          <a:lstStyle/>
          <a:p>
            <a:pPr marL="432" lvl="1" indent="0">
              <a:spcBef>
                <a:spcPts val="1500"/>
              </a:spcBef>
              <a:buNone/>
            </a:pPr>
            <a:r>
              <a:rPr lang="en-US" altLang="en-US" sz="2400" dirty="0">
                <a:latin typeface="+mn-lt"/>
                <a:ea typeface="ヒラギノ角ゴ Pro W3" pitchFamily="-84" charset="-128"/>
              </a:rPr>
              <a:t>capital used to produce one calorie of food</a:t>
            </a:r>
            <a:endParaRPr lang="en-US" sz="2400" dirty="0">
              <a:latin typeface="+mn-lt"/>
              <a:ea typeface="ヒラギノ角ゴ Pro W3" pitchFamily="-84" charset="-128"/>
            </a:endParaRPr>
          </a:p>
        </p:txBody>
      </p:sp>
      <p:graphicFrame>
        <p:nvGraphicFramePr>
          <p:cNvPr id="25" name="Object 24" descr="a sub start expression L F end expression = 1,">
            <a:extLst>
              <a:ext uri="{FF2B5EF4-FFF2-40B4-BE49-F238E27FC236}">
                <a16:creationId xmlns:a16="http://schemas.microsoft.com/office/drawing/2014/main" id="{42BC039A-A811-42C9-8DD9-84944013B5BB}"/>
              </a:ext>
            </a:extLst>
          </p:cNvPr>
          <p:cNvGraphicFramePr>
            <a:graphicFrameLocks noChangeAspect="1"/>
          </p:cNvGraphicFramePr>
          <p:nvPr>
            <p:extLst>
              <p:ext uri="{D42A27DB-BD31-4B8C-83A1-F6EECF244321}">
                <p14:modId xmlns:p14="http://schemas.microsoft.com/office/powerpoint/2010/main" val="82673649"/>
              </p:ext>
            </p:extLst>
          </p:nvPr>
        </p:nvGraphicFramePr>
        <p:xfrm>
          <a:off x="1006475" y="4182800"/>
          <a:ext cx="1079500" cy="443056"/>
        </p:xfrm>
        <a:graphic>
          <a:graphicData uri="http://schemas.openxmlformats.org/presentationml/2006/ole">
            <mc:AlternateContent xmlns:mc="http://schemas.openxmlformats.org/markup-compatibility/2006">
              <mc:Choice xmlns:v="urn:schemas-microsoft-com:vml" Requires="v">
                <p:oleObj spid="_x0000_s1033" name="Equation" r:id="rId9" imgW="558720" imgH="228600" progId="Equation.DSMT4">
                  <p:embed/>
                </p:oleObj>
              </mc:Choice>
              <mc:Fallback>
                <p:oleObj name="Equation" r:id="rId9" imgW="558720" imgH="228600" progId="Equation.DSMT4">
                  <p:embed/>
                  <p:pic>
                    <p:nvPicPr>
                      <p:cNvPr id="0" name=""/>
                      <p:cNvPicPr/>
                      <p:nvPr/>
                    </p:nvPicPr>
                    <p:blipFill>
                      <a:blip r:embed="rId10"/>
                      <a:stretch>
                        <a:fillRect/>
                      </a:stretch>
                    </p:blipFill>
                    <p:spPr>
                      <a:xfrm>
                        <a:off x="1006475" y="4182800"/>
                        <a:ext cx="1079500" cy="443056"/>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EA60DA6F-3BEC-4BF4-A79A-72181D79A17B}"/>
              </a:ext>
            </a:extLst>
          </p:cNvPr>
          <p:cNvSpPr>
            <a:spLocks noGrp="1"/>
          </p:cNvSpPr>
          <p:nvPr>
            <p:ph sz="quarter" idx="17"/>
          </p:nvPr>
        </p:nvSpPr>
        <p:spPr>
          <a:xfrm>
            <a:off x="2447430" y="4118064"/>
            <a:ext cx="5801711" cy="509587"/>
          </a:xfrm>
        </p:spPr>
        <p:txBody>
          <a:bodyPr/>
          <a:lstStyle/>
          <a:p>
            <a:pPr marL="432" lvl="1" indent="0">
              <a:spcBef>
                <a:spcPts val="1500"/>
              </a:spcBef>
              <a:buNone/>
            </a:pPr>
            <a:r>
              <a:rPr lang="en-US" altLang="en-US" sz="2400" dirty="0">
                <a:latin typeface="+mn-lt"/>
                <a:ea typeface="ヒラギノ角ゴ Pro W3" pitchFamily="-84" charset="-128"/>
              </a:rPr>
              <a:t>labor used to produce one calorie of food</a:t>
            </a:r>
            <a:endParaRPr lang="en-US" sz="2400" dirty="0">
              <a:latin typeface="+mn-lt"/>
              <a:ea typeface="ヒラギノ角ゴ Pro W3" pitchFamily="-84" charset="-128"/>
            </a:endParaRPr>
          </a:p>
        </p:txBody>
      </p:sp>
    </p:spTree>
    <p:extLst>
      <p:ext uri="{BB962C8B-B14F-4D97-AF65-F5344CB8AC3E}">
        <p14:creationId xmlns:p14="http://schemas.microsoft.com/office/powerpoint/2010/main" val="222582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(3 of 11)</a:t>
            </a:r>
            <a:endParaRPr lang="en-US"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199" y="1556327"/>
            <a:ext cx="8472311" cy="1291376"/>
          </a:xfrm>
        </p:spPr>
        <p:txBody>
          <a:bodyPr/>
          <a:lstStyle/>
          <a:p>
            <a:r>
              <a:rPr lang="en-US" altLang="en-US" sz="2400" dirty="0">
                <a:ea typeface="ヒラギノ角ゴ Pro W3" pitchFamily="-84" charset="-128"/>
              </a:rPr>
              <a:t>Production possibilities describe different amounts of cloth and food that can be produced, given factor endowments and technology.</a:t>
            </a:r>
            <a:endParaRPr lang="en-US" altLang="en-US" sz="2400" b="1" dirty="0"/>
          </a:p>
        </p:txBody>
      </p:sp>
      <p:sp>
        <p:nvSpPr>
          <p:cNvPr id="3" name="Content Placeholder 2">
            <a:extLst>
              <a:ext uri="{FF2B5EF4-FFF2-40B4-BE49-F238E27FC236}">
                <a16:creationId xmlns:a16="http://schemas.microsoft.com/office/drawing/2014/main" id="{6FD0C745-1267-44A6-8E0F-0BFFA36226D0}"/>
              </a:ext>
            </a:extLst>
          </p:cNvPr>
          <p:cNvSpPr>
            <a:spLocks noGrp="1"/>
          </p:cNvSpPr>
          <p:nvPr>
            <p:ph sz="quarter" idx="14"/>
          </p:nvPr>
        </p:nvSpPr>
        <p:spPr>
          <a:xfrm>
            <a:off x="928687" y="2918343"/>
            <a:ext cx="394381" cy="521751"/>
          </a:xfrm>
        </p:spPr>
        <p:txBody>
          <a:bodyPr/>
          <a:lstStyle/>
          <a:p>
            <a:pPr marL="0" lvl="1" indent="0"/>
            <a:r>
              <a:rPr lang="en-US" altLang="en-US" i="1" dirty="0"/>
              <a:t> </a:t>
            </a:r>
            <a:r>
              <a:rPr lang="en-US" altLang="en-US" sz="100" i="1" dirty="0"/>
              <a:t> </a:t>
            </a:r>
            <a:endParaRPr lang="en-US" altLang="en-US" sz="100" dirty="0"/>
          </a:p>
        </p:txBody>
      </p:sp>
      <p:graphicFrame>
        <p:nvGraphicFramePr>
          <p:cNvPr id="14" name="Object 13" descr="Q sub C ">
            <a:extLst>
              <a:ext uri="{FF2B5EF4-FFF2-40B4-BE49-F238E27FC236}">
                <a16:creationId xmlns:a16="http://schemas.microsoft.com/office/drawing/2014/main" id="{69B44C6D-46A2-4980-B3F1-FF233AD98D48}"/>
              </a:ext>
            </a:extLst>
          </p:cNvPr>
          <p:cNvGraphicFramePr>
            <a:graphicFrameLocks noChangeAspect="1"/>
          </p:cNvGraphicFramePr>
          <p:nvPr>
            <p:extLst>
              <p:ext uri="{D42A27DB-BD31-4B8C-83A1-F6EECF244321}">
                <p14:modId xmlns:p14="http://schemas.microsoft.com/office/powerpoint/2010/main" val="579564709"/>
              </p:ext>
            </p:extLst>
          </p:nvPr>
        </p:nvGraphicFramePr>
        <p:xfrm>
          <a:off x="1380366" y="2977404"/>
          <a:ext cx="442146" cy="467173"/>
        </p:xfrm>
        <a:graphic>
          <a:graphicData uri="http://schemas.openxmlformats.org/presentationml/2006/ole">
            <mc:AlternateContent xmlns:mc="http://schemas.openxmlformats.org/markup-compatibility/2006">
              <mc:Choice xmlns:v="urn:schemas-microsoft-com:vml" Requires="v">
                <p:oleObj spid="_x0000_s2052" name="Equation" r:id="rId3" imgW="420645" imgH="445237" progId="Equation.DSMT4">
                  <p:embed/>
                </p:oleObj>
              </mc:Choice>
              <mc:Fallback>
                <p:oleObj name="Equation" r:id="rId3" imgW="420645" imgH="445237" progId="Equation.DSMT4">
                  <p:embed/>
                  <p:pic>
                    <p:nvPicPr>
                      <p:cNvPr id="0" name=""/>
                      <p:cNvPicPr/>
                      <p:nvPr/>
                    </p:nvPicPr>
                    <p:blipFill>
                      <a:blip r:embed="rId4"/>
                      <a:stretch>
                        <a:fillRect/>
                      </a:stretch>
                    </p:blipFill>
                    <p:spPr>
                      <a:xfrm>
                        <a:off x="1380366" y="2977404"/>
                        <a:ext cx="442146" cy="467173"/>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F7838DE-6717-4930-9174-F2E7FF7AEA6D}"/>
              </a:ext>
            </a:extLst>
          </p:cNvPr>
          <p:cNvSpPr>
            <a:spLocks noGrp="1"/>
          </p:cNvSpPr>
          <p:nvPr>
            <p:ph sz="quarter" idx="15"/>
          </p:nvPr>
        </p:nvSpPr>
        <p:spPr>
          <a:xfrm>
            <a:off x="1949659" y="2926755"/>
            <a:ext cx="4642298" cy="513340"/>
          </a:xfrm>
        </p:spPr>
        <p:txBody>
          <a:bodyPr/>
          <a:lstStyle/>
          <a:p>
            <a:pPr marL="0" lvl="1" indent="0">
              <a:buNone/>
            </a:pPr>
            <a:r>
              <a:rPr lang="en-US" altLang="en-US" sz="2400" dirty="0">
                <a:ea typeface="ヒラギノ角ゴ Pro W3" pitchFamily="-84" charset="-128"/>
              </a:rPr>
              <a:t>is </a:t>
            </a:r>
            <a:r>
              <a:rPr lang="en-US" altLang="en-US" sz="2400" dirty="0"/>
              <a:t>total yards of cloth production</a:t>
            </a:r>
          </a:p>
        </p:txBody>
      </p:sp>
      <p:sp>
        <p:nvSpPr>
          <p:cNvPr id="11" name="Content Placeholder 10">
            <a:extLst>
              <a:ext uri="{FF2B5EF4-FFF2-40B4-BE49-F238E27FC236}">
                <a16:creationId xmlns:a16="http://schemas.microsoft.com/office/drawing/2014/main" id="{3A0DB96B-6698-4259-92A0-A61447406BAB}"/>
              </a:ext>
            </a:extLst>
          </p:cNvPr>
          <p:cNvSpPr>
            <a:spLocks noGrp="1"/>
          </p:cNvSpPr>
          <p:nvPr>
            <p:ph sz="quarter" idx="17"/>
          </p:nvPr>
        </p:nvSpPr>
        <p:spPr>
          <a:xfrm>
            <a:off x="928686" y="3578399"/>
            <a:ext cx="394382" cy="507300"/>
          </a:xfrm>
        </p:spPr>
        <p:txBody>
          <a:bodyPr/>
          <a:lstStyle/>
          <a:p>
            <a:pPr marL="0" lvl="1" indent="0"/>
            <a:r>
              <a:rPr lang="en-US" sz="2400" i="1" dirty="0">
                <a:latin typeface="+mn-lt"/>
              </a:rPr>
              <a:t> </a:t>
            </a:r>
            <a:r>
              <a:rPr lang="en-US" sz="100" i="1" dirty="0">
                <a:latin typeface="+mn-lt"/>
              </a:rPr>
              <a:t> </a:t>
            </a:r>
          </a:p>
        </p:txBody>
      </p:sp>
      <p:graphicFrame>
        <p:nvGraphicFramePr>
          <p:cNvPr id="15" name="Object 14" descr="Q sub F">
            <a:extLst>
              <a:ext uri="{FF2B5EF4-FFF2-40B4-BE49-F238E27FC236}">
                <a16:creationId xmlns:a16="http://schemas.microsoft.com/office/drawing/2014/main" id="{DCF160FC-46F7-442D-9098-8C94ED290003}"/>
              </a:ext>
            </a:extLst>
          </p:cNvPr>
          <p:cNvGraphicFramePr>
            <a:graphicFrameLocks noChangeAspect="1"/>
          </p:cNvGraphicFramePr>
          <p:nvPr>
            <p:extLst>
              <p:ext uri="{D42A27DB-BD31-4B8C-83A1-F6EECF244321}">
                <p14:modId xmlns:p14="http://schemas.microsoft.com/office/powerpoint/2010/main" val="910477370"/>
              </p:ext>
            </p:extLst>
          </p:nvPr>
        </p:nvGraphicFramePr>
        <p:xfrm>
          <a:off x="1387921" y="3599685"/>
          <a:ext cx="461963" cy="490537"/>
        </p:xfrm>
        <a:graphic>
          <a:graphicData uri="http://schemas.openxmlformats.org/presentationml/2006/ole">
            <mc:AlternateContent xmlns:mc="http://schemas.openxmlformats.org/markup-compatibility/2006">
              <mc:Choice xmlns:v="urn:schemas-microsoft-com:vml" Requires="v">
                <p:oleObj spid="_x0000_s2053" name="Equation" r:id="rId5" imgW="462026" imgH="491023" progId="Equation.DSMT4">
                  <p:embed/>
                </p:oleObj>
              </mc:Choice>
              <mc:Fallback>
                <p:oleObj name="Equation" r:id="rId5" imgW="462026" imgH="491023" progId="Equation.DSMT4">
                  <p:embed/>
                  <p:pic>
                    <p:nvPicPr>
                      <p:cNvPr id="0" name=""/>
                      <p:cNvPicPr/>
                      <p:nvPr/>
                    </p:nvPicPr>
                    <p:blipFill>
                      <a:blip r:embed="rId6"/>
                      <a:stretch>
                        <a:fillRect/>
                      </a:stretch>
                    </p:blipFill>
                    <p:spPr>
                      <a:xfrm>
                        <a:off x="1387921" y="3599685"/>
                        <a:ext cx="461963" cy="490537"/>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8BF8213C-2AE4-405D-96A0-86507961B831}"/>
              </a:ext>
            </a:extLst>
          </p:cNvPr>
          <p:cNvSpPr>
            <a:spLocks noGrp="1"/>
          </p:cNvSpPr>
          <p:nvPr>
            <p:ph sz="quarter" idx="18"/>
          </p:nvPr>
        </p:nvSpPr>
        <p:spPr>
          <a:xfrm>
            <a:off x="1927485" y="3548420"/>
            <a:ext cx="5076000" cy="537279"/>
          </a:xfrm>
        </p:spPr>
        <p:txBody>
          <a:bodyPr/>
          <a:lstStyle/>
          <a:p>
            <a:pPr marL="0" lvl="1" indent="0">
              <a:buNone/>
            </a:pPr>
            <a:r>
              <a:rPr lang="en-US" altLang="en-US" sz="2400" dirty="0"/>
              <a:t>is total calories of food production</a:t>
            </a:r>
            <a:endParaRPr lang="en-US" sz="2400" dirty="0">
              <a:latin typeface="+mn-lt"/>
            </a:endParaRPr>
          </a:p>
        </p:txBody>
      </p:sp>
    </p:spTree>
    <p:extLst>
      <p:ext uri="{BB962C8B-B14F-4D97-AF65-F5344CB8AC3E}">
        <p14:creationId xmlns:p14="http://schemas.microsoft.com/office/powerpoint/2010/main" val="325156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(4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407400" cy="1705094"/>
          </a:xfrm>
        </p:spPr>
        <p:txBody>
          <a:bodyPr/>
          <a:lstStyle/>
          <a:p>
            <a:r>
              <a:rPr lang="en-US" altLang="en-US" sz="2400" dirty="0">
                <a:ea typeface="ヒラギノ角ゴ Pro W3" pitchFamily="-84" charset="-128"/>
              </a:rPr>
              <a:t>Production possibilities are influenced by </a:t>
            </a:r>
            <a:r>
              <a:rPr lang="en-US" altLang="en-US" sz="2400" b="1" dirty="0">
                <a:ea typeface="ヒラギノ角ゴ Pro W3" pitchFamily="-84" charset="-128"/>
              </a:rPr>
              <a:t>both</a:t>
            </a:r>
            <a:r>
              <a:rPr lang="en-US" altLang="en-US" sz="2400" dirty="0">
                <a:ea typeface="ヒラギノ角ゴ Pro W3" pitchFamily="-84" charset="-128"/>
              </a:rPr>
              <a:t> capital and labor:</a:t>
            </a:r>
          </a:p>
          <a:p>
            <a:pPr lvl="1"/>
            <a:r>
              <a:rPr lang="en-US" altLang="en-US" sz="2400" dirty="0">
                <a:ea typeface="ヒラギノ角ゴ Pro W3" pitchFamily="-84" charset="-128"/>
              </a:rPr>
              <a:t>Capital used to produce cloth and food cannot exceed the supply of capital available.</a:t>
            </a:r>
          </a:p>
        </p:txBody>
      </p:sp>
      <p:graphicFrame>
        <p:nvGraphicFramePr>
          <p:cNvPr id="9" name="Object 8" descr="a sub start expression K C end expression Q sub C + a sub start expression K F end expression Q sub F is less than or equal to K ">
            <a:extLst>
              <a:ext uri="{FF2B5EF4-FFF2-40B4-BE49-F238E27FC236}">
                <a16:creationId xmlns:a16="http://schemas.microsoft.com/office/drawing/2014/main" id="{A24D9461-B7B3-4B6E-B705-E2555B4A6E7F}"/>
              </a:ext>
            </a:extLst>
          </p:cNvPr>
          <p:cNvGraphicFramePr>
            <a:graphicFrameLocks noChangeAspect="1"/>
          </p:cNvGraphicFramePr>
          <p:nvPr>
            <p:extLst>
              <p:ext uri="{D42A27DB-BD31-4B8C-83A1-F6EECF244321}">
                <p14:modId xmlns:p14="http://schemas.microsoft.com/office/powerpoint/2010/main" val="1672950363"/>
              </p:ext>
            </p:extLst>
          </p:nvPr>
        </p:nvGraphicFramePr>
        <p:xfrm>
          <a:off x="3271837" y="3387946"/>
          <a:ext cx="2600325" cy="479425"/>
        </p:xfrm>
        <a:graphic>
          <a:graphicData uri="http://schemas.openxmlformats.org/presentationml/2006/ole">
            <mc:AlternateContent xmlns:mc="http://schemas.openxmlformats.org/markup-compatibility/2006">
              <mc:Choice xmlns:v="urn:schemas-microsoft-com:vml" Requires="v">
                <p:oleObj spid="_x0000_s3076" name="Equation" r:id="rId3" imgW="2600156" imgH="478765" progId="Equation.DSMT4">
                  <p:embed/>
                </p:oleObj>
              </mc:Choice>
              <mc:Fallback>
                <p:oleObj name="Equation" r:id="rId3" imgW="2600156" imgH="478765" progId="Equation.DSMT4">
                  <p:embed/>
                  <p:pic>
                    <p:nvPicPr>
                      <p:cNvPr id="0" name=""/>
                      <p:cNvPicPr/>
                      <p:nvPr/>
                    </p:nvPicPr>
                    <p:blipFill>
                      <a:blip r:embed="rId4"/>
                      <a:stretch>
                        <a:fillRect/>
                      </a:stretch>
                    </p:blipFill>
                    <p:spPr>
                      <a:xfrm>
                        <a:off x="3271837" y="3387946"/>
                        <a:ext cx="2600325" cy="47942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3990533"/>
            <a:ext cx="8229600" cy="915385"/>
          </a:xfrm>
        </p:spPr>
        <p:txBody>
          <a:bodyPr/>
          <a:lstStyle/>
          <a:p>
            <a:pPr lvl="1"/>
            <a:r>
              <a:rPr lang="en-US" altLang="en-US" sz="2400" dirty="0">
                <a:ea typeface="MS PGothic" pitchFamily="34" charset="-128"/>
              </a:rPr>
              <a:t>Likewise, the labor</a:t>
            </a:r>
            <a:r>
              <a:rPr lang="en-US" altLang="en-US" sz="2400" dirty="0">
                <a:ea typeface="ヒラギノ角ゴ Pro W3" pitchFamily="-84" charset="-128"/>
              </a:rPr>
              <a:t> used to produce cloth and food cannot exceed the supply of labor available.</a:t>
            </a:r>
          </a:p>
        </p:txBody>
      </p:sp>
      <p:graphicFrame>
        <p:nvGraphicFramePr>
          <p:cNvPr id="10" name="Object 9" descr="a sub start expression L C end expression Q sub C + a sub start expression L F end expression Q sub F is less than or equal to L">
            <a:extLst>
              <a:ext uri="{FF2B5EF4-FFF2-40B4-BE49-F238E27FC236}">
                <a16:creationId xmlns:a16="http://schemas.microsoft.com/office/drawing/2014/main" id="{395D3625-6F12-4B06-8C26-A6FAD9074DF5}"/>
              </a:ext>
            </a:extLst>
          </p:cNvPr>
          <p:cNvGraphicFramePr>
            <a:graphicFrameLocks noChangeAspect="1"/>
          </p:cNvGraphicFramePr>
          <p:nvPr>
            <p:extLst>
              <p:ext uri="{D42A27DB-BD31-4B8C-83A1-F6EECF244321}">
                <p14:modId xmlns:p14="http://schemas.microsoft.com/office/powerpoint/2010/main" val="123149548"/>
              </p:ext>
            </p:extLst>
          </p:nvPr>
        </p:nvGraphicFramePr>
        <p:xfrm>
          <a:off x="3271837" y="5063241"/>
          <a:ext cx="2493963" cy="479425"/>
        </p:xfrm>
        <a:graphic>
          <a:graphicData uri="http://schemas.openxmlformats.org/presentationml/2006/ole">
            <mc:AlternateContent xmlns:mc="http://schemas.openxmlformats.org/markup-compatibility/2006">
              <mc:Choice xmlns:v="urn:schemas-microsoft-com:vml" Requires="v">
                <p:oleObj spid="_x0000_s3077" name="Equation" r:id="rId5" imgW="2493285" imgH="478765" progId="Equation.DSMT4">
                  <p:embed/>
                </p:oleObj>
              </mc:Choice>
              <mc:Fallback>
                <p:oleObj name="Equation" r:id="rId5" imgW="2493285" imgH="478765" progId="Equation.DSMT4">
                  <p:embed/>
                  <p:pic>
                    <p:nvPicPr>
                      <p:cNvPr id="0" name=""/>
                      <p:cNvPicPr/>
                      <p:nvPr/>
                    </p:nvPicPr>
                    <p:blipFill>
                      <a:blip r:embed="rId6"/>
                      <a:stretch>
                        <a:fillRect/>
                      </a:stretch>
                    </p:blipFill>
                    <p:spPr>
                      <a:xfrm>
                        <a:off x="3271837" y="5063241"/>
                        <a:ext cx="2493963" cy="479425"/>
                      </a:xfrm>
                      <a:prstGeom prst="rect">
                        <a:avLst/>
                      </a:prstGeom>
                    </p:spPr>
                  </p:pic>
                </p:oleObj>
              </mc:Fallback>
            </mc:AlternateContent>
          </a:graphicData>
        </a:graphic>
      </p:graphicFrame>
    </p:spTree>
    <p:extLst>
      <p:ext uri="{BB962C8B-B14F-4D97-AF65-F5344CB8AC3E}">
        <p14:creationId xmlns:p14="http://schemas.microsoft.com/office/powerpoint/2010/main" val="431757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(5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915385"/>
          </a:xfrm>
        </p:spPr>
        <p:txBody>
          <a:bodyPr/>
          <a:lstStyle/>
          <a:p>
            <a:r>
              <a:rPr lang="en-US" altLang="en-US" sz="2400" dirty="0">
                <a:ea typeface="ヒラギノ角ゴ Pro W3" pitchFamily="-84" charset="-128"/>
              </a:rPr>
              <a:t>Constraint on capital that capital used cannot exceed supply for the numerical example:</a:t>
            </a:r>
          </a:p>
        </p:txBody>
      </p:sp>
      <p:graphicFrame>
        <p:nvGraphicFramePr>
          <p:cNvPr id="3" name="Object 2" descr="2 Q sub C + 3 Q sub F is less than or equal to 3000">
            <a:extLst>
              <a:ext uri="{FF2B5EF4-FFF2-40B4-BE49-F238E27FC236}">
                <a16:creationId xmlns:a16="http://schemas.microsoft.com/office/drawing/2014/main" id="{BDF30FA6-9D51-47EE-A3C9-3564DED5EE07}"/>
              </a:ext>
            </a:extLst>
          </p:cNvPr>
          <p:cNvGraphicFramePr>
            <a:graphicFrameLocks noChangeAspect="1"/>
          </p:cNvGraphicFramePr>
          <p:nvPr>
            <p:extLst>
              <p:ext uri="{D42A27DB-BD31-4B8C-83A1-F6EECF244321}">
                <p14:modId xmlns:p14="http://schemas.microsoft.com/office/powerpoint/2010/main" val="2638573906"/>
              </p:ext>
            </p:extLst>
          </p:nvPr>
        </p:nvGraphicFramePr>
        <p:xfrm>
          <a:off x="3298031" y="2781996"/>
          <a:ext cx="2547937" cy="479425"/>
        </p:xfrm>
        <a:graphic>
          <a:graphicData uri="http://schemas.openxmlformats.org/presentationml/2006/ole">
            <mc:AlternateContent xmlns:mc="http://schemas.openxmlformats.org/markup-compatibility/2006">
              <mc:Choice xmlns:v="urn:schemas-microsoft-com:vml" Requires="v">
                <p:oleObj spid="_x0000_s4100" name="Equation" r:id="rId3" imgW="2548340" imgH="478765" progId="Equation.DSMT4">
                  <p:embed/>
                </p:oleObj>
              </mc:Choice>
              <mc:Fallback>
                <p:oleObj name="Equation" r:id="rId3" imgW="2548340" imgH="478765" progId="Equation.DSMT4">
                  <p:embed/>
                  <p:pic>
                    <p:nvPicPr>
                      <p:cNvPr id="0" name=""/>
                      <p:cNvPicPr/>
                      <p:nvPr/>
                    </p:nvPicPr>
                    <p:blipFill>
                      <a:blip r:embed="rId4"/>
                      <a:stretch>
                        <a:fillRect/>
                      </a:stretch>
                    </p:blipFill>
                    <p:spPr>
                      <a:xfrm>
                        <a:off x="3298031" y="2781996"/>
                        <a:ext cx="2547937" cy="47942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3597210"/>
            <a:ext cx="8229600" cy="915385"/>
          </a:xfrm>
        </p:spPr>
        <p:txBody>
          <a:bodyPr/>
          <a:lstStyle/>
          <a:p>
            <a:r>
              <a:rPr lang="en-US" altLang="en-US" sz="2400" dirty="0">
                <a:ea typeface="ヒラギノ角ゴ Pro W3" pitchFamily="-84" charset="-128"/>
              </a:rPr>
              <a:t>Constraint on labor that labor used cannot exceed labor supply:</a:t>
            </a:r>
            <a:endParaRPr lang="en-US" sz="2400" dirty="0"/>
          </a:p>
        </p:txBody>
      </p:sp>
      <p:graphicFrame>
        <p:nvGraphicFramePr>
          <p:cNvPr id="4" name="Object 3" descr="2 Q sub C + Q sub F is less than or equal to 2000">
            <a:extLst>
              <a:ext uri="{FF2B5EF4-FFF2-40B4-BE49-F238E27FC236}">
                <a16:creationId xmlns:a16="http://schemas.microsoft.com/office/drawing/2014/main" id="{1EB0FDFA-D92C-435F-8CCF-31C4DBE2087B}"/>
              </a:ext>
            </a:extLst>
          </p:cNvPr>
          <p:cNvGraphicFramePr>
            <a:graphicFrameLocks noChangeAspect="1"/>
          </p:cNvGraphicFramePr>
          <p:nvPr>
            <p:extLst>
              <p:ext uri="{D42A27DB-BD31-4B8C-83A1-F6EECF244321}">
                <p14:modId xmlns:p14="http://schemas.microsoft.com/office/powerpoint/2010/main" val="2794201736"/>
              </p:ext>
            </p:extLst>
          </p:nvPr>
        </p:nvGraphicFramePr>
        <p:xfrm>
          <a:off x="3378200" y="4814365"/>
          <a:ext cx="2386013" cy="479425"/>
        </p:xfrm>
        <a:graphic>
          <a:graphicData uri="http://schemas.openxmlformats.org/presentationml/2006/ole">
            <mc:AlternateContent xmlns:mc="http://schemas.openxmlformats.org/markup-compatibility/2006">
              <mc:Choice xmlns:v="urn:schemas-microsoft-com:vml" Requires="v">
                <p:oleObj spid="_x0000_s4101" name="Equation" r:id="rId5" imgW="2386774" imgH="480207" progId="Equation.DSMT4">
                  <p:embed/>
                </p:oleObj>
              </mc:Choice>
              <mc:Fallback>
                <p:oleObj name="Equation" r:id="rId5" imgW="2386774" imgH="480207" progId="Equation.DSMT4">
                  <p:embed/>
                  <p:pic>
                    <p:nvPicPr>
                      <p:cNvPr id="0" name=""/>
                      <p:cNvPicPr/>
                      <p:nvPr/>
                    </p:nvPicPr>
                    <p:blipFill>
                      <a:blip r:embed="rId6"/>
                      <a:stretch>
                        <a:fillRect/>
                      </a:stretch>
                    </p:blipFill>
                    <p:spPr>
                      <a:xfrm>
                        <a:off x="3378200" y="4814365"/>
                        <a:ext cx="2386013" cy="479425"/>
                      </a:xfrm>
                      <a:prstGeom prst="rect">
                        <a:avLst/>
                      </a:prstGeom>
                    </p:spPr>
                  </p:pic>
                </p:oleObj>
              </mc:Fallback>
            </mc:AlternateContent>
          </a:graphicData>
        </a:graphic>
      </p:graphicFrame>
    </p:spTree>
    <p:extLst>
      <p:ext uri="{BB962C8B-B14F-4D97-AF65-F5344CB8AC3E}">
        <p14:creationId xmlns:p14="http://schemas.microsoft.com/office/powerpoint/2010/main" val="405693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(6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229600" cy="2069742"/>
          </a:xfrm>
        </p:spPr>
        <p:txBody>
          <a:bodyPr/>
          <a:lstStyle/>
          <a:p>
            <a:r>
              <a:rPr lang="en-US" altLang="en-US" sz="2400" dirty="0">
                <a:ea typeface="ヒラギノ角ゴ Pro W3" pitchFamily="-84" charset="-128"/>
              </a:rPr>
              <a:t>Economy must produce subject to both constraints—that is, it must have enough capital and labor.</a:t>
            </a:r>
          </a:p>
          <a:p>
            <a:r>
              <a:rPr lang="en-US" altLang="en-US" sz="2400" dirty="0">
                <a:ea typeface="ヒラギノ角ゴ Pro W3" pitchFamily="-84" charset="-128"/>
              </a:rPr>
              <a:t>Without factor substitution, the production possibilities frontier is the interior of the two factor constraints.</a:t>
            </a:r>
          </a:p>
        </p:txBody>
      </p:sp>
    </p:spTree>
    <p:extLst>
      <p:ext uri="{BB962C8B-B14F-4D97-AF65-F5344CB8AC3E}">
        <p14:creationId xmlns:p14="http://schemas.microsoft.com/office/powerpoint/2010/main" val="4071683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(7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7"/>
            <a:ext cx="8077200" cy="3252156"/>
          </a:xfrm>
        </p:spPr>
        <p:txBody>
          <a:bodyPr/>
          <a:lstStyle/>
          <a:p>
            <a:r>
              <a:rPr lang="en-US" altLang="en-US" sz="2400" dirty="0">
                <a:ea typeface="ヒラギノ角ゴ Pro W3" pitchFamily="-84" charset="-128"/>
              </a:rPr>
              <a:t>Max food production 1000 (point 1) fully uses capital, with excess labor.</a:t>
            </a:r>
          </a:p>
          <a:p>
            <a:r>
              <a:rPr lang="en-US" altLang="en-US" sz="2400" dirty="0">
                <a:ea typeface="ヒラギノ角ゴ Pro W3" pitchFamily="-84" charset="-128"/>
              </a:rPr>
              <a:t>Max cloth 1000 (point 2) fully uses labor, with excess capital.</a:t>
            </a:r>
          </a:p>
          <a:p>
            <a:r>
              <a:rPr lang="en-US" altLang="en-US" sz="2400" dirty="0">
                <a:ea typeface="ヒラギノ角ゴ Pro W3" pitchFamily="-84" charset="-128"/>
              </a:rPr>
              <a:t>Intersection of labor and capital constraints occurs at 500 calories of food and 750 yards of cloth (point 3).</a:t>
            </a:r>
          </a:p>
        </p:txBody>
      </p:sp>
    </p:spTree>
    <p:extLst>
      <p:ext uri="{BB962C8B-B14F-4D97-AF65-F5344CB8AC3E}">
        <p14:creationId xmlns:p14="http://schemas.microsoft.com/office/powerpoint/2010/main" val="3782634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5.1 The Production Possibility Frontier without Factor Substitution</a:t>
            </a:r>
            <a:endParaRPr lang="en-IN" sz="3200" dirty="0"/>
          </a:p>
        </p:txBody>
      </p:sp>
      <p:pic>
        <p:nvPicPr>
          <p:cNvPr id="4" name="Content Placeholder 3" descr="The graph plots quantity of food, Q sub F, versus the quantity of cloth, Q sub C. For long description in Notes pane, press F6.">
            <a:extLst>
              <a:ext uri="{FF2B5EF4-FFF2-40B4-BE49-F238E27FC236}">
                <a16:creationId xmlns:a16="http://schemas.microsoft.com/office/drawing/2014/main" id="{FA2156F3-5BEA-42A9-B474-38A534A0A67C}"/>
              </a:ext>
            </a:extLst>
          </p:cNvPr>
          <p:cNvPicPr>
            <a:picLocks noGrp="1" noChangeAspect="1"/>
          </p:cNvPicPr>
          <p:nvPr>
            <p:ph sz="quarter" idx="13"/>
          </p:nvPr>
        </p:nvPicPr>
        <p:blipFill>
          <a:blip r:embed="rId3"/>
          <a:stretch>
            <a:fillRect/>
          </a:stretch>
        </p:blipFill>
        <p:spPr>
          <a:xfrm>
            <a:off x="2518935" y="1690788"/>
            <a:ext cx="4106130" cy="3020467"/>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199" y="4818222"/>
            <a:ext cx="8528757" cy="1527015"/>
          </a:xfrm>
        </p:spPr>
        <p:txBody>
          <a:bodyPr/>
          <a:lstStyle/>
          <a:p>
            <a:pPr marL="0" indent="0">
              <a:buNone/>
            </a:pPr>
            <a:r>
              <a:rPr lang="en-US" sz="1800" dirty="0"/>
              <a:t>If capital cannot be substituted for labor or vice versa, the production possibility frontier in the factor-proportions model would be defined by two resource constraints: The economy can’t use more than the available supply of labor (2,000 work-hours) or capital (3,000 machine-hours). So the production possibility frontier is defined by the red line in this figure.</a:t>
            </a:r>
          </a:p>
        </p:txBody>
      </p:sp>
    </p:spTree>
    <p:extLst>
      <p:ext uri="{BB962C8B-B14F-4D97-AF65-F5344CB8AC3E}">
        <p14:creationId xmlns:p14="http://schemas.microsoft.com/office/powerpoint/2010/main" val="25705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(8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p:txBody>
          <a:bodyPr/>
          <a:lstStyle/>
          <a:p>
            <a:r>
              <a:rPr lang="en-US" altLang="en-US" sz="2400" dirty="0">
                <a:ea typeface="ヒラギノ角ゴ Pro W3" pitchFamily="-84" charset="-128"/>
              </a:rPr>
              <a:t>The opportunity cost of producing one more yard of cloth, in terms of food, is not constant:</a:t>
            </a:r>
          </a:p>
        </p:txBody>
      </p:sp>
      <p:sp>
        <p:nvSpPr>
          <p:cNvPr id="3" name="Content Placeholder 2">
            <a:extLst>
              <a:ext uri="{FF2B5EF4-FFF2-40B4-BE49-F238E27FC236}">
                <a16:creationId xmlns:a16="http://schemas.microsoft.com/office/drawing/2014/main" id="{F70872F9-AC91-4DE0-8A7F-0A73080EC63B}"/>
              </a:ext>
            </a:extLst>
          </p:cNvPr>
          <p:cNvSpPr>
            <a:spLocks noGrp="1"/>
          </p:cNvSpPr>
          <p:nvPr>
            <p:ph sz="quarter" idx="14"/>
          </p:nvPr>
        </p:nvSpPr>
        <p:spPr>
          <a:xfrm>
            <a:off x="457200" y="2686919"/>
            <a:ext cx="1513490" cy="509587"/>
          </a:xfrm>
        </p:spPr>
        <p:txBody>
          <a:bodyPr/>
          <a:lstStyle/>
          <a:p>
            <a:pPr lvl="1">
              <a:lnSpc>
                <a:spcPct val="90000"/>
              </a:lnSpc>
              <a:spcBef>
                <a:spcPct val="50000"/>
              </a:spcBef>
            </a:pPr>
            <a:r>
              <a:rPr lang="en-US" altLang="en-US" sz="2400" b="1" dirty="0">
                <a:ea typeface="ヒラギノ角ゴ Pro W3" pitchFamily="-84" charset="-128"/>
              </a:rPr>
              <a:t>low</a:t>
            </a:r>
            <a:endParaRPr lang="en-US" dirty="0"/>
          </a:p>
        </p:txBody>
      </p:sp>
      <p:graphicFrame>
        <p:nvGraphicFramePr>
          <p:cNvPr id="8" name="Object 7" descr="left parenthesis 2 thirds in example right parenthesis ">
            <a:extLst>
              <a:ext uri="{FF2B5EF4-FFF2-40B4-BE49-F238E27FC236}">
                <a16:creationId xmlns:a16="http://schemas.microsoft.com/office/drawing/2014/main" id="{F3A8E76F-7F6E-47A9-969B-7BD1B08753F1}"/>
              </a:ext>
            </a:extLst>
          </p:cNvPr>
          <p:cNvGraphicFramePr>
            <a:graphicFrameLocks noChangeAspect="1"/>
          </p:cNvGraphicFramePr>
          <p:nvPr>
            <p:extLst>
              <p:ext uri="{D42A27DB-BD31-4B8C-83A1-F6EECF244321}">
                <p14:modId xmlns:p14="http://schemas.microsoft.com/office/powerpoint/2010/main" val="2704172819"/>
              </p:ext>
            </p:extLst>
          </p:nvPr>
        </p:nvGraphicFramePr>
        <p:xfrm>
          <a:off x="2087024" y="2512615"/>
          <a:ext cx="2152194" cy="840474"/>
        </p:xfrm>
        <a:graphic>
          <a:graphicData uri="http://schemas.openxmlformats.org/presentationml/2006/ole">
            <mc:AlternateContent xmlns:mc="http://schemas.openxmlformats.org/markup-compatibility/2006">
              <mc:Choice xmlns:v="urn:schemas-microsoft-com:vml" Requires="v">
                <p:oleObj spid="_x0000_s5123" name="Equation" r:id="rId3" imgW="2109343" imgH="824500" progId="Equation.DSMT4">
                  <p:embed/>
                </p:oleObj>
              </mc:Choice>
              <mc:Fallback>
                <p:oleObj name="Equation" r:id="rId3" imgW="2109343" imgH="824500" progId="Equation.DSMT4">
                  <p:embed/>
                  <p:pic>
                    <p:nvPicPr>
                      <p:cNvPr id="0" name=""/>
                      <p:cNvPicPr/>
                      <p:nvPr/>
                    </p:nvPicPr>
                    <p:blipFill>
                      <a:blip r:embed="rId4"/>
                      <a:stretch>
                        <a:fillRect/>
                      </a:stretch>
                    </p:blipFill>
                    <p:spPr>
                      <a:xfrm>
                        <a:off x="2087024" y="2512615"/>
                        <a:ext cx="2152194" cy="840474"/>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F36B653-AC33-4AF7-86AE-BB602FABFB05}"/>
              </a:ext>
            </a:extLst>
          </p:cNvPr>
          <p:cNvSpPr>
            <a:spLocks noGrp="1"/>
          </p:cNvSpPr>
          <p:nvPr>
            <p:ph sz="quarter" idx="15"/>
          </p:nvPr>
        </p:nvSpPr>
        <p:spPr>
          <a:xfrm>
            <a:off x="4346777" y="2658570"/>
            <a:ext cx="4209393" cy="526284"/>
          </a:xfrm>
        </p:spPr>
        <p:txBody>
          <a:bodyPr/>
          <a:lstStyle/>
          <a:p>
            <a:pPr marL="0" lvl="1" indent="0">
              <a:buNone/>
            </a:pPr>
            <a:r>
              <a:rPr lang="en-US" altLang="en-US" sz="2400" dirty="0">
                <a:latin typeface="+mn-lt"/>
                <a:ea typeface="ヒラギノ角ゴ Pro W3" pitchFamily="-84" charset="-128"/>
              </a:rPr>
              <a:t>when the economy produces</a:t>
            </a:r>
            <a:endParaRPr lang="en-US" sz="2400" dirty="0">
              <a:latin typeface="+mn-lt"/>
            </a:endParaRPr>
          </a:p>
        </p:txBody>
      </p:sp>
      <p:sp>
        <p:nvSpPr>
          <p:cNvPr id="5" name="Content Placeholder 4">
            <a:extLst>
              <a:ext uri="{FF2B5EF4-FFF2-40B4-BE49-F238E27FC236}">
                <a16:creationId xmlns:a16="http://schemas.microsoft.com/office/drawing/2014/main" id="{66430B09-5B86-4EA6-A538-BD51C1CA2DE5}"/>
              </a:ext>
            </a:extLst>
          </p:cNvPr>
          <p:cNvSpPr>
            <a:spLocks noGrp="1"/>
          </p:cNvSpPr>
          <p:nvPr>
            <p:ph sz="quarter" idx="16"/>
          </p:nvPr>
        </p:nvSpPr>
        <p:spPr>
          <a:xfrm>
            <a:off x="457200" y="3466493"/>
            <a:ext cx="8229600" cy="2844000"/>
          </a:xfrm>
        </p:spPr>
        <p:txBody>
          <a:bodyPr tIns="0"/>
          <a:lstStyle/>
          <a:p>
            <a:pPr marL="746125" lvl="1" indent="0">
              <a:lnSpc>
                <a:spcPct val="90000"/>
              </a:lnSpc>
              <a:spcBef>
                <a:spcPct val="50000"/>
              </a:spcBef>
              <a:buNone/>
            </a:pPr>
            <a:r>
              <a:rPr lang="en-US" altLang="en-US" sz="2400" dirty="0">
                <a:latin typeface="+mn-lt"/>
                <a:ea typeface="ヒラギノ角ゴ Pro W3" pitchFamily="-84" charset="-128"/>
              </a:rPr>
              <a:t>a </a:t>
            </a:r>
            <a:r>
              <a:rPr lang="en-US" altLang="en-US" sz="2400" b="1" dirty="0">
                <a:latin typeface="+mn-lt"/>
                <a:ea typeface="ヒラギノ角ゴ Pro W3" pitchFamily="-84" charset="-128"/>
              </a:rPr>
              <a:t>low amount of cloth</a:t>
            </a:r>
            <a:r>
              <a:rPr lang="en-US" altLang="en-US" sz="2400" dirty="0">
                <a:latin typeface="+mn-lt"/>
                <a:ea typeface="ヒラギノ角ゴ Pro W3" pitchFamily="-84" charset="-128"/>
              </a:rPr>
              <a:t> and a high amount of food</a:t>
            </a:r>
          </a:p>
          <a:p>
            <a:pPr lvl="1" indent="-284400"/>
            <a:r>
              <a:rPr lang="en-US" altLang="en-US" sz="2400" b="1" dirty="0">
                <a:latin typeface="+mn-lt"/>
                <a:ea typeface="ヒラギノ角ゴ Pro W3" pitchFamily="-84" charset="-128"/>
              </a:rPr>
              <a:t>high </a:t>
            </a:r>
            <a:r>
              <a:rPr lang="en-US" altLang="en-US" sz="2400" dirty="0">
                <a:latin typeface="+mn-lt"/>
                <a:ea typeface="ヒラギノ角ゴ Pro W3" pitchFamily="-84" charset="-128"/>
              </a:rPr>
              <a:t>(2 in example) when the economy produces a </a:t>
            </a:r>
            <a:r>
              <a:rPr lang="en-US" altLang="en-US" sz="2400" b="1" dirty="0">
                <a:latin typeface="+mn-lt"/>
                <a:ea typeface="ヒラギノ角ゴ Pro W3" pitchFamily="-84" charset="-128"/>
              </a:rPr>
              <a:t>high amount of cloth </a:t>
            </a:r>
            <a:r>
              <a:rPr lang="en-US" altLang="en-US" sz="2400" dirty="0">
                <a:latin typeface="+mn-lt"/>
                <a:ea typeface="ヒラギノ角ゴ Pro W3" pitchFamily="-84" charset="-128"/>
              </a:rPr>
              <a:t>and a low amount of food</a:t>
            </a:r>
          </a:p>
          <a:p>
            <a:pPr indent="-255600"/>
            <a:r>
              <a:rPr lang="en-US" altLang="en-US" sz="2400" dirty="0">
                <a:latin typeface="+mn-lt"/>
                <a:ea typeface="ヒラギノ角ゴ Pro W3" pitchFamily="-84" charset="-128"/>
              </a:rPr>
              <a:t>Why? Because when the economy devotes more resources towards production of one good, the marginal productivity of those resources tends to be low so that the opportunity cost is high.</a:t>
            </a:r>
            <a:endParaRPr lang="en-US" sz="2400" dirty="0">
              <a:latin typeface="+mn-lt"/>
            </a:endParaRPr>
          </a:p>
        </p:txBody>
      </p:sp>
    </p:spTree>
    <p:extLst>
      <p:ext uri="{BB962C8B-B14F-4D97-AF65-F5344CB8AC3E}">
        <p14:creationId xmlns:p14="http://schemas.microsoft.com/office/powerpoint/2010/main" val="336140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(9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8229600" cy="4198087"/>
          </a:xfrm>
        </p:spPr>
        <p:txBody>
          <a:bodyPr/>
          <a:lstStyle/>
          <a:p>
            <a:r>
              <a:rPr lang="en-US" altLang="en-US" sz="2400" dirty="0">
                <a:ea typeface="ヒラギノ角ゴ Pro W3" pitchFamily="-84" charset="-128"/>
              </a:rPr>
              <a:t>The above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equations do not allow substitution of capital for labor in production.</a:t>
            </a:r>
          </a:p>
          <a:p>
            <a:pPr lvl="1"/>
            <a:r>
              <a:rPr lang="en-US" altLang="en-US" sz="2400" dirty="0">
                <a:ea typeface="ヒラギノ角ゴ Pro W3" pitchFamily="-84" charset="-128"/>
              </a:rPr>
              <a:t>Unit factor requirements are constant along each line segment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a:t>
            </a:r>
          </a:p>
          <a:p>
            <a:r>
              <a:rPr lang="en-US" altLang="en-US" sz="2400" dirty="0">
                <a:ea typeface="ヒラギノ角ゴ Pro W3" pitchFamily="-84" charset="-128"/>
              </a:rPr>
              <a:t>If producers can substitute one input for another in the production process, then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curved (bowed).</a:t>
            </a:r>
          </a:p>
          <a:p>
            <a:pPr lvl="1"/>
            <a:r>
              <a:rPr lang="en-US" altLang="en-US" sz="2400" dirty="0">
                <a:ea typeface="ヒラギノ角ゴ Pro W3" pitchFamily="-84" charset="-128"/>
              </a:rPr>
              <a:t>Opportunity cost of cloth increases as producers make more cloth.</a:t>
            </a:r>
          </a:p>
        </p:txBody>
      </p:sp>
    </p:spTree>
    <p:extLst>
      <p:ext uri="{BB962C8B-B14F-4D97-AF65-F5344CB8AC3E}">
        <p14:creationId xmlns:p14="http://schemas.microsoft.com/office/powerpoint/2010/main" val="339621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5.2 The Production Possibility Frontier with Factor Substitution</a:t>
            </a:r>
            <a:endParaRPr lang="en-IN" sz="3200" dirty="0"/>
          </a:p>
        </p:txBody>
      </p:sp>
      <p:pic>
        <p:nvPicPr>
          <p:cNvPr id="7" name="Content Placeholder 6" descr="A graph plots quantity of food, Q sub F, versus quantity of cloth, Q sub C. The plot for, P P, falls with increasing steepness from y to x-axis.">
            <a:extLst>
              <a:ext uri="{FF2B5EF4-FFF2-40B4-BE49-F238E27FC236}">
                <a16:creationId xmlns:a16="http://schemas.microsoft.com/office/drawing/2014/main" id="{0605417F-4C57-406C-9023-47EBCB162159}"/>
              </a:ext>
            </a:extLst>
          </p:cNvPr>
          <p:cNvPicPr>
            <a:picLocks noGrp="1" noChangeAspect="1"/>
          </p:cNvPicPr>
          <p:nvPr>
            <p:ph sz="quarter" idx="13"/>
          </p:nvPr>
        </p:nvPicPr>
        <p:blipFill>
          <a:blip r:embed="rId3"/>
          <a:stretch>
            <a:fillRect/>
          </a:stretch>
        </p:blipFill>
        <p:spPr>
          <a:xfrm>
            <a:off x="2321961" y="1661024"/>
            <a:ext cx="4500076" cy="3160165"/>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928582"/>
            <a:ext cx="8229600" cy="1416655"/>
          </a:xfrm>
        </p:spPr>
        <p:txBody>
          <a:bodyPr/>
          <a:lstStyle/>
          <a:p>
            <a:pPr marL="0" indent="0">
              <a:buNone/>
            </a:pPr>
            <a:r>
              <a:rPr lang="en-US" sz="2000" dirty="0"/>
              <a:t>If capital can be substituted for labor and vice versa, the production possibility frontier no longer has a kink. But it remains true that the opportunity cost of cloth in terms of food rises as the economy’s production mix shifts toward cloth and away from food.</a:t>
            </a:r>
          </a:p>
        </p:txBody>
      </p:sp>
    </p:spTree>
    <p:extLst>
      <p:ext uri="{BB962C8B-B14F-4D97-AF65-F5344CB8AC3E}">
        <p14:creationId xmlns:p14="http://schemas.microsoft.com/office/powerpoint/2010/main" val="145671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Production Possibilities </a:t>
            </a:r>
            <a:r>
              <a:rPr lang="en-US" altLang="en-US" sz="2000" b="0" dirty="0">
                <a:ea typeface="ヒラギノ角ゴ Pro W3" pitchFamily="-84" charset="-128"/>
              </a:rPr>
              <a:t>(10 of 11)</a:t>
            </a:r>
            <a:endParaRPr lang="en-IN" sz="2000" dirty="0"/>
          </a:p>
        </p:txBody>
      </p:sp>
      <p:sp>
        <p:nvSpPr>
          <p:cNvPr id="9" name="Content Placeholder 8">
            <a:extLst>
              <a:ext uri="{FF2B5EF4-FFF2-40B4-BE49-F238E27FC236}">
                <a16:creationId xmlns:a16="http://schemas.microsoft.com/office/drawing/2014/main" id="{0731AD2A-61F5-4EFA-98A5-5F3A19584F45}"/>
              </a:ext>
            </a:extLst>
          </p:cNvPr>
          <p:cNvSpPr>
            <a:spLocks noGrp="1"/>
          </p:cNvSpPr>
          <p:nvPr>
            <p:ph sz="quarter" idx="13"/>
          </p:nvPr>
        </p:nvSpPr>
        <p:spPr>
          <a:xfrm>
            <a:off x="457200" y="1556327"/>
            <a:ext cx="8177832" cy="2355737"/>
          </a:xfrm>
        </p:spPr>
        <p:txBody>
          <a:bodyPr/>
          <a:lstStyle/>
          <a:p>
            <a:pPr>
              <a:spcBef>
                <a:spcPct val="50000"/>
              </a:spcBef>
            </a:pPr>
            <a:r>
              <a:rPr lang="en-US" altLang="en-US" sz="2400" dirty="0">
                <a:ea typeface="ヒラギノ角ゴ Pro W3" pitchFamily="-84" charset="-128"/>
              </a:rPr>
              <a:t>What does the country produce?</a:t>
            </a:r>
          </a:p>
          <a:p>
            <a:pPr>
              <a:spcBef>
                <a:spcPct val="50000"/>
              </a:spcBef>
            </a:pPr>
            <a:r>
              <a:rPr lang="en-US" altLang="en-US" sz="2400" dirty="0">
                <a:ea typeface="ヒラギノ角ゴ Pro W3" pitchFamily="-84" charset="-128"/>
              </a:rPr>
              <a:t>The economy produces at the point that maximizes the value of production, </a:t>
            </a:r>
            <a:r>
              <a:rPr lang="en-US" altLang="en-US" sz="2400" i="1" dirty="0">
                <a:ea typeface="ヒラギノ角ゴ Pro W3" pitchFamily="-84" charset="-128"/>
              </a:rPr>
              <a:t>V.</a:t>
            </a:r>
            <a:endParaRPr lang="en-US" altLang="en-US" sz="2400" dirty="0">
              <a:ea typeface="ヒラギノ角ゴ Pro W3" pitchFamily="-84" charset="-128"/>
            </a:endParaRPr>
          </a:p>
          <a:p>
            <a:r>
              <a:rPr lang="en-US" altLang="en-US" sz="2400" dirty="0">
                <a:ea typeface="ヒラギノ角ゴ Pro W3" pitchFamily="-84" charset="-128"/>
              </a:rPr>
              <a:t>An </a:t>
            </a:r>
            <a:r>
              <a:rPr lang="en-US" altLang="en-US" sz="2400" b="1" dirty="0">
                <a:ea typeface="ヒラギノ角ゴ Pro W3" pitchFamily="-84" charset="-128"/>
              </a:rPr>
              <a:t>isovalue </a:t>
            </a:r>
            <a:r>
              <a:rPr lang="en-US" altLang="en-US" sz="2400" dirty="0">
                <a:ea typeface="ヒラギノ角ゴ Pro W3" pitchFamily="-84" charset="-128"/>
              </a:rPr>
              <a:t>line is a line representing a constant value of production, </a:t>
            </a:r>
            <a:r>
              <a:rPr lang="en-US" altLang="en-US" sz="2400" i="1" dirty="0">
                <a:ea typeface="ヒラギノ角ゴ Pro W3" pitchFamily="-84" charset="-128"/>
              </a:rPr>
              <a:t>V:</a:t>
            </a:r>
            <a:endParaRPr lang="en-US" dirty="0"/>
          </a:p>
        </p:txBody>
      </p:sp>
      <p:graphicFrame>
        <p:nvGraphicFramePr>
          <p:cNvPr id="14" name="Object 13" descr="V = P sub C Q sub C + P sub F Q sub F ">
            <a:extLst>
              <a:ext uri="{FF2B5EF4-FFF2-40B4-BE49-F238E27FC236}">
                <a16:creationId xmlns:a16="http://schemas.microsoft.com/office/drawing/2014/main" id="{4347A3F3-2649-4AF7-9FC4-DBB943B4D899}"/>
              </a:ext>
            </a:extLst>
          </p:cNvPr>
          <p:cNvGraphicFramePr>
            <a:graphicFrameLocks noChangeAspect="1"/>
          </p:cNvGraphicFramePr>
          <p:nvPr>
            <p:extLst>
              <p:ext uri="{D42A27DB-BD31-4B8C-83A1-F6EECF244321}">
                <p14:modId xmlns:p14="http://schemas.microsoft.com/office/powerpoint/2010/main" val="1448937844"/>
              </p:ext>
            </p:extLst>
          </p:nvPr>
        </p:nvGraphicFramePr>
        <p:xfrm>
          <a:off x="3403600" y="4012919"/>
          <a:ext cx="2336800" cy="477837"/>
        </p:xfrm>
        <a:graphic>
          <a:graphicData uri="http://schemas.openxmlformats.org/presentationml/2006/ole">
            <mc:AlternateContent xmlns:mc="http://schemas.openxmlformats.org/markup-compatibility/2006">
              <mc:Choice xmlns:v="urn:schemas-microsoft-com:vml" Requires="v">
                <p:oleObj spid="_x0000_s6149" name="Equation" r:id="rId4" imgW="2336398" imgH="477323" progId="Equation.DSMT4">
                  <p:embed/>
                </p:oleObj>
              </mc:Choice>
              <mc:Fallback>
                <p:oleObj name="Equation" r:id="rId4" imgW="2336398" imgH="477323" progId="Equation.DSMT4">
                  <p:embed/>
                  <p:pic>
                    <p:nvPicPr>
                      <p:cNvPr id="0" name=""/>
                      <p:cNvPicPr/>
                      <p:nvPr/>
                    </p:nvPicPr>
                    <p:blipFill>
                      <a:blip r:embed="rId5"/>
                      <a:stretch>
                        <a:fillRect/>
                      </a:stretch>
                    </p:blipFill>
                    <p:spPr>
                      <a:xfrm>
                        <a:off x="3403600" y="4012919"/>
                        <a:ext cx="2336800" cy="47783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587808"/>
            <a:ext cx="1798320" cy="432000"/>
          </a:xfrm>
        </p:spPr>
        <p:txBody>
          <a:bodyPr tIns="0"/>
          <a:lstStyle/>
          <a:p>
            <a:pPr lvl="1">
              <a:buFont typeface="Arial" panose="020B0604020202020204" pitchFamily="34" charset="0"/>
              <a:buChar char="–"/>
            </a:pPr>
            <a:r>
              <a:rPr lang="en-US" altLang="en-US" sz="2400" dirty="0">
                <a:ea typeface="ヒラギノ角ゴ Pro W3" pitchFamily="-84" charset="-128"/>
              </a:rPr>
              <a:t>where</a:t>
            </a:r>
            <a:endParaRPr lang="en-US" dirty="0"/>
          </a:p>
        </p:txBody>
      </p:sp>
      <p:graphicFrame>
        <p:nvGraphicFramePr>
          <p:cNvPr id="10" name="Object 9" descr="P sub C and P sub F ">
            <a:extLst>
              <a:ext uri="{FF2B5EF4-FFF2-40B4-BE49-F238E27FC236}">
                <a16:creationId xmlns:a16="http://schemas.microsoft.com/office/drawing/2014/main" id="{BBEF657C-D18A-46D5-9190-26F282C33EFD}"/>
              </a:ext>
            </a:extLst>
          </p:cNvPr>
          <p:cNvGraphicFramePr>
            <a:graphicFrameLocks noChangeAspect="1"/>
          </p:cNvGraphicFramePr>
          <p:nvPr>
            <p:extLst>
              <p:ext uri="{D42A27DB-BD31-4B8C-83A1-F6EECF244321}">
                <p14:modId xmlns:p14="http://schemas.microsoft.com/office/powerpoint/2010/main" val="2989826102"/>
              </p:ext>
            </p:extLst>
          </p:nvPr>
        </p:nvGraphicFramePr>
        <p:xfrm>
          <a:off x="2334669" y="4601977"/>
          <a:ext cx="1410253" cy="460613"/>
        </p:xfrm>
        <a:graphic>
          <a:graphicData uri="http://schemas.openxmlformats.org/presentationml/2006/ole">
            <mc:AlternateContent xmlns:mc="http://schemas.openxmlformats.org/markup-compatibility/2006">
              <mc:Choice xmlns:v="urn:schemas-microsoft-com:vml" Requires="v">
                <p:oleObj spid="_x0000_s6150" name="Equation" r:id="rId6" imgW="1496547" imgH="489220" progId="Equation.DSMT4">
                  <p:embed/>
                </p:oleObj>
              </mc:Choice>
              <mc:Fallback>
                <p:oleObj name="Equation" r:id="rId6" imgW="1496547" imgH="489220" progId="Equation.DSMT4">
                  <p:embed/>
                  <p:pic>
                    <p:nvPicPr>
                      <p:cNvPr id="0" name=""/>
                      <p:cNvPicPr/>
                      <p:nvPr/>
                    </p:nvPicPr>
                    <p:blipFill>
                      <a:blip r:embed="rId7"/>
                      <a:stretch>
                        <a:fillRect/>
                      </a:stretch>
                    </p:blipFill>
                    <p:spPr>
                      <a:xfrm>
                        <a:off x="2334669" y="4601977"/>
                        <a:ext cx="1410253" cy="460613"/>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91FEEF71-B7E1-4564-BD4C-8FC4A9843E78}"/>
              </a:ext>
            </a:extLst>
          </p:cNvPr>
          <p:cNvSpPr>
            <a:spLocks noGrp="1"/>
          </p:cNvSpPr>
          <p:nvPr>
            <p:ph sz="quarter" idx="15"/>
          </p:nvPr>
        </p:nvSpPr>
        <p:spPr>
          <a:xfrm>
            <a:off x="3824712" y="4612140"/>
            <a:ext cx="4536000" cy="396000"/>
          </a:xfrm>
        </p:spPr>
        <p:txBody>
          <a:bodyPr tIns="0"/>
          <a:lstStyle/>
          <a:p>
            <a:pPr marL="0" lvl="1" indent="0">
              <a:buNone/>
            </a:pPr>
            <a:r>
              <a:rPr lang="en-US" altLang="en-US" sz="2400" dirty="0">
                <a:latin typeface="+mn-lt"/>
                <a:ea typeface="ヒラギノ角ゴ Pro W3" pitchFamily="-84" charset="-128"/>
              </a:rPr>
              <a:t>are the prices of cloth and food.</a:t>
            </a:r>
            <a:endParaRPr lang="en-US" sz="2400" dirty="0">
              <a:latin typeface="+mn-lt"/>
            </a:endParaRPr>
          </a:p>
        </p:txBody>
      </p:sp>
      <p:sp>
        <p:nvSpPr>
          <p:cNvPr id="3" name="Content Placeholder 2">
            <a:extLst>
              <a:ext uri="{FF2B5EF4-FFF2-40B4-BE49-F238E27FC236}">
                <a16:creationId xmlns:a16="http://schemas.microsoft.com/office/drawing/2014/main" id="{5F3827D6-0E62-4484-9399-1B40D4C72D78}"/>
              </a:ext>
            </a:extLst>
          </p:cNvPr>
          <p:cNvSpPr>
            <a:spLocks noGrp="1"/>
          </p:cNvSpPr>
          <p:nvPr>
            <p:ph sz="quarter" idx="16"/>
          </p:nvPr>
        </p:nvSpPr>
        <p:spPr>
          <a:xfrm>
            <a:off x="457200" y="5281715"/>
            <a:ext cx="4140000" cy="396000"/>
          </a:xfrm>
        </p:spPr>
        <p:txBody>
          <a:bodyPr tIns="0"/>
          <a:lstStyle/>
          <a:p>
            <a:pPr lvl="1" indent="-284400">
              <a:buFont typeface="Arial" panose="020B0604020202020204" pitchFamily="34" charset="0"/>
              <a:buChar char="–"/>
            </a:pPr>
            <a:r>
              <a:rPr lang="en-US" sz="2400" dirty="0">
                <a:latin typeface="+mn-lt"/>
                <a:ea typeface="ヒラギノ角ゴ Pro W3" pitchFamily="-84" charset="-128"/>
              </a:rPr>
              <a:t>slope of isovalue line is</a:t>
            </a:r>
          </a:p>
        </p:txBody>
      </p:sp>
      <p:graphicFrame>
        <p:nvGraphicFramePr>
          <p:cNvPr id="13" name="Object 12" descr="negative start fraction P sub C over P sub F end fraction ">
            <a:extLst>
              <a:ext uri="{FF2B5EF4-FFF2-40B4-BE49-F238E27FC236}">
                <a16:creationId xmlns:a16="http://schemas.microsoft.com/office/drawing/2014/main" id="{FFA40176-8090-4A8A-9C31-4BDBDAC492AC}"/>
              </a:ext>
            </a:extLst>
          </p:cNvPr>
          <p:cNvGraphicFramePr>
            <a:graphicFrameLocks noChangeAspect="1"/>
          </p:cNvGraphicFramePr>
          <p:nvPr>
            <p:extLst>
              <p:ext uri="{D42A27DB-BD31-4B8C-83A1-F6EECF244321}">
                <p14:modId xmlns:p14="http://schemas.microsoft.com/office/powerpoint/2010/main" val="1347288727"/>
              </p:ext>
            </p:extLst>
          </p:nvPr>
        </p:nvGraphicFramePr>
        <p:xfrm>
          <a:off x="4694192" y="5115236"/>
          <a:ext cx="661266" cy="855087"/>
        </p:xfrm>
        <a:graphic>
          <a:graphicData uri="http://schemas.openxmlformats.org/presentationml/2006/ole">
            <mc:AlternateContent xmlns:mc="http://schemas.openxmlformats.org/markup-compatibility/2006">
              <mc:Choice xmlns:v="urn:schemas-microsoft-com:vml" Requires="v">
                <p:oleObj spid="_x0000_s6151" name="Equation" r:id="rId8" imgW="736219" imgH="952484" progId="Equation.DSMT4">
                  <p:embed/>
                </p:oleObj>
              </mc:Choice>
              <mc:Fallback>
                <p:oleObj name="Equation" r:id="rId8" imgW="736219" imgH="952484" progId="Equation.DSMT4">
                  <p:embed/>
                  <p:pic>
                    <p:nvPicPr>
                      <p:cNvPr id="0" name=""/>
                      <p:cNvPicPr/>
                      <p:nvPr/>
                    </p:nvPicPr>
                    <p:blipFill>
                      <a:blip r:embed="rId9"/>
                      <a:stretch>
                        <a:fillRect/>
                      </a:stretch>
                    </p:blipFill>
                    <p:spPr>
                      <a:xfrm>
                        <a:off x="4694192" y="5115236"/>
                        <a:ext cx="661266" cy="855087"/>
                      </a:xfrm>
                      <a:prstGeom prst="rect">
                        <a:avLst/>
                      </a:prstGeom>
                    </p:spPr>
                  </p:pic>
                </p:oleObj>
              </mc:Fallback>
            </mc:AlternateContent>
          </a:graphicData>
        </a:graphic>
      </p:graphicFrame>
    </p:spTree>
    <p:extLst>
      <p:ext uri="{BB962C8B-B14F-4D97-AF65-F5344CB8AC3E}">
        <p14:creationId xmlns:p14="http://schemas.microsoft.com/office/powerpoint/2010/main" val="3729020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Figure 5.3 Prices and Production</a:t>
            </a:r>
            <a:endParaRPr lang="en-IN" dirty="0"/>
          </a:p>
        </p:txBody>
      </p:sp>
      <p:pic>
        <p:nvPicPr>
          <p:cNvPr id="5" name="Content Placeholder 4" descr="The graph plots quantity of food, Q sub F, versus quantity of cloth, Q sub C. For long description in Notes pane, press F6.">
            <a:extLst>
              <a:ext uri="{FF2B5EF4-FFF2-40B4-BE49-F238E27FC236}">
                <a16:creationId xmlns:a16="http://schemas.microsoft.com/office/drawing/2014/main" id="{71B841AC-BEC3-4C0F-BD2C-A74F993464E2}"/>
              </a:ext>
            </a:extLst>
          </p:cNvPr>
          <p:cNvPicPr>
            <a:picLocks noGrp="1" noChangeAspect="1"/>
          </p:cNvPicPr>
          <p:nvPr>
            <p:ph sz="quarter" idx="13"/>
          </p:nvPr>
        </p:nvPicPr>
        <p:blipFill>
          <a:blip r:embed="rId4"/>
          <a:stretch>
            <a:fillRect/>
          </a:stretch>
        </p:blipFill>
        <p:spPr>
          <a:xfrm>
            <a:off x="2332755" y="1674150"/>
            <a:ext cx="4478490" cy="3004358"/>
          </a:xfrm>
        </p:spPr>
      </p:pic>
      <p:sp>
        <p:nvSpPr>
          <p:cNvPr id="8" name="Content Placeholder 7">
            <a:extLst>
              <a:ext uri="{FF2B5EF4-FFF2-40B4-BE49-F238E27FC236}">
                <a16:creationId xmlns:a16="http://schemas.microsoft.com/office/drawing/2014/main" id="{8350C7C1-B19F-4C9B-A5FB-61557831C366}"/>
              </a:ext>
            </a:extLst>
          </p:cNvPr>
          <p:cNvSpPr>
            <a:spLocks noGrp="1"/>
          </p:cNvSpPr>
          <p:nvPr>
            <p:ph sz="quarter" idx="14"/>
          </p:nvPr>
        </p:nvSpPr>
        <p:spPr>
          <a:xfrm>
            <a:off x="457200" y="4776535"/>
            <a:ext cx="8229600" cy="1044000"/>
          </a:xfrm>
        </p:spPr>
        <p:txBody>
          <a:bodyPr/>
          <a:lstStyle/>
          <a:p>
            <a:pPr marL="0" indent="0">
              <a:buNone/>
            </a:pPr>
            <a:r>
              <a:rPr lang="en-US" sz="2000" dirty="0"/>
              <a:t>The economy produces at the point that maximizes the value of production given the prices it faces; this is the point on the highest possible isovalue line. At that point, the opportunity cost of cloth in</a:t>
            </a:r>
          </a:p>
        </p:txBody>
      </p:sp>
      <p:sp>
        <p:nvSpPr>
          <p:cNvPr id="9" name="Content Placeholder 8">
            <a:extLst>
              <a:ext uri="{FF2B5EF4-FFF2-40B4-BE49-F238E27FC236}">
                <a16:creationId xmlns:a16="http://schemas.microsoft.com/office/drawing/2014/main" id="{17083990-617E-4254-A1DE-AD739ED7C583}"/>
              </a:ext>
            </a:extLst>
          </p:cNvPr>
          <p:cNvSpPr>
            <a:spLocks noGrp="1"/>
          </p:cNvSpPr>
          <p:nvPr>
            <p:ph sz="quarter" idx="15"/>
          </p:nvPr>
        </p:nvSpPr>
        <p:spPr>
          <a:xfrm>
            <a:off x="457199" y="5887482"/>
            <a:ext cx="5796000" cy="342186"/>
          </a:xfrm>
        </p:spPr>
        <p:txBody>
          <a:bodyPr tIns="0"/>
          <a:lstStyle/>
          <a:p>
            <a:pPr marL="0" indent="0">
              <a:buNone/>
            </a:pPr>
            <a:r>
              <a:rPr lang="en-US" sz="2000" dirty="0">
                <a:latin typeface="+mn-lt"/>
              </a:rPr>
              <a:t>terms of food is equal to the relative price of cloth,</a:t>
            </a:r>
          </a:p>
        </p:txBody>
      </p:sp>
      <p:graphicFrame>
        <p:nvGraphicFramePr>
          <p:cNvPr id="12" name="Object 11" descr="P sub C is greater than P sub F. ">
            <a:extLst>
              <a:ext uri="{FF2B5EF4-FFF2-40B4-BE49-F238E27FC236}">
                <a16:creationId xmlns:a16="http://schemas.microsoft.com/office/drawing/2014/main" id="{736960F7-9B5D-4356-A57C-1D4691916414}"/>
              </a:ext>
            </a:extLst>
          </p:cNvPr>
          <p:cNvGraphicFramePr>
            <a:graphicFrameLocks noChangeAspect="1"/>
          </p:cNvGraphicFramePr>
          <p:nvPr>
            <p:extLst>
              <p:ext uri="{D42A27DB-BD31-4B8C-83A1-F6EECF244321}">
                <p14:modId xmlns:p14="http://schemas.microsoft.com/office/powerpoint/2010/main" val="2774034950"/>
              </p:ext>
            </p:extLst>
          </p:nvPr>
        </p:nvGraphicFramePr>
        <p:xfrm>
          <a:off x="6356937" y="5881815"/>
          <a:ext cx="920495" cy="385323"/>
        </p:xfrm>
        <a:graphic>
          <a:graphicData uri="http://schemas.openxmlformats.org/presentationml/2006/ole">
            <mc:AlternateContent xmlns:mc="http://schemas.openxmlformats.org/markup-compatibility/2006">
              <mc:Choice xmlns:v="urn:schemas-microsoft-com:vml" Requires="v">
                <p:oleObj spid="_x0000_s7171" name="Equation" r:id="rId5" imgW="545760" imgH="228600" progId="Equation.DSMT4">
                  <p:embed/>
                </p:oleObj>
              </mc:Choice>
              <mc:Fallback>
                <p:oleObj name="Equation" r:id="rId5" imgW="545760" imgH="228600" progId="Equation.DSMT4">
                  <p:embed/>
                  <p:pic>
                    <p:nvPicPr>
                      <p:cNvPr id="0" name=""/>
                      <p:cNvPicPr/>
                      <p:nvPr/>
                    </p:nvPicPr>
                    <p:blipFill>
                      <a:blip r:embed="rId6"/>
                      <a:stretch>
                        <a:fillRect/>
                      </a:stretch>
                    </p:blipFill>
                    <p:spPr>
                      <a:xfrm>
                        <a:off x="6356937" y="5881815"/>
                        <a:ext cx="920495" cy="385323"/>
                      </a:xfrm>
                      <a:prstGeom prst="rect">
                        <a:avLst/>
                      </a:prstGeom>
                    </p:spPr>
                  </p:pic>
                </p:oleObj>
              </mc:Fallback>
            </mc:AlternateContent>
          </a:graphicData>
        </a:graphic>
      </p:graphicFrame>
    </p:spTree>
    <p:extLst>
      <p:ext uri="{BB962C8B-B14F-4D97-AF65-F5344CB8AC3E}">
        <p14:creationId xmlns:p14="http://schemas.microsoft.com/office/powerpoint/2010/main" val="3940020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Production Possibilities </a:t>
            </a:r>
            <a:r>
              <a:rPr lang="en-US" altLang="en-US" sz="2000" b="0" dirty="0">
                <a:ea typeface="ヒラギノ角ゴ Pro W3" pitchFamily="-84" charset="-128"/>
              </a:rPr>
              <a:t>(11 of 11)</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8032044" cy="4198087"/>
          </a:xfrm>
        </p:spPr>
        <p:txBody>
          <a:bodyPr/>
          <a:lstStyle/>
          <a:p>
            <a:r>
              <a:rPr lang="en-US" altLang="en-US" sz="2400" dirty="0">
                <a:ea typeface="ヒラギノ角ゴ Pro W3" pitchFamily="-84" charset="-128"/>
              </a:rPr>
              <a:t>Given the relative price of cloth, the economy produces at the point </a:t>
            </a:r>
            <a:r>
              <a:rPr lang="en-US" altLang="en-US" sz="2400" i="1" dirty="0">
                <a:ea typeface="ヒラギノ角ゴ Pro W3" pitchFamily="-84" charset="-128"/>
              </a:rPr>
              <a:t>Q </a:t>
            </a:r>
            <a:r>
              <a:rPr lang="en-US" altLang="en-US" sz="2400" dirty="0">
                <a:ea typeface="ヒラギノ角ゴ Pro W3" pitchFamily="-84" charset="-128"/>
              </a:rPr>
              <a:t>that touches the highest possible isovalue line.</a:t>
            </a:r>
          </a:p>
          <a:p>
            <a:r>
              <a:rPr lang="en-US" altLang="en-US" sz="2400" dirty="0">
                <a:ea typeface="ヒラギノ角ゴ Pro W3" pitchFamily="-84" charset="-128"/>
              </a:rPr>
              <a:t>At that point, the relative price of cloth equals the slope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which equals </a:t>
            </a:r>
            <a:r>
              <a:rPr lang="en-US" altLang="en-US" sz="2400" b="1" dirty="0">
                <a:ea typeface="ヒラギノ角ゴ Pro W3" pitchFamily="-84" charset="-128"/>
              </a:rPr>
              <a:t>the opportunity cost of producing cloth</a:t>
            </a:r>
            <a:r>
              <a:rPr lang="en-US" altLang="en-US" sz="2400" dirty="0">
                <a:ea typeface="ヒラギノ角ゴ Pro W3" pitchFamily="-84" charset="-128"/>
              </a:rPr>
              <a:t>.</a:t>
            </a:r>
          </a:p>
          <a:p>
            <a:pPr lvl="1"/>
            <a:r>
              <a:rPr lang="en-US" altLang="en-US" sz="2400" dirty="0">
                <a:ea typeface="ヒラギノ角ゴ Pro W3" pitchFamily="-84" charset="-128"/>
              </a:rPr>
              <a:t>The trade-off in production equals the trade-off according to market prices.</a:t>
            </a:r>
            <a:endParaRPr lang="en-US" altLang="en-US" sz="2400" b="1" dirty="0">
              <a:ea typeface="ヒラギノ角ゴ Pro W3" pitchFamily="-84" charset="-128"/>
            </a:endParaRPr>
          </a:p>
        </p:txBody>
      </p:sp>
    </p:spTree>
    <p:extLst>
      <p:ext uri="{BB962C8B-B14F-4D97-AF65-F5344CB8AC3E}">
        <p14:creationId xmlns:p14="http://schemas.microsoft.com/office/powerpoint/2010/main" val="1020333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Choosing the Mix of Inputs </a:t>
            </a:r>
            <a:r>
              <a:rPr lang="en-US" altLang="en-US" sz="2000" b="0" dirty="0">
                <a:ea typeface="ヒラギノ角ゴ Pro W3" pitchFamily="-84" charset="-128"/>
              </a:rPr>
              <a:t>(1 of 2)</a:t>
            </a:r>
            <a:endParaRPr lang="en-IN" dirty="0"/>
          </a:p>
        </p:txBody>
      </p:sp>
      <p:sp>
        <p:nvSpPr>
          <p:cNvPr id="2" name="Content Placeholder 1">
            <a:extLst>
              <a:ext uri="{FF2B5EF4-FFF2-40B4-BE49-F238E27FC236}">
                <a16:creationId xmlns:a16="http://schemas.microsoft.com/office/drawing/2014/main" id="{C33C068C-4F48-4592-9FB0-CD1959C37F88}"/>
              </a:ext>
            </a:extLst>
          </p:cNvPr>
          <p:cNvSpPr>
            <a:spLocks noGrp="1"/>
          </p:cNvSpPr>
          <p:nvPr>
            <p:ph sz="quarter" idx="13"/>
          </p:nvPr>
        </p:nvSpPr>
        <p:spPr>
          <a:xfrm>
            <a:off x="457200" y="1556326"/>
            <a:ext cx="7648222" cy="4198087"/>
          </a:xfrm>
        </p:spPr>
        <p:txBody>
          <a:bodyPr/>
          <a:lstStyle/>
          <a:p>
            <a:pPr>
              <a:spcBef>
                <a:spcPct val="50000"/>
              </a:spcBef>
            </a:pPr>
            <a:r>
              <a:rPr lang="en-US" altLang="en-US" sz="2400" dirty="0">
                <a:ea typeface="ヒラギノ角ゴ Pro W3" pitchFamily="-84" charset="-128"/>
              </a:rPr>
              <a:t>Producers may choose different amounts of factors of production used to make cloth or food.</a:t>
            </a:r>
          </a:p>
          <a:p>
            <a:pPr>
              <a:spcBef>
                <a:spcPct val="50000"/>
              </a:spcBef>
            </a:pPr>
            <a:r>
              <a:rPr lang="en-US" altLang="en-US" sz="2400" dirty="0">
                <a:ea typeface="ヒラギノ角ゴ Pro W3" pitchFamily="-84" charset="-128"/>
              </a:rPr>
              <a:t>Their choice depends on the wage, </a:t>
            </a:r>
            <a:r>
              <a:rPr lang="en-US" altLang="en-US" sz="2400" i="1" dirty="0">
                <a:ea typeface="ヒラギノ角ゴ Pro W3" pitchFamily="-84" charset="-128"/>
              </a:rPr>
              <a:t>w</a:t>
            </a:r>
            <a:r>
              <a:rPr lang="en-US" altLang="en-US" sz="2400" dirty="0">
                <a:ea typeface="ヒラギノ角ゴ Pro W3" pitchFamily="-84" charset="-128"/>
              </a:rPr>
              <a:t>, paid to labor and the rental rate, </a:t>
            </a:r>
            <a:r>
              <a:rPr lang="en-US" altLang="en-US" sz="2400" i="1" dirty="0">
                <a:ea typeface="ヒラギノ角ゴ Pro W3" pitchFamily="-84" charset="-128"/>
              </a:rPr>
              <a:t>r</a:t>
            </a:r>
            <a:r>
              <a:rPr lang="en-US" altLang="en-US" sz="2400" dirty="0">
                <a:ea typeface="ヒラギノ角ゴ Pro W3" pitchFamily="-84" charset="-128"/>
              </a:rPr>
              <a:t>, paid when renting capital.</a:t>
            </a:r>
          </a:p>
          <a:p>
            <a:pPr>
              <a:spcBef>
                <a:spcPct val="50000"/>
              </a:spcBef>
            </a:pPr>
            <a:r>
              <a:rPr lang="en-US" altLang="en-US" sz="2400" dirty="0">
                <a:ea typeface="ヒラギノ角ゴ Pro W3" pitchFamily="-84" charset="-128"/>
              </a:rPr>
              <a:t>As the wage </a:t>
            </a:r>
            <a:r>
              <a:rPr lang="en-US" altLang="en-US" sz="2400" i="1" dirty="0">
                <a:ea typeface="ヒラギノ角ゴ Pro W3" pitchFamily="-84" charset="-128"/>
              </a:rPr>
              <a:t>w</a:t>
            </a:r>
            <a:r>
              <a:rPr lang="en-US" altLang="en-US" sz="2400" dirty="0">
                <a:ea typeface="ヒラギノ角ゴ Pro W3" pitchFamily="-84" charset="-128"/>
              </a:rPr>
              <a:t> increases relative to the rental rate </a:t>
            </a:r>
            <a:r>
              <a:rPr lang="en-US" altLang="en-US" sz="2400" i="1" dirty="0">
                <a:ea typeface="ヒラギノ角ゴ Pro W3" pitchFamily="-84" charset="-128"/>
              </a:rPr>
              <a:t>r,</a:t>
            </a:r>
            <a:r>
              <a:rPr lang="en-US" altLang="en-US" sz="2400" dirty="0">
                <a:ea typeface="ヒラギノ角ゴ Pro W3" pitchFamily="-84" charset="-128"/>
              </a:rPr>
              <a:t> producers use less labor and more capital in the production of both food and cloth.</a:t>
            </a:r>
            <a:endParaRPr lang="en-US" altLang="en-US" sz="2400" b="1" dirty="0">
              <a:ea typeface="ヒラギノ角ゴ Pro W3" pitchFamily="-84" charset="-128"/>
            </a:endParaRPr>
          </a:p>
        </p:txBody>
      </p:sp>
    </p:spTree>
    <p:extLst>
      <p:ext uri="{BB962C8B-B14F-4D97-AF65-F5344CB8AC3E}">
        <p14:creationId xmlns:p14="http://schemas.microsoft.com/office/powerpoint/2010/main" val="3954087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5.4 Input Possibilities in Food Production</a:t>
            </a:r>
            <a:endParaRPr lang="en-IN" sz="3200" dirty="0"/>
          </a:p>
        </p:txBody>
      </p:sp>
      <p:pic>
        <p:nvPicPr>
          <p:cNvPr id="5" name="Content Placeholder 4" descr="A graph plots capital input per calorie, a sub K F, versus labor input per calorie, a sub L F. Curve 2 falls with decreasing steepness, from left to right, represents input combinations that produce one calorie of food.">
            <a:extLst>
              <a:ext uri="{FF2B5EF4-FFF2-40B4-BE49-F238E27FC236}">
                <a16:creationId xmlns:a16="http://schemas.microsoft.com/office/drawing/2014/main" id="{0D769F11-6633-448C-A2A1-307F444882CA}"/>
              </a:ext>
            </a:extLst>
          </p:cNvPr>
          <p:cNvPicPr>
            <a:picLocks noGrp="1" noChangeAspect="1"/>
          </p:cNvPicPr>
          <p:nvPr>
            <p:ph sz="quarter" idx="13"/>
          </p:nvPr>
        </p:nvPicPr>
        <p:blipFill>
          <a:blip r:embed="rId3"/>
          <a:stretch>
            <a:fillRect/>
          </a:stretch>
        </p:blipFill>
        <p:spPr>
          <a:xfrm>
            <a:off x="2825932" y="1575674"/>
            <a:ext cx="3492136" cy="3653503"/>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396269"/>
            <a:ext cx="8229600" cy="883854"/>
          </a:xfrm>
        </p:spPr>
        <p:txBody>
          <a:bodyPr/>
          <a:lstStyle/>
          <a:p>
            <a:pPr marL="432" indent="0">
              <a:buNone/>
            </a:pPr>
            <a:r>
              <a:rPr lang="en-US" sz="2400" dirty="0"/>
              <a:t>A farmer can produce a calorie of food with less capital if he or she uses more labor, and vice versa.</a:t>
            </a:r>
          </a:p>
        </p:txBody>
      </p:sp>
    </p:spTree>
    <p:extLst>
      <p:ext uri="{BB962C8B-B14F-4D97-AF65-F5344CB8AC3E}">
        <p14:creationId xmlns:p14="http://schemas.microsoft.com/office/powerpoint/2010/main" val="3483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Choosing the Mix of Inputs </a:t>
            </a:r>
            <a:r>
              <a:rPr lang="en-US" altLang="en-US" sz="2000" b="0" dirty="0">
                <a:ea typeface="ヒラギノ角ゴ Pro W3" pitchFamily="-84" charset="-128"/>
              </a:rPr>
              <a:t>(2 of 2)</a:t>
            </a:r>
            <a:endParaRPr lang="en-IN" sz="2000" dirty="0"/>
          </a:p>
        </p:txBody>
      </p:sp>
      <p:sp>
        <p:nvSpPr>
          <p:cNvPr id="4" name="Content Placeholder 3">
            <a:extLst>
              <a:ext uri="{FF2B5EF4-FFF2-40B4-BE49-F238E27FC236}">
                <a16:creationId xmlns:a16="http://schemas.microsoft.com/office/drawing/2014/main" id="{33FD29FD-4FF5-471D-9932-FA35CDA2EC02}"/>
              </a:ext>
            </a:extLst>
          </p:cNvPr>
          <p:cNvSpPr>
            <a:spLocks noGrp="1"/>
          </p:cNvSpPr>
          <p:nvPr>
            <p:ph sz="quarter" idx="13"/>
          </p:nvPr>
        </p:nvSpPr>
        <p:spPr>
          <a:xfrm>
            <a:off x="457200" y="1556327"/>
            <a:ext cx="8119241" cy="1249935"/>
          </a:xfrm>
        </p:spPr>
        <p:txBody>
          <a:bodyPr/>
          <a:lstStyle/>
          <a:p>
            <a:r>
              <a:rPr lang="en-US" altLang="en-US" sz="2400" dirty="0">
                <a:ea typeface="ヒラギノ角ゴ Pro W3" pitchFamily="-84" charset="-128"/>
              </a:rPr>
              <a:t>Assume that at any given factor prices, cloth production uses more labor relative to capital than food production uses:</a:t>
            </a:r>
            <a:endParaRPr lang="en-US" dirty="0"/>
          </a:p>
        </p:txBody>
      </p:sp>
      <p:graphicFrame>
        <p:nvGraphicFramePr>
          <p:cNvPr id="7" name="Object 6" descr="A formula. For long description in Notes pane, press F6.">
            <a:extLst>
              <a:ext uri="{FF2B5EF4-FFF2-40B4-BE49-F238E27FC236}">
                <a16:creationId xmlns:a16="http://schemas.microsoft.com/office/drawing/2014/main" id="{FB3F28FC-BB9E-44F4-9AAD-A74773E1ED23}"/>
              </a:ext>
            </a:extLst>
          </p:cNvPr>
          <p:cNvGraphicFramePr>
            <a:graphicFrameLocks noChangeAspect="1"/>
          </p:cNvGraphicFramePr>
          <p:nvPr>
            <p:extLst>
              <p:ext uri="{D42A27DB-BD31-4B8C-83A1-F6EECF244321}">
                <p14:modId xmlns:p14="http://schemas.microsoft.com/office/powerpoint/2010/main" val="3544596884"/>
              </p:ext>
            </p:extLst>
          </p:nvPr>
        </p:nvGraphicFramePr>
        <p:xfrm>
          <a:off x="2788467" y="2983911"/>
          <a:ext cx="3567065" cy="1033431"/>
        </p:xfrm>
        <a:graphic>
          <a:graphicData uri="http://schemas.openxmlformats.org/presentationml/2006/ole">
            <mc:AlternateContent xmlns:mc="http://schemas.openxmlformats.org/markup-compatibility/2006">
              <mc:Choice xmlns:v="urn:schemas-microsoft-com:vml" Requires="v">
                <p:oleObj spid="_x0000_s8195" name="Equation" r:id="rId4" imgW="2947395" imgH="853702" progId="Equation.DSMT4">
                  <p:embed/>
                </p:oleObj>
              </mc:Choice>
              <mc:Fallback>
                <p:oleObj name="Equation" r:id="rId4" imgW="2947395" imgH="853702" progId="Equation.DSMT4">
                  <p:embed/>
                  <p:pic>
                    <p:nvPicPr>
                      <p:cNvPr id="0" name=""/>
                      <p:cNvPicPr/>
                      <p:nvPr/>
                    </p:nvPicPr>
                    <p:blipFill>
                      <a:blip r:embed="rId5"/>
                      <a:stretch>
                        <a:fillRect/>
                      </a:stretch>
                    </p:blipFill>
                    <p:spPr>
                      <a:xfrm>
                        <a:off x="2788467" y="2983911"/>
                        <a:ext cx="3567065" cy="103343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213856"/>
            <a:ext cx="8229600" cy="1855868"/>
          </a:xfrm>
        </p:spPr>
        <p:txBody>
          <a:bodyPr/>
          <a:lstStyle/>
          <a:p>
            <a:r>
              <a:rPr lang="en-US" altLang="en-US" sz="2400" dirty="0">
                <a:ea typeface="ヒラギノ角ゴ Pro W3" pitchFamily="-84" charset="-128"/>
              </a:rPr>
              <a:t>Production of cloth is relatively labor intensive, while production of food is relatively land intensive.</a:t>
            </a:r>
          </a:p>
          <a:p>
            <a:r>
              <a:rPr lang="en-US" altLang="en-US" sz="2400" dirty="0">
                <a:ea typeface="ヒラギノ角ゴ Pro W3" pitchFamily="-84" charset="-128"/>
              </a:rPr>
              <a:t>Relative factor demand curve for cloth </a:t>
            </a:r>
            <a:r>
              <a:rPr lang="en-US" altLang="en-US" sz="2400" i="1" dirty="0">
                <a:ea typeface="ヒラギノ角ゴ Pro W3" pitchFamily="-84" charset="-128"/>
              </a:rPr>
              <a:t>C</a:t>
            </a:r>
            <a:r>
              <a:rPr lang="en-US" altLang="en-US" sz="100" i="1" dirty="0">
                <a:ea typeface="ヒラギノ角ゴ Pro W3" pitchFamily="-84" charset="-128"/>
              </a:rPr>
              <a:t> </a:t>
            </a:r>
            <a:r>
              <a:rPr lang="en-US" altLang="en-US" sz="2400" i="1" dirty="0">
                <a:ea typeface="ヒラギノ角ゴ Pro W3" pitchFamily="-84" charset="-128"/>
              </a:rPr>
              <a:t>C</a:t>
            </a:r>
            <a:r>
              <a:rPr lang="en-US" altLang="en-US" sz="2400" dirty="0">
                <a:ea typeface="ヒラギノ角ゴ Pro W3" pitchFamily="-84" charset="-128"/>
              </a:rPr>
              <a:t> lies outside that for food </a:t>
            </a:r>
            <a:r>
              <a:rPr lang="en-US" altLang="en-US" sz="2400" i="1" dirty="0">
                <a:ea typeface="ヒラギノ角ゴ Pro W3" pitchFamily="-84" charset="-128"/>
              </a:rPr>
              <a:t>F</a:t>
            </a:r>
            <a:r>
              <a:rPr lang="en-US" altLang="en-US" sz="100" i="1" dirty="0">
                <a:ea typeface="ヒラギノ角ゴ Pro W3" pitchFamily="-84" charset="-128"/>
              </a:rPr>
              <a:t> </a:t>
            </a:r>
            <a:r>
              <a:rPr lang="en-US" altLang="en-US" sz="2400" i="1" dirty="0">
                <a:ea typeface="ヒラギノ角ゴ Pro W3" pitchFamily="-84" charset="-128"/>
              </a:rPr>
              <a:t>F.</a:t>
            </a:r>
            <a:endParaRPr lang="en-US" sz="2400" dirty="0"/>
          </a:p>
        </p:txBody>
      </p:sp>
    </p:spTree>
    <p:extLst>
      <p:ext uri="{BB962C8B-B14F-4D97-AF65-F5344CB8AC3E}">
        <p14:creationId xmlns:p14="http://schemas.microsoft.com/office/powerpoint/2010/main" val="3974567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5.5 Factor Prices and Input Choices</a:t>
            </a:r>
            <a:endParaRPr lang="en-IN" sz="3200" dirty="0"/>
          </a:p>
        </p:txBody>
      </p:sp>
      <p:pic>
        <p:nvPicPr>
          <p:cNvPr id="8" name="Content Placeholder 7" descr="The graph shows wage-rental ratio, w over r, versus labor-capital ratio, L over K. Curve F F is shown to the left of and below curve C C. The curves are parallel and fall with decreasing steepness from left to right.">
            <a:extLst>
              <a:ext uri="{FF2B5EF4-FFF2-40B4-BE49-F238E27FC236}">
                <a16:creationId xmlns:a16="http://schemas.microsoft.com/office/drawing/2014/main" id="{52D88769-272C-4536-84E1-91FA3F537B88}"/>
              </a:ext>
            </a:extLst>
          </p:cNvPr>
          <p:cNvPicPr>
            <a:picLocks noGrp="1" noChangeAspect="1"/>
          </p:cNvPicPr>
          <p:nvPr>
            <p:ph sz="quarter" idx="13"/>
          </p:nvPr>
        </p:nvPicPr>
        <p:blipFill>
          <a:blip r:embed="rId3"/>
          <a:stretch>
            <a:fillRect/>
          </a:stretch>
        </p:blipFill>
        <p:spPr>
          <a:xfrm>
            <a:off x="2837288" y="1620819"/>
            <a:ext cx="3469423" cy="3481625"/>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509452" y="5224153"/>
            <a:ext cx="8229600" cy="1097279"/>
          </a:xfrm>
        </p:spPr>
        <p:txBody>
          <a:bodyPr/>
          <a:lstStyle/>
          <a:p>
            <a:pPr marL="0" indent="0">
              <a:buNone/>
            </a:pPr>
            <a:r>
              <a:rPr lang="en-US" sz="2000" dirty="0"/>
              <a:t>At any given wage-rental ratio, cloth production uses a higher labor-capital ratio; when this is the case, we say that cloth production is </a:t>
            </a:r>
            <a:r>
              <a:rPr lang="en-US" sz="2000" b="1" dirty="0"/>
              <a:t>labor-intensive</a:t>
            </a:r>
            <a:r>
              <a:rPr lang="en-US" sz="2000" i="1" dirty="0"/>
              <a:t> </a:t>
            </a:r>
            <a:r>
              <a:rPr lang="en-US" sz="2000" dirty="0"/>
              <a:t>and that food production is </a:t>
            </a:r>
            <a:r>
              <a:rPr lang="en-US" sz="2000" b="1" dirty="0"/>
              <a:t>capital-intensive.</a:t>
            </a:r>
          </a:p>
        </p:txBody>
      </p:sp>
    </p:spTree>
    <p:extLst>
      <p:ext uri="{BB962C8B-B14F-4D97-AF65-F5344CB8AC3E}">
        <p14:creationId xmlns:p14="http://schemas.microsoft.com/office/powerpoint/2010/main" val="236309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(1 of 3)</a:t>
            </a:r>
            <a:endParaRPr lang="en-IN" sz="2000" dirty="0"/>
          </a:p>
        </p:txBody>
      </p:sp>
      <p:sp>
        <p:nvSpPr>
          <p:cNvPr id="4" name="Content Placeholder 3">
            <a:extLst>
              <a:ext uri="{FF2B5EF4-FFF2-40B4-BE49-F238E27FC236}">
                <a16:creationId xmlns:a16="http://schemas.microsoft.com/office/drawing/2014/main" id="{1032ECBF-92C1-4075-B2AD-2F4B8AD56A35}"/>
              </a:ext>
            </a:extLst>
          </p:cNvPr>
          <p:cNvSpPr>
            <a:spLocks noGrp="1"/>
          </p:cNvSpPr>
          <p:nvPr>
            <p:ph sz="quarter" idx="13"/>
          </p:nvPr>
        </p:nvSpPr>
        <p:spPr>
          <a:xfrm>
            <a:off x="457200" y="1556327"/>
            <a:ext cx="8229600" cy="2968376"/>
          </a:xfrm>
        </p:spPr>
        <p:txBody>
          <a:bodyPr/>
          <a:lstStyle/>
          <a:p>
            <a:r>
              <a:rPr lang="en-US" altLang="en-US" sz="2400" dirty="0">
                <a:ea typeface="ヒラギノ角ゴ Pro W3" pitchFamily="-84" charset="-128"/>
              </a:rPr>
              <a:t>In competitive markets, the price of a good should equal its cost of production, which depends on the factor prices.</a:t>
            </a:r>
          </a:p>
          <a:p>
            <a:pPr>
              <a:spcBef>
                <a:spcPct val="50000"/>
              </a:spcBef>
            </a:pPr>
            <a:r>
              <a:rPr lang="en-US" altLang="en-US" sz="2400" dirty="0">
                <a:ea typeface="ヒラギノ角ゴ Pro W3" pitchFamily="-84" charset="-128"/>
              </a:rPr>
              <a:t>How changes in the wage and rent affect the cost of producing a good depends on the mix of factors used.</a:t>
            </a:r>
          </a:p>
          <a:p>
            <a:pPr lvl="1"/>
            <a:r>
              <a:rPr lang="en-US" altLang="en-US" sz="2400" dirty="0">
                <a:ea typeface="ヒラギノ角ゴ Pro W3" pitchFamily="-84" charset="-128"/>
              </a:rPr>
              <a:t>An increase in the rental rate of capital should affect the price of food more than the price of cloth since food is the capital intensive industry.</a:t>
            </a:r>
            <a:endParaRPr lang="en-US" dirty="0"/>
          </a:p>
        </p:txBody>
      </p:sp>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750582"/>
            <a:ext cx="2016000" cy="396000"/>
          </a:xfrm>
        </p:spPr>
        <p:txBody>
          <a:bodyPr tIns="0"/>
          <a:lstStyle/>
          <a:p>
            <a:pPr marL="255600"/>
            <a:r>
              <a:rPr lang="en-US" altLang="en-US" dirty="0">
                <a:ea typeface="ヒラギノ角ゴ Pro W3" pitchFamily="-84" charset="-128"/>
              </a:rPr>
              <a:t>Changes in</a:t>
            </a:r>
            <a:endParaRPr lang="en-US" b="1" dirty="0"/>
          </a:p>
        </p:txBody>
      </p:sp>
      <p:graphicFrame>
        <p:nvGraphicFramePr>
          <p:cNvPr id="11" name="Object 10" descr="Start fraction w over r end fraction ">
            <a:extLst>
              <a:ext uri="{FF2B5EF4-FFF2-40B4-BE49-F238E27FC236}">
                <a16:creationId xmlns:a16="http://schemas.microsoft.com/office/drawing/2014/main" id="{90FAD30F-7AD6-4CE7-8E2D-ED64E8584C2D}"/>
              </a:ext>
            </a:extLst>
          </p:cNvPr>
          <p:cNvGraphicFramePr>
            <a:graphicFrameLocks noChangeAspect="1"/>
          </p:cNvGraphicFramePr>
          <p:nvPr>
            <p:extLst>
              <p:ext uri="{D42A27DB-BD31-4B8C-83A1-F6EECF244321}">
                <p14:modId xmlns:p14="http://schemas.microsoft.com/office/powerpoint/2010/main" val="4181495640"/>
              </p:ext>
            </p:extLst>
          </p:nvPr>
        </p:nvGraphicFramePr>
        <p:xfrm>
          <a:off x="2589104" y="4634371"/>
          <a:ext cx="371231" cy="767212"/>
        </p:xfrm>
        <a:graphic>
          <a:graphicData uri="http://schemas.openxmlformats.org/presentationml/2006/ole">
            <mc:AlternateContent xmlns:mc="http://schemas.openxmlformats.org/markup-compatibility/2006">
              <mc:Choice xmlns:v="urn:schemas-microsoft-com:vml" Requires="v">
                <p:oleObj spid="_x0000_s9220" name="Equation" r:id="rId4" imgW="190440" imgH="393480" progId="Equation.DSMT4">
                  <p:embed/>
                </p:oleObj>
              </mc:Choice>
              <mc:Fallback>
                <p:oleObj name="Equation" r:id="rId4" imgW="190440" imgH="393480" progId="Equation.DSMT4">
                  <p:embed/>
                  <p:pic>
                    <p:nvPicPr>
                      <p:cNvPr id="0" name=""/>
                      <p:cNvPicPr/>
                      <p:nvPr/>
                    </p:nvPicPr>
                    <p:blipFill>
                      <a:blip r:embed="rId5"/>
                      <a:stretch>
                        <a:fillRect/>
                      </a:stretch>
                    </p:blipFill>
                    <p:spPr>
                      <a:xfrm>
                        <a:off x="2589104" y="4634371"/>
                        <a:ext cx="371231" cy="76721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D75775BE-4B91-4E64-A7DB-6E13791DE28E}"/>
              </a:ext>
            </a:extLst>
          </p:cNvPr>
          <p:cNvSpPr>
            <a:spLocks noGrp="1"/>
          </p:cNvSpPr>
          <p:nvPr>
            <p:ph sz="quarter" idx="15"/>
          </p:nvPr>
        </p:nvSpPr>
        <p:spPr>
          <a:xfrm>
            <a:off x="3084385" y="4768286"/>
            <a:ext cx="3148775" cy="396000"/>
          </a:xfrm>
        </p:spPr>
        <p:txBody>
          <a:bodyPr tIns="0"/>
          <a:lstStyle/>
          <a:p>
            <a:pPr marL="0" indent="0">
              <a:buNone/>
            </a:pPr>
            <a:r>
              <a:rPr lang="en-US" sz="2400" dirty="0">
                <a:latin typeface="+mn-lt"/>
              </a:rPr>
              <a:t>are tied to changes in</a:t>
            </a:r>
          </a:p>
        </p:txBody>
      </p:sp>
      <p:graphicFrame>
        <p:nvGraphicFramePr>
          <p:cNvPr id="12" name="Object 11" descr="Start fraction P sub C over P sub W end fraction. ">
            <a:extLst>
              <a:ext uri="{FF2B5EF4-FFF2-40B4-BE49-F238E27FC236}">
                <a16:creationId xmlns:a16="http://schemas.microsoft.com/office/drawing/2014/main" id="{07EBEBB4-D6A5-4983-9629-27B17B0D48B3}"/>
              </a:ext>
            </a:extLst>
          </p:cNvPr>
          <p:cNvGraphicFramePr>
            <a:graphicFrameLocks noChangeAspect="1"/>
          </p:cNvGraphicFramePr>
          <p:nvPr>
            <p:extLst>
              <p:ext uri="{D42A27DB-BD31-4B8C-83A1-F6EECF244321}">
                <p14:modId xmlns:p14="http://schemas.microsoft.com/office/powerpoint/2010/main" val="3594431820"/>
              </p:ext>
            </p:extLst>
          </p:nvPr>
        </p:nvGraphicFramePr>
        <p:xfrm>
          <a:off x="6292213" y="4610767"/>
          <a:ext cx="521084" cy="759913"/>
        </p:xfrm>
        <a:graphic>
          <a:graphicData uri="http://schemas.openxmlformats.org/presentationml/2006/ole">
            <mc:AlternateContent xmlns:mc="http://schemas.openxmlformats.org/markup-compatibility/2006">
              <mc:Choice xmlns:v="urn:schemas-microsoft-com:vml" Requires="v">
                <p:oleObj spid="_x0000_s9221" name="Equation" r:id="rId6" imgW="304560" imgH="444240" progId="Equation.DSMT4">
                  <p:embed/>
                </p:oleObj>
              </mc:Choice>
              <mc:Fallback>
                <p:oleObj name="Equation" r:id="rId6" imgW="304560" imgH="444240" progId="Equation.DSMT4">
                  <p:embed/>
                  <p:pic>
                    <p:nvPicPr>
                      <p:cNvPr id="0" name=""/>
                      <p:cNvPicPr/>
                      <p:nvPr/>
                    </p:nvPicPr>
                    <p:blipFill>
                      <a:blip r:embed="rId7"/>
                      <a:stretch>
                        <a:fillRect/>
                      </a:stretch>
                    </p:blipFill>
                    <p:spPr>
                      <a:xfrm>
                        <a:off x="6292213" y="4610767"/>
                        <a:ext cx="521084" cy="759913"/>
                      </a:xfrm>
                      <a:prstGeom prst="rect">
                        <a:avLst/>
                      </a:prstGeom>
                    </p:spPr>
                  </p:pic>
                </p:oleObj>
              </mc:Fallback>
            </mc:AlternateContent>
          </a:graphicData>
        </a:graphic>
      </p:graphicFrame>
    </p:spTree>
    <p:extLst>
      <p:ext uri="{BB962C8B-B14F-4D97-AF65-F5344CB8AC3E}">
        <p14:creationId xmlns:p14="http://schemas.microsoft.com/office/powerpoint/2010/main" val="1266745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5.6 Factor Prices and Goods Prices</a:t>
            </a:r>
            <a:endParaRPr lang="en-IN" sz="3200" dirty="0"/>
          </a:p>
        </p:txBody>
      </p:sp>
      <p:pic>
        <p:nvPicPr>
          <p:cNvPr id="7" name="Content Placeholder 6" descr="A graph of prices for factors and goods shows the relative price of cloth, P sub C over P sub F, versus the wage-rental ratio, w over r. A curve, S S, rises with decreasing steepness.">
            <a:extLst>
              <a:ext uri="{FF2B5EF4-FFF2-40B4-BE49-F238E27FC236}">
                <a16:creationId xmlns:a16="http://schemas.microsoft.com/office/drawing/2014/main" id="{4EED9CAA-AB22-43C8-A226-81E821BD6A4C}"/>
              </a:ext>
            </a:extLst>
          </p:cNvPr>
          <p:cNvPicPr>
            <a:picLocks noGrp="1" noChangeAspect="1"/>
          </p:cNvPicPr>
          <p:nvPr>
            <p:ph sz="quarter" idx="13"/>
          </p:nvPr>
        </p:nvPicPr>
        <p:blipFill>
          <a:blip r:embed="rId3"/>
          <a:stretch>
            <a:fillRect/>
          </a:stretch>
        </p:blipFill>
        <p:spPr>
          <a:xfrm>
            <a:off x="2860817" y="1640570"/>
            <a:ext cx="3422365" cy="3525697"/>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364681"/>
            <a:ext cx="8229600" cy="972000"/>
          </a:xfrm>
        </p:spPr>
        <p:txBody>
          <a:bodyPr tIns="0"/>
          <a:lstStyle/>
          <a:p>
            <a:pPr marL="0" indent="0">
              <a:buNone/>
            </a:pPr>
            <a:r>
              <a:rPr lang="en-US" sz="2000" dirty="0"/>
              <a:t>Because cloth production is labor-intensive while food production is capital-intensive, the higher the relative cost of labor, the higher must be the relative price of the labor-intensive good.</a:t>
            </a:r>
          </a:p>
        </p:txBody>
      </p:sp>
    </p:spTree>
    <p:extLst>
      <p:ext uri="{BB962C8B-B14F-4D97-AF65-F5344CB8AC3E}">
        <p14:creationId xmlns:p14="http://schemas.microsoft.com/office/powerpoint/2010/main" val="388587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(2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3930073"/>
          </a:xfrm>
        </p:spPr>
        <p:txBody>
          <a:bodyPr/>
          <a:lstStyle/>
          <a:p>
            <a:pPr>
              <a:spcBef>
                <a:spcPct val="50000"/>
              </a:spcBef>
            </a:pPr>
            <a:r>
              <a:rPr lang="en-US" altLang="en-US" sz="2400" b="1" dirty="0">
                <a:ea typeface="ヒラギノ角ゴ Pro W3" pitchFamily="-84" charset="-128"/>
              </a:rPr>
              <a:t>Stolper-Samuelson theorem</a:t>
            </a:r>
            <a:r>
              <a:rPr lang="en-US" altLang="en-US" sz="2400" dirty="0">
                <a:ea typeface="ヒラギノ角ゴ Pro W3" pitchFamily="-84" charset="-128"/>
              </a:rPr>
              <a:t>: If the relative price of a good increases, then the real wage or rental rate of the factor used intensively in the production of that good increases, while the real wage or rental rate of the other factor decreases.</a:t>
            </a:r>
          </a:p>
          <a:p>
            <a:r>
              <a:rPr lang="en-US" altLang="en-US" sz="2400" dirty="0">
                <a:ea typeface="ヒラギノ角ゴ Pro W3" pitchFamily="-84" charset="-128"/>
              </a:rPr>
              <a:t>Any change in the relative price of goods alters the distribution of income.</a:t>
            </a:r>
            <a:endParaRPr lang="en-US" dirty="0"/>
          </a:p>
        </p:txBody>
      </p:sp>
    </p:spTree>
    <p:extLst>
      <p:ext uri="{BB962C8B-B14F-4D97-AF65-F5344CB8AC3E}">
        <p14:creationId xmlns:p14="http://schemas.microsoft.com/office/powerpoint/2010/main" val="1238809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5.7 From Goods Prices to Input Choices</a:t>
            </a:r>
            <a:endParaRPr lang="en-IN" sz="3200" dirty="0"/>
          </a:p>
        </p:txBody>
      </p:sp>
      <p:pic>
        <p:nvPicPr>
          <p:cNvPr id="5" name="Content Placeholder 4" descr="3 parallel curves are graphed with wage-rental, w over r, on the y-axis. For long description in Notes pane, press F6.">
            <a:extLst>
              <a:ext uri="{FF2B5EF4-FFF2-40B4-BE49-F238E27FC236}">
                <a16:creationId xmlns:a16="http://schemas.microsoft.com/office/drawing/2014/main" id="{3982D0CC-7890-460A-BD92-7583C7BE3AA9}"/>
              </a:ext>
            </a:extLst>
          </p:cNvPr>
          <p:cNvPicPr>
            <a:picLocks noGrp="1" noChangeAspect="1"/>
          </p:cNvPicPr>
          <p:nvPr>
            <p:ph sz="quarter" idx="13"/>
          </p:nvPr>
        </p:nvPicPr>
        <p:blipFill>
          <a:blip r:embed="rId3"/>
          <a:stretch>
            <a:fillRect/>
          </a:stretch>
        </p:blipFill>
        <p:spPr>
          <a:xfrm>
            <a:off x="1983721" y="1700623"/>
            <a:ext cx="5176558" cy="3310987"/>
          </a:xfrm>
        </p:spPr>
      </p:pic>
      <p:sp>
        <p:nvSpPr>
          <p:cNvPr id="3" name="Content Placeholder 2">
            <a:extLst>
              <a:ext uri="{FF2B5EF4-FFF2-40B4-BE49-F238E27FC236}">
                <a16:creationId xmlns:a16="http://schemas.microsoft.com/office/drawing/2014/main" id="{2BC4FE02-EA35-4742-BDD2-C7B6CD34367B}"/>
              </a:ext>
            </a:extLst>
          </p:cNvPr>
          <p:cNvSpPr>
            <a:spLocks noGrp="1"/>
          </p:cNvSpPr>
          <p:nvPr>
            <p:ph sz="quarter" idx="14"/>
          </p:nvPr>
        </p:nvSpPr>
        <p:spPr>
          <a:xfrm>
            <a:off x="457200" y="5151660"/>
            <a:ext cx="8229600" cy="1185639"/>
          </a:xfrm>
        </p:spPr>
        <p:txBody>
          <a:bodyPr tIns="0"/>
          <a:lstStyle/>
          <a:p>
            <a:pPr marL="432" indent="0">
              <a:buNone/>
            </a:pPr>
            <a:r>
              <a:rPr lang="en-US" sz="2400" dirty="0"/>
              <a:t>If the relative price of cloth rises, the wage-rental ratio must rise. This will cause the labor-capital ratio used in the production of both goods to drop.</a:t>
            </a:r>
            <a:endParaRPr lang="en-US" dirty="0"/>
          </a:p>
        </p:txBody>
      </p:sp>
    </p:spTree>
    <p:extLst>
      <p:ext uri="{BB962C8B-B14F-4D97-AF65-F5344CB8AC3E}">
        <p14:creationId xmlns:p14="http://schemas.microsoft.com/office/powerpoint/2010/main" val="1514807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Prices and Goods Prices </a:t>
            </a:r>
            <a:r>
              <a:rPr lang="en-US" altLang="en-US" sz="2000" b="0" dirty="0">
                <a:ea typeface="ヒラギノ角ゴ Pro W3" pitchFamily="-84" charset="-128"/>
              </a:rPr>
              <a:t>(3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4966138" cy="513340"/>
          </a:xfrm>
        </p:spPr>
        <p:txBody>
          <a:bodyPr/>
          <a:lstStyle/>
          <a:p>
            <a:r>
              <a:rPr lang="en-US" altLang="en-US" sz="2000" dirty="0">
                <a:ea typeface="ヒラギノ角ゴ Pro W3" pitchFamily="-84" charset="-128"/>
              </a:rPr>
              <a:t>An increase in the relative price of cloth,</a:t>
            </a:r>
            <a:endParaRPr lang="en-US" sz="2000" dirty="0"/>
          </a:p>
        </p:txBody>
      </p:sp>
      <p:graphicFrame>
        <p:nvGraphicFramePr>
          <p:cNvPr id="2" name="Object 1" descr="Start fraction P sub C over P sub F end fraction, ">
            <a:extLst>
              <a:ext uri="{FF2B5EF4-FFF2-40B4-BE49-F238E27FC236}">
                <a16:creationId xmlns:a16="http://schemas.microsoft.com/office/drawing/2014/main" id="{3CD48A9E-D885-4204-B74B-883416E69020}"/>
              </a:ext>
            </a:extLst>
          </p:cNvPr>
          <p:cNvGraphicFramePr>
            <a:graphicFrameLocks noChangeAspect="1"/>
          </p:cNvGraphicFramePr>
          <p:nvPr>
            <p:extLst>
              <p:ext uri="{D42A27DB-BD31-4B8C-83A1-F6EECF244321}">
                <p14:modId xmlns:p14="http://schemas.microsoft.com/office/powerpoint/2010/main" val="3959212965"/>
              </p:ext>
            </p:extLst>
          </p:nvPr>
        </p:nvGraphicFramePr>
        <p:xfrm>
          <a:off x="5485926" y="1534240"/>
          <a:ext cx="399332" cy="635301"/>
        </p:xfrm>
        <a:graphic>
          <a:graphicData uri="http://schemas.openxmlformats.org/presentationml/2006/ole">
            <mc:AlternateContent xmlns:mc="http://schemas.openxmlformats.org/markup-compatibility/2006">
              <mc:Choice xmlns:v="urn:schemas-microsoft-com:vml" Requires="v">
                <p:oleObj spid="_x0000_s10245" name="Equation" r:id="rId4" imgW="279360" imgH="444240" progId="Equation.DSMT4">
                  <p:embed/>
                </p:oleObj>
              </mc:Choice>
              <mc:Fallback>
                <p:oleObj name="Equation" r:id="rId4" imgW="279360" imgH="444240" progId="Equation.DSMT4">
                  <p:embed/>
                  <p:pic>
                    <p:nvPicPr>
                      <p:cNvPr id="0" name=""/>
                      <p:cNvPicPr/>
                      <p:nvPr/>
                    </p:nvPicPr>
                    <p:blipFill>
                      <a:blip r:embed="rId5"/>
                      <a:stretch>
                        <a:fillRect/>
                      </a:stretch>
                    </p:blipFill>
                    <p:spPr>
                      <a:xfrm>
                        <a:off x="5485926" y="1534240"/>
                        <a:ext cx="399332" cy="635301"/>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5E95366A-EA0C-4CEA-B22E-A4E338C944BA}"/>
              </a:ext>
            </a:extLst>
          </p:cNvPr>
          <p:cNvSpPr>
            <a:spLocks noGrp="1"/>
          </p:cNvSpPr>
          <p:nvPr>
            <p:ph sz="quarter" idx="14"/>
          </p:nvPr>
        </p:nvSpPr>
        <p:spPr>
          <a:xfrm>
            <a:off x="5954200" y="1647595"/>
            <a:ext cx="2096814" cy="327274"/>
          </a:xfrm>
        </p:spPr>
        <p:txBody>
          <a:bodyPr tIns="0"/>
          <a:lstStyle/>
          <a:p>
            <a:pPr marL="0" indent="0">
              <a:buNone/>
            </a:pPr>
            <a:r>
              <a:rPr lang="en-US" sz="2000" dirty="0"/>
              <a:t>is </a:t>
            </a:r>
            <a:r>
              <a:rPr lang="en-US" altLang="en-US" sz="2000" dirty="0">
                <a:ea typeface="ヒラギノ角ゴ Pro W3" pitchFamily="-84" charset="-128"/>
              </a:rPr>
              <a:t>predicted to</a:t>
            </a:r>
          </a:p>
        </p:txBody>
      </p:sp>
      <p:sp>
        <p:nvSpPr>
          <p:cNvPr id="4" name="Content Placeholder 3">
            <a:extLst>
              <a:ext uri="{FF2B5EF4-FFF2-40B4-BE49-F238E27FC236}">
                <a16:creationId xmlns:a16="http://schemas.microsoft.com/office/drawing/2014/main" id="{43E92AF9-43C3-4840-9182-BE23D5B148C3}"/>
              </a:ext>
            </a:extLst>
          </p:cNvPr>
          <p:cNvSpPr>
            <a:spLocks noGrp="1"/>
          </p:cNvSpPr>
          <p:nvPr>
            <p:ph sz="quarter" idx="15"/>
          </p:nvPr>
        </p:nvSpPr>
        <p:spPr>
          <a:xfrm>
            <a:off x="457200" y="2338955"/>
            <a:ext cx="7344000" cy="360000"/>
          </a:xfrm>
        </p:spPr>
        <p:txBody>
          <a:bodyPr tIns="0"/>
          <a:lstStyle/>
          <a:p>
            <a:pPr lvl="1" indent="-284400"/>
            <a:r>
              <a:rPr lang="en-US" altLang="en-US" sz="2000" dirty="0">
                <a:latin typeface="+mn-lt"/>
                <a:ea typeface="ヒラギノ角ゴ Pro W3" pitchFamily="-84" charset="-128"/>
              </a:rPr>
              <a:t>raise income of workers relative to that of capital owners,</a:t>
            </a:r>
            <a:endParaRPr lang="en-US" sz="2000" dirty="0">
              <a:latin typeface="+mn-lt"/>
            </a:endParaRPr>
          </a:p>
        </p:txBody>
      </p:sp>
      <p:graphicFrame>
        <p:nvGraphicFramePr>
          <p:cNvPr id="9" name="Object 8" descr="Start fraction w over r end fraction.">
            <a:extLst>
              <a:ext uri="{FF2B5EF4-FFF2-40B4-BE49-F238E27FC236}">
                <a16:creationId xmlns:a16="http://schemas.microsoft.com/office/drawing/2014/main" id="{B346B7E7-3A60-4D0C-B657-59ACC8F7A66E}"/>
              </a:ext>
            </a:extLst>
          </p:cNvPr>
          <p:cNvGraphicFramePr>
            <a:graphicFrameLocks noChangeAspect="1"/>
          </p:cNvGraphicFramePr>
          <p:nvPr>
            <p:extLst>
              <p:ext uri="{D42A27DB-BD31-4B8C-83A1-F6EECF244321}">
                <p14:modId xmlns:p14="http://schemas.microsoft.com/office/powerpoint/2010/main" val="1783523179"/>
              </p:ext>
            </p:extLst>
          </p:nvPr>
        </p:nvGraphicFramePr>
        <p:xfrm>
          <a:off x="7856524" y="2239349"/>
          <a:ext cx="347977" cy="597615"/>
        </p:xfrm>
        <a:graphic>
          <a:graphicData uri="http://schemas.openxmlformats.org/presentationml/2006/ole">
            <mc:AlternateContent xmlns:mc="http://schemas.openxmlformats.org/markup-compatibility/2006">
              <mc:Choice xmlns:v="urn:schemas-microsoft-com:vml" Requires="v">
                <p:oleObj spid="_x0000_s10246" name="Equation" r:id="rId6" imgW="437557" imgH="753118" progId="Equation.DSMT4">
                  <p:embed/>
                </p:oleObj>
              </mc:Choice>
              <mc:Fallback>
                <p:oleObj name="Equation" r:id="rId6" imgW="437557" imgH="753118" progId="Equation.DSMT4">
                  <p:embed/>
                  <p:pic>
                    <p:nvPicPr>
                      <p:cNvPr id="0" name=""/>
                      <p:cNvPicPr/>
                      <p:nvPr/>
                    </p:nvPicPr>
                    <p:blipFill>
                      <a:blip r:embed="rId7"/>
                      <a:stretch>
                        <a:fillRect/>
                      </a:stretch>
                    </p:blipFill>
                    <p:spPr>
                      <a:xfrm>
                        <a:off x="7856524" y="2239349"/>
                        <a:ext cx="347977" cy="59761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767ACD2-71FE-4B63-B7EE-CC4C881F2CB2}"/>
              </a:ext>
            </a:extLst>
          </p:cNvPr>
          <p:cNvSpPr>
            <a:spLocks noGrp="1"/>
          </p:cNvSpPr>
          <p:nvPr>
            <p:ph sz="quarter" idx="16"/>
          </p:nvPr>
        </p:nvSpPr>
        <p:spPr>
          <a:xfrm>
            <a:off x="457200" y="2905184"/>
            <a:ext cx="5544000" cy="360000"/>
          </a:xfrm>
        </p:spPr>
        <p:txBody>
          <a:bodyPr tIns="0"/>
          <a:lstStyle/>
          <a:p>
            <a:pPr lvl="1" indent="-284400"/>
            <a:r>
              <a:rPr lang="en-US" altLang="en-US" sz="2000" dirty="0">
                <a:latin typeface="+mn-lt"/>
                <a:ea typeface="ヒラギノ角ゴ Pro W3" pitchFamily="-84" charset="-128"/>
              </a:rPr>
              <a:t>raise the ratio of capital to labor services,</a:t>
            </a:r>
            <a:endParaRPr lang="en-US" sz="2000" dirty="0">
              <a:latin typeface="+mn-lt"/>
            </a:endParaRPr>
          </a:p>
        </p:txBody>
      </p:sp>
      <p:graphicFrame>
        <p:nvGraphicFramePr>
          <p:cNvPr id="15" name="Object 14" descr="Start fraction K over L end fraction, ">
            <a:extLst>
              <a:ext uri="{FF2B5EF4-FFF2-40B4-BE49-F238E27FC236}">
                <a16:creationId xmlns:a16="http://schemas.microsoft.com/office/drawing/2014/main" id="{A98C364B-70FF-47E4-AB4C-3D2EE440AB79}"/>
              </a:ext>
            </a:extLst>
          </p:cNvPr>
          <p:cNvGraphicFramePr>
            <a:graphicFrameLocks noChangeAspect="1"/>
          </p:cNvGraphicFramePr>
          <p:nvPr>
            <p:extLst>
              <p:ext uri="{D42A27DB-BD31-4B8C-83A1-F6EECF244321}">
                <p14:modId xmlns:p14="http://schemas.microsoft.com/office/powerpoint/2010/main" val="1194471580"/>
              </p:ext>
            </p:extLst>
          </p:nvPr>
        </p:nvGraphicFramePr>
        <p:xfrm>
          <a:off x="6110849" y="2831720"/>
          <a:ext cx="346717" cy="597615"/>
        </p:xfrm>
        <a:graphic>
          <a:graphicData uri="http://schemas.openxmlformats.org/presentationml/2006/ole">
            <mc:AlternateContent xmlns:mc="http://schemas.openxmlformats.org/markup-compatibility/2006">
              <mc:Choice xmlns:v="urn:schemas-microsoft-com:vml" Requires="v">
                <p:oleObj spid="_x0000_s10247" name="Equation" r:id="rId8" imgW="436118" imgH="753118" progId="Equation.DSMT4">
                  <p:embed/>
                </p:oleObj>
              </mc:Choice>
              <mc:Fallback>
                <p:oleObj name="Equation" r:id="rId8" imgW="436118" imgH="753118" progId="Equation.DSMT4">
                  <p:embed/>
                  <p:pic>
                    <p:nvPicPr>
                      <p:cNvPr id="0" name=""/>
                      <p:cNvPicPr/>
                      <p:nvPr/>
                    </p:nvPicPr>
                    <p:blipFill>
                      <a:blip r:embed="rId9"/>
                      <a:stretch>
                        <a:fillRect/>
                      </a:stretch>
                    </p:blipFill>
                    <p:spPr>
                      <a:xfrm>
                        <a:off x="6110849" y="2831720"/>
                        <a:ext cx="346717" cy="59761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8A434C2E-7DAD-4617-BC44-11FCA971402D}"/>
              </a:ext>
            </a:extLst>
          </p:cNvPr>
          <p:cNvSpPr>
            <a:spLocks noGrp="1"/>
          </p:cNvSpPr>
          <p:nvPr>
            <p:ph sz="quarter" idx="17"/>
          </p:nvPr>
        </p:nvSpPr>
        <p:spPr>
          <a:xfrm>
            <a:off x="6543572" y="2928789"/>
            <a:ext cx="1044000" cy="360000"/>
          </a:xfrm>
        </p:spPr>
        <p:txBody>
          <a:bodyPr tIns="0"/>
          <a:lstStyle/>
          <a:p>
            <a:pPr marL="0" lvl="1" indent="0">
              <a:buNone/>
            </a:pPr>
            <a:r>
              <a:rPr lang="en-US" altLang="en-US" sz="2000" dirty="0">
                <a:latin typeface="+mn-lt"/>
                <a:ea typeface="ヒラギノ角ゴ Pro W3" pitchFamily="-84" charset="-128"/>
              </a:rPr>
              <a:t>used in</a:t>
            </a:r>
            <a:endParaRPr lang="en-US" sz="2000" dirty="0">
              <a:latin typeface="+mn-lt"/>
            </a:endParaRPr>
          </a:p>
        </p:txBody>
      </p:sp>
      <p:sp>
        <p:nvSpPr>
          <p:cNvPr id="11" name="Content Placeholder 10">
            <a:extLst>
              <a:ext uri="{FF2B5EF4-FFF2-40B4-BE49-F238E27FC236}">
                <a16:creationId xmlns:a16="http://schemas.microsoft.com/office/drawing/2014/main" id="{494ED82E-DC60-456B-8C04-4E4653CF3D3A}"/>
              </a:ext>
            </a:extLst>
          </p:cNvPr>
          <p:cNvSpPr>
            <a:spLocks noGrp="1"/>
          </p:cNvSpPr>
          <p:nvPr>
            <p:ph sz="quarter" idx="18"/>
          </p:nvPr>
        </p:nvSpPr>
        <p:spPr>
          <a:xfrm>
            <a:off x="457200" y="3345145"/>
            <a:ext cx="2685352" cy="360000"/>
          </a:xfrm>
        </p:spPr>
        <p:txBody>
          <a:bodyPr tIns="0"/>
          <a:lstStyle/>
          <a:p>
            <a:pPr marL="741600" lvl="1" indent="0">
              <a:buNone/>
            </a:pPr>
            <a:r>
              <a:rPr lang="en-US" altLang="en-US" sz="2000" dirty="0">
                <a:latin typeface="+mn-lt"/>
                <a:ea typeface="ヒラギノ角ゴ Pro W3" pitchFamily="-84" charset="-128"/>
              </a:rPr>
              <a:t>both industries.</a:t>
            </a:r>
            <a:endParaRPr lang="en-US" sz="2000" dirty="0">
              <a:latin typeface="+mn-lt"/>
            </a:endParaRPr>
          </a:p>
        </p:txBody>
      </p:sp>
      <p:sp>
        <p:nvSpPr>
          <p:cNvPr id="12" name="Content Placeholder 11">
            <a:extLst>
              <a:ext uri="{FF2B5EF4-FFF2-40B4-BE49-F238E27FC236}">
                <a16:creationId xmlns:a16="http://schemas.microsoft.com/office/drawing/2014/main" id="{4A480B51-BC17-4EBB-A768-815FF6A2999A}"/>
              </a:ext>
            </a:extLst>
          </p:cNvPr>
          <p:cNvSpPr>
            <a:spLocks noGrp="1"/>
          </p:cNvSpPr>
          <p:nvPr>
            <p:ph sz="quarter" idx="19"/>
          </p:nvPr>
        </p:nvSpPr>
        <p:spPr>
          <a:xfrm>
            <a:off x="457200" y="3842880"/>
            <a:ext cx="8136000" cy="684000"/>
          </a:xfrm>
        </p:spPr>
        <p:txBody>
          <a:bodyPr tIns="0"/>
          <a:lstStyle/>
          <a:p>
            <a:pPr lvl="1" indent="-255600"/>
            <a:r>
              <a:rPr lang="en-US" altLang="en-US" sz="2000" dirty="0">
                <a:latin typeface="+mn-lt"/>
                <a:ea typeface="ヒラギノ角ゴ Pro W3" pitchFamily="-84" charset="-128"/>
              </a:rPr>
              <a:t>raise the real income (purchasing power) of workers and </a:t>
            </a:r>
            <a:r>
              <a:rPr lang="en-US" altLang="en-US" sz="2000" b="1" dirty="0">
                <a:latin typeface="+mn-lt"/>
                <a:ea typeface="ヒラギノ角ゴ Pro W3" pitchFamily="-84" charset="-128"/>
              </a:rPr>
              <a:t>lower the real income of capital owners</a:t>
            </a:r>
            <a:r>
              <a:rPr lang="en-US" altLang="en-US" sz="2000" dirty="0">
                <a:latin typeface="+mn-lt"/>
                <a:ea typeface="ヒラギノ角ゴ Pro W3" pitchFamily="-84" charset="-128"/>
              </a:rPr>
              <a:t>.</a:t>
            </a:r>
            <a:endParaRPr lang="en-US" sz="2000" dirty="0">
              <a:latin typeface="+mn-lt"/>
            </a:endParaRPr>
          </a:p>
        </p:txBody>
      </p:sp>
    </p:spTree>
    <p:extLst>
      <p:ext uri="{BB962C8B-B14F-4D97-AF65-F5344CB8AC3E}">
        <p14:creationId xmlns:p14="http://schemas.microsoft.com/office/powerpoint/2010/main" val="1708888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Resources and Output </a:t>
            </a:r>
            <a:r>
              <a:rPr lang="en-US" altLang="en-US" sz="2000" b="0" dirty="0">
                <a:ea typeface="ヒラギノ角ゴ Pro W3" pitchFamily="-84" charset="-128"/>
              </a:rPr>
              <a:t>(1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8"/>
            <a:ext cx="8229600" cy="2957800"/>
          </a:xfrm>
        </p:spPr>
        <p:txBody>
          <a:bodyPr/>
          <a:lstStyle/>
          <a:p>
            <a:r>
              <a:rPr lang="en-US" altLang="en-US" sz="2400" dirty="0">
                <a:ea typeface="ヒラギノ角ゴ Pro W3" pitchFamily="-84" charset="-128"/>
              </a:rPr>
              <a:t>How do levels of output change when the economy’</a:t>
            </a:r>
            <a:r>
              <a:rPr lang="en-US" altLang="ja-JP" sz="2400" dirty="0">
                <a:ea typeface="ヒラギノ角ゴ Pro W3" pitchFamily="-84" charset="-128"/>
              </a:rPr>
              <a:t>s resources change?</a:t>
            </a:r>
          </a:p>
          <a:p>
            <a:r>
              <a:rPr lang="en-US" altLang="en-US" sz="2400" b="1" dirty="0">
                <a:ea typeface="ヒラギノ角ゴ Pro W3" pitchFamily="-84" charset="-128"/>
              </a:rPr>
              <a:t>Rybczynski theorem</a:t>
            </a:r>
            <a:r>
              <a:rPr lang="en-US" altLang="en-US" sz="2400" dirty="0">
                <a:ea typeface="ヒラギノ角ゴ Pro W3" pitchFamily="-84" charset="-128"/>
              </a:rPr>
              <a:t>: If you hold output prices constant as the amount of a factor of production increases, then the supply of the good that uses this factor intensively increases and the supply of </a:t>
            </a:r>
            <a:r>
              <a:rPr lang="en-US" altLang="en-US" sz="2400" b="1" dirty="0">
                <a:ea typeface="ヒラギノ角ゴ Pro W3" pitchFamily="-84" charset="-128"/>
              </a:rPr>
              <a:t>the other good decreases</a:t>
            </a:r>
            <a:r>
              <a:rPr lang="en-US" altLang="en-US" sz="2400" dirty="0">
                <a:ea typeface="ヒラギノ角ゴ Pro W3" pitchFamily="-84" charset="-128"/>
              </a:rPr>
              <a:t>.</a:t>
            </a:r>
          </a:p>
        </p:txBody>
      </p:sp>
    </p:spTree>
    <p:extLst>
      <p:ext uri="{BB962C8B-B14F-4D97-AF65-F5344CB8AC3E}">
        <p14:creationId xmlns:p14="http://schemas.microsoft.com/office/powerpoint/2010/main" val="700886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rPr>
              <a:t>Resources and Output </a:t>
            </a:r>
            <a:r>
              <a:rPr lang="en-US" altLang="en-US" sz="2000" b="0" dirty="0">
                <a:ea typeface="ヒラギノ角ゴ Pro W3" pitchFamily="-84" charset="-128"/>
              </a:rPr>
              <a:t>(2 of 3)</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8229600" cy="504000"/>
          </a:xfrm>
        </p:spPr>
        <p:txBody>
          <a:bodyPr/>
          <a:lstStyle/>
          <a:p>
            <a:r>
              <a:rPr lang="en-US" altLang="en-US" sz="2400" dirty="0">
                <a:ea typeface="ヒラギノ角ゴ Pro W3" pitchFamily="-84" charset="-128"/>
              </a:rPr>
              <a:t>Assume an economy’</a:t>
            </a:r>
            <a:r>
              <a:rPr lang="en-US" altLang="ja-JP" sz="2400" dirty="0">
                <a:ea typeface="ヒラギノ角ゴ Pro W3" pitchFamily="-84" charset="-128"/>
              </a:rPr>
              <a:t>s labor force grows, which implies</a:t>
            </a:r>
            <a:endParaRPr lang="en-US" sz="2400" dirty="0"/>
          </a:p>
        </p:txBody>
      </p:sp>
      <p:sp>
        <p:nvSpPr>
          <p:cNvPr id="2" name="Content Placeholder 1">
            <a:extLst>
              <a:ext uri="{FF2B5EF4-FFF2-40B4-BE49-F238E27FC236}">
                <a16:creationId xmlns:a16="http://schemas.microsoft.com/office/drawing/2014/main" id="{7F0FFA60-81A1-4A77-A3DC-A2DD213A1ABE}"/>
              </a:ext>
            </a:extLst>
          </p:cNvPr>
          <p:cNvSpPr>
            <a:spLocks noGrp="1"/>
          </p:cNvSpPr>
          <p:nvPr>
            <p:ph sz="quarter" idx="14"/>
          </p:nvPr>
        </p:nvSpPr>
        <p:spPr>
          <a:xfrm>
            <a:off x="457200" y="2274087"/>
            <a:ext cx="4508938" cy="398381"/>
          </a:xfrm>
        </p:spPr>
        <p:txBody>
          <a:bodyPr tIns="0"/>
          <a:lstStyle/>
          <a:p>
            <a:pPr marL="255600" indent="0">
              <a:buNone/>
            </a:pPr>
            <a:r>
              <a:rPr lang="en-US" altLang="ja-JP" sz="2400" dirty="0">
                <a:ea typeface="ヒラギノ角ゴ Pro W3" pitchFamily="-84" charset="-128"/>
              </a:rPr>
              <a:t>that its ratio of labor to capital</a:t>
            </a:r>
            <a:endParaRPr lang="en-US" sz="2400" dirty="0"/>
          </a:p>
        </p:txBody>
      </p:sp>
      <p:graphicFrame>
        <p:nvGraphicFramePr>
          <p:cNvPr id="7" name="Object 6" descr="Start fraction L over K end fraction increases.">
            <a:extLst>
              <a:ext uri="{FF2B5EF4-FFF2-40B4-BE49-F238E27FC236}">
                <a16:creationId xmlns:a16="http://schemas.microsoft.com/office/drawing/2014/main" id="{96D6FD27-126B-4B4F-8B79-41BE3B9D1E34}"/>
              </a:ext>
            </a:extLst>
          </p:cNvPr>
          <p:cNvGraphicFramePr>
            <a:graphicFrameLocks noChangeAspect="1"/>
          </p:cNvGraphicFramePr>
          <p:nvPr>
            <p:extLst>
              <p:ext uri="{D42A27DB-BD31-4B8C-83A1-F6EECF244321}">
                <p14:modId xmlns:p14="http://schemas.microsoft.com/office/powerpoint/2010/main" val="692604935"/>
              </p:ext>
            </p:extLst>
          </p:nvPr>
        </p:nvGraphicFramePr>
        <p:xfrm>
          <a:off x="5110856" y="2161659"/>
          <a:ext cx="1712680" cy="717476"/>
        </p:xfrm>
        <a:graphic>
          <a:graphicData uri="http://schemas.openxmlformats.org/presentationml/2006/ole">
            <mc:AlternateContent xmlns:mc="http://schemas.openxmlformats.org/markup-compatibility/2006">
              <mc:Choice xmlns:v="urn:schemas-microsoft-com:vml" Requires="v">
                <p:oleObj spid="_x0000_s11267" name="Equation" r:id="rId4" imgW="939600" imgH="393480" progId="Equation.DSMT4">
                  <p:embed/>
                </p:oleObj>
              </mc:Choice>
              <mc:Fallback>
                <p:oleObj name="Equation" r:id="rId4" imgW="939600" imgH="393480" progId="Equation.DSMT4">
                  <p:embed/>
                  <p:pic>
                    <p:nvPicPr>
                      <p:cNvPr id="0" name=""/>
                      <p:cNvPicPr/>
                      <p:nvPr/>
                    </p:nvPicPr>
                    <p:blipFill>
                      <a:blip r:embed="rId5"/>
                      <a:stretch>
                        <a:fillRect/>
                      </a:stretch>
                    </p:blipFill>
                    <p:spPr>
                      <a:xfrm>
                        <a:off x="5110856" y="2161659"/>
                        <a:ext cx="1712680" cy="717476"/>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3E7F00EC-2016-4C88-B01C-A881C2F1618A}"/>
              </a:ext>
            </a:extLst>
          </p:cNvPr>
          <p:cNvSpPr>
            <a:spLocks noGrp="1"/>
          </p:cNvSpPr>
          <p:nvPr>
            <p:ph sz="quarter" idx="15"/>
          </p:nvPr>
        </p:nvSpPr>
        <p:spPr>
          <a:xfrm>
            <a:off x="457200" y="3002423"/>
            <a:ext cx="8229600" cy="3348000"/>
          </a:xfrm>
        </p:spPr>
        <p:txBody>
          <a:bodyPr tIns="0"/>
          <a:lstStyle/>
          <a:p>
            <a:pPr indent="-255600"/>
            <a:r>
              <a:rPr lang="en-US" altLang="en-US" sz="2400" dirty="0">
                <a:latin typeface="+mn-lt"/>
                <a:ea typeface="ヒラギノ角ゴ Pro W3" pitchFamily="-84" charset="-128"/>
              </a:rPr>
              <a:t>Expansion of production possibilities is biased toward cloth.</a:t>
            </a:r>
          </a:p>
          <a:p>
            <a:pPr indent="-255600"/>
            <a:r>
              <a:rPr lang="en-US" altLang="en-US" sz="2400" dirty="0">
                <a:latin typeface="+mn-lt"/>
                <a:ea typeface="ヒラギノ角ゴ Pro W3" pitchFamily="-84" charset="-128"/>
              </a:rPr>
              <a:t>At a given relative price of cloth, the ratio of labor to capital used in both sectors remains constant.</a:t>
            </a:r>
          </a:p>
          <a:p>
            <a:pPr indent="-255600"/>
            <a:r>
              <a:rPr lang="en-US" altLang="en-US" sz="2400" dirty="0">
                <a:latin typeface="+mn-lt"/>
                <a:ea typeface="ヒラギノ角ゴ Pro W3" pitchFamily="-84" charset="-128"/>
              </a:rPr>
              <a:t>To employ the additional workers, the economy expands production of the relatively labor-intensive good cloth and contracts production of the relatively capital-intensive good food.</a:t>
            </a:r>
            <a:endParaRPr lang="en-US" sz="2400" dirty="0">
              <a:latin typeface="+mn-lt"/>
            </a:endParaRPr>
          </a:p>
        </p:txBody>
      </p:sp>
    </p:spTree>
    <p:extLst>
      <p:ext uri="{BB962C8B-B14F-4D97-AF65-F5344CB8AC3E}">
        <p14:creationId xmlns:p14="http://schemas.microsoft.com/office/powerpoint/2010/main" val="452403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5.8 Resources and Production Possibilities</a:t>
            </a:r>
            <a:endParaRPr lang="en-IN" sz="3200" dirty="0"/>
          </a:p>
        </p:txBody>
      </p:sp>
      <p:pic>
        <p:nvPicPr>
          <p:cNvPr id="8" name="Content Placeholder 7" descr="A graph plots output of food, Q sub F, versus the output of cloth, W sub C. For long description in Notes pane, press F6.">
            <a:extLst>
              <a:ext uri="{FF2B5EF4-FFF2-40B4-BE49-F238E27FC236}">
                <a16:creationId xmlns:a16="http://schemas.microsoft.com/office/drawing/2014/main" id="{CFB5359A-DC22-4013-9F9C-7C644FF4CF23}"/>
              </a:ext>
            </a:extLst>
          </p:cNvPr>
          <p:cNvPicPr>
            <a:picLocks noGrp="1" noChangeAspect="1"/>
          </p:cNvPicPr>
          <p:nvPr>
            <p:ph sz="quarter" idx="13"/>
          </p:nvPr>
        </p:nvPicPr>
        <p:blipFill>
          <a:blip r:embed="rId3"/>
          <a:stretch>
            <a:fillRect/>
          </a:stretch>
        </p:blipFill>
        <p:spPr>
          <a:xfrm>
            <a:off x="3014610" y="1534518"/>
            <a:ext cx="3114779" cy="3288481"/>
          </a:xfrm>
        </p:spPr>
      </p:pic>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5064693"/>
            <a:ext cx="8229600" cy="1260000"/>
          </a:xfrm>
        </p:spPr>
        <p:txBody>
          <a:bodyPr tIns="0"/>
          <a:lstStyle/>
          <a:p>
            <a:pPr marL="0" indent="0">
              <a:buNone/>
            </a:pPr>
            <a:r>
              <a:rPr lang="en-US" sz="2000" dirty="0"/>
              <a:t>An increase in the supply of labor shifts the economy’s production possibility frontier outward disproportionately in the direction of cloth production. At an unchanged relative price of cloth, food production declines.</a:t>
            </a:r>
            <a:endParaRPr lang="en-US" sz="2000" i="1" dirty="0"/>
          </a:p>
        </p:txBody>
      </p:sp>
    </p:spTree>
    <p:extLst>
      <p:ext uri="{BB962C8B-B14F-4D97-AF65-F5344CB8AC3E}">
        <p14:creationId xmlns:p14="http://schemas.microsoft.com/office/powerpoint/2010/main" val="4191398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Resources and Output </a:t>
            </a:r>
            <a:r>
              <a:rPr lang="en-US" altLang="en-US" sz="2000" b="0" dirty="0">
                <a:ea typeface="ヒラギノ角ゴ Pro W3" pitchFamily="-84" charset="-128"/>
              </a:rPr>
              <a:t>(3 of 3)</a:t>
            </a:r>
            <a:endParaRPr lang="en-IN" sz="2000" dirty="0"/>
          </a:p>
        </p:txBody>
      </p:sp>
      <p:sp>
        <p:nvSpPr>
          <p:cNvPr id="4" name="Content Placeholder 3">
            <a:extLst>
              <a:ext uri="{FF2B5EF4-FFF2-40B4-BE49-F238E27FC236}">
                <a16:creationId xmlns:a16="http://schemas.microsoft.com/office/drawing/2014/main" id="{18F78F1E-D47D-4506-8D5E-C7FCF1191D9C}"/>
              </a:ext>
            </a:extLst>
          </p:cNvPr>
          <p:cNvSpPr>
            <a:spLocks noGrp="1"/>
          </p:cNvSpPr>
          <p:nvPr>
            <p:ph sz="quarter" idx="13"/>
          </p:nvPr>
        </p:nvSpPr>
        <p:spPr>
          <a:xfrm>
            <a:off x="457200" y="1556327"/>
            <a:ext cx="7896578" cy="1872673"/>
          </a:xfrm>
        </p:spPr>
        <p:txBody>
          <a:bodyPr/>
          <a:lstStyle/>
          <a:p>
            <a:r>
              <a:rPr lang="en-US" altLang="en-US" sz="2400" dirty="0">
                <a:ea typeface="ヒラギノ角ゴ Pro W3" pitchFamily="-84" charset="-128"/>
              </a:rPr>
              <a:t>An economy with a </a:t>
            </a:r>
            <a:r>
              <a:rPr lang="en-US" altLang="en-US" sz="2400" b="1" dirty="0">
                <a:ea typeface="ヒラギノ角ゴ Pro W3" pitchFamily="-84" charset="-128"/>
              </a:rPr>
              <a:t>high ratio of labor to capital</a:t>
            </a:r>
            <a:r>
              <a:rPr lang="en-US" altLang="en-US" sz="2400" i="1" dirty="0">
                <a:ea typeface="ヒラギノ角ゴ Pro W3" pitchFamily="-84" charset="-128"/>
              </a:rPr>
              <a:t> </a:t>
            </a:r>
            <a:r>
              <a:rPr lang="en-US" altLang="en-US" sz="2400" dirty="0">
                <a:ea typeface="ヒラギノ角ゴ Pro W3" pitchFamily="-84" charset="-128"/>
              </a:rPr>
              <a:t>produces a </a:t>
            </a:r>
            <a:r>
              <a:rPr lang="en-US" altLang="en-US" sz="2400" b="1" dirty="0">
                <a:ea typeface="ヒラギノ角ゴ Pro W3" pitchFamily="-84" charset="-128"/>
              </a:rPr>
              <a:t>high output of cloth relative to food</a:t>
            </a:r>
            <a:r>
              <a:rPr lang="en-US" altLang="en-US" sz="2400" dirty="0">
                <a:ea typeface="ヒラギノ角ゴ Pro W3" pitchFamily="-84" charset="-128"/>
              </a:rPr>
              <a:t>.</a:t>
            </a:r>
          </a:p>
          <a:p>
            <a:r>
              <a:rPr lang="en-US" altLang="en-US" sz="2400" dirty="0">
                <a:ea typeface="ヒラギノ角ゴ Pro W3" pitchFamily="-84" charset="-128"/>
              </a:rPr>
              <a:t>Suppose that Home is </a:t>
            </a:r>
            <a:r>
              <a:rPr lang="en-US" altLang="en-US" sz="2400" b="1" dirty="0">
                <a:ea typeface="ヒラギノ角ゴ Pro W3" pitchFamily="-84" charset="-128"/>
              </a:rPr>
              <a:t>relatively abundant</a:t>
            </a:r>
            <a:r>
              <a:rPr lang="en-US" altLang="en-US" sz="2400" dirty="0">
                <a:ea typeface="ヒラギノ角ゴ Pro W3" pitchFamily="-84" charset="-128"/>
              </a:rPr>
              <a:t> in labor and Foreign in capital:</a:t>
            </a:r>
            <a:endParaRPr lang="en-US" sz="2400" dirty="0"/>
          </a:p>
        </p:txBody>
      </p:sp>
      <p:graphicFrame>
        <p:nvGraphicFramePr>
          <p:cNvPr id="5" name="Object 4" descr="Start fraction L over K end fraction is greater than start fraction L to the asterisk power over K to the asterisk power end fraction ">
            <a:extLst>
              <a:ext uri="{FF2B5EF4-FFF2-40B4-BE49-F238E27FC236}">
                <a16:creationId xmlns:a16="http://schemas.microsoft.com/office/drawing/2014/main" id="{B5672716-85E4-45AB-BE69-98CAC68C25F1}"/>
              </a:ext>
            </a:extLst>
          </p:cNvPr>
          <p:cNvGraphicFramePr>
            <a:graphicFrameLocks noChangeAspect="1"/>
          </p:cNvGraphicFramePr>
          <p:nvPr>
            <p:extLst>
              <p:ext uri="{D42A27DB-BD31-4B8C-83A1-F6EECF244321}">
                <p14:modId xmlns:p14="http://schemas.microsoft.com/office/powerpoint/2010/main" val="2509526369"/>
              </p:ext>
            </p:extLst>
          </p:nvPr>
        </p:nvGraphicFramePr>
        <p:xfrm>
          <a:off x="4010025" y="3530591"/>
          <a:ext cx="1123950" cy="776287"/>
        </p:xfrm>
        <a:graphic>
          <a:graphicData uri="http://schemas.openxmlformats.org/presentationml/2006/ole">
            <mc:AlternateContent xmlns:mc="http://schemas.openxmlformats.org/markup-compatibility/2006">
              <mc:Choice xmlns:v="urn:schemas-microsoft-com:vml" Requires="v">
                <p:oleObj spid="_x0000_s12291" name="Equation" r:id="rId4" imgW="1123400" imgH="775831" progId="Equation.DSMT4">
                  <p:embed/>
                </p:oleObj>
              </mc:Choice>
              <mc:Fallback>
                <p:oleObj name="Equation" r:id="rId4" imgW="1123400" imgH="775831" progId="Equation.DSMT4">
                  <p:embed/>
                  <p:pic>
                    <p:nvPicPr>
                      <p:cNvPr id="0" name=""/>
                      <p:cNvPicPr/>
                      <p:nvPr/>
                    </p:nvPicPr>
                    <p:blipFill>
                      <a:blip r:embed="rId5"/>
                      <a:stretch>
                        <a:fillRect/>
                      </a:stretch>
                    </p:blipFill>
                    <p:spPr>
                      <a:xfrm>
                        <a:off x="4010025" y="3530591"/>
                        <a:ext cx="1123950" cy="776287"/>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7F67B261-F26C-4ABA-AD09-9A5FD82B60FB}"/>
              </a:ext>
            </a:extLst>
          </p:cNvPr>
          <p:cNvSpPr>
            <a:spLocks noGrp="1"/>
          </p:cNvSpPr>
          <p:nvPr>
            <p:ph sz="quarter" idx="14"/>
          </p:nvPr>
        </p:nvSpPr>
        <p:spPr>
          <a:xfrm>
            <a:off x="457200" y="4410529"/>
            <a:ext cx="7670800" cy="1692000"/>
          </a:xfrm>
        </p:spPr>
        <p:txBody>
          <a:bodyPr tIns="0"/>
          <a:lstStyle/>
          <a:p>
            <a:pPr lvl="1"/>
            <a:r>
              <a:rPr lang="en-US" altLang="en-US" sz="2400" dirty="0">
                <a:ea typeface="ヒラギノ角ゴ Pro W3" pitchFamily="-84" charset="-128"/>
              </a:rPr>
              <a:t>Likewise, Home is </a:t>
            </a:r>
            <a:r>
              <a:rPr lang="en-US" altLang="en-US" sz="2400" b="1" dirty="0">
                <a:ea typeface="ヒラギノ角ゴ Pro W3" pitchFamily="-84" charset="-128"/>
              </a:rPr>
              <a:t>relatively scarce</a:t>
            </a:r>
            <a:r>
              <a:rPr lang="en-US" altLang="en-US" sz="2400" dirty="0">
                <a:ea typeface="ヒラギノ角ゴ Pro W3" pitchFamily="-84" charset="-128"/>
              </a:rPr>
              <a:t> in capital and Foreign in labor.</a:t>
            </a:r>
          </a:p>
          <a:p>
            <a:r>
              <a:rPr lang="en-US" altLang="en-US" sz="2400" dirty="0">
                <a:ea typeface="ヒラギノ角ゴ Pro W3" pitchFamily="-84" charset="-128"/>
              </a:rPr>
              <a:t>Home will be relatively efficient at producing cloth because cloth is </a:t>
            </a:r>
            <a:r>
              <a:rPr lang="en-US" altLang="en-US" sz="2400" b="1" dirty="0">
                <a:ea typeface="ヒラギノ角ゴ Pro W3" pitchFamily="-84" charset="-128"/>
              </a:rPr>
              <a:t>relatively labor intensive</a:t>
            </a:r>
            <a:r>
              <a:rPr lang="en-US" altLang="en-US" sz="2400" dirty="0">
                <a:ea typeface="ヒラギノ角ゴ Pro W3" pitchFamily="-84" charset="-128"/>
              </a:rPr>
              <a:t>.</a:t>
            </a:r>
            <a:endParaRPr lang="en-US" sz="2400" dirty="0"/>
          </a:p>
        </p:txBody>
      </p:sp>
    </p:spTree>
    <p:extLst>
      <p:ext uri="{BB962C8B-B14F-4D97-AF65-F5344CB8AC3E}">
        <p14:creationId xmlns:p14="http://schemas.microsoft.com/office/powerpoint/2010/main" val="1179989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(1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The countries are assumed to have the same technology and the same tastes.</a:t>
            </a:r>
          </a:p>
          <a:p>
            <a:pPr lvl="1"/>
            <a:r>
              <a:rPr lang="en-US" altLang="en-US" sz="2400" dirty="0">
                <a:ea typeface="ヒラギノ角ゴ Pro W3" pitchFamily="-84" charset="-128"/>
              </a:rPr>
              <a:t>With the same technology, each economy has a comparative advantage in producing the good that relatively intensively uses the factors of production in which the country is relatively well endowed.</a:t>
            </a:r>
          </a:p>
          <a:p>
            <a:pPr lvl="1"/>
            <a:r>
              <a:rPr lang="en-US" altLang="en-US" sz="2400" dirty="0">
                <a:ea typeface="ヒラギノ角ゴ Pro W3" pitchFamily="-84" charset="-128"/>
              </a:rPr>
              <a:t>With the same tastes, the two countries will consume cloth to food in the same ratio when faced with the same relative price of cloth under free trade.</a:t>
            </a:r>
            <a:endParaRPr lang="en-US" sz="2400" dirty="0"/>
          </a:p>
        </p:txBody>
      </p:sp>
    </p:spTree>
    <p:extLst>
      <p:ext uri="{BB962C8B-B14F-4D97-AF65-F5344CB8AC3E}">
        <p14:creationId xmlns:p14="http://schemas.microsoft.com/office/powerpoint/2010/main" val="2166925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(2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Since cloth is relatively labor intensive, at each relative price of cloth to food, Home will produce a higher ratio of cloth to food than Foreign.</a:t>
            </a:r>
          </a:p>
          <a:p>
            <a:pPr lvl="1"/>
            <a:r>
              <a:rPr lang="en-US" altLang="en-US" sz="2400" dirty="0">
                <a:ea typeface="ヒラギノ角ゴ Pro W3" pitchFamily="-84" charset="-128"/>
              </a:rPr>
              <a:t>Home will have a larger relative supply of cloth to food than Foreign.</a:t>
            </a:r>
          </a:p>
          <a:p>
            <a:pPr lvl="1"/>
            <a:r>
              <a:rPr lang="en-US" altLang="en-US" sz="2400" dirty="0">
                <a:ea typeface="ヒラギノ角ゴ Pro W3" pitchFamily="-84" charset="-128"/>
              </a:rPr>
              <a:t>Home’</a:t>
            </a:r>
            <a:r>
              <a:rPr lang="en-US" altLang="ja-JP" sz="2400" dirty="0">
                <a:ea typeface="ヒラギノ角ゴ Pro W3" pitchFamily="-84" charset="-128"/>
              </a:rPr>
              <a:t>s relative supply curve lies to the right of Foreign’s.</a:t>
            </a:r>
            <a:endParaRPr lang="en-US" sz="2400" dirty="0"/>
          </a:p>
        </p:txBody>
      </p:sp>
    </p:spTree>
    <p:extLst>
      <p:ext uri="{BB962C8B-B14F-4D97-AF65-F5344CB8AC3E}">
        <p14:creationId xmlns:p14="http://schemas.microsoft.com/office/powerpoint/2010/main" val="723568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5.9 Trade Leads to a Convergence of Relative Prices</a:t>
            </a:r>
            <a:endParaRPr lang="en-IN" sz="1800" dirty="0"/>
          </a:p>
        </p:txBody>
      </p:sp>
      <p:pic>
        <p:nvPicPr>
          <p:cNvPr id="4" name="Content Placeholder 3" descr="A graph plots relative price of cloth, P sub C over P sub F, versus relative quantity of cloth, Q sub C over Q sub F. For long description in Notes pane, press F6.">
            <a:extLst>
              <a:ext uri="{FF2B5EF4-FFF2-40B4-BE49-F238E27FC236}">
                <a16:creationId xmlns:a16="http://schemas.microsoft.com/office/drawing/2014/main" id="{D85B9B86-6B95-45F4-A750-CC057DD191F9}"/>
              </a:ext>
            </a:extLst>
          </p:cNvPr>
          <p:cNvPicPr>
            <a:picLocks noGrp="1" noChangeAspect="1"/>
          </p:cNvPicPr>
          <p:nvPr>
            <p:ph sz="quarter" idx="13"/>
          </p:nvPr>
        </p:nvPicPr>
        <p:blipFill>
          <a:blip r:embed="rId3"/>
          <a:stretch>
            <a:fillRect/>
          </a:stretch>
        </p:blipFill>
        <p:spPr>
          <a:xfrm>
            <a:off x="2896641" y="1680007"/>
            <a:ext cx="3350718" cy="3142025"/>
          </a:xfrm>
        </p:spPr>
      </p:pic>
      <p:sp>
        <p:nvSpPr>
          <p:cNvPr id="2" name="Content Placeholder 1">
            <a:extLst>
              <a:ext uri="{FF2B5EF4-FFF2-40B4-BE49-F238E27FC236}">
                <a16:creationId xmlns:a16="http://schemas.microsoft.com/office/drawing/2014/main" id="{4A3039DE-1AB7-4E55-BA77-059CC352037F}"/>
              </a:ext>
            </a:extLst>
          </p:cNvPr>
          <p:cNvSpPr>
            <a:spLocks noGrp="1"/>
          </p:cNvSpPr>
          <p:nvPr>
            <p:ph sz="quarter" idx="14"/>
          </p:nvPr>
        </p:nvSpPr>
        <p:spPr>
          <a:xfrm>
            <a:off x="457198" y="4920980"/>
            <a:ext cx="8556173" cy="1398597"/>
          </a:xfrm>
        </p:spPr>
        <p:txBody>
          <a:bodyPr/>
          <a:lstStyle/>
          <a:p>
            <a:pPr marL="432" indent="0">
              <a:buNone/>
            </a:pPr>
            <a:r>
              <a:rPr lang="en-US" sz="2000" dirty="0"/>
              <a:t>In the absence of trade, Home’s equilibrium would be at point 1, where domestic relative supply </a:t>
            </a:r>
            <a:r>
              <a:rPr lang="en-US" sz="2000" i="1" dirty="0"/>
              <a:t>R</a:t>
            </a:r>
            <a:r>
              <a:rPr lang="en-US" sz="100" i="1" dirty="0"/>
              <a:t> </a:t>
            </a:r>
            <a:r>
              <a:rPr lang="en-US" sz="2000" i="1" dirty="0"/>
              <a:t>S </a:t>
            </a:r>
            <a:r>
              <a:rPr lang="en-US" sz="2000" dirty="0"/>
              <a:t>intersects the relative demand curve </a:t>
            </a:r>
            <a:r>
              <a:rPr lang="en-US" sz="2000" i="1" dirty="0"/>
              <a:t>R</a:t>
            </a:r>
            <a:r>
              <a:rPr lang="en-US" sz="100" i="1" dirty="0"/>
              <a:t> </a:t>
            </a:r>
            <a:r>
              <a:rPr lang="en-US" sz="2000" i="1" dirty="0"/>
              <a:t>D. </a:t>
            </a:r>
            <a:r>
              <a:rPr lang="en-US" sz="2000" dirty="0"/>
              <a:t>Similarly, Foreign’s equilibrium would be at point 3. Trade leads to a world relative price that lies between the pretrade prices, such as at point 2.</a:t>
            </a:r>
          </a:p>
        </p:txBody>
      </p:sp>
    </p:spTree>
    <p:extLst>
      <p:ext uri="{BB962C8B-B14F-4D97-AF65-F5344CB8AC3E}">
        <p14:creationId xmlns:p14="http://schemas.microsoft.com/office/powerpoint/2010/main" val="3939625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(3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Like the Ricardian model, the Heckscher-Ohlin model predicts a convergence of relative prices with trade.</a:t>
            </a:r>
          </a:p>
          <a:p>
            <a:r>
              <a:rPr lang="en-US" altLang="en-US" sz="2400" dirty="0">
                <a:ea typeface="ヒラギノ角ゴ Pro W3" pitchFamily="-84" charset="-128"/>
              </a:rPr>
              <a:t>With trade, the relative price of cloth rises in the relatively labor abundant (home) country and falls in the relatively labor scarce (foreign) country.</a:t>
            </a:r>
            <a:endParaRPr lang="en-US" sz="2400" dirty="0"/>
          </a:p>
        </p:txBody>
      </p:sp>
    </p:spTree>
    <p:extLst>
      <p:ext uri="{BB962C8B-B14F-4D97-AF65-F5344CB8AC3E}">
        <p14:creationId xmlns:p14="http://schemas.microsoft.com/office/powerpoint/2010/main" val="4032293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(4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556327"/>
            <a:ext cx="8425543" cy="4040432"/>
          </a:xfrm>
        </p:spPr>
        <p:txBody>
          <a:bodyPr/>
          <a:lstStyle/>
          <a:p>
            <a:r>
              <a:rPr lang="en-US" altLang="en-US" sz="2400" dirty="0">
                <a:ea typeface="ヒラギノ角ゴ Pro W3" pitchFamily="-84" charset="-128"/>
              </a:rPr>
              <a:t>Relative prices and the pattern of trade: In Home, the rise in the relative price of cloth leads to a rise in the relative production of cloth and a fall in relative consumption of cloth.</a:t>
            </a:r>
          </a:p>
          <a:p>
            <a:pPr lvl="1"/>
            <a:r>
              <a:rPr lang="en-US" altLang="en-US" sz="2400" dirty="0">
                <a:ea typeface="ヒラギノ角ゴ Pro W3" pitchFamily="-84" charset="-128"/>
              </a:rPr>
              <a:t>Home becomes an exporter of cloth and an importer of food.</a:t>
            </a:r>
          </a:p>
          <a:p>
            <a:r>
              <a:rPr lang="en-US" altLang="en-US" sz="2400" dirty="0">
                <a:ea typeface="ヒラギノ角ゴ Pro W3" pitchFamily="-84" charset="-128"/>
              </a:rPr>
              <a:t>The decline in the relative price of cloth in Foreign leads it to become an importer of cloth and an exporter of food.</a:t>
            </a:r>
            <a:endParaRPr lang="en-US" sz="2400" dirty="0"/>
          </a:p>
        </p:txBody>
      </p:sp>
    </p:spTree>
    <p:extLst>
      <p:ext uri="{BB962C8B-B14F-4D97-AF65-F5344CB8AC3E}">
        <p14:creationId xmlns:p14="http://schemas.microsoft.com/office/powerpoint/2010/main" val="2264612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in the Heckscher-Ohlin Model </a:t>
            </a:r>
            <a:r>
              <a:rPr lang="en-US" altLang="en-US" sz="1800" b="0" dirty="0">
                <a:ea typeface="ヒラギノ角ゴ Pro W3" pitchFamily="-84" charset="-128"/>
              </a:rPr>
              <a:t>(5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386354" cy="4040432"/>
          </a:xfrm>
        </p:spPr>
        <p:txBody>
          <a:bodyPr/>
          <a:lstStyle/>
          <a:p>
            <a:r>
              <a:rPr lang="en-US" altLang="en-US" sz="2400" b="1" dirty="0">
                <a:ea typeface="ヒラギノ角ゴ Pro W3" pitchFamily="-84" charset="-128"/>
              </a:rPr>
              <a:t>Heckscher-Ohlin theorem</a:t>
            </a:r>
            <a:r>
              <a:rPr lang="en-US" altLang="en-US" sz="2400" dirty="0">
                <a:ea typeface="ヒラギノ角ゴ Pro W3" pitchFamily="-84" charset="-128"/>
              </a:rPr>
              <a:t>: The country that is abundant in a factor exports the good whose production is intensive in that factor.</a:t>
            </a:r>
          </a:p>
          <a:p>
            <a:r>
              <a:rPr lang="en-US" altLang="en-US" sz="2400" dirty="0">
                <a:ea typeface="ヒラギノ角ゴ Pro W3" pitchFamily="-84" charset="-128"/>
              </a:rPr>
              <a:t>This result generalizes to a correlation:</a:t>
            </a:r>
          </a:p>
          <a:p>
            <a:pPr lvl="1"/>
            <a:r>
              <a:rPr lang="en-US" altLang="en-US" sz="2400" b="1" dirty="0">
                <a:ea typeface="ヒラギノ角ゴ Pro W3" pitchFamily="-84" charset="-128"/>
              </a:rPr>
              <a:t>Countries tend to export goods whose production is intensive in factors with which the countries are abundantly endowed.</a:t>
            </a:r>
            <a:endParaRPr lang="en-US" sz="2400" b="1" dirty="0"/>
          </a:p>
        </p:txBody>
      </p:sp>
    </p:spTree>
    <p:extLst>
      <p:ext uri="{BB962C8B-B14F-4D97-AF65-F5344CB8AC3E}">
        <p14:creationId xmlns:p14="http://schemas.microsoft.com/office/powerpoint/2010/main" val="2155437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(1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412480" cy="4040432"/>
          </a:xfrm>
        </p:spPr>
        <p:txBody>
          <a:bodyPr/>
          <a:lstStyle/>
          <a:p>
            <a:r>
              <a:rPr lang="en-US" sz="2400" dirty="0"/>
              <a:t>Changes in relative prices can affect the earnings of labor and capital.</a:t>
            </a:r>
          </a:p>
          <a:p>
            <a:pPr lvl="1"/>
            <a:r>
              <a:rPr lang="en-US" sz="2400" dirty="0"/>
              <a:t>A rise in the price of cloth raises the purchasing power of labor in terms of both goods while lowering the purchasing power of capital in terms of both goods.</a:t>
            </a:r>
          </a:p>
          <a:p>
            <a:pPr lvl="1"/>
            <a:r>
              <a:rPr lang="en-US" sz="2400" dirty="0"/>
              <a:t>A rise in the price of food has the reverse effect.</a:t>
            </a:r>
            <a:endParaRPr lang="en-US" sz="2400" b="1" dirty="0"/>
          </a:p>
        </p:txBody>
      </p:sp>
    </p:spTree>
    <p:extLst>
      <p:ext uri="{BB962C8B-B14F-4D97-AF65-F5344CB8AC3E}">
        <p14:creationId xmlns:p14="http://schemas.microsoft.com/office/powerpoint/2010/main" val="2589081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(2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040432"/>
          </a:xfrm>
        </p:spPr>
        <p:txBody>
          <a:bodyPr/>
          <a:lstStyle/>
          <a:p>
            <a:r>
              <a:rPr lang="en-US" altLang="en-US" sz="2400" dirty="0">
                <a:ea typeface="ヒラギノ角ゴ Pro W3" pitchFamily="-84" charset="-128"/>
              </a:rPr>
              <a:t>Thus, international trade can affect the distribution of income, even in the long run:</a:t>
            </a:r>
            <a:endParaRPr lang="en-US" sz="2400" dirty="0"/>
          </a:p>
          <a:p>
            <a:pPr lvl="1"/>
            <a:r>
              <a:rPr lang="en-US" altLang="en-US" sz="2400" b="1" dirty="0">
                <a:ea typeface="ヒラギノ角ゴ Pro W3" pitchFamily="-84" charset="-128"/>
              </a:rPr>
              <a:t>Owners of a country’</a:t>
            </a:r>
            <a:r>
              <a:rPr lang="en-US" altLang="ja-JP" sz="2400" b="1" dirty="0">
                <a:ea typeface="ヒラギノ角ゴ Pro W3" pitchFamily="-84" charset="-128"/>
              </a:rPr>
              <a:t>s abundant factors gain from trade, but owners of a country’s scarce factors lose.</a:t>
            </a:r>
          </a:p>
          <a:p>
            <a:pPr lvl="1"/>
            <a:r>
              <a:rPr lang="en-US" altLang="en-US" sz="2400" dirty="0">
                <a:ea typeface="ヒラギノ角ゴ Pro W3" pitchFamily="-84" charset="-128"/>
              </a:rPr>
              <a:t>Factors of production that are used intensively by the import-competing industry are hurt by the opening of trade—regardless of the industry in which they are employed.</a:t>
            </a:r>
            <a:endParaRPr lang="en-US" sz="2400" b="1" dirty="0"/>
          </a:p>
        </p:txBody>
      </p:sp>
    </p:spTree>
    <p:extLst>
      <p:ext uri="{BB962C8B-B14F-4D97-AF65-F5344CB8AC3E}">
        <p14:creationId xmlns:p14="http://schemas.microsoft.com/office/powerpoint/2010/main" val="1966083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(3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054622" cy="4040432"/>
          </a:xfrm>
        </p:spPr>
        <p:txBody>
          <a:bodyPr/>
          <a:lstStyle/>
          <a:p>
            <a:r>
              <a:rPr lang="en-US" altLang="en-US" sz="2400" dirty="0">
                <a:ea typeface="ヒラギノ角ゴ Pro W3" pitchFamily="-84" charset="-128"/>
              </a:rPr>
              <a:t>Compared with the rest of the world, the United States is abundantly endowed with highly skilled labor while low-skilled labor is correspondingly scarce.</a:t>
            </a:r>
          </a:p>
          <a:p>
            <a:pPr lvl="1"/>
            <a:r>
              <a:rPr lang="en-US" altLang="en-US" sz="2400" dirty="0">
                <a:ea typeface="ヒラギノ角ゴ Pro W3" pitchFamily="-84" charset="-128"/>
              </a:rPr>
              <a:t>International trade has the potential to make low-skilled workers in the United States worse off—not just temporarily, but on a sustained basis.</a:t>
            </a:r>
            <a:endParaRPr lang="en-US" sz="2400" b="1" dirty="0"/>
          </a:p>
        </p:txBody>
      </p:sp>
    </p:spTree>
    <p:extLst>
      <p:ext uri="{BB962C8B-B14F-4D97-AF65-F5344CB8AC3E}">
        <p14:creationId xmlns:p14="http://schemas.microsoft.com/office/powerpoint/2010/main" val="2261546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(4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556327"/>
            <a:ext cx="8393289" cy="4623756"/>
          </a:xfrm>
        </p:spPr>
        <p:txBody>
          <a:bodyPr/>
          <a:lstStyle/>
          <a:p>
            <a:r>
              <a:rPr lang="en-US" altLang="en-US" sz="2200" dirty="0">
                <a:ea typeface="ヒラギノ角ゴ Pro W3" pitchFamily="-84" charset="-128"/>
              </a:rPr>
              <a:t>Changes in income distribution occur with every economic change, not only international trade.</a:t>
            </a:r>
          </a:p>
          <a:p>
            <a:pPr lvl="1"/>
            <a:r>
              <a:rPr lang="en-US" altLang="en-US" sz="2200" dirty="0">
                <a:ea typeface="ヒラギノ角ゴ Pro W3" pitchFamily="-84" charset="-128"/>
              </a:rPr>
              <a:t>Changes in technology, changes in consumer preferences, exhaustion of resources and discovery of new ones all affect income distribution.</a:t>
            </a:r>
          </a:p>
          <a:p>
            <a:pPr lvl="1"/>
            <a:r>
              <a:rPr lang="en-US" altLang="en-US" sz="2200" dirty="0">
                <a:ea typeface="ヒラギノ角ゴ Pro W3" pitchFamily="-84" charset="-128"/>
              </a:rPr>
              <a:t>Economists put most of the blame on technological change and the resulting premium paid on education as the major cause of increasing income inequality in the United States.</a:t>
            </a:r>
          </a:p>
          <a:p>
            <a:r>
              <a:rPr lang="en-US" altLang="en-US" sz="2200" dirty="0">
                <a:ea typeface="ヒラギノ角ゴ Pro W3" pitchFamily="-84" charset="-128"/>
              </a:rPr>
              <a:t>It would be better to compensate the losers from trade (or any economic change) than prohibit trade.</a:t>
            </a:r>
          </a:p>
          <a:p>
            <a:pPr lvl="1"/>
            <a:r>
              <a:rPr lang="en-US" altLang="en-US" sz="2200" dirty="0">
                <a:ea typeface="ヒラギノ角ゴ Pro W3" pitchFamily="-84" charset="-128"/>
              </a:rPr>
              <a:t>The economy as a whole does benefit from trade.</a:t>
            </a:r>
            <a:endParaRPr lang="en-US" sz="2200" b="1" dirty="0"/>
          </a:p>
        </p:txBody>
      </p:sp>
    </p:spTree>
    <p:extLst>
      <p:ext uri="{BB962C8B-B14F-4D97-AF65-F5344CB8AC3E}">
        <p14:creationId xmlns:p14="http://schemas.microsoft.com/office/powerpoint/2010/main" val="3261442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Trade and the Distribution of Income </a:t>
            </a:r>
            <a:r>
              <a:rPr lang="en-US" altLang="en-US" sz="1800" b="0" dirty="0">
                <a:ea typeface="ヒラギノ角ゴ Pro W3" pitchFamily="-84" charset="-128"/>
              </a:rPr>
              <a:t>(5 of 5)</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623756"/>
          </a:xfrm>
        </p:spPr>
        <p:txBody>
          <a:bodyPr/>
          <a:lstStyle/>
          <a:p>
            <a:r>
              <a:rPr lang="en-US" altLang="en-US" sz="2400" dirty="0">
                <a:ea typeface="ヒラギノ角ゴ Pro W3" pitchFamily="-84" charset="-128"/>
              </a:rPr>
              <a:t>There is a political bias in trade politics: potential losers from trade are better politically organized than the winners from trade.</a:t>
            </a:r>
          </a:p>
          <a:p>
            <a:pPr lvl="1"/>
            <a:r>
              <a:rPr lang="en-US" altLang="en-US" sz="2400" dirty="0">
                <a:ea typeface="ヒラギノ角ゴ Pro W3" pitchFamily="-84" charset="-128"/>
              </a:rPr>
              <a:t>Losses are usually concentrated among a few, but gains are usually dispersed among many.</a:t>
            </a:r>
          </a:p>
          <a:p>
            <a:pPr lvl="1"/>
            <a:r>
              <a:rPr lang="en-US" altLang="en-US" sz="2400" dirty="0">
                <a:ea typeface="ヒラギノ角ゴ Pro W3" pitchFamily="-84" charset="-128"/>
              </a:rPr>
              <a:t>Each of you pays about $8/year to restrict imports of sugar, and the total cost of this policy is about $2 billion/year.</a:t>
            </a:r>
          </a:p>
          <a:p>
            <a:pPr lvl="1"/>
            <a:r>
              <a:rPr lang="en-US" altLang="en-US" sz="2400" dirty="0">
                <a:ea typeface="ヒラギノ角ゴ Pro W3" pitchFamily="-84" charset="-128"/>
              </a:rPr>
              <a:t>The benefits of this program total about $1 billion, but this amount goes to relatively few sugar producers.</a:t>
            </a:r>
          </a:p>
        </p:txBody>
      </p:sp>
    </p:spTree>
    <p:extLst>
      <p:ext uri="{BB962C8B-B14F-4D97-AF65-F5344CB8AC3E}">
        <p14:creationId xmlns:p14="http://schemas.microsoft.com/office/powerpoint/2010/main" val="1966417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(1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4623756"/>
          </a:xfrm>
        </p:spPr>
        <p:txBody>
          <a:bodyPr/>
          <a:lstStyle/>
          <a:p>
            <a:r>
              <a:rPr lang="en-US" altLang="en-US" sz="2400" dirty="0">
                <a:ea typeface="ヒラギノ角ゴ Pro W3" pitchFamily="-84" charset="-128"/>
              </a:rPr>
              <a:t>Over the last 40 years, countries such as South Korea, Mexico, and China have exported to the United States goods intensive in unskilled labor (e.g., clothing, shoes, toys, assembled goods).</a:t>
            </a:r>
          </a:p>
          <a:p>
            <a:r>
              <a:rPr lang="en-US" altLang="en-US" sz="2400" dirty="0">
                <a:ea typeface="ヒラギノ角ゴ Pro W3" pitchFamily="-84" charset="-128"/>
              </a:rPr>
              <a:t>At the same time, income inequality has increased in the United States , as wages of unskilled workers have grown slowly compared to those of skilled workers.</a:t>
            </a:r>
          </a:p>
          <a:p>
            <a:r>
              <a:rPr lang="en-US" altLang="en-US" sz="2400" dirty="0">
                <a:ea typeface="ヒラギノ角ゴ Pro W3" pitchFamily="-84" charset="-128"/>
              </a:rPr>
              <a:t>Did the former trend cause the latter trend?</a:t>
            </a:r>
          </a:p>
        </p:txBody>
      </p:sp>
    </p:spTree>
    <p:extLst>
      <p:ext uri="{BB962C8B-B14F-4D97-AF65-F5344CB8AC3E}">
        <p14:creationId xmlns:p14="http://schemas.microsoft.com/office/powerpoint/2010/main" val="672319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(2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1692000"/>
          </a:xfrm>
        </p:spPr>
        <p:txBody>
          <a:bodyPr/>
          <a:lstStyle/>
          <a:p>
            <a:r>
              <a:rPr lang="en-US" altLang="en-US" sz="2400" dirty="0">
                <a:ea typeface="ヒラギノ角ゴ Pro W3" pitchFamily="-84" charset="-128"/>
              </a:rPr>
              <a:t>The Heckscher-Ohlin model predicts that owners of relatively abundant factors will gain from trade and owners of relatively scarce factors will lose from trade.</a:t>
            </a:r>
          </a:p>
          <a:p>
            <a:pPr lvl="1"/>
            <a:r>
              <a:rPr lang="en-US" altLang="en-US" sz="2400" dirty="0">
                <a:ea typeface="ヒラギノ角ゴ Pro W3" pitchFamily="-84" charset="-128"/>
              </a:rPr>
              <a:t>Little evidence supporting this prediction exists.</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3389047"/>
            <a:ext cx="8229600" cy="2032038"/>
          </a:xfrm>
        </p:spPr>
        <p:txBody>
          <a:bodyPr tIns="0"/>
          <a:lstStyle/>
          <a:p>
            <a:pPr marL="432000" indent="-432000">
              <a:buFont typeface="+mj-lt"/>
              <a:buAutoNum type="arabicPeriod"/>
            </a:pPr>
            <a:r>
              <a:rPr lang="en-US" altLang="en-US" dirty="0">
                <a:ea typeface="ヒラギノ角ゴ Pro W3" pitchFamily="-84" charset="-128"/>
              </a:rPr>
              <a:t>According to the model, a change in the distribution of income occurs through changes in output prices, but there is no evidence of a change in the prices of skill-intensive goods relative to prices of unskilled-intensive goods.</a:t>
            </a:r>
          </a:p>
        </p:txBody>
      </p:sp>
    </p:spTree>
    <p:extLst>
      <p:ext uri="{BB962C8B-B14F-4D97-AF65-F5344CB8AC3E}">
        <p14:creationId xmlns:p14="http://schemas.microsoft.com/office/powerpoint/2010/main" val="3663020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(3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8229600" cy="1617947"/>
          </a:xfrm>
        </p:spPr>
        <p:txBody>
          <a:bodyPr/>
          <a:lstStyle/>
          <a:p>
            <a:pPr marL="432000" indent="-432000">
              <a:buFont typeface="+mj-lt"/>
              <a:buAutoNum type="arabicPeriod" startAt="2"/>
            </a:pPr>
            <a:r>
              <a:rPr lang="en-US" altLang="en-US" sz="2400" dirty="0"/>
              <a:t>According to the model, wages of unskilled workers should increase in unskilled labor abundant countries relative to wages of skilled labor, but in some cases the reverse has occurred:</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3262918"/>
            <a:ext cx="7916091" cy="2027537"/>
          </a:xfrm>
        </p:spPr>
        <p:txBody>
          <a:bodyPr tIns="0"/>
          <a:lstStyle/>
          <a:p>
            <a:pPr lvl="1"/>
            <a:r>
              <a:rPr lang="en-US" altLang="en-US" sz="2400" dirty="0"/>
              <a:t>Wages of skilled labor have increased more rapidly in Mexico than wages of unskilled labor.</a:t>
            </a:r>
          </a:p>
          <a:p>
            <a:pPr lvl="1"/>
            <a:r>
              <a:rPr lang="en-US" altLang="en-US" sz="2400" dirty="0"/>
              <a:t>But compared to the </a:t>
            </a:r>
            <a:r>
              <a:rPr lang="en-US" altLang="en-US" sz="2400" dirty="0">
                <a:ea typeface="ヒラギノ角ゴ Pro W3" pitchFamily="-84" charset="-128"/>
              </a:rPr>
              <a:t>United States</a:t>
            </a:r>
            <a:r>
              <a:rPr lang="en-US" altLang="en-US" sz="2400" dirty="0"/>
              <a:t> and Canada, Mexico is supposed to be abundant in unskilled workers.</a:t>
            </a:r>
            <a:endParaRPr lang="en-US" altLang="en-US" sz="2400" dirty="0">
              <a:ea typeface="ヒラギノ角ゴ Pro W3" pitchFamily="-84" charset="-128"/>
            </a:endParaRPr>
          </a:p>
        </p:txBody>
      </p:sp>
    </p:spTree>
    <p:extLst>
      <p:ext uri="{BB962C8B-B14F-4D97-AF65-F5344CB8AC3E}">
        <p14:creationId xmlns:p14="http://schemas.microsoft.com/office/powerpoint/2010/main" val="3802056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North-South Trade and Income Inequality </a:t>
            </a:r>
            <a:r>
              <a:rPr lang="en-US" altLang="en-US" sz="1800" b="0" dirty="0">
                <a:ea typeface="ヒラギノ角ゴ Pro W3" pitchFamily="-84" charset="-128"/>
              </a:rPr>
              <a:t>(4 of 4)</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7"/>
            <a:ext cx="8229600" cy="1234170"/>
          </a:xfrm>
        </p:spPr>
        <p:txBody>
          <a:bodyPr/>
          <a:lstStyle/>
          <a:p>
            <a:pPr marL="432000" indent="-432000">
              <a:buFont typeface="+mj-lt"/>
              <a:buAutoNum type="arabicPeriod" startAt="3"/>
            </a:pPr>
            <a:r>
              <a:rPr lang="en-US" altLang="en-US" sz="2400" dirty="0">
                <a:ea typeface="ヒラギノ角ゴ Pro W3" pitchFamily="-84" charset="-128"/>
              </a:rPr>
              <a:t>Even if the model were exactly correct, trade is a small fraction of the U.S. economy, so its effects on U.S. prices and wages prices should be small.</a:t>
            </a:r>
          </a:p>
        </p:txBody>
      </p:sp>
      <p:sp>
        <p:nvSpPr>
          <p:cNvPr id="2" name="Content Placeholder 1">
            <a:extLst>
              <a:ext uri="{FF2B5EF4-FFF2-40B4-BE49-F238E27FC236}">
                <a16:creationId xmlns:a16="http://schemas.microsoft.com/office/drawing/2014/main" id="{AC87C01F-226B-40EB-9AA7-DB28FCDEF487}"/>
              </a:ext>
            </a:extLst>
          </p:cNvPr>
          <p:cNvSpPr>
            <a:spLocks noGrp="1"/>
          </p:cNvSpPr>
          <p:nvPr>
            <p:ph sz="quarter" idx="14"/>
          </p:nvPr>
        </p:nvSpPr>
        <p:spPr>
          <a:xfrm>
            <a:off x="457200" y="2939499"/>
            <a:ext cx="8229600" cy="2024385"/>
          </a:xfrm>
        </p:spPr>
        <p:txBody>
          <a:bodyPr tIns="0"/>
          <a:lstStyle/>
          <a:p>
            <a:r>
              <a:rPr lang="en-US" altLang="en-US" sz="2400" dirty="0">
                <a:ea typeface="ヒラギノ角ゴ Pro W3" pitchFamily="-84" charset="-128"/>
              </a:rPr>
              <a:t>The majority view of trade economists is that the villain is not trade but rather new production technologies that put a greater emphasis on worker skills (such as the widespread introduction of computers and other advanced technologies in the workplace).</a:t>
            </a:r>
          </a:p>
        </p:txBody>
      </p:sp>
    </p:spTree>
    <p:extLst>
      <p:ext uri="{BB962C8B-B14F-4D97-AF65-F5344CB8AC3E}">
        <p14:creationId xmlns:p14="http://schemas.microsoft.com/office/powerpoint/2010/main" val="28153434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Skill-Biased Technological Change and Income Inequality </a:t>
            </a:r>
            <a:r>
              <a:rPr lang="en-US" altLang="en-US" sz="1800" b="0" dirty="0">
                <a:ea typeface="ヒラギノ角ゴ Pro W3" pitchFamily="-84" charset="-128"/>
              </a:rPr>
              <a:t>(1 of 2)</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556326"/>
            <a:ext cx="7994470" cy="4576459"/>
          </a:xfrm>
        </p:spPr>
        <p:txBody>
          <a:bodyPr/>
          <a:lstStyle/>
          <a:p>
            <a:r>
              <a:rPr lang="en-US" altLang="en-US" sz="2400" dirty="0">
                <a:ea typeface="ヒラギノ角ゴ Pro W3" pitchFamily="-84" charset="-128"/>
              </a:rPr>
              <a:t>Even though skilled labor becomes relatively more expensive, in panel (b) producers in both sectors respond to the skill-biased technological change by </a:t>
            </a:r>
            <a:r>
              <a:rPr lang="en-US" altLang="en-US" sz="2400" b="1" dirty="0">
                <a:ea typeface="ヒラギノ角ゴ Pro W3" pitchFamily="-84" charset="-128"/>
              </a:rPr>
              <a:t>increasing</a:t>
            </a:r>
            <a:r>
              <a:rPr lang="en-US" altLang="en-US" sz="2400" i="1" dirty="0">
                <a:ea typeface="ヒラギノ角ゴ Pro W3" pitchFamily="-84" charset="-128"/>
              </a:rPr>
              <a:t> </a:t>
            </a:r>
            <a:r>
              <a:rPr lang="en-US" altLang="en-US" sz="2400" dirty="0">
                <a:ea typeface="ヒラギノ角ゴ Pro W3" pitchFamily="-84" charset="-128"/>
              </a:rPr>
              <a:t>their employment of skilled workers relative to unskilled workers.</a:t>
            </a:r>
          </a:p>
          <a:p>
            <a:pPr lvl="1"/>
            <a:r>
              <a:rPr lang="en-US" altLang="en-US" sz="2400" dirty="0">
                <a:ea typeface="ヒラギノ角ゴ Pro W3" pitchFamily="-84" charset="-128"/>
              </a:rPr>
              <a:t>The trade explanation in panel (a) predicts an opposite response for employment in both sectors.</a:t>
            </a:r>
          </a:p>
          <a:p>
            <a:r>
              <a:rPr lang="en-US" altLang="en-US" sz="2400" dirty="0">
                <a:ea typeface="ヒラギノ角ゴ Pro W3" pitchFamily="-84" charset="-128"/>
              </a:rPr>
              <a:t>A widespread increase in the skilled labor ratios for most sectors in the U.S. economy points to the skill-biased technological explanation.</a:t>
            </a:r>
          </a:p>
        </p:txBody>
      </p:sp>
    </p:spTree>
    <p:extLst>
      <p:ext uri="{BB962C8B-B14F-4D97-AF65-F5344CB8AC3E}">
        <p14:creationId xmlns:p14="http://schemas.microsoft.com/office/powerpoint/2010/main" val="4086200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Skill-Biased Technological Change and Income Inequality </a:t>
            </a:r>
            <a:r>
              <a:rPr lang="en-US" altLang="en-US" sz="1800" b="0" dirty="0">
                <a:ea typeface="ヒラギノ角ゴ Pro W3" pitchFamily="-84" charset="-128"/>
              </a:rPr>
              <a:t>(2 of 2)</a:t>
            </a:r>
            <a:endParaRPr lang="en-IN" sz="18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655759"/>
            <a:ext cx="8229601" cy="4694551"/>
          </a:xfrm>
        </p:spPr>
        <p:txBody>
          <a:bodyPr tIns="0"/>
          <a:lstStyle/>
          <a:p>
            <a:r>
              <a:rPr lang="en-US" altLang="en-US" sz="2400" dirty="0">
                <a:ea typeface="ヒラギノ角ゴ Pro W3" pitchFamily="-84" charset="-128"/>
              </a:rPr>
              <a:t>Trade likely has been an indirect contributor to increases in wage inequality, by accelerating the process of technological change.</a:t>
            </a:r>
          </a:p>
          <a:p>
            <a:pPr lvl="1"/>
            <a:r>
              <a:rPr lang="en-US" altLang="en-US" sz="2400" dirty="0">
                <a:ea typeface="ヒラギノ角ゴ Pro W3" pitchFamily="-84" charset="-128"/>
              </a:rPr>
              <a:t>Firms that begin to export may upgrade to more skill-intensive production technologies.</a:t>
            </a:r>
          </a:p>
          <a:p>
            <a:pPr lvl="1"/>
            <a:r>
              <a:rPr lang="en-US" altLang="en-US" sz="2400" dirty="0">
                <a:ea typeface="ヒラギノ角ゴ Pro W3" pitchFamily="-84" charset="-128"/>
              </a:rPr>
              <a:t>Trade liberalization can then generate widespread technological change by inducing a large proportion of firms to make such technology-upgrade choices.</a:t>
            </a:r>
          </a:p>
          <a:p>
            <a:pPr>
              <a:spcBef>
                <a:spcPts val="1000"/>
              </a:spcBef>
            </a:pPr>
            <a:r>
              <a:rPr lang="en-US" altLang="en-US" sz="2400" dirty="0">
                <a:ea typeface="ヒラギノ角ゴ Pro W3" pitchFamily="-84" charset="-128"/>
              </a:rPr>
              <a:t>Breaking up the production process across countries can increase the relative demand for skilled workers in developed countries similar to skill-biased technological change.</a:t>
            </a:r>
          </a:p>
        </p:txBody>
      </p:sp>
    </p:spTree>
    <p:extLst>
      <p:ext uri="{BB962C8B-B14F-4D97-AF65-F5344CB8AC3E}">
        <p14:creationId xmlns:p14="http://schemas.microsoft.com/office/powerpoint/2010/main" val="530119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ea typeface="ヒラギノ角ゴ Pro W3" pitchFamily="-84" charset="-128"/>
              </a:rPr>
              <a:t>Figure 5.10 Increased Wage Inequality: Trade- or Skill-Biased Technological Change?</a:t>
            </a:r>
            <a:endParaRPr lang="en-IN" sz="2800" dirty="0"/>
          </a:p>
        </p:txBody>
      </p:sp>
      <p:pic>
        <p:nvPicPr>
          <p:cNvPr id="5" name="Content Placeholder 4" descr="Both graphs ay and b show skilled-unskilled wage ratio, w sub s over w sub u, versus skilled-unskilled employment, S over U. For long description in Notes pane, press F6.">
            <a:extLst>
              <a:ext uri="{FF2B5EF4-FFF2-40B4-BE49-F238E27FC236}">
                <a16:creationId xmlns:a16="http://schemas.microsoft.com/office/drawing/2014/main" id="{6AF84EBC-CF84-4886-88B7-F4E58CFB3461}"/>
              </a:ext>
            </a:extLst>
          </p:cNvPr>
          <p:cNvPicPr>
            <a:picLocks noGrp="1" noChangeAspect="1"/>
          </p:cNvPicPr>
          <p:nvPr>
            <p:ph sz="quarter" idx="13"/>
          </p:nvPr>
        </p:nvPicPr>
        <p:blipFill>
          <a:blip r:embed="rId3"/>
          <a:stretch>
            <a:fillRect/>
          </a:stretch>
        </p:blipFill>
        <p:spPr>
          <a:xfrm>
            <a:off x="1811719" y="1612109"/>
            <a:ext cx="5520562" cy="3242298"/>
          </a:xfrm>
        </p:spPr>
      </p:pic>
      <p:sp>
        <p:nvSpPr>
          <p:cNvPr id="3" name="Content Placeholder 2">
            <a:extLst>
              <a:ext uri="{FF2B5EF4-FFF2-40B4-BE49-F238E27FC236}">
                <a16:creationId xmlns:a16="http://schemas.microsoft.com/office/drawing/2014/main" id="{8B61B243-FCAF-4401-82CE-C4CC39DFE511}"/>
              </a:ext>
            </a:extLst>
          </p:cNvPr>
          <p:cNvSpPr>
            <a:spLocks noGrp="1"/>
          </p:cNvSpPr>
          <p:nvPr>
            <p:ph sz="quarter" idx="14"/>
          </p:nvPr>
        </p:nvSpPr>
        <p:spPr>
          <a:xfrm>
            <a:off x="457200" y="4961684"/>
            <a:ext cx="8438444" cy="1371383"/>
          </a:xfrm>
        </p:spPr>
        <p:txBody>
          <a:bodyPr/>
          <a:lstStyle/>
          <a:p>
            <a:pPr marL="432" indent="0">
              <a:buNone/>
            </a:pPr>
            <a:r>
              <a:rPr lang="en-US" sz="2000" dirty="0"/>
              <a:t>The </a:t>
            </a:r>
            <a:r>
              <a:rPr lang="en-US" sz="2000" i="1" dirty="0"/>
              <a:t>L</a:t>
            </a:r>
            <a:r>
              <a:rPr lang="en-US" sz="100" i="1" dirty="0"/>
              <a:t> </a:t>
            </a:r>
            <a:r>
              <a:rPr lang="en-US" sz="2000" i="1" dirty="0"/>
              <a:t>L </a:t>
            </a:r>
            <a:r>
              <a:rPr lang="en-US" sz="2000" dirty="0"/>
              <a:t>and </a:t>
            </a:r>
            <a:r>
              <a:rPr lang="en-US" sz="2000" i="1" dirty="0"/>
              <a:t>H</a:t>
            </a:r>
            <a:r>
              <a:rPr lang="en-US" sz="100" i="1" dirty="0"/>
              <a:t> </a:t>
            </a:r>
            <a:r>
              <a:rPr lang="en-US" sz="2000" i="1" dirty="0"/>
              <a:t>H </a:t>
            </a:r>
            <a:r>
              <a:rPr lang="en-US" sz="2000" dirty="0"/>
              <a:t>curves show the skilled-unskilled employment ratio as a function of the skilled-unskilled wage ratio in the low-tech and high-tech sectors. The high-tech sector is more skill-intensive than the low-tech sector, so the </a:t>
            </a:r>
            <a:r>
              <a:rPr lang="en-US" sz="2000" i="1" dirty="0"/>
              <a:t>H</a:t>
            </a:r>
            <a:r>
              <a:rPr lang="en-US" sz="100" i="1" dirty="0"/>
              <a:t> </a:t>
            </a:r>
            <a:r>
              <a:rPr lang="en-US" sz="2000" i="1" dirty="0"/>
              <a:t>H </a:t>
            </a:r>
            <a:r>
              <a:rPr lang="en-US" sz="2000" dirty="0"/>
              <a:t>curve is shifted out relative to the </a:t>
            </a:r>
            <a:r>
              <a:rPr lang="en-US" sz="2000" i="1" dirty="0"/>
              <a:t>L</a:t>
            </a:r>
            <a:r>
              <a:rPr lang="en-US" sz="100" i="1" dirty="0"/>
              <a:t> </a:t>
            </a:r>
            <a:r>
              <a:rPr lang="en-US" sz="2000" i="1" dirty="0"/>
              <a:t>L </a:t>
            </a:r>
            <a:r>
              <a:rPr lang="en-US" sz="2000" dirty="0"/>
              <a:t>curve.</a:t>
            </a:r>
          </a:p>
        </p:txBody>
      </p:sp>
    </p:spTree>
    <p:extLst>
      <p:ext uri="{BB962C8B-B14F-4D97-AF65-F5344CB8AC3E}">
        <p14:creationId xmlns:p14="http://schemas.microsoft.com/office/powerpoint/2010/main" val="12997726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8530046" cy="1097279"/>
          </a:xfrm>
        </p:spPr>
        <p:txBody>
          <a:bodyPr/>
          <a:lstStyle/>
          <a:p>
            <a:r>
              <a:rPr lang="en-US" altLang="en-US" sz="2400" dirty="0">
                <a:ea typeface="ヒラギノ角ゴ Pro W3" pitchFamily="-84" charset="-128"/>
              </a:rPr>
              <a:t>Figure 5.11 Evolution of U.S. Non-Production–Production Employment Ratios in Four Groups of Sectors</a:t>
            </a:r>
            <a:endParaRPr lang="en-IN" sz="2400" dirty="0"/>
          </a:p>
        </p:txBody>
      </p:sp>
      <p:pic>
        <p:nvPicPr>
          <p:cNvPr id="8" name="Content Placeholder 7" descr="4 skill sectors are graphed, showing non-production-Production employment versus years 1965 to 2005. For long description in Notes pane, press F6.">
            <a:extLst>
              <a:ext uri="{FF2B5EF4-FFF2-40B4-BE49-F238E27FC236}">
                <a16:creationId xmlns:a16="http://schemas.microsoft.com/office/drawing/2014/main" id="{B4156EB5-52CC-4C94-8023-B47AA902D057}"/>
              </a:ext>
            </a:extLst>
          </p:cNvPr>
          <p:cNvPicPr>
            <a:picLocks noGrp="1" noChangeAspect="1"/>
          </p:cNvPicPr>
          <p:nvPr>
            <p:ph sz="quarter" idx="13"/>
          </p:nvPr>
        </p:nvPicPr>
        <p:blipFill>
          <a:blip r:embed="rId3"/>
          <a:stretch>
            <a:fillRect/>
          </a:stretch>
        </p:blipFill>
        <p:spPr>
          <a:xfrm>
            <a:off x="2203461" y="1580117"/>
            <a:ext cx="4737078" cy="3617330"/>
          </a:xfrm>
        </p:spPr>
      </p:pic>
      <p:sp>
        <p:nvSpPr>
          <p:cNvPr id="3" name="Content Placeholder 2">
            <a:extLst>
              <a:ext uri="{FF2B5EF4-FFF2-40B4-BE49-F238E27FC236}">
                <a16:creationId xmlns:a16="http://schemas.microsoft.com/office/drawing/2014/main" id="{8B61B243-FCAF-4401-82CE-C4CC39DFE511}"/>
              </a:ext>
            </a:extLst>
          </p:cNvPr>
          <p:cNvSpPr>
            <a:spLocks noGrp="1"/>
          </p:cNvSpPr>
          <p:nvPr>
            <p:ph sz="quarter" idx="14"/>
          </p:nvPr>
        </p:nvSpPr>
        <p:spPr>
          <a:xfrm>
            <a:off x="457200" y="5302920"/>
            <a:ext cx="8167511" cy="996284"/>
          </a:xfrm>
        </p:spPr>
        <p:txBody>
          <a:bodyPr/>
          <a:lstStyle/>
          <a:p>
            <a:pPr marL="0" indent="0">
              <a:spcBef>
                <a:spcPts val="600"/>
              </a:spcBef>
              <a:buNone/>
            </a:pPr>
            <a:r>
              <a:rPr lang="en-US" sz="1800" dirty="0"/>
              <a:t>Sectors are grouped based on their skill intensity. The non-production–production employment ratio has increased over time in all four sector groups.</a:t>
            </a:r>
          </a:p>
          <a:p>
            <a:pPr marL="0" indent="0">
              <a:spcBef>
                <a:spcPts val="600"/>
              </a:spcBef>
              <a:buNone/>
            </a:pPr>
            <a:r>
              <a:rPr lang="en-US" sz="1600" b="1" dirty="0"/>
              <a:t>Source: </a:t>
            </a:r>
            <a:r>
              <a:rPr lang="en-US" sz="1600" dirty="0"/>
              <a:t>N</a:t>
            </a:r>
            <a:r>
              <a:rPr lang="en-US" sz="100" dirty="0"/>
              <a:t> </a:t>
            </a:r>
            <a:r>
              <a:rPr lang="en-US" sz="1600" dirty="0"/>
              <a:t>B</a:t>
            </a:r>
            <a:r>
              <a:rPr lang="en-US" sz="100" dirty="0"/>
              <a:t> </a:t>
            </a:r>
            <a:r>
              <a:rPr lang="en-US" sz="1600" dirty="0"/>
              <a:t>E</a:t>
            </a:r>
            <a:r>
              <a:rPr lang="en-US" sz="100" dirty="0"/>
              <a:t> </a:t>
            </a:r>
            <a:r>
              <a:rPr lang="en-US" sz="1600" dirty="0"/>
              <a:t>R-C</a:t>
            </a:r>
            <a:r>
              <a:rPr lang="en-US" sz="100" dirty="0"/>
              <a:t> </a:t>
            </a:r>
            <a:r>
              <a:rPr lang="en-US" sz="1600" dirty="0"/>
              <a:t>E</a:t>
            </a:r>
            <a:r>
              <a:rPr lang="en-US" sz="100" dirty="0"/>
              <a:t> </a:t>
            </a:r>
            <a:r>
              <a:rPr lang="en-US" sz="1600" dirty="0"/>
              <a:t>S Manufacturing Productivity Database.</a:t>
            </a:r>
          </a:p>
        </p:txBody>
      </p:sp>
    </p:spTree>
    <p:extLst>
      <p:ext uri="{BB962C8B-B14F-4D97-AF65-F5344CB8AC3E}">
        <p14:creationId xmlns:p14="http://schemas.microsoft.com/office/powerpoint/2010/main" val="7806433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Capital-Skill Complementarity </a:t>
            </a:r>
            <a:r>
              <a:rPr lang="en-US" sz="2000" b="0" dirty="0"/>
              <a:t>(1 of 2)</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200" y="1634704"/>
            <a:ext cx="8065912" cy="4596279"/>
          </a:xfrm>
        </p:spPr>
        <p:txBody>
          <a:bodyPr tIns="0"/>
          <a:lstStyle/>
          <a:p>
            <a:r>
              <a:rPr lang="en-US" sz="2400" dirty="0"/>
              <a:t>Figure 5.12 shows that the trend toward lower labor income share (and higher capital shares) is a worldwide phenomenon.</a:t>
            </a:r>
          </a:p>
          <a:p>
            <a:pPr lvl="1"/>
            <a:r>
              <a:rPr lang="en-US" sz="2400" dirty="0"/>
              <a:t>Experienced in labor-abundant countries (including China, India, and Mexico) to the same extent as it has been for capital-abundant countries such as the United States.</a:t>
            </a:r>
          </a:p>
          <a:p>
            <a:r>
              <a:rPr lang="en-US" sz="2400" dirty="0"/>
              <a:t>The evidence supports an explanation based on technological changes within sectors—not increased import competition.</a:t>
            </a:r>
            <a:endParaRPr lang="en-US" altLang="en-US" sz="2400" dirty="0">
              <a:ea typeface="ヒラギノ角ゴ Pro W3" pitchFamily="-84" charset="-128"/>
            </a:endParaRPr>
          </a:p>
        </p:txBody>
      </p:sp>
    </p:spTree>
    <p:extLst>
      <p:ext uri="{BB962C8B-B14F-4D97-AF65-F5344CB8AC3E}">
        <p14:creationId xmlns:p14="http://schemas.microsoft.com/office/powerpoint/2010/main" val="8402470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Capital-Skill Complementarity </a:t>
            </a:r>
            <a:r>
              <a:rPr lang="en-US" sz="2000" b="0" dirty="0"/>
              <a:t>(2 of 2)</a:t>
            </a:r>
            <a:endParaRPr lang="en-IN" sz="2000" dirty="0"/>
          </a:p>
        </p:txBody>
      </p:sp>
      <p:sp>
        <p:nvSpPr>
          <p:cNvPr id="8" name="Content Placeholder 7">
            <a:extLst>
              <a:ext uri="{FF2B5EF4-FFF2-40B4-BE49-F238E27FC236}">
                <a16:creationId xmlns:a16="http://schemas.microsoft.com/office/drawing/2014/main" id="{43CBBB14-1EA6-49DF-B922-E4CA36117369}"/>
              </a:ext>
            </a:extLst>
          </p:cNvPr>
          <p:cNvSpPr>
            <a:spLocks noGrp="1"/>
          </p:cNvSpPr>
          <p:nvPr>
            <p:ph sz="quarter" idx="13"/>
          </p:nvPr>
        </p:nvSpPr>
        <p:spPr>
          <a:xfrm>
            <a:off x="457199" y="1647767"/>
            <a:ext cx="7981407" cy="4697471"/>
          </a:xfrm>
        </p:spPr>
        <p:txBody>
          <a:bodyPr tIns="0"/>
          <a:lstStyle/>
          <a:p>
            <a:r>
              <a:rPr lang="en-US" sz="2400" dirty="0"/>
              <a:t>Technological change often takes the form of new and better machines (capital) that displace unskilled workers but still require skilled workers.</a:t>
            </a:r>
          </a:p>
          <a:p>
            <a:pPr lvl="1"/>
            <a:r>
              <a:rPr lang="en-US" sz="2400" dirty="0"/>
              <a:t>This generates higher returns for both capital and skilled workers while depressing the returns to unskilled workers.</a:t>
            </a:r>
          </a:p>
          <a:p>
            <a:r>
              <a:rPr lang="en-US" sz="2400" dirty="0"/>
              <a:t>Increased automation can explain the observed worldwide increases in both wage inequality and the returns to capital, as well as the within-sector increases in the employment share of (relatively skilled) non-production workers.</a:t>
            </a:r>
            <a:endParaRPr lang="en-US" altLang="en-US" sz="2400" dirty="0">
              <a:ea typeface="ヒラギノ角ゴ Pro W3" pitchFamily="-84" charset="-128"/>
            </a:endParaRPr>
          </a:p>
        </p:txBody>
      </p:sp>
    </p:spTree>
    <p:extLst>
      <p:ext uri="{BB962C8B-B14F-4D97-AF65-F5344CB8AC3E}">
        <p14:creationId xmlns:p14="http://schemas.microsoft.com/office/powerpoint/2010/main" val="4244885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5.12 </a:t>
            </a:r>
            <a:r>
              <a:rPr lang="en-US" sz="3200" dirty="0"/>
              <a:t>U.S. and Average World Corporate Labor Share</a:t>
            </a:r>
            <a:endParaRPr lang="en-IN" sz="3200" dirty="0"/>
          </a:p>
        </p:txBody>
      </p:sp>
      <p:pic>
        <p:nvPicPr>
          <p:cNvPr id="5" name="Content Placeholder 4" descr="A double line graph of the U S and the world average corporate labor share shows percentage versus years 1975 to 2015. For long description in Notes pane, press F6.">
            <a:extLst>
              <a:ext uri="{FF2B5EF4-FFF2-40B4-BE49-F238E27FC236}">
                <a16:creationId xmlns:a16="http://schemas.microsoft.com/office/drawing/2014/main" id="{B6AD6A13-3100-4B4A-8BC3-2657B06DD124}"/>
              </a:ext>
            </a:extLst>
          </p:cNvPr>
          <p:cNvPicPr>
            <a:picLocks noGrp="1" noChangeAspect="1"/>
          </p:cNvPicPr>
          <p:nvPr>
            <p:ph sz="quarter" idx="13"/>
          </p:nvPr>
        </p:nvPicPr>
        <p:blipFill>
          <a:blip r:embed="rId3"/>
          <a:stretch>
            <a:fillRect/>
          </a:stretch>
        </p:blipFill>
        <p:spPr>
          <a:xfrm>
            <a:off x="1006625" y="1684710"/>
            <a:ext cx="7130750" cy="3321366"/>
          </a:xfrm>
        </p:spPr>
      </p:pic>
      <p:sp>
        <p:nvSpPr>
          <p:cNvPr id="3" name="Content Placeholder 2">
            <a:extLst>
              <a:ext uri="{FF2B5EF4-FFF2-40B4-BE49-F238E27FC236}">
                <a16:creationId xmlns:a16="http://schemas.microsoft.com/office/drawing/2014/main" id="{31858B3C-D777-46A5-B743-B7BE849E0BC4}"/>
              </a:ext>
            </a:extLst>
          </p:cNvPr>
          <p:cNvSpPr>
            <a:spLocks noGrp="1"/>
          </p:cNvSpPr>
          <p:nvPr>
            <p:ph sz="quarter" idx="14"/>
          </p:nvPr>
        </p:nvSpPr>
        <p:spPr>
          <a:xfrm>
            <a:off x="457200" y="5187630"/>
            <a:ext cx="8461022" cy="1077707"/>
          </a:xfrm>
        </p:spPr>
        <p:txBody>
          <a:bodyPr/>
          <a:lstStyle/>
          <a:p>
            <a:pPr marL="0" indent="0">
              <a:spcBef>
                <a:spcPts val="600"/>
              </a:spcBef>
              <a:buNone/>
            </a:pPr>
            <a:r>
              <a:rPr lang="en-US" sz="2000" dirty="0"/>
              <a:t>Unweighted world average for all 59 countries with available data.</a:t>
            </a:r>
          </a:p>
          <a:p>
            <a:pPr marL="0" indent="0">
              <a:spcBef>
                <a:spcPts val="600"/>
              </a:spcBef>
              <a:buNone/>
            </a:pPr>
            <a:r>
              <a:rPr lang="en-US" sz="1800" b="1" dirty="0"/>
              <a:t>Source: </a:t>
            </a:r>
            <a:r>
              <a:rPr lang="en-US" sz="1800" dirty="0"/>
              <a:t>Loukas Karabarbounis and Brent Neiman, “The Global Decline of the Labor Share,” </a:t>
            </a:r>
            <a:r>
              <a:rPr lang="en-US" sz="1800" b="1" dirty="0"/>
              <a:t>The Quarterly Journal of Economics</a:t>
            </a:r>
            <a:r>
              <a:rPr lang="en-US" sz="1800" i="1" dirty="0"/>
              <a:t> </a:t>
            </a:r>
            <a:r>
              <a:rPr lang="en-US" sz="1800" dirty="0"/>
              <a:t>129.1 (2014), pp. 61–103.</a:t>
            </a:r>
          </a:p>
        </p:txBody>
      </p:sp>
    </p:spTree>
    <p:extLst>
      <p:ext uri="{BB962C8B-B14F-4D97-AF65-F5344CB8AC3E}">
        <p14:creationId xmlns:p14="http://schemas.microsoft.com/office/powerpoint/2010/main" val="8844086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(1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Unlike the Ricardian model, the Heckscher-Ohlin model predicts that factor prices will be equalized among countries that trade.</a:t>
            </a:r>
          </a:p>
          <a:p>
            <a:r>
              <a:rPr lang="en-US" altLang="en-US" sz="2400" dirty="0">
                <a:ea typeface="ヒラギノ角ゴ Pro W3" pitchFamily="-84" charset="-128"/>
              </a:rPr>
              <a:t>Free trade equalizes relative output prices.</a:t>
            </a:r>
          </a:p>
          <a:p>
            <a:r>
              <a:rPr lang="en-US" altLang="en-US" sz="2400" dirty="0">
                <a:ea typeface="ヒラギノ角ゴ Pro W3" pitchFamily="-84" charset="-128"/>
              </a:rPr>
              <a:t>Due to the connection between output prices and factor prices, factor prices are also equalized.</a:t>
            </a:r>
          </a:p>
          <a:p>
            <a:r>
              <a:rPr lang="en-US" altLang="en-US" sz="2400" dirty="0">
                <a:ea typeface="ヒラギノ角ゴ Pro W3" pitchFamily="-84" charset="-128"/>
              </a:rPr>
              <a:t>Trade increases the demand of goods produced by relatively abundant factors, indirectly increasing the demand of these factors, raising the prices of the relatively abundant factors.</a:t>
            </a:r>
          </a:p>
        </p:txBody>
      </p:sp>
    </p:spTree>
    <p:extLst>
      <p:ext uri="{BB962C8B-B14F-4D97-AF65-F5344CB8AC3E}">
        <p14:creationId xmlns:p14="http://schemas.microsoft.com/office/powerpoint/2010/main" val="233528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(2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In the real world, factor prices are not equal across countries.</a:t>
            </a:r>
          </a:p>
          <a:p>
            <a:r>
              <a:rPr lang="en-US" altLang="en-US" sz="2400" dirty="0">
                <a:ea typeface="ヒラギノ角ゴ Pro W3" pitchFamily="-84" charset="-128"/>
              </a:rPr>
              <a:t>The model assumes that trading countries produce the same goods, but countries may produce different goods if their factor ratios radically differ.</a:t>
            </a:r>
          </a:p>
          <a:p>
            <a:r>
              <a:rPr lang="en-US" altLang="en-US" sz="2400" dirty="0">
                <a:ea typeface="ヒラギノ角ゴ Pro W3" pitchFamily="-84" charset="-128"/>
              </a:rPr>
              <a:t>The model also assumes that trading countries have the same technology, but different technologies could affect the productivities of factors and therefore the wages/rates paid to these factors.</a:t>
            </a:r>
          </a:p>
        </p:txBody>
      </p:sp>
    </p:spTree>
    <p:extLst>
      <p:ext uri="{BB962C8B-B14F-4D97-AF65-F5344CB8AC3E}">
        <p14:creationId xmlns:p14="http://schemas.microsoft.com/office/powerpoint/2010/main" val="3542780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Table 5.1 Comparative International Wage Rates</a:t>
            </a:r>
            <a:endParaRPr lang="en-IN" sz="3200" dirty="0"/>
          </a:p>
        </p:txBody>
      </p:sp>
      <p:graphicFrame>
        <p:nvGraphicFramePr>
          <p:cNvPr id="9" name="Table 9">
            <a:extLst>
              <a:ext uri="{FF2B5EF4-FFF2-40B4-BE49-F238E27FC236}">
                <a16:creationId xmlns:a16="http://schemas.microsoft.com/office/drawing/2014/main" id="{14B47B55-7700-45A0-922C-AA4E4DC772A2}"/>
              </a:ext>
            </a:extLst>
          </p:cNvPr>
          <p:cNvGraphicFramePr>
            <a:graphicFrameLocks noGrp="1"/>
          </p:cNvGraphicFramePr>
          <p:nvPr>
            <p:ph sz="quarter" idx="13"/>
            <p:extLst>
              <p:ext uri="{D42A27DB-BD31-4B8C-83A1-F6EECF244321}">
                <p14:modId xmlns:p14="http://schemas.microsoft.com/office/powerpoint/2010/main" val="1569405175"/>
              </p:ext>
            </p:extLst>
          </p:nvPr>
        </p:nvGraphicFramePr>
        <p:xfrm>
          <a:off x="558799" y="1655816"/>
          <a:ext cx="8171998" cy="4267200"/>
        </p:xfrm>
        <a:graphic>
          <a:graphicData uri="http://schemas.openxmlformats.org/drawingml/2006/table">
            <a:tbl>
              <a:tblPr firstRow="1" bandRow="1">
                <a:tableStyleId>{40F9630F-82C1-40B7-BC3A-925EFCFF5E92}</a:tableStyleId>
              </a:tblPr>
              <a:tblGrid>
                <a:gridCol w="4085999">
                  <a:extLst>
                    <a:ext uri="{9D8B030D-6E8A-4147-A177-3AD203B41FA5}">
                      <a16:colId xmlns:a16="http://schemas.microsoft.com/office/drawing/2014/main" val="1770514915"/>
                    </a:ext>
                  </a:extLst>
                </a:gridCol>
                <a:gridCol w="4085999">
                  <a:extLst>
                    <a:ext uri="{9D8B030D-6E8A-4147-A177-3AD203B41FA5}">
                      <a16:colId xmlns:a16="http://schemas.microsoft.com/office/drawing/2014/main" val="3201810936"/>
                    </a:ext>
                  </a:extLst>
                </a:gridCol>
              </a:tblGrid>
              <a:tr h="205709">
                <a:tc>
                  <a:txBody>
                    <a:bodyPr/>
                    <a:lstStyle/>
                    <a:p>
                      <a:r>
                        <a:rPr lang="en-US" sz="1400" dirty="0">
                          <a:latin typeface="+mn-lt"/>
                        </a:rPr>
                        <a:t>Country</a:t>
                      </a:r>
                    </a:p>
                  </a:txBody>
                  <a:tcPr marL="92295" marR="92295"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Hourly Compensation of Manufacturing Workers 2016 (United States = 100)</a:t>
                      </a:r>
                    </a:p>
                  </a:txBody>
                  <a:tcPr marL="92295" marR="92295">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0811215"/>
                  </a:ext>
                </a:extLst>
              </a:tr>
              <a:tr h="205709">
                <a:tc>
                  <a:txBody>
                    <a:bodyPr/>
                    <a:lstStyle/>
                    <a:p>
                      <a:r>
                        <a:rPr lang="en-US" sz="1400" dirty="0">
                          <a:latin typeface="+mn-lt"/>
                        </a:rPr>
                        <a:t>Switzerland</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154.64</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0861223"/>
                  </a:ext>
                </a:extLst>
              </a:tr>
              <a:tr h="205709">
                <a:tc>
                  <a:txBody>
                    <a:bodyPr/>
                    <a:lstStyle/>
                    <a:p>
                      <a:r>
                        <a:rPr lang="en-US" sz="1400" dirty="0">
                          <a:latin typeface="+mn-lt"/>
                        </a:rPr>
                        <a:t>Germany</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110.63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136422"/>
                  </a:ext>
                </a:extLst>
              </a:tr>
              <a:tr h="205709">
                <a:tc>
                  <a:txBody>
                    <a:bodyPr/>
                    <a:lstStyle/>
                    <a:p>
                      <a:r>
                        <a:rPr lang="en-US" sz="1400" dirty="0">
                          <a:latin typeface="+mn-lt"/>
                        </a:rPr>
                        <a:t>United States</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100.00</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517953"/>
                  </a:ext>
                </a:extLst>
              </a:tr>
              <a:tr h="205709">
                <a:tc>
                  <a:txBody>
                    <a:bodyPr/>
                    <a:lstStyle/>
                    <a:p>
                      <a:r>
                        <a:rPr lang="en-US" sz="1400" dirty="0">
                          <a:latin typeface="+mn-lt"/>
                        </a:rPr>
                        <a:t>United Kingdom</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72.79</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62135593"/>
                  </a:ext>
                </a:extLst>
              </a:tr>
              <a:tr h="205709">
                <a:tc>
                  <a:txBody>
                    <a:bodyPr/>
                    <a:lstStyle/>
                    <a:p>
                      <a:r>
                        <a:rPr lang="en-US" sz="1400" dirty="0">
                          <a:latin typeface="+mn-lt"/>
                        </a:rPr>
                        <a:t>Japan</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67.80</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9012192"/>
                  </a:ext>
                </a:extLst>
              </a:tr>
              <a:tr h="205709">
                <a:tc>
                  <a:txBody>
                    <a:bodyPr/>
                    <a:lstStyle/>
                    <a:p>
                      <a:r>
                        <a:rPr lang="en-US" sz="1400" dirty="0">
                          <a:latin typeface="+mn-lt"/>
                        </a:rPr>
                        <a:t>South Korea</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58.87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67558"/>
                  </a:ext>
                </a:extLst>
              </a:tr>
              <a:tr h="205709">
                <a:tc>
                  <a:txBody>
                    <a:bodyPr/>
                    <a:lstStyle/>
                    <a:p>
                      <a:r>
                        <a:rPr lang="en-US" sz="1400" dirty="0">
                          <a:latin typeface="+mn-lt"/>
                        </a:rPr>
                        <a:t>Argentina</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42.97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9760021"/>
                  </a:ext>
                </a:extLst>
              </a:tr>
              <a:tr h="205709">
                <a:tc>
                  <a:txBody>
                    <a:bodyPr/>
                    <a:lstStyle/>
                    <a:p>
                      <a:r>
                        <a:rPr lang="en-US" sz="1400" dirty="0">
                          <a:latin typeface="+mn-lt"/>
                        </a:rPr>
                        <a:t>Greece</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40.22</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4590959"/>
                  </a:ext>
                </a:extLst>
              </a:tr>
              <a:tr h="205709">
                <a:tc>
                  <a:txBody>
                    <a:bodyPr/>
                    <a:lstStyle/>
                    <a:p>
                      <a:r>
                        <a:rPr lang="en-US" sz="1400" dirty="0">
                          <a:latin typeface="+mn-lt"/>
                        </a:rPr>
                        <a:t>Portugal</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28.08</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336152"/>
                  </a:ext>
                </a:extLst>
              </a:tr>
              <a:tr h="205709">
                <a:tc>
                  <a:txBody>
                    <a:bodyPr/>
                    <a:lstStyle/>
                    <a:p>
                      <a:r>
                        <a:rPr lang="en-US" sz="1400" dirty="0">
                          <a:latin typeface="+mn-lt"/>
                        </a:rPr>
                        <a:t>Czech Republic</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27.43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268409"/>
                  </a:ext>
                </a:extLst>
              </a:tr>
              <a:tr h="205709">
                <a:tc>
                  <a:txBody>
                    <a:bodyPr/>
                    <a:lstStyle/>
                    <a:p>
                      <a:r>
                        <a:rPr lang="en-US" sz="1400" dirty="0">
                          <a:latin typeface="+mn-lt"/>
                        </a:rPr>
                        <a:t>Poland</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21.83</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9532173"/>
                  </a:ext>
                </a:extLst>
              </a:tr>
              <a:tr h="205709">
                <a:tc>
                  <a:txBody>
                    <a:bodyPr/>
                    <a:lstStyle/>
                    <a:p>
                      <a:r>
                        <a:rPr lang="en-US" sz="1400" dirty="0">
                          <a:latin typeface="+mn-lt"/>
                        </a:rPr>
                        <a:t>Brazil</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20.45</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1169412"/>
                  </a:ext>
                </a:extLst>
              </a:tr>
              <a:tr h="205709">
                <a:tc>
                  <a:txBody>
                    <a:bodyPr/>
                    <a:lstStyle/>
                    <a:p>
                      <a:r>
                        <a:rPr lang="en-US" sz="1400" dirty="0">
                          <a:latin typeface="+mn-lt"/>
                        </a:rPr>
                        <a:t>Turkey</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15.61</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5033471"/>
                  </a:ext>
                </a:extLst>
              </a:tr>
              <a:tr h="205709">
                <a:tc>
                  <a:txBody>
                    <a:bodyPr/>
                    <a:lstStyle/>
                    <a:p>
                      <a:r>
                        <a:rPr lang="en-US" sz="1400" baseline="0" dirty="0">
                          <a:latin typeface="+mn-lt"/>
                        </a:rPr>
                        <a:t>Mexico</a:t>
                      </a:r>
                      <a:endParaRPr lang="en-US" sz="1400" dirty="0">
                        <a:latin typeface="+mn-lt"/>
                      </a:endParaRPr>
                    </a:p>
                  </a:txBody>
                  <a:tcPr marL="92295" marR="92295" marT="18288" marB="18288">
                    <a:lnT w="9525" cap="flat" cmpd="sng">
                      <a:noFill/>
                      <a:prstDash val="solid"/>
                      <a:round/>
                      <a:headEnd type="none" w="med" len="med"/>
                      <a:tailEnd type="none" w="med" len="med"/>
                    </a:lnT>
                    <a:lnB w="9525" cap="flat" cmpd="sng">
                      <a:noFill/>
                      <a:prstDash val="solid"/>
                      <a:round/>
                      <a:headEnd type="none" w="med" len="med"/>
                      <a:tailEnd type="none" w="med" len="med"/>
                    </a:lnB>
                    <a:solidFill>
                      <a:schemeClr val="bg1"/>
                    </a:solidFill>
                  </a:tcPr>
                </a:tc>
                <a:tc>
                  <a:txBody>
                    <a:bodyPr/>
                    <a:lstStyle/>
                    <a:p>
                      <a:pPr algn="ctr"/>
                      <a:r>
                        <a:rPr lang="en-US" sz="1400" dirty="0">
                          <a:latin typeface="+mn-lt"/>
                        </a:rPr>
                        <a:t>10.02</a:t>
                      </a:r>
                    </a:p>
                  </a:txBody>
                  <a:tcPr marL="92295" marR="92295" marT="18288" marB="18288">
                    <a:lnT w="9525" cap="flat" cmpd="sng">
                      <a:noFill/>
                      <a:prstDash val="solid"/>
                      <a:round/>
                      <a:headEnd type="none" w="med" len="med"/>
                      <a:tailEnd type="none" w="med" len="med"/>
                    </a:lnT>
                    <a:lnB w="9525" cap="flat" cmpd="sng">
                      <a:noFill/>
                      <a:prstDash val="solid"/>
                      <a:round/>
                      <a:headEnd type="none" w="med" len="med"/>
                      <a:tailEnd type="none" w="med" len="med"/>
                    </a:lnB>
                    <a:solidFill>
                      <a:schemeClr val="bg1"/>
                    </a:solidFill>
                  </a:tcPr>
                </a:tc>
                <a:extLst>
                  <a:ext uri="{0D108BD9-81ED-4DB2-BD59-A6C34878D82A}">
                    <a16:rowId xmlns:a16="http://schemas.microsoft.com/office/drawing/2014/main" val="281392223"/>
                  </a:ext>
                </a:extLst>
              </a:tr>
              <a:tr h="205709">
                <a:tc>
                  <a:txBody>
                    <a:bodyPr/>
                    <a:lstStyle/>
                    <a:p>
                      <a:r>
                        <a:rPr lang="en-US" sz="1400" dirty="0">
                          <a:latin typeface="+mn-lt"/>
                        </a:rPr>
                        <a:t>Philippines</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latin typeface="+mn-lt"/>
                        </a:rPr>
                        <a:t>5.27</a:t>
                      </a:r>
                    </a:p>
                  </a:txBody>
                  <a:tcPr marL="92295" marR="92295" marT="18288" marB="18288">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285989"/>
                  </a:ext>
                </a:extLst>
              </a:tr>
            </a:tbl>
          </a:graphicData>
        </a:graphic>
      </p:graphicFrame>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6042116"/>
            <a:ext cx="8172000" cy="294545"/>
          </a:xfrm>
        </p:spPr>
        <p:txBody>
          <a:bodyPr tIns="0"/>
          <a:lstStyle/>
          <a:p>
            <a:pPr marL="432" indent="0">
              <a:buNone/>
            </a:pPr>
            <a:r>
              <a:rPr lang="en-US" sz="1600" b="1" dirty="0"/>
              <a:t>Source: </a:t>
            </a:r>
            <a:r>
              <a:rPr lang="en-US" sz="1600" dirty="0"/>
              <a:t>The Conference Board, International Labor Comparisons.</a:t>
            </a:r>
          </a:p>
        </p:txBody>
      </p:sp>
    </p:spTree>
    <p:extLst>
      <p:ext uri="{BB962C8B-B14F-4D97-AF65-F5344CB8AC3E}">
        <p14:creationId xmlns:p14="http://schemas.microsoft.com/office/powerpoint/2010/main" val="4278813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Factor Price Equalization </a:t>
            </a:r>
            <a:r>
              <a:rPr lang="en-US" altLang="en-US" sz="2000" b="0" dirty="0">
                <a:ea typeface="ヒラギノ角ゴ Pro W3" pitchFamily="-84" charset="-128"/>
              </a:rPr>
              <a:t>(3 of 3)</a:t>
            </a:r>
            <a:endParaRPr lang="en-IN" sz="20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The model also ignores trade barriers and transportation costs, which may prevent output prices and thus factor prices from equalizing.</a:t>
            </a:r>
          </a:p>
          <a:p>
            <a:r>
              <a:rPr lang="en-US" altLang="en-US" sz="2400" dirty="0">
                <a:ea typeface="ヒラギノ角ゴ Pro W3" pitchFamily="-84" charset="-128"/>
              </a:rPr>
              <a:t>The model predicts outcomes for the long run, but after an economy liberalizes trade, factors of production may not quickly move to the industries that intensively use abundant factors.</a:t>
            </a:r>
          </a:p>
          <a:p>
            <a:pPr lvl="1"/>
            <a:r>
              <a:rPr lang="en-US" altLang="en-US" sz="2400" dirty="0">
                <a:ea typeface="ヒラギノ角ゴ Pro W3" pitchFamily="-84" charset="-128"/>
              </a:rPr>
              <a:t>In the short run, the productivity of factors will be determined by their use in their current industry, so that their wage/rental rate may vary across countries.</a:t>
            </a:r>
          </a:p>
        </p:txBody>
      </p:sp>
    </p:spTree>
    <p:extLst>
      <p:ext uri="{BB962C8B-B14F-4D97-AF65-F5344CB8AC3E}">
        <p14:creationId xmlns:p14="http://schemas.microsoft.com/office/powerpoint/2010/main" val="5894304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(1 of 6)</a:t>
            </a:r>
            <a:endParaRPr lang="en-IN" sz="18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Tests on U.S. data</a:t>
            </a:r>
          </a:p>
          <a:p>
            <a:pPr lvl="1"/>
            <a:r>
              <a:rPr lang="en-US" altLang="en-US" sz="2400" dirty="0">
                <a:ea typeface="ヒラギノ角ゴ Pro W3" pitchFamily="-84" charset="-128"/>
              </a:rPr>
              <a:t>Leontief found that U.S. exports were less capital-intensive than U.S. imports, even though the United States is the most capital-abundant country in the world: </a:t>
            </a:r>
            <a:r>
              <a:rPr lang="en-US" altLang="en-US" sz="2400" b="1" dirty="0">
                <a:ea typeface="ヒラギノ角ゴ Pro W3" pitchFamily="-84" charset="-128"/>
              </a:rPr>
              <a:t>Leontief paradox</a:t>
            </a:r>
            <a:r>
              <a:rPr lang="en-US" altLang="en-US" sz="2400" dirty="0">
                <a:ea typeface="ヒラギノ角ゴ Pro W3" pitchFamily="-84" charset="-128"/>
              </a:rPr>
              <a:t>.</a:t>
            </a:r>
          </a:p>
          <a:p>
            <a:r>
              <a:rPr lang="en-US" altLang="en-US" sz="2400" dirty="0">
                <a:ea typeface="ヒラギノ角ゴ Pro W3" pitchFamily="-84" charset="-128"/>
              </a:rPr>
              <a:t>Tests on global data</a:t>
            </a:r>
          </a:p>
          <a:p>
            <a:pPr lvl="1"/>
            <a:r>
              <a:rPr lang="en-US" altLang="en-US" sz="2400" dirty="0">
                <a:ea typeface="ヒラギノ角ゴ Pro W3" pitchFamily="-84" charset="-128"/>
              </a:rPr>
              <a:t>Bowen, Leamer, and Sveikauskas tested the Heckscher-Ohlin model on data from 27 countries and confirmed the Leontief paradox on an international level.</a:t>
            </a:r>
          </a:p>
        </p:txBody>
      </p:sp>
    </p:spTree>
    <p:extLst>
      <p:ext uri="{BB962C8B-B14F-4D97-AF65-F5344CB8AC3E}">
        <p14:creationId xmlns:p14="http://schemas.microsoft.com/office/powerpoint/2010/main" val="640617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Table 5.2 Factor Content of U.S. Exports and Imports for 1962</a:t>
            </a:r>
            <a:endParaRPr lang="en-IN" sz="3200" dirty="0"/>
          </a:p>
        </p:txBody>
      </p:sp>
      <p:graphicFrame>
        <p:nvGraphicFramePr>
          <p:cNvPr id="4" name="Table 4">
            <a:extLst>
              <a:ext uri="{FF2B5EF4-FFF2-40B4-BE49-F238E27FC236}">
                <a16:creationId xmlns:a16="http://schemas.microsoft.com/office/drawing/2014/main" id="{8C5C6245-6823-42EE-9368-5A89575C33A8}"/>
              </a:ext>
            </a:extLst>
          </p:cNvPr>
          <p:cNvGraphicFramePr>
            <a:graphicFrameLocks noGrp="1"/>
          </p:cNvGraphicFramePr>
          <p:nvPr>
            <p:ph sz="quarter" idx="13"/>
            <p:extLst>
              <p:ext uri="{D42A27DB-BD31-4B8C-83A1-F6EECF244321}">
                <p14:modId xmlns:p14="http://schemas.microsoft.com/office/powerpoint/2010/main" val="2965785562"/>
              </p:ext>
            </p:extLst>
          </p:nvPr>
        </p:nvGraphicFramePr>
        <p:xfrm>
          <a:off x="576263" y="1718156"/>
          <a:ext cx="7819697" cy="2433320"/>
        </p:xfrm>
        <a:graphic>
          <a:graphicData uri="http://schemas.openxmlformats.org/drawingml/2006/table">
            <a:tbl>
              <a:tblPr firstRow="1" bandRow="1">
                <a:tableStyleId>{40F9630F-82C1-40B7-BC3A-925EFCFF5E92}</a:tableStyleId>
              </a:tblPr>
              <a:tblGrid>
                <a:gridCol w="3988677">
                  <a:extLst>
                    <a:ext uri="{9D8B030D-6E8A-4147-A177-3AD203B41FA5}">
                      <a16:colId xmlns:a16="http://schemas.microsoft.com/office/drawing/2014/main" val="688213999"/>
                    </a:ext>
                  </a:extLst>
                </a:gridCol>
                <a:gridCol w="1718441">
                  <a:extLst>
                    <a:ext uri="{9D8B030D-6E8A-4147-A177-3AD203B41FA5}">
                      <a16:colId xmlns:a16="http://schemas.microsoft.com/office/drawing/2014/main" val="3032291513"/>
                    </a:ext>
                  </a:extLst>
                </a:gridCol>
                <a:gridCol w="2112579">
                  <a:extLst>
                    <a:ext uri="{9D8B030D-6E8A-4147-A177-3AD203B41FA5}">
                      <a16:colId xmlns:a16="http://schemas.microsoft.com/office/drawing/2014/main" val="2712015752"/>
                    </a:ext>
                  </a:extLst>
                </a:gridCol>
              </a:tblGrid>
              <a:tr h="370840">
                <a:tc>
                  <a:txBody>
                    <a:bodyPr/>
                    <a:lstStyle/>
                    <a:p>
                      <a:r>
                        <a:rPr lang="en-US" sz="100" dirty="0">
                          <a:solidFill>
                            <a:schemeClr val="tx1"/>
                          </a:solidFill>
                          <a:latin typeface="+mn-lt"/>
                        </a:rPr>
                        <a:t>blank</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Imports</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Exports</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4041692"/>
                  </a:ext>
                </a:extLst>
              </a:tr>
              <a:tr h="370840">
                <a:tc>
                  <a:txBody>
                    <a:bodyPr/>
                    <a:lstStyle/>
                    <a:p>
                      <a:r>
                        <a:rPr lang="en-US" sz="1600" dirty="0">
                          <a:latin typeface="+mn-lt"/>
                        </a:rPr>
                        <a:t>Capital per million dollars</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$2,132,000</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$1,876,000</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2342062"/>
                  </a:ext>
                </a:extLst>
              </a:tr>
              <a:tr h="370840">
                <a:tc>
                  <a:txBody>
                    <a:bodyPr/>
                    <a:lstStyle/>
                    <a:p>
                      <a:r>
                        <a:rPr lang="en-US" sz="1600" dirty="0">
                          <a:latin typeface="+mn-lt"/>
                        </a:rPr>
                        <a:t>Labor (person-years) per million dollars</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119</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131</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4414049"/>
                  </a:ext>
                </a:extLst>
              </a:tr>
              <a:tr h="370840">
                <a:tc>
                  <a:txBody>
                    <a:bodyPr/>
                    <a:lstStyle/>
                    <a:p>
                      <a:r>
                        <a:rPr lang="en-US" sz="1600" dirty="0">
                          <a:latin typeface="+mn-lt"/>
                        </a:rPr>
                        <a:t>Capital-labor</a:t>
                      </a:r>
                      <a:r>
                        <a:rPr lang="en-US" sz="1600" baseline="0" dirty="0">
                          <a:latin typeface="+mn-lt"/>
                        </a:rPr>
                        <a:t> ratio (dollars per worker)</a:t>
                      </a:r>
                      <a:endParaRPr lang="en-US" sz="1600" dirty="0">
                        <a:latin typeface="+mn-lt"/>
                      </a:endParaRP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$17,916</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$14,321</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024971"/>
                  </a:ext>
                </a:extLst>
              </a:tr>
              <a:tr h="370840">
                <a:tc>
                  <a:txBody>
                    <a:bodyPr/>
                    <a:lstStyle/>
                    <a:p>
                      <a:r>
                        <a:rPr lang="en-US" sz="1600" dirty="0">
                          <a:latin typeface="+mn-lt"/>
                        </a:rPr>
                        <a:t>Average years of education per worker</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9.9</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10.1</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4004793"/>
                  </a:ext>
                </a:extLst>
              </a:tr>
              <a:tr h="370840">
                <a:tc>
                  <a:txBody>
                    <a:bodyPr/>
                    <a:lstStyle/>
                    <a:p>
                      <a:r>
                        <a:rPr lang="en-US" sz="1600" dirty="0">
                          <a:latin typeface="+mn-lt"/>
                        </a:rPr>
                        <a:t>Proportion of engineers and scientists in work force</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0.0189</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600" dirty="0">
                          <a:latin typeface="+mn-lt"/>
                        </a:rPr>
                        <a:t>0.0255</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32386861"/>
                  </a:ext>
                </a:extLst>
              </a:tr>
            </a:tbl>
          </a:graphicData>
        </a:graphic>
      </p:graphicFrame>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4556982"/>
            <a:ext cx="8172000" cy="609476"/>
          </a:xfrm>
        </p:spPr>
        <p:txBody>
          <a:bodyPr tIns="0"/>
          <a:lstStyle/>
          <a:p>
            <a:pPr marL="0" indent="0">
              <a:buNone/>
            </a:pPr>
            <a:r>
              <a:rPr lang="en-US" sz="1600" b="1" dirty="0"/>
              <a:t>Source: </a:t>
            </a:r>
            <a:r>
              <a:rPr lang="en-US" sz="1600" dirty="0"/>
              <a:t>Robert Baldwin, “Determinants of the Commodity Structure of U.S. Trade,” </a:t>
            </a:r>
            <a:r>
              <a:rPr lang="en-US" sz="1600" b="1" dirty="0"/>
              <a:t>American Economic Review</a:t>
            </a:r>
            <a:r>
              <a:rPr lang="en-US" sz="1600" i="1" dirty="0"/>
              <a:t> </a:t>
            </a:r>
            <a:r>
              <a:rPr lang="en-US" sz="1600" dirty="0"/>
              <a:t>61 (March 1971), pp. 126-145.</a:t>
            </a:r>
          </a:p>
        </p:txBody>
      </p:sp>
    </p:spTree>
    <p:extLst>
      <p:ext uri="{BB962C8B-B14F-4D97-AF65-F5344CB8AC3E}">
        <p14:creationId xmlns:p14="http://schemas.microsoft.com/office/powerpoint/2010/main" val="23567236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Table 5.3 Estimated Technological Efficiency, 1983</a:t>
            </a:r>
            <a:endParaRPr lang="en-IN" sz="3200" dirty="0"/>
          </a:p>
        </p:txBody>
      </p:sp>
      <p:graphicFrame>
        <p:nvGraphicFramePr>
          <p:cNvPr id="5" name="Table 6">
            <a:extLst>
              <a:ext uri="{FF2B5EF4-FFF2-40B4-BE49-F238E27FC236}">
                <a16:creationId xmlns:a16="http://schemas.microsoft.com/office/drawing/2014/main" id="{053DF3AF-FCE5-4042-8623-F49DFAA42B74}"/>
              </a:ext>
            </a:extLst>
          </p:cNvPr>
          <p:cNvGraphicFramePr>
            <a:graphicFrameLocks noGrp="1"/>
          </p:cNvGraphicFramePr>
          <p:nvPr>
            <p:ph sz="quarter" idx="13"/>
            <p:extLst>
              <p:ext uri="{D42A27DB-BD31-4B8C-83A1-F6EECF244321}">
                <p14:modId xmlns:p14="http://schemas.microsoft.com/office/powerpoint/2010/main" val="2449794344"/>
              </p:ext>
            </p:extLst>
          </p:nvPr>
        </p:nvGraphicFramePr>
        <p:xfrm>
          <a:off x="576263" y="1700213"/>
          <a:ext cx="8229600" cy="2773680"/>
        </p:xfrm>
        <a:graphic>
          <a:graphicData uri="http://schemas.openxmlformats.org/drawingml/2006/table">
            <a:tbl>
              <a:tblPr firstRow="1" bandRow="1">
                <a:tableStyleId>{40F9630F-82C1-40B7-BC3A-925EFCFF5E92}</a:tableStyleId>
              </a:tblPr>
              <a:tblGrid>
                <a:gridCol w="4114800">
                  <a:extLst>
                    <a:ext uri="{9D8B030D-6E8A-4147-A177-3AD203B41FA5}">
                      <a16:colId xmlns:a16="http://schemas.microsoft.com/office/drawing/2014/main" val="3823549582"/>
                    </a:ext>
                  </a:extLst>
                </a:gridCol>
                <a:gridCol w="4114800">
                  <a:extLst>
                    <a:ext uri="{9D8B030D-6E8A-4147-A177-3AD203B41FA5}">
                      <a16:colId xmlns:a16="http://schemas.microsoft.com/office/drawing/2014/main" val="2152897243"/>
                    </a:ext>
                  </a:extLst>
                </a:gridCol>
              </a:tblGrid>
              <a:tr h="370840">
                <a:tc>
                  <a:txBody>
                    <a:bodyPr/>
                    <a:lstStyle/>
                    <a:p>
                      <a:r>
                        <a:rPr lang="en-US" sz="2000" dirty="0">
                          <a:latin typeface="+mn-lt"/>
                        </a:rPr>
                        <a:t>Country</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 dirty="0">
                          <a:solidFill>
                            <a:schemeClr val="tx1"/>
                          </a:solidFill>
                          <a:latin typeface="+mn-lt"/>
                        </a:rPr>
                        <a:t>blank</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2810922"/>
                  </a:ext>
                </a:extLst>
              </a:tr>
              <a:tr h="370840">
                <a:tc>
                  <a:txBody>
                    <a:bodyPr/>
                    <a:lstStyle/>
                    <a:p>
                      <a:r>
                        <a:rPr lang="en-US" sz="2000" dirty="0">
                          <a:latin typeface="+mn-lt"/>
                        </a:rPr>
                        <a:t>Bangladesh</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0.03</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8934712"/>
                  </a:ext>
                </a:extLst>
              </a:tr>
              <a:tr h="370840">
                <a:tc>
                  <a:txBody>
                    <a:bodyPr/>
                    <a:lstStyle/>
                    <a:p>
                      <a:r>
                        <a:rPr lang="en-US" sz="2000" dirty="0">
                          <a:latin typeface="+mn-lt"/>
                        </a:rPr>
                        <a:t>Thailand</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0.17</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2151080"/>
                  </a:ext>
                </a:extLst>
              </a:tr>
              <a:tr h="370840">
                <a:tc>
                  <a:txBody>
                    <a:bodyPr/>
                    <a:lstStyle/>
                    <a:p>
                      <a:r>
                        <a:rPr lang="en-US" sz="2000" dirty="0">
                          <a:latin typeface="+mn-lt"/>
                        </a:rPr>
                        <a:t>Hong Kong</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0.40</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6171755"/>
                  </a:ext>
                </a:extLst>
              </a:tr>
              <a:tr h="370840">
                <a:tc>
                  <a:txBody>
                    <a:bodyPr/>
                    <a:lstStyle/>
                    <a:p>
                      <a:r>
                        <a:rPr lang="en-US" sz="2000" dirty="0">
                          <a:latin typeface="+mn-lt"/>
                        </a:rPr>
                        <a:t>Japan</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0.70</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78605"/>
                  </a:ext>
                </a:extLst>
              </a:tr>
              <a:tr h="370840">
                <a:tc>
                  <a:txBody>
                    <a:bodyPr/>
                    <a:lstStyle/>
                    <a:p>
                      <a:r>
                        <a:rPr lang="en-US" sz="2000" dirty="0">
                          <a:latin typeface="+mn-lt"/>
                        </a:rPr>
                        <a:t>West Germany</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0.78</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6822595"/>
                  </a:ext>
                </a:extLst>
              </a:tr>
              <a:tr h="370840">
                <a:tc>
                  <a:txBody>
                    <a:bodyPr/>
                    <a:lstStyle/>
                    <a:p>
                      <a:r>
                        <a:rPr lang="en-US" sz="2000" dirty="0">
                          <a:latin typeface="+mn-lt"/>
                        </a:rPr>
                        <a:t>United States</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latin typeface="+mn-lt"/>
                        </a:rPr>
                        <a:t>1</a:t>
                      </a:r>
                    </a:p>
                  </a:txBody>
                  <a:tcPr>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6123909"/>
                  </a:ext>
                </a:extLst>
              </a:tr>
            </a:tbl>
          </a:graphicData>
        </a:graphic>
      </p:graphicFrame>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4722082"/>
            <a:ext cx="7968343" cy="609476"/>
          </a:xfrm>
        </p:spPr>
        <p:txBody>
          <a:bodyPr tIns="0"/>
          <a:lstStyle/>
          <a:p>
            <a:pPr marL="0" indent="0">
              <a:buNone/>
            </a:pPr>
            <a:r>
              <a:rPr lang="en-US" sz="1600" b="1" dirty="0"/>
              <a:t>Source: </a:t>
            </a:r>
            <a:r>
              <a:rPr lang="en-US" sz="1600" dirty="0"/>
              <a:t>Daniel Trefler, “The Case of the Missing Trade and Other mysteries,” </a:t>
            </a:r>
            <a:r>
              <a:rPr lang="en-US" sz="1600" b="1" dirty="0"/>
              <a:t>American Economic Review</a:t>
            </a:r>
            <a:r>
              <a:rPr lang="en-US" sz="1600" i="1" dirty="0"/>
              <a:t> </a:t>
            </a:r>
            <a:r>
              <a:rPr lang="en-US" sz="1600" dirty="0"/>
              <a:t>(December 1995), pp. 1029–1046.</a:t>
            </a:r>
          </a:p>
        </p:txBody>
      </p:sp>
    </p:spTree>
    <p:extLst>
      <p:ext uri="{BB962C8B-B14F-4D97-AF65-F5344CB8AC3E}">
        <p14:creationId xmlns:p14="http://schemas.microsoft.com/office/powerpoint/2010/main" val="986690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(2 of 6)</a:t>
            </a:r>
            <a:endParaRPr lang="en-IN" sz="18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Because the Heckscher-Ohlin model predicts that factor prices will be equalized across trading countries, it also predicts that factors of production will produce and export a certain quantity goods until factor prices are equalized.</a:t>
            </a:r>
          </a:p>
          <a:p>
            <a:pPr lvl="1"/>
            <a:r>
              <a:rPr lang="en-US" altLang="en-US" sz="2400" dirty="0">
                <a:ea typeface="ヒラギノ角ゴ Pro W3" pitchFamily="-84" charset="-128"/>
              </a:rPr>
              <a:t>In other words, a predicted value of services from factors of production will be </a:t>
            </a:r>
            <a:r>
              <a:rPr lang="en-US" altLang="en-US" sz="2400" b="1" dirty="0">
                <a:ea typeface="ヒラギノ角ゴ Pro W3" pitchFamily="-84" charset="-128"/>
              </a:rPr>
              <a:t>embodied</a:t>
            </a:r>
            <a:r>
              <a:rPr lang="en-US" altLang="en-US" sz="2400" dirty="0">
                <a:ea typeface="ヒラギノ角ゴ Pro W3" pitchFamily="-84" charset="-128"/>
              </a:rPr>
              <a:t> in a predicted volume of trade between countries.</a:t>
            </a:r>
          </a:p>
        </p:txBody>
      </p:sp>
    </p:spTree>
    <p:extLst>
      <p:ext uri="{BB962C8B-B14F-4D97-AF65-F5344CB8AC3E}">
        <p14:creationId xmlns:p14="http://schemas.microsoft.com/office/powerpoint/2010/main" val="1707255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(3 of 6)</a:t>
            </a:r>
            <a:endParaRPr lang="en-IN" sz="18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200" dirty="0">
                <a:ea typeface="ヒラギノ角ゴ Pro W3" pitchFamily="-84" charset="-128"/>
              </a:rPr>
              <a:t>But because factor prices are not equalized across countries, the predicted volume of trade is much larger than actually occurs.</a:t>
            </a:r>
          </a:p>
          <a:p>
            <a:pPr lvl="1"/>
            <a:r>
              <a:rPr lang="en-US" altLang="en-US" sz="2200" dirty="0">
                <a:ea typeface="ヒラギノ角ゴ Pro W3" pitchFamily="-84" charset="-128"/>
              </a:rPr>
              <a:t>A result of </a:t>
            </a:r>
            <a:r>
              <a:rPr lang="en-US" sz="2200" dirty="0"/>
              <a:t>“</a:t>
            </a:r>
            <a:r>
              <a:rPr lang="en-US" altLang="ja-JP" sz="2200" dirty="0">
                <a:ea typeface="ヒラギノ角ゴ Pro W3" pitchFamily="-84" charset="-128"/>
              </a:rPr>
              <a:t>missing trade</a:t>
            </a:r>
            <a:r>
              <a:rPr lang="en-US" sz="2200" dirty="0"/>
              <a:t>”</a:t>
            </a:r>
            <a:r>
              <a:rPr lang="en-US" altLang="ja-JP" sz="2200" dirty="0">
                <a:ea typeface="ヒラギノ角ゴ Pro W3" pitchFamily="-84" charset="-128"/>
              </a:rPr>
              <a:t> discovered by Daniel Trefler.</a:t>
            </a:r>
          </a:p>
          <a:p>
            <a:r>
              <a:rPr lang="en-US" altLang="en-US" sz="2200" dirty="0">
                <a:ea typeface="ヒラギノ角ゴ Pro W3" pitchFamily="-84" charset="-128"/>
              </a:rPr>
              <a:t>The reason for this </a:t>
            </a:r>
            <a:r>
              <a:rPr lang="en-US" sz="2200" dirty="0"/>
              <a:t>“</a:t>
            </a:r>
            <a:r>
              <a:rPr lang="en-US" altLang="ja-JP" sz="2200" dirty="0">
                <a:ea typeface="ヒラギノ角ゴ Pro W3" pitchFamily="-84" charset="-128"/>
              </a:rPr>
              <a:t>missing trade</a:t>
            </a:r>
            <a:r>
              <a:rPr lang="en-US" sz="2200" dirty="0"/>
              <a:t>”</a:t>
            </a:r>
            <a:r>
              <a:rPr lang="en-US" altLang="ja-JP" sz="2200" dirty="0">
                <a:ea typeface="ヒラギノ角ゴ Pro W3" pitchFamily="-84" charset="-128"/>
              </a:rPr>
              <a:t> appears to be the assumption of identical technology among countries.</a:t>
            </a:r>
          </a:p>
          <a:p>
            <a:pPr lvl="1"/>
            <a:r>
              <a:rPr lang="en-US" altLang="en-US" sz="2200" dirty="0">
                <a:ea typeface="ヒラギノ角ゴ Pro W3" pitchFamily="-84" charset="-128"/>
              </a:rPr>
              <a:t>Technology affects the productivity of workers and therefore the value of labor services.</a:t>
            </a:r>
          </a:p>
          <a:p>
            <a:pPr lvl="1"/>
            <a:r>
              <a:rPr lang="en-US" altLang="en-US" sz="2200" dirty="0">
                <a:ea typeface="ヒラギノ角ゴ Pro W3" pitchFamily="-84" charset="-128"/>
              </a:rPr>
              <a:t>A country with high technology and a high value of labor services would not necessarily import a lot from a country with low technology and a low value of labor services.</a:t>
            </a:r>
          </a:p>
        </p:txBody>
      </p:sp>
    </p:spTree>
    <p:extLst>
      <p:ext uri="{BB962C8B-B14F-4D97-AF65-F5344CB8AC3E}">
        <p14:creationId xmlns:p14="http://schemas.microsoft.com/office/powerpoint/2010/main" val="19401260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(4 of 6)</a:t>
            </a:r>
            <a:endParaRPr lang="en-IN" sz="18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An important study by Donald Davis and David Weinstein showed that if relax the assumption of common technologies, along with assumptions underlying factor price equalization (countries produce the same goods and costless trade equalizes prices of goods):</a:t>
            </a:r>
          </a:p>
          <a:p>
            <a:pPr lvl="1"/>
            <a:r>
              <a:rPr lang="en-US" altLang="en-US" sz="2400" dirty="0">
                <a:ea typeface="ヒラギノ角ゴ Pro W3" pitchFamily="-84" charset="-128"/>
              </a:rPr>
              <a:t>then the predictions for the direction and volume of the factor content of trade line-up well with empirical evidence and ultimately generate a good fit.</a:t>
            </a:r>
          </a:p>
          <a:p>
            <a:r>
              <a:rPr lang="en-US" altLang="en-US" sz="2400" dirty="0">
                <a:ea typeface="ヒラギノ角ゴ Pro W3" pitchFamily="-84" charset="-128"/>
              </a:rPr>
              <a:t>Difficulty finding support for the predictions of the </a:t>
            </a:r>
            <a:r>
              <a:rPr lang="en-US" altLang="ja-JP" sz="2400" dirty="0">
                <a:ea typeface="ヒラギノ角ゴ Pro W3" pitchFamily="-84" charset="-128"/>
              </a:rPr>
              <a:t>“pure” Heckscher-Ohlin model can be blamed on some of the assumptions made.</a:t>
            </a:r>
            <a:endParaRPr lang="en-US" altLang="en-US" sz="2400" dirty="0">
              <a:ea typeface="ヒラギノ角ゴ Pro W3" pitchFamily="-84" charset="-128"/>
            </a:endParaRPr>
          </a:p>
        </p:txBody>
      </p:sp>
    </p:spTree>
    <p:extLst>
      <p:ext uri="{BB962C8B-B14F-4D97-AF65-F5344CB8AC3E}">
        <p14:creationId xmlns:p14="http://schemas.microsoft.com/office/powerpoint/2010/main" val="35362440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Table 5.4 A Better Empirical Fit for the Factor Content of Trade</a:t>
            </a:r>
            <a:endParaRPr lang="en-IN" sz="3200" dirty="0"/>
          </a:p>
        </p:txBody>
      </p:sp>
      <p:graphicFrame>
        <p:nvGraphicFramePr>
          <p:cNvPr id="4" name="Table 6">
            <a:extLst>
              <a:ext uri="{FF2B5EF4-FFF2-40B4-BE49-F238E27FC236}">
                <a16:creationId xmlns:a16="http://schemas.microsoft.com/office/drawing/2014/main" id="{DC7269C4-7651-440B-811E-38D8F90EFA1A}"/>
              </a:ext>
            </a:extLst>
          </p:cNvPr>
          <p:cNvGraphicFramePr>
            <a:graphicFrameLocks noGrp="1"/>
          </p:cNvGraphicFramePr>
          <p:nvPr>
            <p:ph sz="quarter" idx="13"/>
            <p:extLst>
              <p:ext uri="{D42A27DB-BD31-4B8C-83A1-F6EECF244321}">
                <p14:modId xmlns:p14="http://schemas.microsoft.com/office/powerpoint/2010/main" val="4122026724"/>
              </p:ext>
            </p:extLst>
          </p:nvPr>
        </p:nvGraphicFramePr>
        <p:xfrm>
          <a:off x="576263" y="1731215"/>
          <a:ext cx="8229600" cy="1981200"/>
        </p:xfrm>
        <a:graphic>
          <a:graphicData uri="http://schemas.openxmlformats.org/drawingml/2006/table">
            <a:tbl>
              <a:tblPr firstRow="1" bandRow="1">
                <a:tableStyleId>{40F9630F-82C1-40B7-BC3A-925EFCFF5E92}</a:tableStyleId>
              </a:tblPr>
              <a:tblGrid>
                <a:gridCol w="2096814">
                  <a:extLst>
                    <a:ext uri="{9D8B030D-6E8A-4147-A177-3AD203B41FA5}">
                      <a16:colId xmlns:a16="http://schemas.microsoft.com/office/drawing/2014/main" val="56306625"/>
                    </a:ext>
                  </a:extLst>
                </a:gridCol>
                <a:gridCol w="1492523">
                  <a:extLst>
                    <a:ext uri="{9D8B030D-6E8A-4147-A177-3AD203B41FA5}">
                      <a16:colId xmlns:a16="http://schemas.microsoft.com/office/drawing/2014/main" val="2391401978"/>
                    </a:ext>
                  </a:extLst>
                </a:gridCol>
                <a:gridCol w="1535289">
                  <a:extLst>
                    <a:ext uri="{9D8B030D-6E8A-4147-A177-3AD203B41FA5}">
                      <a16:colId xmlns:a16="http://schemas.microsoft.com/office/drawing/2014/main" val="981574641"/>
                    </a:ext>
                  </a:extLst>
                </a:gridCol>
                <a:gridCol w="1524000">
                  <a:extLst>
                    <a:ext uri="{9D8B030D-6E8A-4147-A177-3AD203B41FA5}">
                      <a16:colId xmlns:a16="http://schemas.microsoft.com/office/drawing/2014/main" val="2731419128"/>
                    </a:ext>
                  </a:extLst>
                </a:gridCol>
                <a:gridCol w="1580974">
                  <a:extLst>
                    <a:ext uri="{9D8B030D-6E8A-4147-A177-3AD203B41FA5}">
                      <a16:colId xmlns:a16="http://schemas.microsoft.com/office/drawing/2014/main" val="739181347"/>
                    </a:ext>
                  </a:extLst>
                </a:gridCol>
              </a:tblGrid>
              <a:tr h="370840">
                <a:tc>
                  <a:txBody>
                    <a:bodyPr/>
                    <a:lstStyle/>
                    <a:p>
                      <a:r>
                        <a:rPr lang="en-US" sz="100" dirty="0">
                          <a:solidFill>
                            <a:schemeClr val="tx1"/>
                          </a:solidFill>
                          <a:latin typeface="+mn-lt"/>
                        </a:rPr>
                        <a:t>blank</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Assumptions Dropped</a:t>
                      </a:r>
                    </a:p>
                    <a:p>
                      <a:pPr algn="ctr"/>
                      <a:r>
                        <a:rPr lang="en-US" sz="1600" b="0" dirty="0">
                          <a:latin typeface="+mn-lt"/>
                        </a:rPr>
                        <a:t>None</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Assumptions Dropped</a:t>
                      </a:r>
                    </a:p>
                    <a:p>
                      <a:pPr algn="ctr"/>
                      <a:r>
                        <a:rPr lang="en-US" sz="1600" b="0" dirty="0">
                          <a:latin typeface="+mn-lt"/>
                        </a:rPr>
                        <a:t>Drop (1)</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Assumptions Dropped</a:t>
                      </a:r>
                    </a:p>
                    <a:p>
                      <a:pPr algn="ctr"/>
                      <a:r>
                        <a:rPr lang="en-US" sz="1600" b="0" dirty="0">
                          <a:latin typeface="+mn-lt"/>
                        </a:rPr>
                        <a:t>Drop (1)-(2)</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Assumptions Dropped</a:t>
                      </a:r>
                    </a:p>
                    <a:p>
                      <a:pPr algn="ctr"/>
                      <a:r>
                        <a:rPr lang="en-US" sz="1600" b="0" dirty="0">
                          <a:latin typeface="+mn-lt"/>
                        </a:rPr>
                        <a:t>Drop (1)-(3)</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49183369"/>
                  </a:ext>
                </a:extLst>
              </a:tr>
              <a:tr h="370840">
                <a:tc>
                  <a:txBody>
                    <a:bodyPr/>
                    <a:lstStyle/>
                    <a:p>
                      <a:r>
                        <a:rPr lang="en-US" sz="1600" dirty="0">
                          <a:latin typeface="+mn-lt"/>
                        </a:rPr>
                        <a:t>Predictive Success (sign test)</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0.32</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0.50</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0.86</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0.91</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019833"/>
                  </a:ext>
                </a:extLst>
              </a:tr>
              <a:tr h="370840">
                <a:tc>
                  <a:txBody>
                    <a:bodyPr/>
                    <a:lstStyle/>
                    <a:p>
                      <a:r>
                        <a:rPr lang="en-US" sz="1600" dirty="0">
                          <a:latin typeface="+mn-lt"/>
                        </a:rPr>
                        <a:t>Missing Trade (observed/predicted)</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0.0005</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0.008</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0.19</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latin typeface="+mn-lt"/>
                        </a:rPr>
                        <a:t>0.69</a:t>
                      </a:r>
                    </a:p>
                  </a:txBody>
                  <a:tcPr anchor="b">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7223144"/>
                  </a:ext>
                </a:extLst>
              </a:tr>
            </a:tbl>
          </a:graphicData>
        </a:graphic>
      </p:graphicFrame>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4020947"/>
            <a:ext cx="8172000" cy="1276260"/>
          </a:xfrm>
        </p:spPr>
        <p:txBody>
          <a:bodyPr tIns="0"/>
          <a:lstStyle/>
          <a:p>
            <a:pPr marL="0" indent="0">
              <a:spcBef>
                <a:spcPts val="600"/>
              </a:spcBef>
              <a:buNone/>
            </a:pPr>
            <a:r>
              <a:rPr lang="en-US" sz="1800" dirty="0"/>
              <a:t>Assumptions: (1) common technologies across countries; (2) countries produce the same set of goods; and (3) costless trade equalizes goods prices.</a:t>
            </a:r>
          </a:p>
          <a:p>
            <a:pPr marL="0" indent="0">
              <a:spcBef>
                <a:spcPts val="600"/>
              </a:spcBef>
              <a:buNone/>
            </a:pPr>
            <a:r>
              <a:rPr lang="en-US" sz="1600" b="1" dirty="0"/>
              <a:t>Source: </a:t>
            </a:r>
            <a:r>
              <a:rPr lang="en-US" sz="1600" dirty="0"/>
              <a:t>Donald R. Davis and David Weinstein, “An Account of Global Factor Trade,” </a:t>
            </a:r>
            <a:r>
              <a:rPr lang="en-US" sz="1600" b="1" dirty="0"/>
              <a:t>American Economic Review</a:t>
            </a:r>
            <a:r>
              <a:rPr lang="en-US" sz="1600" i="1" dirty="0"/>
              <a:t> </a:t>
            </a:r>
            <a:r>
              <a:rPr lang="en-US" sz="1600" dirty="0"/>
              <a:t>(2001), pp. 1423–1453.</a:t>
            </a:r>
          </a:p>
        </p:txBody>
      </p:sp>
    </p:spTree>
    <p:extLst>
      <p:ext uri="{BB962C8B-B14F-4D97-AF65-F5344CB8AC3E}">
        <p14:creationId xmlns:p14="http://schemas.microsoft.com/office/powerpoint/2010/main" val="1414740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(5 of 6)</a:t>
            </a:r>
            <a:endParaRPr lang="en-IN" sz="1800" dirty="0"/>
          </a:p>
        </p:txBody>
      </p:sp>
      <p:sp>
        <p:nvSpPr>
          <p:cNvPr id="4" name="Content Placeholder 3">
            <a:extLst>
              <a:ext uri="{FF2B5EF4-FFF2-40B4-BE49-F238E27FC236}">
                <a16:creationId xmlns:a16="http://schemas.microsoft.com/office/drawing/2014/main" id="{0C62B771-D823-4919-9C3E-0A0F55D29BAD}"/>
              </a:ext>
            </a:extLst>
          </p:cNvPr>
          <p:cNvSpPr>
            <a:spLocks noGrp="1"/>
          </p:cNvSpPr>
          <p:nvPr>
            <p:ph sz="quarter" idx="13"/>
          </p:nvPr>
        </p:nvSpPr>
        <p:spPr>
          <a:xfrm>
            <a:off x="457200" y="1556326"/>
            <a:ext cx="8229600" cy="4466101"/>
          </a:xfrm>
        </p:spPr>
        <p:txBody>
          <a:bodyPr/>
          <a:lstStyle/>
          <a:p>
            <a:r>
              <a:rPr lang="en-US" altLang="en-US" sz="2400" dirty="0">
                <a:ea typeface="ヒラギノ角ゴ Pro W3" pitchFamily="-84" charset="-128"/>
              </a:rPr>
              <a:t>Contrast the exports of labor-abundant, skill-scarce nations in the developing world with the exports of skill-abundant, labor-scarce (rich) nations.</a:t>
            </a:r>
          </a:p>
          <a:p>
            <a:pPr lvl="1"/>
            <a:r>
              <a:rPr lang="en-US" altLang="en-US" sz="2400" dirty="0">
                <a:ea typeface="ヒラギノ角ゴ Pro W3" pitchFamily="-84" charset="-128"/>
              </a:rPr>
              <a:t>The exports of the three developing countries to the United States are concentrated in sectors with the lowest skill intensity.</a:t>
            </a:r>
          </a:p>
          <a:p>
            <a:pPr lvl="1"/>
            <a:r>
              <a:rPr lang="en-US" altLang="en-US" sz="2400" dirty="0">
                <a:ea typeface="ヒラギノ角ゴ Pro W3" pitchFamily="-84" charset="-128"/>
              </a:rPr>
              <a:t>The exports of the three skill abundant countries to the United States are concentrated in sectors with higher skill intensity.</a:t>
            </a:r>
          </a:p>
        </p:txBody>
      </p:sp>
    </p:spTree>
    <p:extLst>
      <p:ext uri="{BB962C8B-B14F-4D97-AF65-F5344CB8AC3E}">
        <p14:creationId xmlns:p14="http://schemas.microsoft.com/office/powerpoint/2010/main" val="26502443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199" y="215371"/>
            <a:ext cx="8464731" cy="1097279"/>
          </a:xfrm>
        </p:spPr>
        <p:txBody>
          <a:bodyPr/>
          <a:lstStyle/>
          <a:p>
            <a:r>
              <a:rPr lang="en-US" altLang="en-US" sz="2800" dirty="0">
                <a:ea typeface="ヒラギノ角ゴ Pro W3" pitchFamily="-84" charset="-128"/>
              </a:rPr>
              <a:t>Figure 5.13 Export Patterns for a Few Developed and Developing Countries, 2008–2012</a:t>
            </a:r>
            <a:endParaRPr lang="en-IN" sz="2800" dirty="0"/>
          </a:p>
        </p:txBody>
      </p:sp>
      <p:pic>
        <p:nvPicPr>
          <p:cNvPr id="12" name="Content Placeholder 11" descr="A graph of export patterns for six countries. For long description in Notes pane, press F6.">
            <a:extLst>
              <a:ext uri="{FF2B5EF4-FFF2-40B4-BE49-F238E27FC236}">
                <a16:creationId xmlns:a16="http://schemas.microsoft.com/office/drawing/2014/main" id="{48149D5B-6322-431C-929C-6A24F64711CF}"/>
              </a:ext>
            </a:extLst>
          </p:cNvPr>
          <p:cNvPicPr>
            <a:picLocks noGrp="1" noChangeAspect="1"/>
          </p:cNvPicPr>
          <p:nvPr>
            <p:ph sz="quarter" idx="13"/>
          </p:nvPr>
        </p:nvPicPr>
        <p:blipFill>
          <a:blip r:embed="rId3"/>
          <a:stretch>
            <a:fillRect/>
          </a:stretch>
        </p:blipFill>
        <p:spPr>
          <a:xfrm>
            <a:off x="1907742" y="1716848"/>
            <a:ext cx="5328516" cy="3726938"/>
          </a:xfrm>
        </p:spPr>
      </p:pic>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5543612"/>
            <a:ext cx="8294914" cy="800684"/>
          </a:xfrm>
        </p:spPr>
        <p:txBody>
          <a:bodyPr tIns="0"/>
          <a:lstStyle/>
          <a:p>
            <a:pPr marL="0" indent="0">
              <a:buNone/>
            </a:pPr>
            <a:r>
              <a:rPr lang="en-US" sz="1600" b="1" dirty="0"/>
              <a:t>Source: </a:t>
            </a:r>
            <a:r>
              <a:rPr lang="en-US" sz="1600" dirty="0"/>
              <a:t>N</a:t>
            </a:r>
            <a:r>
              <a:rPr lang="en-US" sz="100" dirty="0"/>
              <a:t> </a:t>
            </a:r>
            <a:r>
              <a:rPr lang="en-US" sz="1600" dirty="0"/>
              <a:t>B</a:t>
            </a:r>
            <a:r>
              <a:rPr lang="en-US" sz="100" dirty="0"/>
              <a:t> </a:t>
            </a:r>
            <a:r>
              <a:rPr lang="en-US" sz="1600" dirty="0"/>
              <a:t>E</a:t>
            </a:r>
            <a:r>
              <a:rPr lang="en-US" sz="100" dirty="0"/>
              <a:t> </a:t>
            </a:r>
            <a:r>
              <a:rPr lang="en-US" sz="1600" dirty="0"/>
              <a:t>R-C</a:t>
            </a:r>
            <a:r>
              <a:rPr lang="en-US" sz="100" dirty="0"/>
              <a:t> </a:t>
            </a:r>
            <a:r>
              <a:rPr lang="en-US" sz="1600" dirty="0"/>
              <a:t>E</a:t>
            </a:r>
            <a:r>
              <a:rPr lang="en-US" sz="100" dirty="0"/>
              <a:t> </a:t>
            </a:r>
            <a:r>
              <a:rPr lang="en-US" sz="1600" dirty="0"/>
              <a:t>S U.S. Manufacturing Productivity Database, U.S. Census Bureau, and Peter K. Schott, “The Relative Sophistication of Chinese Exports,” </a:t>
            </a:r>
            <a:r>
              <a:rPr lang="en-US" sz="1600" b="1" dirty="0"/>
              <a:t>Economic Policy</a:t>
            </a:r>
            <a:r>
              <a:rPr lang="en-US" sz="1600" i="1" dirty="0"/>
              <a:t> </a:t>
            </a:r>
            <a:r>
              <a:rPr lang="en-US" sz="1600" dirty="0"/>
              <a:t>(2008), pp. 5–49.</a:t>
            </a:r>
          </a:p>
        </p:txBody>
      </p:sp>
    </p:spTree>
    <p:extLst>
      <p:ext uri="{BB962C8B-B14F-4D97-AF65-F5344CB8AC3E}">
        <p14:creationId xmlns:p14="http://schemas.microsoft.com/office/powerpoint/2010/main" val="2189641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Empirical Evidence on the Heckscher-Ohlin Model </a:t>
            </a:r>
            <a:r>
              <a:rPr lang="en-US" altLang="en-US" sz="1800" b="0" dirty="0">
                <a:ea typeface="ヒラギノ角ゴ Pro W3" pitchFamily="-84" charset="-128"/>
              </a:rPr>
              <a:t>(6 of 6)</a:t>
            </a:r>
            <a:endParaRPr lang="en-IN" sz="1800" dirty="0"/>
          </a:p>
        </p:txBody>
      </p:sp>
      <p:sp>
        <p:nvSpPr>
          <p:cNvPr id="3" name="Content Placeholder 2">
            <a:extLst>
              <a:ext uri="{FF2B5EF4-FFF2-40B4-BE49-F238E27FC236}">
                <a16:creationId xmlns:a16="http://schemas.microsoft.com/office/drawing/2014/main" id="{64C742B9-B70C-4632-A5B1-98927CF75BA6}"/>
              </a:ext>
            </a:extLst>
          </p:cNvPr>
          <p:cNvSpPr>
            <a:spLocks noGrp="1"/>
          </p:cNvSpPr>
          <p:nvPr>
            <p:ph sz="quarter" idx="13"/>
          </p:nvPr>
        </p:nvSpPr>
        <p:spPr>
          <a:xfrm>
            <a:off x="457200" y="1556326"/>
            <a:ext cx="8325556" cy="4245383"/>
          </a:xfrm>
        </p:spPr>
        <p:txBody>
          <a:bodyPr/>
          <a:lstStyle/>
          <a:p>
            <a:r>
              <a:rPr lang="en-US" altLang="en-US" sz="2400" dirty="0">
                <a:ea typeface="ヒラギノ角ゴ Pro W3" pitchFamily="-84" charset="-128"/>
              </a:rPr>
              <a:t>Or compare how exports change when a country such as China grows and becomes relatively more skill-abundant:</a:t>
            </a:r>
          </a:p>
          <a:p>
            <a:pPr lvl="1"/>
            <a:r>
              <a:rPr lang="en-US" altLang="en-US" sz="2400" dirty="0">
                <a:ea typeface="ヒラギノ角ゴ Pro W3" pitchFamily="-84" charset="-128"/>
              </a:rPr>
              <a:t>The concentration of exports in high-skill sectors steadily increases over time.</a:t>
            </a:r>
          </a:p>
          <a:p>
            <a:pPr lvl="1"/>
            <a:r>
              <a:rPr lang="en-US" altLang="en-US" sz="2400" dirty="0">
                <a:ea typeface="ヒラギノ角ゴ Pro W3" pitchFamily="-84" charset="-128"/>
              </a:rPr>
              <a:t>In the most recent years, the greatest share of exports is transacted in the highest skill-intensity sectors, whereas exports were concentrated in the lowest skill-intensity sectors in the earlier years.</a:t>
            </a:r>
          </a:p>
        </p:txBody>
      </p:sp>
    </p:spTree>
    <p:extLst>
      <p:ext uri="{BB962C8B-B14F-4D97-AF65-F5344CB8AC3E}">
        <p14:creationId xmlns:p14="http://schemas.microsoft.com/office/powerpoint/2010/main" val="11674146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5.14 Changing Pattern of Chinese Exports over Time</a:t>
            </a:r>
            <a:endParaRPr lang="en-IN" sz="3200" dirty="0"/>
          </a:p>
        </p:txBody>
      </p:sp>
      <p:pic>
        <p:nvPicPr>
          <p:cNvPr id="7" name="Content Placeholder 6" descr="A graph of Chinese exports and skill sectors. For long description in Notes pane, press F6.">
            <a:extLst>
              <a:ext uri="{FF2B5EF4-FFF2-40B4-BE49-F238E27FC236}">
                <a16:creationId xmlns:a16="http://schemas.microsoft.com/office/drawing/2014/main" id="{1164050B-0AC8-4743-9247-A5314AB43C8A}"/>
              </a:ext>
            </a:extLst>
          </p:cNvPr>
          <p:cNvPicPr>
            <a:picLocks noGrp="1" noChangeAspect="1"/>
          </p:cNvPicPr>
          <p:nvPr>
            <p:ph sz="quarter" idx="13"/>
          </p:nvPr>
        </p:nvPicPr>
        <p:blipFill>
          <a:blip r:embed="rId3"/>
          <a:stretch>
            <a:fillRect/>
          </a:stretch>
        </p:blipFill>
        <p:spPr>
          <a:xfrm>
            <a:off x="2261213" y="1713089"/>
            <a:ext cx="4853068" cy="3653503"/>
          </a:xfrm>
        </p:spPr>
      </p:pic>
      <p:sp>
        <p:nvSpPr>
          <p:cNvPr id="8" name="Content Placeholder 7">
            <a:extLst>
              <a:ext uri="{FF2B5EF4-FFF2-40B4-BE49-F238E27FC236}">
                <a16:creationId xmlns:a16="http://schemas.microsoft.com/office/drawing/2014/main" id="{4536BE73-19F0-4BB5-A103-70656548CF4C}"/>
              </a:ext>
            </a:extLst>
          </p:cNvPr>
          <p:cNvSpPr>
            <a:spLocks noGrp="1"/>
          </p:cNvSpPr>
          <p:nvPr>
            <p:ph sz="quarter" idx="14"/>
          </p:nvPr>
        </p:nvSpPr>
        <p:spPr>
          <a:xfrm>
            <a:off x="457200" y="5526228"/>
            <a:ext cx="8229600" cy="815640"/>
          </a:xfrm>
        </p:spPr>
        <p:txBody>
          <a:bodyPr tIns="0"/>
          <a:lstStyle/>
          <a:p>
            <a:pPr marL="0" indent="0">
              <a:buNone/>
            </a:pPr>
            <a:r>
              <a:rPr lang="en-US" sz="1600" b="1" dirty="0"/>
              <a:t>Source: </a:t>
            </a:r>
            <a:r>
              <a:rPr lang="en-US" sz="1600" dirty="0"/>
              <a:t>N</a:t>
            </a:r>
            <a:r>
              <a:rPr lang="en-US" sz="100" dirty="0"/>
              <a:t> </a:t>
            </a:r>
            <a:r>
              <a:rPr lang="en-US" sz="1600" dirty="0"/>
              <a:t>B</a:t>
            </a:r>
            <a:r>
              <a:rPr lang="en-US" sz="100" dirty="0"/>
              <a:t> </a:t>
            </a:r>
            <a:r>
              <a:rPr lang="en-US" sz="1600" dirty="0"/>
              <a:t>E</a:t>
            </a:r>
            <a:r>
              <a:rPr lang="en-US" sz="100" dirty="0"/>
              <a:t> </a:t>
            </a:r>
            <a:r>
              <a:rPr lang="en-US" sz="1600" dirty="0"/>
              <a:t>R-C</a:t>
            </a:r>
            <a:r>
              <a:rPr lang="en-US" sz="100" dirty="0"/>
              <a:t> </a:t>
            </a:r>
            <a:r>
              <a:rPr lang="en-US" sz="1600" dirty="0"/>
              <a:t>E</a:t>
            </a:r>
            <a:r>
              <a:rPr lang="en-US" sz="100" dirty="0"/>
              <a:t> </a:t>
            </a:r>
            <a:r>
              <a:rPr lang="en-US" sz="1600" dirty="0"/>
              <a:t>S U.S. Manufacturing Productivity Database, U.S. Census Bureau, and Peter K. Schott, “The Relative Sophistication of Chinese Exports,” </a:t>
            </a:r>
            <a:r>
              <a:rPr lang="en-US" sz="1600" b="1" dirty="0"/>
              <a:t>Economic Policy</a:t>
            </a:r>
            <a:r>
              <a:rPr lang="en-US" sz="1600" i="1" dirty="0"/>
              <a:t> </a:t>
            </a:r>
            <a:r>
              <a:rPr lang="en-US" sz="1600" dirty="0"/>
              <a:t>(2008), pp. 5–49.</a:t>
            </a:r>
          </a:p>
        </p:txBody>
      </p:sp>
    </p:spTree>
    <p:extLst>
      <p:ext uri="{BB962C8B-B14F-4D97-AF65-F5344CB8AC3E}">
        <p14:creationId xmlns:p14="http://schemas.microsoft.com/office/powerpoint/2010/main" val="3595362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(1 of 4)</a:t>
            </a:r>
            <a:endParaRPr lang="en-IN" sz="2000" dirty="0"/>
          </a:p>
        </p:txBody>
      </p:sp>
      <p:sp>
        <p:nvSpPr>
          <p:cNvPr id="3" name="Content Placeholder 2">
            <a:extLst>
              <a:ext uri="{FF2B5EF4-FFF2-40B4-BE49-F238E27FC236}">
                <a16:creationId xmlns:a16="http://schemas.microsoft.com/office/drawing/2014/main" id="{64C742B9-B70C-4632-A5B1-98927CF75BA6}"/>
              </a:ext>
            </a:extLst>
          </p:cNvPr>
          <p:cNvSpPr>
            <a:spLocks noGrp="1"/>
          </p:cNvSpPr>
          <p:nvPr>
            <p:ph sz="quarter" idx="13"/>
          </p:nvPr>
        </p:nvSpPr>
        <p:spPr/>
        <p:txBody>
          <a:bodyPr/>
          <a:lstStyle/>
          <a:p>
            <a:pPr marL="432000" indent="-432000">
              <a:buFont typeface="+mj-lt"/>
              <a:buAutoNum type="arabicPeriod"/>
            </a:pPr>
            <a:r>
              <a:rPr lang="en-US" altLang="en-US" sz="2400" dirty="0">
                <a:ea typeface="ヒラギノ角ゴ Pro W3" pitchFamily="-84" charset="-128"/>
              </a:rPr>
              <a:t>Substitution of factors used in the production process generates a curved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a:t>
            </a:r>
            <a:endParaRPr lang="en-US" dirty="0"/>
          </a:p>
        </p:txBody>
      </p:sp>
      <p:sp>
        <p:nvSpPr>
          <p:cNvPr id="4" name="Content Placeholder 3">
            <a:extLst>
              <a:ext uri="{FF2B5EF4-FFF2-40B4-BE49-F238E27FC236}">
                <a16:creationId xmlns:a16="http://schemas.microsoft.com/office/drawing/2014/main" id="{A217EF08-C713-47B1-96D8-90184389624B}"/>
              </a:ext>
            </a:extLst>
          </p:cNvPr>
          <p:cNvSpPr>
            <a:spLocks noGrp="1"/>
          </p:cNvSpPr>
          <p:nvPr>
            <p:ph sz="quarter" idx="14"/>
          </p:nvPr>
        </p:nvSpPr>
        <p:spPr>
          <a:xfrm>
            <a:off x="457200" y="2518133"/>
            <a:ext cx="8427156" cy="1715200"/>
          </a:xfrm>
        </p:spPr>
        <p:txBody>
          <a:bodyPr/>
          <a:lstStyle/>
          <a:p>
            <a:pPr lvl="1"/>
            <a:r>
              <a:rPr lang="en-US" altLang="en-US" sz="2400" dirty="0">
                <a:ea typeface="ヒラギノ角ゴ Pro W3" pitchFamily="-84" charset="-128"/>
              </a:rPr>
              <a:t>When an economy produces a low quantity of a good, the opportunity cost of producing that good is low.</a:t>
            </a:r>
          </a:p>
          <a:p>
            <a:pPr lvl="1"/>
            <a:r>
              <a:rPr lang="en-US" altLang="en-US" sz="2400" dirty="0">
                <a:ea typeface="ヒラギノ角ゴ Pro W3" pitchFamily="-84" charset="-128"/>
              </a:rPr>
              <a:t>When an economy produces a high quantity of a good, the opportunity cost of producing that good is high.</a:t>
            </a:r>
            <a:endParaRPr lang="en-US" dirty="0"/>
          </a:p>
        </p:txBody>
      </p:sp>
      <p:sp>
        <p:nvSpPr>
          <p:cNvPr id="5" name="Content Placeholder 4">
            <a:extLst>
              <a:ext uri="{FF2B5EF4-FFF2-40B4-BE49-F238E27FC236}">
                <a16:creationId xmlns:a16="http://schemas.microsoft.com/office/drawing/2014/main" id="{DC05BFB2-1FD4-4BAD-A1CA-3BE416381251}"/>
              </a:ext>
            </a:extLst>
          </p:cNvPr>
          <p:cNvSpPr>
            <a:spLocks noGrp="1"/>
          </p:cNvSpPr>
          <p:nvPr>
            <p:ph sz="quarter" idx="15"/>
          </p:nvPr>
        </p:nvSpPr>
        <p:spPr>
          <a:xfrm>
            <a:off x="457200" y="4331300"/>
            <a:ext cx="8229600" cy="1260000"/>
          </a:xfrm>
        </p:spPr>
        <p:txBody>
          <a:bodyPr/>
          <a:lstStyle/>
          <a:p>
            <a:pPr marL="432000" indent="-432000">
              <a:buFont typeface="+mj-lt"/>
              <a:buAutoNum type="arabicPeriod" startAt="2"/>
            </a:pPr>
            <a:r>
              <a:rPr lang="en-US" altLang="en-US" sz="2400" dirty="0">
                <a:ea typeface="ヒラギノ角ゴ Pro W3" pitchFamily="-84" charset="-128"/>
              </a:rPr>
              <a:t>When an economy produces the most value it can from its resources, the opportunity cost of producing a good equals the relative price of that good in markets.</a:t>
            </a:r>
          </a:p>
        </p:txBody>
      </p:sp>
    </p:spTree>
    <p:extLst>
      <p:ext uri="{BB962C8B-B14F-4D97-AF65-F5344CB8AC3E}">
        <p14:creationId xmlns:p14="http://schemas.microsoft.com/office/powerpoint/2010/main" val="30984741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(2 of 4)</a:t>
            </a:r>
            <a:endParaRPr lang="en-IN" sz="2000" dirty="0"/>
          </a:p>
        </p:txBody>
      </p:sp>
      <p:sp>
        <p:nvSpPr>
          <p:cNvPr id="3" name="Content Placeholder 2">
            <a:extLst>
              <a:ext uri="{FF2B5EF4-FFF2-40B4-BE49-F238E27FC236}">
                <a16:creationId xmlns:a16="http://schemas.microsoft.com/office/drawing/2014/main" id="{64C742B9-B70C-4632-A5B1-98927CF75BA6}"/>
              </a:ext>
            </a:extLst>
          </p:cNvPr>
          <p:cNvSpPr>
            <a:spLocks noGrp="1"/>
          </p:cNvSpPr>
          <p:nvPr>
            <p:ph sz="quarter" idx="13"/>
          </p:nvPr>
        </p:nvSpPr>
        <p:spPr>
          <a:xfrm>
            <a:off x="457200" y="1556327"/>
            <a:ext cx="8229600" cy="1233172"/>
          </a:xfrm>
        </p:spPr>
        <p:txBody>
          <a:bodyPr/>
          <a:lstStyle/>
          <a:p>
            <a:pPr marL="432000" indent="-432000">
              <a:buFont typeface="+mj-lt"/>
              <a:buAutoNum type="arabicPeriod" startAt="3"/>
            </a:pPr>
            <a:r>
              <a:rPr lang="en-US" altLang="en-US" sz="2400" dirty="0">
                <a:ea typeface="ヒラギノ角ゴ Pro W3" pitchFamily="-84" charset="-128"/>
              </a:rPr>
              <a:t>An increase in the relative price of a good causes the real wage or real rental rate of the factor used intensively in the production of that good to increase,</a:t>
            </a:r>
          </a:p>
        </p:txBody>
      </p:sp>
      <p:sp>
        <p:nvSpPr>
          <p:cNvPr id="4" name="Content Placeholder 3">
            <a:extLst>
              <a:ext uri="{FF2B5EF4-FFF2-40B4-BE49-F238E27FC236}">
                <a16:creationId xmlns:a16="http://schemas.microsoft.com/office/drawing/2014/main" id="{A217EF08-C713-47B1-96D8-90184389624B}"/>
              </a:ext>
            </a:extLst>
          </p:cNvPr>
          <p:cNvSpPr>
            <a:spLocks noGrp="1"/>
          </p:cNvSpPr>
          <p:nvPr>
            <p:ph sz="quarter" idx="14"/>
          </p:nvPr>
        </p:nvSpPr>
        <p:spPr>
          <a:xfrm>
            <a:off x="457200" y="2893347"/>
            <a:ext cx="8229600" cy="864000"/>
          </a:xfrm>
        </p:spPr>
        <p:txBody>
          <a:bodyPr/>
          <a:lstStyle/>
          <a:p>
            <a:pPr lvl="1"/>
            <a:r>
              <a:rPr lang="en-US" altLang="en-US" sz="2400" dirty="0">
                <a:ea typeface="ヒラギノ角ゴ Pro W3" pitchFamily="-84" charset="-128"/>
              </a:rPr>
              <a:t>while the real wage and real rental rates of other factors of production decrease.</a:t>
            </a:r>
          </a:p>
        </p:txBody>
      </p:sp>
      <p:sp>
        <p:nvSpPr>
          <p:cNvPr id="5" name="Content Placeholder 4">
            <a:extLst>
              <a:ext uri="{FF2B5EF4-FFF2-40B4-BE49-F238E27FC236}">
                <a16:creationId xmlns:a16="http://schemas.microsoft.com/office/drawing/2014/main" id="{DC05BFB2-1FD4-4BAD-A1CA-3BE416381251}"/>
              </a:ext>
            </a:extLst>
          </p:cNvPr>
          <p:cNvSpPr>
            <a:spLocks noGrp="1"/>
          </p:cNvSpPr>
          <p:nvPr>
            <p:ph sz="quarter" idx="15"/>
          </p:nvPr>
        </p:nvSpPr>
        <p:spPr>
          <a:xfrm>
            <a:off x="457200" y="3839311"/>
            <a:ext cx="8229600" cy="1673211"/>
          </a:xfrm>
        </p:spPr>
        <p:txBody>
          <a:bodyPr/>
          <a:lstStyle/>
          <a:p>
            <a:pPr marL="432000" indent="-432000">
              <a:buFont typeface="+mj-lt"/>
              <a:buAutoNum type="arabicPeriod" startAt="4"/>
            </a:pPr>
            <a:r>
              <a:rPr lang="en-US" altLang="en-US" sz="2400" dirty="0">
                <a:latin typeface="+mn-lt"/>
                <a:ea typeface="ヒラギノ角ゴ Pro W3" pitchFamily="-84" charset="-128"/>
              </a:rPr>
              <a:t>If output prices remain constant as the amount of a factor of production increases, then the supply of the good that uses this factor intensively increases, and the supply of the other good decreases.</a:t>
            </a:r>
          </a:p>
        </p:txBody>
      </p:sp>
    </p:spTree>
    <p:extLst>
      <p:ext uri="{BB962C8B-B14F-4D97-AF65-F5344CB8AC3E}">
        <p14:creationId xmlns:p14="http://schemas.microsoft.com/office/powerpoint/2010/main" val="21733745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(3 of 4)</a:t>
            </a:r>
            <a:endParaRPr lang="en-IN" sz="2000" dirty="0"/>
          </a:p>
        </p:txBody>
      </p:sp>
      <p:sp>
        <p:nvSpPr>
          <p:cNvPr id="3" name="Content Placeholder 2">
            <a:extLst>
              <a:ext uri="{FF2B5EF4-FFF2-40B4-BE49-F238E27FC236}">
                <a16:creationId xmlns:a16="http://schemas.microsoft.com/office/drawing/2014/main" id="{64C742B9-B70C-4632-A5B1-98927CF75BA6}"/>
              </a:ext>
            </a:extLst>
          </p:cNvPr>
          <p:cNvSpPr>
            <a:spLocks noGrp="1"/>
          </p:cNvSpPr>
          <p:nvPr>
            <p:ph sz="quarter" idx="13"/>
          </p:nvPr>
        </p:nvSpPr>
        <p:spPr>
          <a:xfrm>
            <a:off x="457199" y="1556326"/>
            <a:ext cx="8425543" cy="4245383"/>
          </a:xfrm>
        </p:spPr>
        <p:txBody>
          <a:bodyPr/>
          <a:lstStyle/>
          <a:p>
            <a:pPr marL="432000" indent="-432000">
              <a:buFont typeface="+mj-lt"/>
              <a:buAutoNum type="arabicPeriod" startAt="5"/>
            </a:pPr>
            <a:r>
              <a:rPr lang="en-US" altLang="en-US" sz="2400" dirty="0">
                <a:ea typeface="ヒラギノ角ゴ Pro W3" pitchFamily="-84" charset="-128"/>
              </a:rPr>
              <a:t>An economy exports goods that are relatively intensive in its relatively abundant factors of production and imports goods that are relatively intensive in its relatively scarce factors of production.</a:t>
            </a:r>
          </a:p>
          <a:p>
            <a:pPr marL="432000" indent="-432000">
              <a:buFont typeface="+mj-lt"/>
              <a:buAutoNum type="arabicPeriod" startAt="5"/>
            </a:pPr>
            <a:r>
              <a:rPr lang="en-US" altLang="en-US" sz="2400" dirty="0">
                <a:ea typeface="ヒラギノ角ゴ Pro W3" pitchFamily="-84" charset="-128"/>
              </a:rPr>
              <a:t>Owners of abundant factors gain, while owners of scarce factors lose with trade.</a:t>
            </a:r>
          </a:p>
          <a:p>
            <a:pPr marL="432000" indent="-432000">
              <a:buFont typeface="+mj-lt"/>
              <a:buAutoNum type="arabicPeriod" startAt="5"/>
            </a:pPr>
            <a:r>
              <a:rPr lang="en-US" altLang="en-US" sz="2400" dirty="0">
                <a:ea typeface="ヒラギノ角ゴ Pro W3" pitchFamily="-84" charset="-128"/>
              </a:rPr>
              <a:t>A country as a whole is predicted to be better off with trade, so winners could in theory compensate the losers within each country.</a:t>
            </a:r>
          </a:p>
        </p:txBody>
      </p:sp>
    </p:spTree>
    <p:extLst>
      <p:ext uri="{BB962C8B-B14F-4D97-AF65-F5344CB8AC3E}">
        <p14:creationId xmlns:p14="http://schemas.microsoft.com/office/powerpoint/2010/main" val="24775685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Summary </a:t>
            </a:r>
            <a:r>
              <a:rPr lang="en-US" altLang="en-US" sz="2000" b="0" dirty="0">
                <a:ea typeface="ヒラギノ角ゴ Pro W3" pitchFamily="-84" charset="-128"/>
              </a:rPr>
              <a:t>(4 of 4)</a:t>
            </a:r>
            <a:endParaRPr lang="en-IN" sz="2000" dirty="0"/>
          </a:p>
        </p:txBody>
      </p:sp>
      <p:sp>
        <p:nvSpPr>
          <p:cNvPr id="3" name="Content Placeholder 2">
            <a:extLst>
              <a:ext uri="{FF2B5EF4-FFF2-40B4-BE49-F238E27FC236}">
                <a16:creationId xmlns:a16="http://schemas.microsoft.com/office/drawing/2014/main" id="{64C742B9-B70C-4632-A5B1-98927CF75BA6}"/>
              </a:ext>
            </a:extLst>
          </p:cNvPr>
          <p:cNvSpPr>
            <a:spLocks noGrp="1"/>
          </p:cNvSpPr>
          <p:nvPr>
            <p:ph sz="quarter" idx="13"/>
          </p:nvPr>
        </p:nvSpPr>
        <p:spPr>
          <a:xfrm>
            <a:off x="457200" y="1556326"/>
            <a:ext cx="8229600" cy="4245383"/>
          </a:xfrm>
        </p:spPr>
        <p:txBody>
          <a:bodyPr/>
          <a:lstStyle/>
          <a:p>
            <a:pPr marL="432000" indent="-432000">
              <a:buFont typeface="+mj-lt"/>
              <a:buAutoNum type="arabicPeriod" startAt="8"/>
            </a:pPr>
            <a:r>
              <a:rPr lang="en-US" altLang="en-US" sz="2400" dirty="0">
                <a:ea typeface="ヒラギノ角ゴ Pro W3" pitchFamily="-84" charset="-128"/>
              </a:rPr>
              <a:t>The Heckscher-Ohlin model predicts that relative output prices and factor prices will equalize, neither of which occurs in the real world.</a:t>
            </a:r>
          </a:p>
          <a:p>
            <a:pPr marL="432000" indent="-432000">
              <a:buFont typeface="+mj-lt"/>
              <a:buAutoNum type="arabicPeriod" startAt="8"/>
            </a:pPr>
            <a:r>
              <a:rPr lang="en-US" altLang="en-US" sz="2400" dirty="0">
                <a:ea typeface="ヒラギノ角ゴ Pro W3" pitchFamily="-84" charset="-128"/>
              </a:rPr>
              <a:t>Empirical support of the Heckscher-Ohlin model is weak except for cases involving trade between high-income countries and low/middle- income countries or when technology differences are included.</a:t>
            </a:r>
          </a:p>
        </p:txBody>
      </p:sp>
    </p:spTree>
    <p:extLst>
      <p:ext uri="{BB962C8B-B14F-4D97-AF65-F5344CB8AC3E}">
        <p14:creationId xmlns:p14="http://schemas.microsoft.com/office/powerpoint/2010/main" val="4081594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15371"/>
            <a:ext cx="7759337" cy="1097279"/>
          </a:xfrm>
        </p:spPr>
        <p:txBody>
          <a:bodyPr/>
          <a:lstStyle/>
          <a:p>
            <a:r>
              <a:rPr lang="en-US" altLang="en-US" sz="3200" dirty="0">
                <a:ea typeface="ヒラギノ角ゴ Pro W3" pitchFamily="-84" charset="-128"/>
              </a:rPr>
              <a:t>Figure 5A.1 Choosing the Optimal Labor-Capital Ratio</a:t>
            </a:r>
            <a:endParaRPr lang="en-IN" sz="3200" dirty="0"/>
          </a:p>
        </p:txBody>
      </p:sp>
      <p:pic>
        <p:nvPicPr>
          <p:cNvPr id="5" name="Content Placeholder 4" descr="A graph shows units of capital used to produce one calorie food, ay sub K F, versus units of labor used to produce one calorie of food, ay sub L F. For long description in Notes pane, press F6.">
            <a:extLst>
              <a:ext uri="{FF2B5EF4-FFF2-40B4-BE49-F238E27FC236}">
                <a16:creationId xmlns:a16="http://schemas.microsoft.com/office/drawing/2014/main" id="{CF761E42-239F-4DBD-B060-DF36843780F3}"/>
              </a:ext>
            </a:extLst>
          </p:cNvPr>
          <p:cNvPicPr>
            <a:picLocks noGrp="1" noChangeAspect="1"/>
          </p:cNvPicPr>
          <p:nvPr>
            <p:ph sz="quarter" idx="13"/>
          </p:nvPr>
        </p:nvPicPr>
        <p:blipFill>
          <a:blip r:embed="rId4"/>
          <a:stretch>
            <a:fillRect/>
          </a:stretch>
        </p:blipFill>
        <p:spPr>
          <a:xfrm>
            <a:off x="3341532" y="1672880"/>
            <a:ext cx="2460936" cy="2911442"/>
          </a:xfrm>
        </p:spPr>
      </p:pic>
      <p:sp>
        <p:nvSpPr>
          <p:cNvPr id="2" name="Content Placeholder 1">
            <a:extLst>
              <a:ext uri="{FF2B5EF4-FFF2-40B4-BE49-F238E27FC236}">
                <a16:creationId xmlns:a16="http://schemas.microsoft.com/office/drawing/2014/main" id="{CFC6BBA6-38EF-4EB9-88DE-02143C575E0E}"/>
              </a:ext>
            </a:extLst>
          </p:cNvPr>
          <p:cNvSpPr>
            <a:spLocks noGrp="1"/>
          </p:cNvSpPr>
          <p:nvPr>
            <p:ph sz="quarter" idx="14"/>
          </p:nvPr>
        </p:nvSpPr>
        <p:spPr>
          <a:xfrm>
            <a:off x="457200" y="4722201"/>
            <a:ext cx="8172000" cy="720000"/>
          </a:xfrm>
        </p:spPr>
        <p:txBody>
          <a:bodyPr tIns="0"/>
          <a:lstStyle/>
          <a:p>
            <a:pPr marL="432" indent="0">
              <a:buNone/>
            </a:pPr>
            <a:r>
              <a:rPr lang="en-US" sz="2200" dirty="0"/>
              <a:t>To minimize costs, a producer must get to the lowest possible isocost line; this means choosing the point on the </a:t>
            </a:r>
            <a:r>
              <a:rPr lang="en-US" sz="2200" dirty="0">
                <a:latin typeface="+mn-lt"/>
              </a:rPr>
              <a:t>unit isoquant</a:t>
            </a:r>
            <a:endParaRPr lang="en-US" sz="2000" dirty="0"/>
          </a:p>
        </p:txBody>
      </p:sp>
      <p:graphicFrame>
        <p:nvGraphicFramePr>
          <p:cNvPr id="10" name="Object 9" descr="left parenthesis curve 2 right parenthesis">
            <a:extLst>
              <a:ext uri="{FF2B5EF4-FFF2-40B4-BE49-F238E27FC236}">
                <a16:creationId xmlns:a16="http://schemas.microsoft.com/office/drawing/2014/main" id="{557F07ED-357C-4106-8860-545BC73C863C}"/>
              </a:ext>
            </a:extLst>
          </p:cNvPr>
          <p:cNvGraphicFramePr>
            <a:graphicFrameLocks noChangeAspect="1"/>
          </p:cNvGraphicFramePr>
          <p:nvPr>
            <p:extLst>
              <p:ext uri="{D42A27DB-BD31-4B8C-83A1-F6EECF244321}">
                <p14:modId xmlns:p14="http://schemas.microsoft.com/office/powerpoint/2010/main" val="3117813998"/>
              </p:ext>
            </p:extLst>
          </p:nvPr>
        </p:nvGraphicFramePr>
        <p:xfrm>
          <a:off x="457200" y="5499489"/>
          <a:ext cx="1175535" cy="376171"/>
        </p:xfrm>
        <a:graphic>
          <a:graphicData uri="http://schemas.openxmlformats.org/presentationml/2006/ole">
            <mc:AlternateContent xmlns:mc="http://schemas.openxmlformats.org/markup-compatibility/2006">
              <mc:Choice xmlns:v="urn:schemas-microsoft-com:vml" Requires="v">
                <p:oleObj spid="_x0000_s13315" name="Equation" r:id="rId5" imgW="634680" imgH="203040" progId="Equation.DSMT4">
                  <p:embed/>
                </p:oleObj>
              </mc:Choice>
              <mc:Fallback>
                <p:oleObj name="Equation" r:id="rId5" imgW="634680" imgH="203040" progId="Equation.DSMT4">
                  <p:embed/>
                  <p:pic>
                    <p:nvPicPr>
                      <p:cNvPr id="0" name=""/>
                      <p:cNvPicPr/>
                      <p:nvPr/>
                    </p:nvPicPr>
                    <p:blipFill>
                      <a:blip r:embed="rId6"/>
                      <a:stretch>
                        <a:fillRect/>
                      </a:stretch>
                    </p:blipFill>
                    <p:spPr>
                      <a:xfrm>
                        <a:off x="457200" y="5499489"/>
                        <a:ext cx="1175535" cy="37617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3C0906B7-2A3F-4D8A-938B-A555B5880B71}"/>
              </a:ext>
            </a:extLst>
          </p:cNvPr>
          <p:cNvSpPr>
            <a:spLocks noGrp="1"/>
          </p:cNvSpPr>
          <p:nvPr>
            <p:ph sz="quarter" idx="16"/>
          </p:nvPr>
        </p:nvSpPr>
        <p:spPr>
          <a:xfrm>
            <a:off x="1713574" y="5497789"/>
            <a:ext cx="6839425" cy="388661"/>
          </a:xfrm>
        </p:spPr>
        <p:txBody>
          <a:bodyPr tIns="0"/>
          <a:lstStyle/>
          <a:p>
            <a:pPr marL="0" indent="0">
              <a:buNone/>
            </a:pPr>
            <a:r>
              <a:rPr lang="en-US" sz="2200" dirty="0">
                <a:latin typeface="+mn-lt"/>
              </a:rPr>
              <a:t>where the slope is equal to minus the wage-rental</a:t>
            </a:r>
          </a:p>
        </p:txBody>
      </p:sp>
      <p:sp>
        <p:nvSpPr>
          <p:cNvPr id="9" name="Content Placeholder 8">
            <a:extLst>
              <a:ext uri="{FF2B5EF4-FFF2-40B4-BE49-F238E27FC236}">
                <a16:creationId xmlns:a16="http://schemas.microsoft.com/office/drawing/2014/main" id="{4425066B-98C4-4B2B-8106-00FF1C0485A6}"/>
              </a:ext>
            </a:extLst>
          </p:cNvPr>
          <p:cNvSpPr>
            <a:spLocks noGrp="1"/>
          </p:cNvSpPr>
          <p:nvPr>
            <p:ph sz="quarter" idx="17"/>
          </p:nvPr>
        </p:nvSpPr>
        <p:spPr>
          <a:xfrm>
            <a:off x="457200" y="5931547"/>
            <a:ext cx="1622710" cy="385097"/>
          </a:xfrm>
        </p:spPr>
        <p:txBody>
          <a:bodyPr tIns="0"/>
          <a:lstStyle/>
          <a:p>
            <a:pPr marL="0" indent="0">
              <a:buNone/>
            </a:pPr>
            <a:r>
              <a:rPr lang="en-US" sz="2200" dirty="0">
                <a:latin typeface="+mn-lt"/>
              </a:rPr>
              <a:t>ratio </a:t>
            </a:r>
            <a:r>
              <a:rPr lang="en-US" sz="2200" i="1" dirty="0">
                <a:latin typeface="+mn-lt"/>
              </a:rPr>
              <a:t>w </a:t>
            </a:r>
            <a:r>
              <a:rPr lang="en-US" sz="2200" dirty="0">
                <a:latin typeface="+mn-lt"/>
              </a:rPr>
              <a:t>&gt; </a:t>
            </a:r>
            <a:r>
              <a:rPr lang="en-US" sz="2200" i="1" dirty="0">
                <a:latin typeface="+mn-lt"/>
              </a:rPr>
              <a:t>r</a:t>
            </a:r>
            <a:r>
              <a:rPr lang="en-US" sz="2200" dirty="0">
                <a:latin typeface="+mn-lt"/>
              </a:rPr>
              <a:t>.</a:t>
            </a:r>
          </a:p>
        </p:txBody>
      </p:sp>
    </p:spTree>
    <p:extLst>
      <p:ext uri="{BB962C8B-B14F-4D97-AF65-F5344CB8AC3E}">
        <p14:creationId xmlns:p14="http://schemas.microsoft.com/office/powerpoint/2010/main" val="12080895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5A.2 Changing the Wage-Rental Ratio</a:t>
            </a:r>
            <a:endParaRPr lang="en-IN" sz="3200" dirty="0"/>
          </a:p>
        </p:txBody>
      </p:sp>
      <p:pic>
        <p:nvPicPr>
          <p:cNvPr id="15" name="Content Placeholder 14" descr="A graph shows units of capital used to produce one calorie of food, ay sub K F, For long description in Notes pane, press F6. ">
            <a:extLst>
              <a:ext uri="{FF2B5EF4-FFF2-40B4-BE49-F238E27FC236}">
                <a16:creationId xmlns:a16="http://schemas.microsoft.com/office/drawing/2014/main" id="{0D844F34-407E-4AAE-8208-6346EF0700BC}"/>
              </a:ext>
            </a:extLst>
          </p:cNvPr>
          <p:cNvPicPr>
            <a:picLocks noGrp="1" noChangeAspect="1"/>
          </p:cNvPicPr>
          <p:nvPr>
            <p:ph sz="quarter" idx="13"/>
          </p:nvPr>
        </p:nvPicPr>
        <p:blipFill>
          <a:blip r:embed="rId3"/>
          <a:stretch>
            <a:fillRect/>
          </a:stretch>
        </p:blipFill>
        <p:spPr>
          <a:xfrm>
            <a:off x="2997505" y="1676651"/>
            <a:ext cx="3148991" cy="3728269"/>
          </a:xfrm>
        </p:spPr>
      </p:pic>
      <p:sp>
        <p:nvSpPr>
          <p:cNvPr id="2" name="Content Placeholder 1">
            <a:extLst>
              <a:ext uri="{FF2B5EF4-FFF2-40B4-BE49-F238E27FC236}">
                <a16:creationId xmlns:a16="http://schemas.microsoft.com/office/drawing/2014/main" id="{CFC6BBA6-38EF-4EB9-88DE-02143C575E0E}"/>
              </a:ext>
            </a:extLst>
          </p:cNvPr>
          <p:cNvSpPr>
            <a:spLocks noGrp="1"/>
          </p:cNvSpPr>
          <p:nvPr>
            <p:ph sz="quarter" idx="14"/>
          </p:nvPr>
        </p:nvSpPr>
        <p:spPr>
          <a:xfrm>
            <a:off x="457200" y="5632510"/>
            <a:ext cx="8229600" cy="661090"/>
          </a:xfrm>
        </p:spPr>
        <p:txBody>
          <a:bodyPr tIns="0"/>
          <a:lstStyle/>
          <a:p>
            <a:pPr marL="0" indent="0">
              <a:buNone/>
            </a:pPr>
            <a:r>
              <a:rPr lang="en-US" sz="2000" dirty="0"/>
              <a:t>A rise in </a:t>
            </a:r>
            <a:r>
              <a:rPr lang="en-US" sz="2000" i="1" dirty="0"/>
              <a:t>w </a:t>
            </a:r>
            <a:r>
              <a:rPr lang="en-US" sz="2000" dirty="0"/>
              <a:t>&gt; </a:t>
            </a:r>
            <a:r>
              <a:rPr lang="en-US" sz="2000" i="1" dirty="0"/>
              <a:t>r </a:t>
            </a:r>
            <a:r>
              <a:rPr lang="en-US" sz="2000" dirty="0"/>
              <a:t>shifts the lowest-cost input choice from point 1 to point 2; that is, it leads to the choice of a lower labor-capital ratio.</a:t>
            </a:r>
          </a:p>
        </p:txBody>
      </p:sp>
    </p:spTree>
    <p:extLst>
      <p:ext uri="{BB962C8B-B14F-4D97-AF65-F5344CB8AC3E}">
        <p14:creationId xmlns:p14="http://schemas.microsoft.com/office/powerpoint/2010/main" val="27115795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rPr>
              <a:t>Figure 5A.3 Determining the Wage-Rental Ratio</a:t>
            </a:r>
            <a:endParaRPr lang="en-IN" sz="3200" dirty="0"/>
          </a:p>
        </p:txBody>
      </p:sp>
      <p:pic>
        <p:nvPicPr>
          <p:cNvPr id="7" name="Content Placeholder 6" descr="A graph plots capital input versus labor input. For long description in Notes pane, press F6.">
            <a:extLst>
              <a:ext uri="{FF2B5EF4-FFF2-40B4-BE49-F238E27FC236}">
                <a16:creationId xmlns:a16="http://schemas.microsoft.com/office/drawing/2014/main" id="{6808F5C9-85DF-4229-9361-B8C4B2BDBE0B}"/>
              </a:ext>
            </a:extLst>
          </p:cNvPr>
          <p:cNvPicPr>
            <a:picLocks noGrp="1" noChangeAspect="1"/>
          </p:cNvPicPr>
          <p:nvPr>
            <p:ph sz="quarter" idx="13"/>
          </p:nvPr>
        </p:nvPicPr>
        <p:blipFill>
          <a:blip r:embed="rId3"/>
          <a:stretch>
            <a:fillRect/>
          </a:stretch>
        </p:blipFill>
        <p:spPr>
          <a:xfrm>
            <a:off x="2897730" y="1597249"/>
            <a:ext cx="3348540" cy="2927890"/>
          </a:xfrm>
        </p:spPr>
      </p:pic>
      <p:sp>
        <p:nvSpPr>
          <p:cNvPr id="2" name="Content Placeholder 1">
            <a:extLst>
              <a:ext uri="{FF2B5EF4-FFF2-40B4-BE49-F238E27FC236}">
                <a16:creationId xmlns:a16="http://schemas.microsoft.com/office/drawing/2014/main" id="{CFC6BBA6-38EF-4EB9-88DE-02143C575E0E}"/>
              </a:ext>
            </a:extLst>
          </p:cNvPr>
          <p:cNvSpPr>
            <a:spLocks noGrp="1"/>
          </p:cNvSpPr>
          <p:nvPr>
            <p:ph sz="quarter" idx="14"/>
          </p:nvPr>
        </p:nvSpPr>
        <p:spPr>
          <a:xfrm>
            <a:off x="457200" y="4688869"/>
            <a:ext cx="8229600" cy="1595617"/>
          </a:xfrm>
        </p:spPr>
        <p:txBody>
          <a:bodyPr tIns="0"/>
          <a:lstStyle/>
          <a:p>
            <a:pPr marL="0" indent="0">
              <a:buNone/>
            </a:pPr>
            <a:r>
              <a:rPr lang="en-US" sz="2000" dirty="0"/>
              <a:t>The two isoquants </a:t>
            </a:r>
            <a:r>
              <a:rPr lang="en-US" sz="2000" i="1" dirty="0"/>
              <a:t>C</a:t>
            </a:r>
            <a:r>
              <a:rPr lang="en-US" sz="100" i="1" dirty="0"/>
              <a:t> </a:t>
            </a:r>
            <a:r>
              <a:rPr lang="en-US" sz="2000" i="1" dirty="0"/>
              <a:t>C </a:t>
            </a:r>
            <a:r>
              <a:rPr lang="en-US" sz="2000" dirty="0"/>
              <a:t>and </a:t>
            </a:r>
            <a:r>
              <a:rPr lang="en-US" sz="2000" i="1" dirty="0"/>
              <a:t>F</a:t>
            </a:r>
            <a:r>
              <a:rPr lang="en-US" sz="100" i="1" dirty="0"/>
              <a:t> </a:t>
            </a:r>
            <a:r>
              <a:rPr lang="en-US" sz="2000" i="1" dirty="0"/>
              <a:t>F </a:t>
            </a:r>
            <a:r>
              <a:rPr lang="en-US" sz="2000" dirty="0"/>
              <a:t>show the inputs necessary to produce </a:t>
            </a:r>
            <a:r>
              <a:rPr lang="en-US" sz="2000" b="1" dirty="0"/>
              <a:t>one dollar’s worth</a:t>
            </a:r>
            <a:r>
              <a:rPr lang="en-US" sz="2000" i="1" dirty="0"/>
              <a:t> </a:t>
            </a:r>
            <a:r>
              <a:rPr lang="en-US" sz="2000" dirty="0"/>
              <a:t>of cloth and food, respectively. Since price must equal the cost of production, the inputs into each good must also cost one dollar. This means that the wage-rental ratio must equal minus the slope of a line tangent to both isoquants.</a:t>
            </a:r>
          </a:p>
        </p:txBody>
      </p:sp>
    </p:spTree>
    <p:extLst>
      <p:ext uri="{BB962C8B-B14F-4D97-AF65-F5344CB8AC3E}">
        <p14:creationId xmlns:p14="http://schemas.microsoft.com/office/powerpoint/2010/main" val="24734791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dirty="0">
                <a:ea typeface="ヒラギノ角ゴ Pro W3" pitchFamily="-84" charset="-128"/>
              </a:rPr>
              <a:t>Figure 5A.4 A Rise in the Price of Cloth</a:t>
            </a:r>
            <a:endParaRPr lang="en-IN" sz="3400" dirty="0"/>
          </a:p>
        </p:txBody>
      </p:sp>
      <p:pic>
        <p:nvPicPr>
          <p:cNvPr id="8" name="Content Placeholder 7" descr="A graph plots capital input versus labor input, with 3 curves shown. For long description in Notes pane, press F6.">
            <a:extLst>
              <a:ext uri="{FF2B5EF4-FFF2-40B4-BE49-F238E27FC236}">
                <a16:creationId xmlns:a16="http://schemas.microsoft.com/office/drawing/2014/main" id="{D87933CB-A2E1-4E31-BC94-24AEAB0D2435}"/>
              </a:ext>
            </a:extLst>
          </p:cNvPr>
          <p:cNvPicPr>
            <a:picLocks noGrp="1" noChangeAspect="1"/>
          </p:cNvPicPr>
          <p:nvPr>
            <p:ph sz="quarter" idx="13"/>
          </p:nvPr>
        </p:nvPicPr>
        <p:blipFill>
          <a:blip r:embed="rId4"/>
          <a:stretch>
            <a:fillRect/>
          </a:stretch>
        </p:blipFill>
        <p:spPr>
          <a:xfrm>
            <a:off x="2599503" y="1701850"/>
            <a:ext cx="3598153" cy="3170879"/>
          </a:xfrm>
        </p:spPr>
      </p:pic>
      <p:sp>
        <p:nvSpPr>
          <p:cNvPr id="2" name="Content Placeholder 1">
            <a:extLst>
              <a:ext uri="{FF2B5EF4-FFF2-40B4-BE49-F238E27FC236}">
                <a16:creationId xmlns:a16="http://schemas.microsoft.com/office/drawing/2014/main" id="{CFC6BBA6-38EF-4EB9-88DE-02143C575E0E}"/>
              </a:ext>
            </a:extLst>
          </p:cNvPr>
          <p:cNvSpPr>
            <a:spLocks noGrp="1"/>
          </p:cNvSpPr>
          <p:nvPr>
            <p:ph sz="quarter" idx="14"/>
          </p:nvPr>
        </p:nvSpPr>
        <p:spPr>
          <a:xfrm>
            <a:off x="457200" y="5084385"/>
            <a:ext cx="7882759" cy="360000"/>
          </a:xfrm>
        </p:spPr>
        <p:txBody>
          <a:bodyPr tIns="0"/>
          <a:lstStyle/>
          <a:p>
            <a:pPr marL="0" indent="0">
              <a:buNone/>
            </a:pPr>
            <a:r>
              <a:rPr lang="en-US" sz="2000" dirty="0"/>
              <a:t>If the price of cloth rises, a smaller output is now worth one dollar; so</a:t>
            </a:r>
          </a:p>
        </p:txBody>
      </p:sp>
      <p:graphicFrame>
        <p:nvGraphicFramePr>
          <p:cNvPr id="12" name="Object 11" descr="C C to the first power ">
            <a:extLst>
              <a:ext uri="{FF2B5EF4-FFF2-40B4-BE49-F238E27FC236}">
                <a16:creationId xmlns:a16="http://schemas.microsoft.com/office/drawing/2014/main" id="{DCC3D666-8D8F-4A20-8950-8C71F6E3FB8B}"/>
              </a:ext>
            </a:extLst>
          </p:cNvPr>
          <p:cNvGraphicFramePr>
            <a:graphicFrameLocks noChangeAspect="1"/>
          </p:cNvGraphicFramePr>
          <p:nvPr>
            <p:extLst>
              <p:ext uri="{D42A27DB-BD31-4B8C-83A1-F6EECF244321}">
                <p14:modId xmlns:p14="http://schemas.microsoft.com/office/powerpoint/2010/main" val="3031142850"/>
              </p:ext>
            </p:extLst>
          </p:nvPr>
        </p:nvGraphicFramePr>
        <p:xfrm>
          <a:off x="510223" y="5510213"/>
          <a:ext cx="539750" cy="360362"/>
        </p:xfrm>
        <a:graphic>
          <a:graphicData uri="http://schemas.openxmlformats.org/presentationml/2006/ole">
            <mc:AlternateContent xmlns:mc="http://schemas.openxmlformats.org/markup-compatibility/2006">
              <mc:Choice xmlns:v="urn:schemas-microsoft-com:vml" Requires="v">
                <p:oleObj spid="_x0000_s14340" name="Equation" r:id="rId5" imgW="304560" imgH="203040" progId="Equation.DSMT4">
                  <p:embed/>
                </p:oleObj>
              </mc:Choice>
              <mc:Fallback>
                <p:oleObj name="Equation" r:id="rId5" imgW="304560" imgH="203040" progId="Equation.DSMT4">
                  <p:embed/>
                  <p:pic>
                    <p:nvPicPr>
                      <p:cNvPr id="0" name=""/>
                      <p:cNvPicPr/>
                      <p:nvPr/>
                    </p:nvPicPr>
                    <p:blipFill>
                      <a:blip r:embed="rId6"/>
                      <a:stretch>
                        <a:fillRect/>
                      </a:stretch>
                    </p:blipFill>
                    <p:spPr>
                      <a:xfrm>
                        <a:off x="510223" y="5510213"/>
                        <a:ext cx="539750" cy="36036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EC6D93DD-BA1A-4629-B91B-1AB5AAC77104}"/>
              </a:ext>
            </a:extLst>
          </p:cNvPr>
          <p:cNvSpPr>
            <a:spLocks noGrp="1"/>
          </p:cNvSpPr>
          <p:nvPr>
            <p:ph sz="quarter" idx="15"/>
          </p:nvPr>
        </p:nvSpPr>
        <p:spPr>
          <a:xfrm>
            <a:off x="1136461" y="5538565"/>
            <a:ext cx="1764000" cy="360000"/>
          </a:xfrm>
        </p:spPr>
        <p:txBody>
          <a:bodyPr tIns="0"/>
          <a:lstStyle/>
          <a:p>
            <a:pPr marL="0" indent="0">
              <a:buNone/>
            </a:pPr>
            <a:r>
              <a:rPr lang="en-US" sz="2000" dirty="0">
                <a:latin typeface="+mn-lt"/>
              </a:rPr>
              <a:t>is replaced by</a:t>
            </a:r>
          </a:p>
        </p:txBody>
      </p:sp>
      <p:graphicFrame>
        <p:nvGraphicFramePr>
          <p:cNvPr id="13" name="Object 12" descr="C C squared ">
            <a:extLst>
              <a:ext uri="{FF2B5EF4-FFF2-40B4-BE49-F238E27FC236}">
                <a16:creationId xmlns:a16="http://schemas.microsoft.com/office/drawing/2014/main" id="{D7B1B2AD-1643-41E9-B29D-37790F769ED5}"/>
              </a:ext>
            </a:extLst>
          </p:cNvPr>
          <p:cNvGraphicFramePr>
            <a:graphicFrameLocks noChangeAspect="1"/>
          </p:cNvGraphicFramePr>
          <p:nvPr>
            <p:extLst>
              <p:ext uri="{D42A27DB-BD31-4B8C-83A1-F6EECF244321}">
                <p14:modId xmlns:p14="http://schemas.microsoft.com/office/powerpoint/2010/main" val="1075573288"/>
              </p:ext>
            </p:extLst>
          </p:nvPr>
        </p:nvGraphicFramePr>
        <p:xfrm>
          <a:off x="2954691" y="5534025"/>
          <a:ext cx="630237" cy="360363"/>
        </p:xfrm>
        <a:graphic>
          <a:graphicData uri="http://schemas.openxmlformats.org/presentationml/2006/ole">
            <mc:AlternateContent xmlns:mc="http://schemas.openxmlformats.org/markup-compatibility/2006">
              <mc:Choice xmlns:v="urn:schemas-microsoft-com:vml" Requires="v">
                <p:oleObj spid="_x0000_s14341" name="Equation" r:id="rId7" imgW="355320" imgH="203040" progId="Equation.DSMT4">
                  <p:embed/>
                </p:oleObj>
              </mc:Choice>
              <mc:Fallback>
                <p:oleObj name="Equation" r:id="rId7" imgW="355320" imgH="203040" progId="Equation.DSMT4">
                  <p:embed/>
                  <p:pic>
                    <p:nvPicPr>
                      <p:cNvPr id="0" name=""/>
                      <p:cNvPicPr/>
                      <p:nvPr/>
                    </p:nvPicPr>
                    <p:blipFill>
                      <a:blip r:embed="rId8"/>
                      <a:stretch>
                        <a:fillRect/>
                      </a:stretch>
                    </p:blipFill>
                    <p:spPr>
                      <a:xfrm>
                        <a:off x="2954691" y="5534025"/>
                        <a:ext cx="630237" cy="360363"/>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C7250ADB-C20A-489E-B45E-D1C12CAB3D78}"/>
              </a:ext>
            </a:extLst>
          </p:cNvPr>
          <p:cNvSpPr>
            <a:spLocks noGrp="1"/>
          </p:cNvSpPr>
          <p:nvPr>
            <p:ph sz="quarter" idx="16"/>
          </p:nvPr>
        </p:nvSpPr>
        <p:spPr>
          <a:xfrm>
            <a:off x="3647191" y="5551371"/>
            <a:ext cx="4830038" cy="360000"/>
          </a:xfrm>
        </p:spPr>
        <p:txBody>
          <a:bodyPr tIns="0"/>
          <a:lstStyle/>
          <a:p>
            <a:pPr marL="0" indent="0">
              <a:buNone/>
            </a:pPr>
            <a:r>
              <a:rPr lang="en-US" sz="2000" dirty="0">
                <a:latin typeface="+mn-lt"/>
              </a:rPr>
              <a:t>The implied wage-rental ratio must</a:t>
            </a:r>
          </a:p>
        </p:txBody>
      </p:sp>
      <p:sp>
        <p:nvSpPr>
          <p:cNvPr id="11" name="Content Placeholder 10">
            <a:extLst>
              <a:ext uri="{FF2B5EF4-FFF2-40B4-BE49-F238E27FC236}">
                <a16:creationId xmlns:a16="http://schemas.microsoft.com/office/drawing/2014/main" id="{8632DCF4-0AE4-4289-8B0D-C3E50CAA251B}"/>
              </a:ext>
            </a:extLst>
          </p:cNvPr>
          <p:cNvSpPr>
            <a:spLocks noGrp="1"/>
          </p:cNvSpPr>
          <p:nvPr>
            <p:ph sz="quarter" idx="17"/>
          </p:nvPr>
        </p:nvSpPr>
        <p:spPr>
          <a:xfrm>
            <a:off x="464820" y="5983822"/>
            <a:ext cx="1797270" cy="360000"/>
          </a:xfrm>
        </p:spPr>
        <p:txBody>
          <a:bodyPr tIns="0"/>
          <a:lstStyle/>
          <a:p>
            <a:pPr marL="0" indent="0">
              <a:buNone/>
            </a:pPr>
            <a:r>
              <a:rPr lang="en-US" sz="2000" dirty="0">
                <a:latin typeface="+mn-lt"/>
              </a:rPr>
              <a:t>therefore rise</a:t>
            </a:r>
            <a:r>
              <a:rPr lang="en-US" sz="2000" i="1" dirty="0">
                <a:latin typeface="+mn-lt"/>
              </a:rPr>
              <a:t>.</a:t>
            </a:r>
            <a:endParaRPr lang="en-US" sz="2000" dirty="0">
              <a:latin typeface="+mn-lt"/>
            </a:endParaRPr>
          </a:p>
        </p:txBody>
      </p:sp>
    </p:spTree>
    <p:extLst>
      <p:ext uri="{BB962C8B-B14F-4D97-AF65-F5344CB8AC3E}">
        <p14:creationId xmlns:p14="http://schemas.microsoft.com/office/powerpoint/2010/main" val="11772310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6" name="Graphic 5" descr="Warning">
            <a:extLst>
              <a:ext uri="{FF2B5EF4-FFF2-40B4-BE49-F238E27FC236}">
                <a16:creationId xmlns:a16="http://schemas.microsoft.com/office/drawing/2014/main" id="{ED555000-834F-4E37-82AC-690218BB8971}"/>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040946685"/>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149731</TotalTime>
  <Words>7195</Words>
  <Application>Microsoft Office PowerPoint</Application>
  <PresentationFormat>On-screen Show (4:3)</PresentationFormat>
  <Paragraphs>471</Paragraphs>
  <Slides>78</Slides>
  <Notes>63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78</vt:i4>
      </vt:variant>
    </vt:vector>
  </HeadingPairs>
  <TitlesOfParts>
    <vt:vector size="88" baseType="lpstr">
      <vt:lpstr>Arial</vt:lpstr>
      <vt:lpstr>Times</vt:lpstr>
      <vt:lpstr>Noto Sans Symbols</vt:lpstr>
      <vt:lpstr>Verdana</vt:lpstr>
      <vt:lpstr>Times New Roman</vt:lpstr>
      <vt:lpstr>MS PGothic</vt:lpstr>
      <vt:lpstr>ヒラギノ角ゴ Pro W3</vt:lpstr>
      <vt:lpstr>USHE</vt:lpstr>
      <vt:lpstr>USHE_slide options</vt:lpstr>
      <vt:lpstr>Equation</vt:lpstr>
      <vt:lpstr>International Economics: Theory and Policy</vt:lpstr>
      <vt:lpstr>Learning Objectives</vt:lpstr>
      <vt:lpstr>Preview</vt:lpstr>
      <vt:lpstr>Introduction</vt:lpstr>
      <vt:lpstr>Two-Factor Heckscher-Ohlin Model </vt:lpstr>
      <vt:lpstr>Production Possibilities (1 of 11)</vt:lpstr>
      <vt:lpstr>Production Possibilities (2 of 11)</vt:lpstr>
      <vt:lpstr>Production Possibilities (3 of 11)</vt:lpstr>
      <vt:lpstr>Production Possibilities (4 of 11)</vt:lpstr>
      <vt:lpstr>Production Possibilities (5 of 11)</vt:lpstr>
      <vt:lpstr>Production Possibilities (6 of 11)</vt:lpstr>
      <vt:lpstr>Production Possibilities (7 of 11)</vt:lpstr>
      <vt:lpstr>Figure 5.1 The Production Possibility Frontier without Factor Substitution</vt:lpstr>
      <vt:lpstr>Production Possibilities (8 of 11)</vt:lpstr>
      <vt:lpstr>Production Possibilities (9 of 11)</vt:lpstr>
      <vt:lpstr>Figure 5.2 The Production Possibility Frontier with Factor Substitution</vt:lpstr>
      <vt:lpstr>Production Possibilities (10 of 11)</vt:lpstr>
      <vt:lpstr>Figure 5.3 Prices and Production</vt:lpstr>
      <vt:lpstr>Production Possibilities (11 of 11)</vt:lpstr>
      <vt:lpstr>Choosing the Mix of Inputs (1 of 2)</vt:lpstr>
      <vt:lpstr>Figure 5.4 Input Possibilities in Food Production</vt:lpstr>
      <vt:lpstr>Choosing the Mix of Inputs (2 of 2)</vt:lpstr>
      <vt:lpstr>Figure 5.5 Factor Prices and Input Choices</vt:lpstr>
      <vt:lpstr>Factor Prices and Goods Prices (1 of 3)</vt:lpstr>
      <vt:lpstr>Figure 5.6 Factor Prices and Goods Prices</vt:lpstr>
      <vt:lpstr>Factor Prices and Goods Prices (2 of 3)</vt:lpstr>
      <vt:lpstr>Figure 5.7 From Goods Prices to Input Choices</vt:lpstr>
      <vt:lpstr>Factor Prices and Goods Prices (3 of 3)</vt:lpstr>
      <vt:lpstr>Resources and Output (1 of 3)</vt:lpstr>
      <vt:lpstr>Resources and Output (2 of 3)</vt:lpstr>
      <vt:lpstr>Figure 5.8 Resources and Production Possibilities</vt:lpstr>
      <vt:lpstr>Resources and Output (3 of 3)</vt:lpstr>
      <vt:lpstr>Trade in the Heckscher-Ohlin Model (1 of 5)</vt:lpstr>
      <vt:lpstr>Trade in the Heckscher-Ohlin Model (2 of 5)</vt:lpstr>
      <vt:lpstr>Figure 5.9 Trade Leads to a Convergence of Relative Prices</vt:lpstr>
      <vt:lpstr>Trade in the Heckscher-Ohlin Model (3 of 5)</vt:lpstr>
      <vt:lpstr>Trade in the Heckscher-Ohlin Model (4 of 5)</vt:lpstr>
      <vt:lpstr>Trade in the Heckscher-Ohlin Model (5 of 5)</vt:lpstr>
      <vt:lpstr>Trade and the Distribution of Income (1 of 5)</vt:lpstr>
      <vt:lpstr>Trade and the Distribution of Income (2 of 5)</vt:lpstr>
      <vt:lpstr>Trade and the Distribution of Income (3 of 5)</vt:lpstr>
      <vt:lpstr>Trade and the Distribution of Income (4 of 5)</vt:lpstr>
      <vt:lpstr>Trade and the Distribution of Income (5 of 5)</vt:lpstr>
      <vt:lpstr>North-South Trade and Income Inequality (1 of 4)</vt:lpstr>
      <vt:lpstr>North-South Trade and Income Inequality (2 of 4)</vt:lpstr>
      <vt:lpstr>North-South Trade and Income Inequality (3 of 4)</vt:lpstr>
      <vt:lpstr>North-South Trade and Income Inequality (4 of 4)</vt:lpstr>
      <vt:lpstr>Skill-Biased Technological Change and Income Inequality (1 of 2)</vt:lpstr>
      <vt:lpstr>Skill-Biased Technological Change and Income Inequality (2 of 2)</vt:lpstr>
      <vt:lpstr>Figure 5.10 Increased Wage Inequality: Trade- or Skill-Biased Technological Change?</vt:lpstr>
      <vt:lpstr>Figure 5.11 Evolution of U.S. Non-Production–Production Employment Ratios in Four Groups of Sectors</vt:lpstr>
      <vt:lpstr>Capital-Skill Complementarity (1 of 2)</vt:lpstr>
      <vt:lpstr>Capital-Skill Complementarity (2 of 2)</vt:lpstr>
      <vt:lpstr>Figure 5.12 U.S. and Average World Corporate Labor Share</vt:lpstr>
      <vt:lpstr>Factor Price Equalization (1 of 3)</vt:lpstr>
      <vt:lpstr>Factor Price Equalization (2 of 3)</vt:lpstr>
      <vt:lpstr>Table 5.1 Comparative International Wage Rates</vt:lpstr>
      <vt:lpstr>Factor Price Equalization (3 of 3)</vt:lpstr>
      <vt:lpstr>Empirical Evidence on the Heckscher-Ohlin Model (1 of 6)</vt:lpstr>
      <vt:lpstr>Table 5.2 Factor Content of U.S. Exports and Imports for 1962</vt:lpstr>
      <vt:lpstr>Table 5.3 Estimated Technological Efficiency, 1983</vt:lpstr>
      <vt:lpstr>Empirical Evidence on the Heckscher-Ohlin Model (2 of 6)</vt:lpstr>
      <vt:lpstr>Empirical Evidence on the Heckscher-Ohlin Model (3 of 6)</vt:lpstr>
      <vt:lpstr>Empirical Evidence on the Heckscher-Ohlin Model (4 of 6)</vt:lpstr>
      <vt:lpstr>Table 5.4 A Better Empirical Fit for the Factor Content of Trade</vt:lpstr>
      <vt:lpstr>Empirical Evidence on the Heckscher-Ohlin Model (5 of 6)</vt:lpstr>
      <vt:lpstr>Figure 5.13 Export Patterns for a Few Developed and Developing Countries, 2008–2012</vt:lpstr>
      <vt:lpstr>Empirical Evidence on the Heckscher-Ohlin Model (6 of 6)</vt:lpstr>
      <vt:lpstr>Figure 5.14 Changing Pattern of Chinese Exports over Time</vt:lpstr>
      <vt:lpstr>Summary (1 of 4)</vt:lpstr>
      <vt:lpstr>Summary (2 of 4)</vt:lpstr>
      <vt:lpstr>Summary (3 of 4)</vt:lpstr>
      <vt:lpstr>Summary (4 of 4)</vt:lpstr>
      <vt:lpstr>Figure 5A.1 Choosing the Optimal Labor-Capital Ratio</vt:lpstr>
      <vt:lpstr>Figure 5A.2 Changing the Wage-Rental Ratio</vt:lpstr>
      <vt:lpstr>Figure 5A.3 Determining the Wage-Rental Ratio</vt:lpstr>
      <vt:lpstr>Figure 5A.4 A Rise in the Price of Cloth</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5, Resources and Trade: The Heckscher-Ohlin Model</dc:title>
  <dc:subject>Business</dc:subject>
  <dc:creator>Krugman/Obstfeld/Melitz</dc:creator>
  <cp:keywords>International Economics</cp:keywords>
  <dc:description>Long description alt-text is inserted in the notes pane.</dc:description>
  <cp:lastModifiedBy>admin</cp:lastModifiedBy>
  <cp:revision>2322</cp:revision>
  <dcterms:modified xsi:type="dcterms:W3CDTF">2021-11-02T09:27:38Z</dcterms:modified>
</cp:coreProperties>
</file>