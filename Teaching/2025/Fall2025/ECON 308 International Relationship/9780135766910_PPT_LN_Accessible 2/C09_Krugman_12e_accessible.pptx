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5"/>
  </p:notesMasterIdLst>
  <p:handoutMasterIdLst>
    <p:handoutMasterId r:id="rId76"/>
  </p:handoutMasterIdLst>
  <p:sldIdLst>
    <p:sldId id="330" r:id="rId3"/>
    <p:sldId id="331" r:id="rId4"/>
    <p:sldId id="334" r:id="rId5"/>
    <p:sldId id="333" r:id="rId6"/>
    <p:sldId id="332" r:id="rId7"/>
    <p:sldId id="404" r:id="rId8"/>
    <p:sldId id="336" r:id="rId9"/>
    <p:sldId id="339" r:id="rId10"/>
    <p:sldId id="340" r:id="rId11"/>
    <p:sldId id="341" r:id="rId12"/>
    <p:sldId id="342" r:id="rId13"/>
    <p:sldId id="343" r:id="rId14"/>
    <p:sldId id="344" r:id="rId15"/>
    <p:sldId id="346" r:id="rId16"/>
    <p:sldId id="345" r:id="rId17"/>
    <p:sldId id="347" r:id="rId18"/>
    <p:sldId id="348" r:id="rId19"/>
    <p:sldId id="349" r:id="rId20"/>
    <p:sldId id="350" r:id="rId21"/>
    <p:sldId id="351" r:id="rId22"/>
    <p:sldId id="352" r:id="rId23"/>
    <p:sldId id="354" r:id="rId24"/>
    <p:sldId id="357" r:id="rId25"/>
    <p:sldId id="358" r:id="rId26"/>
    <p:sldId id="359" r:id="rId27"/>
    <p:sldId id="360" r:id="rId28"/>
    <p:sldId id="355" r:id="rId29"/>
    <p:sldId id="356" r:id="rId30"/>
    <p:sldId id="353" r:id="rId31"/>
    <p:sldId id="361" r:id="rId32"/>
    <p:sldId id="362" r:id="rId33"/>
    <p:sldId id="364" r:id="rId34"/>
    <p:sldId id="367" r:id="rId35"/>
    <p:sldId id="368" r:id="rId36"/>
    <p:sldId id="369" r:id="rId37"/>
    <p:sldId id="371" r:id="rId38"/>
    <p:sldId id="372" r:id="rId39"/>
    <p:sldId id="370" r:id="rId40"/>
    <p:sldId id="365" r:id="rId41"/>
    <p:sldId id="366" r:id="rId42"/>
    <p:sldId id="373" r:id="rId43"/>
    <p:sldId id="374" r:id="rId44"/>
    <p:sldId id="376" r:id="rId45"/>
    <p:sldId id="377" r:id="rId46"/>
    <p:sldId id="378" r:id="rId47"/>
    <p:sldId id="375" r:id="rId48"/>
    <p:sldId id="379" r:id="rId49"/>
    <p:sldId id="380" r:id="rId50"/>
    <p:sldId id="382" r:id="rId51"/>
    <p:sldId id="383" r:id="rId52"/>
    <p:sldId id="384" r:id="rId53"/>
    <p:sldId id="381" r:id="rId54"/>
    <p:sldId id="385" r:id="rId55"/>
    <p:sldId id="386" r:id="rId56"/>
    <p:sldId id="387" r:id="rId57"/>
    <p:sldId id="363" r:id="rId58"/>
    <p:sldId id="388" r:id="rId59"/>
    <p:sldId id="389" r:id="rId60"/>
    <p:sldId id="390" r:id="rId61"/>
    <p:sldId id="391" r:id="rId62"/>
    <p:sldId id="393" r:id="rId63"/>
    <p:sldId id="394" r:id="rId64"/>
    <p:sldId id="395" r:id="rId65"/>
    <p:sldId id="392" r:id="rId66"/>
    <p:sldId id="396" r:id="rId67"/>
    <p:sldId id="397" r:id="rId68"/>
    <p:sldId id="403" r:id="rId69"/>
    <p:sldId id="400" r:id="rId70"/>
    <p:sldId id="401" r:id="rId71"/>
    <p:sldId id="398" r:id="rId72"/>
    <p:sldId id="402" r:id="rId73"/>
    <p:sldId id="298" r:id="rId74"/>
  </p:sldIdLst>
  <p:sldSz cx="9144000" cy="6858000" type="screen4x3"/>
  <p:notesSz cx="6858000" cy="9144000"/>
  <p:embeddedFontLst>
    <p:embeddedFont>
      <p:font typeface="Times" panose="02020603050405020304" pitchFamily="18" charset="0"/>
      <p:regular r:id="rId77"/>
      <p:bold r:id="rId78"/>
      <p:italic r:id="rId79"/>
      <p:boldItalic r:id="rId80"/>
    </p:embeddedFont>
    <p:embeddedFont>
      <p:font typeface="Noto Sans Symbols" panose="020B0604020202020204" charset="0"/>
      <p:regular r:id="rId81"/>
      <p:bold r:id="rId82"/>
      <p:italic r:id="rId83"/>
      <p:boldItalic r:id="rId84"/>
    </p:embeddedFont>
    <p:embeddedFont>
      <p:font typeface="Verdana" panose="020B0604030504040204" pitchFamily="34"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Johny" initials="J" lastIdx="0" clrIdx="7">
    <p:extLst>
      <p:ext uri="{19B8F6BF-5375-455C-9EA6-DF929625EA0E}">
        <p15:presenceInfo xmlns:p15="http://schemas.microsoft.com/office/powerpoint/2012/main" userId="Johny"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61" autoAdjust="0"/>
    <p:restoredTop sz="78864" autoAdjust="0"/>
  </p:normalViewPr>
  <p:slideViewPr>
    <p:cSldViewPr snapToGrid="0" snapToObjects="1">
      <p:cViewPr varScale="1">
        <p:scale>
          <a:sx n="63" d="100"/>
          <a:sy n="63" d="100"/>
        </p:scale>
        <p:origin x="1974" y="72"/>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329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handoutMaster" Target="handoutMasters/handoutMaster1.xml"/><Relationship Id="rId84" Type="http://schemas.openxmlformats.org/officeDocument/2006/relationships/font" Target="fonts/font8.fntdata"/><Relationship Id="rId89"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font" Target="fonts/font3.fntdata"/><Relationship Id="rId87" Type="http://schemas.openxmlformats.org/officeDocument/2006/relationships/font" Target="fonts/font11.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6.fntdata"/><Relationship Id="rId90"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4.fntdata"/><Relationship Id="rId85" Type="http://schemas.openxmlformats.org/officeDocument/2006/relationships/font" Target="fonts/font9.fntdata"/><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Graph 1 has D as a steeply falling line and S as a steeply rising line. D and S intersect at y = P sub A. The S curve rises through (S super 1, P super 1) and (S super 2, P super 2). The D curve falls through (D super 2, P super 2) and (D </a:t>
            </a:r>
            <a:r>
              <a:rPr lang="en-IN" dirty="0" smtClean="0"/>
              <a:t>super 1, </a:t>
            </a:r>
            <a:r>
              <a:rPr lang="en-IN" dirty="0" smtClean="0"/>
              <a:t>P super 1). On the second graph, these points generate the import demand curve, M D, which is a falling line. Curve M D falls through point A at y = P sub A, at the y intercept, through point 2, (D super 2 minus S super 2, P super 2), and through point 1, (D super 1 minus S super 1, P super 1). All values are estimated.</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1665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Graph 1 has curves, D asterisk as a steeply falling line and S asterisk as a steeply rising line. The lines intersect at y = P asterisk sub A. The curve S asterisk rises through (S asterisk super 1, P super 1) and (S asterisk super 2, P super 2). The curve D asterisk falls through (D asterisk super 2, P super 2) and (D asterisk super 1, P super 1). The second graph plots the export supply curve, X S, which is a rising line. Curve X S rises from y = P asterisk sub A, at the y intercept, through (S asterisk super 1 minus D asterisk super 1, P super 1), and through (S asterisk super 2 minus D asterisk super 2, P super 2).</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8703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curves intersect at point 1, (Q sub W, P sub W). Y = P sub W is roughly midway between P sub </a:t>
            </a:r>
            <a:r>
              <a:rPr lang="en-US" dirty="0" smtClean="0"/>
              <a:t>A </a:t>
            </a:r>
            <a:r>
              <a:rPr lang="en-US" dirty="0"/>
              <a:t>and P sub </a:t>
            </a:r>
            <a:r>
              <a:rPr lang="en-US" dirty="0" smtClean="0"/>
              <a:t>A </a:t>
            </a:r>
            <a:r>
              <a:rPr lang="en-US" dirty="0"/>
              <a:t>asterisk.</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94153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lines extend from y = P sub W and, higher, y = P sub T, both of which are below the point of intersection. These lines extend through graph 2. Graph 2 is the world market with a falling M D curve and a rising X S curve that intersect at point 1, (Q sub W, P sub W). Point 2 is on M D, above point 1, at (Q sub T, P sub T). Point 3 is on X S and below point 1, at x = Q sub T. The vertical distance between points 3 and 2 = t. Graph 3 is the foreign market with falling D asterisk and rising S asterisk. Y = P asterisk sub T, which extends from point 3 on graph 2, is above the intersection.</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2593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rising S curve intersects a falling D curve. S rises through (S super 1, P sub W) and (S super 2, P sub W + t). D falls through (D super 2, P sub W + t), and (D super 1, P sub W). The horizontal distance between S super 1 and D super 1 is imports before the tariff. The horizontal distance between S super 2 and D super 2 is imports after tariff.</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9538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triangle area above the horizontal line at y = P super 2, bounded by the y-axis and D curve, is shaded and labeled, ay. The area below this triangle and above y = P super 1, also bounded by the y-axis and the D curve, is shaded and labeled, b.</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2555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triangle area below the horizontal line at y = P super 1, bounded by the y-axis and S curve, is shaded and labeled c. The area above this triangle and below y = P super 2, also bounded by the y-axis and the S curve, is shaded and labeled 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858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rises through a line at y = P sub T asterisk, then (S super 1, P sub W), and then (S super 2, P sub T). D falls through (D super 2, P sub T) and then (D super 1, P sub W), and a line at y = P sub T asterisk. On the x-axis, the distance between S super 2 and D super 2 is Q sub T. Four areas on the graph are shaded. The area between the y-axis, the D curve, y = P sub W, and P sub T is shaded, and represents consumer loss, ay + b + c + d. Area ay is in this shaded area to the left of the S curve, and represents producer gain. Area c is a square between (S super 2, P super T), (D super 2, P super T) and y = P sub W. Areas b and d are triangular shapes between the S and D curves, on either side of square, c, bounded below by y = P sub W. Area e is an identical square below c, between y = P sub W and y = P sub T asterisk. Areas c + e represent government revenue gain.</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2962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triangular shaded areas, b and d, between the curves and between y = P sub W and y = P sub T, represent efficiency loss, b + d. The shaded square below the triangles and at the center, between y = P sub T asterisk below and y = P sub W above, represents the terms of trade gain. On the x-axis, the central area that contains square e, with triangles b and d on either side, represents imports.</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04284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The graph plots tariff in percent versus years from January 20 18 to December 20 19. The timeline for Washing Machines is as follows. (January 20 18, 0), (February 20 18 to December 20 18, 33), and (December 20 18 to December 20 19, 32). The timeline for Solar Panels is as follows. (January 20 18, 0) and (February 20 18 to December 20 19, 30). The timeline for Aluminum is as follows. (January 20 18 to February 20 18, 2), (March 20 18 to May 20 18, 6.5), (June 20 18 to April 20 19, 13), and (May 20 19 to December 20 19, 12). The timeline for Steel is as follows. (January 20 18 to February 20 18, 0.2), (March 20 18 to May 20 18, 10), (June 20 18 to April 20 19, 25), and (May 20 19 to December 20 19, 24). The timeline for China is as follows. (January 20 18 to June 20 18, 4), (July 20 18, 7), (August 20 18, 7.5), (September 20 18 to April 20 19, 14), (May 20 19 to August 20 19, 23), and (September 20 19 to December 20 19, 27). The timeline for the European Union is as follows. (January 20 18 to October 20 19, 4) and (November 20 19 to December 20 19, 29).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3956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The graph plots annual cost versus years from January 20 18 to December 20 19. The timeline for average is as follows. (January 20 18, $0), (February 20 18 to June 20 18, $40), (July 20 18 to August 20 18, $50), (August 20 18 to May 20 19, $130), (May 20 19 to August 20 19, $240), and (August 20 19 to December 20 19, $300). The timeline for $5 to $15 K is as follows. (January 20 18 to February 20 18, $0), (February 20 18 to June 20 18, $20), (June 20 18 to July 20 18, $25), (July 20 18 to August 20 18, $30), (August 20 18 to May 20 19, $60), (May 20 19 to August 20 19, $120), and (August 20 19 to December 20 19, $160). The timeline for $35 to 45 K is as follows. (January 20 18 to February 20 18, $5), (February 20 18 to June 20 18, $20), (June 20 18 to July 20 18, $40), (July 20 18 to August 20 18, $50, (August 20 18 to May 20 19, $100), (May 20 19 to August 20 19, $170), and (August 20 19 to December 20 19, $230). The timeline for $80 to 100 K is as follows. (January 20 18 to February 20 18, $0), (February 20 18 to June 20 18, $50), (June 20 18 to July 20 18, $65), (July 20 18 to August 20 18, $70), (August 20 18 to May 20 19, $150), (May 20 19 to August 20 19, $250), and (August 20 19 to December 20 19, $300). The timeline for $160 K plus is as follows. (January 20 18 to February 20 18, $10), (February 20 18 to June 20 18, $80), (June 20 18 to July 20 18, $110), (July 20 18 to August 20 18, $140), (August 20 18 to May 20 19, $280), (May 20 19 to August 20 19, $500), and (August 20 19 to December 20 19, $650).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9767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The graph plots Tariff in percent versus years from January 20 18 to January 20 19. The time line for China is as follows. (January 20 18 to March 20 18, 9%), (April 20 18 to June 20 18, 9.5%), (July 20 18, 10%), (August 20 18, 10.2), and (September 20 18 to January 20 19, 20). The timeline for Canada is as follows. (January 20 18 to June 20 18, 3%) and (July 20 18 to January 20 19, 22%). The timeline for Mexico is as follows. (January 20 18 to June 20 18, 10%) and (July 20 18 to January 20 19, 27%). The timeline for European Union is as follows. (January 20 18 to May 20 18, 4.5%) and (June 20 18 to January 20 19, 29.5%). The timeline for Turkey is as follows. (January 20 18 to May 20 18, 8%) and (June 20 18 to January 20 19, 30%). The timeline for India is as follows. (January 20 18 to January 20 19, 14%).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877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lines are drawn from top to bottom at y = P sub S, y = P sub W, and y = P sub S asterisk. The vertical area between P sub S and P sub S asterisk represents subsidy. Points are plotted on the D and S curves at y = P sub S. The horizontal distance between these points represents exports. Between y = P sub S above and y = P sub W below, areas are shaded, labeled as follows: a square between the y-axis and the point on the D curve is labeled, ay; the triangular area between ay and the D curve is labeled, b; the space between the D and S curve is labeled, c; the triangular space to the right of the S curve, bounded by the point on the S curve at the right, is labeled, d. Consumer loss = ay + b. Producer gain = ay + b + c. Between P sub W above and P sub S asterisk below, areas are shaded and labeled as follows: a trapezoid area between the point on the D curve and the D curve is labeled, e; the area between the D and S curves is labeled, f; the area to the right of the S curve, bounded by the point on the S curve, is labeled, g. Cost of government subsidy = b + c + d + e + f + g.</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3745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The double line graph of United States and world raw sugar prices plots dollars per ton versus year, 19 88 to 20 18. The plot for U S generally remains the same from (19 90, 475) through (2007, 450), and then rises to (20 12, 780), before falling to (20 14, 400) and then rising to (20 16, 490). The plot for world generally falls from (19 90, 475) to (2003, 120), then rises to (2007, 300), falls to (2008, 200), and rises again to (20 12, 550); the plot then falls to (20 16, 280).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809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 curve rises through (S super 1, P sub W) and then (S super 2, P sub Q). The D curve falls through (D super 2, P sub Q) and then (D super 1, P sub W). The horizontal area between x = S super 2 and x = D super 2 represents Q. Between P sub Q above and P sub W below, areas are shaded and labeled as follows: between the y-axis and the S curve, is labeled ay; the triangular area below the S curve between x = S super 1 and x = S super 2 is labeled, b; the rectangular area between S super 2 and D super 2 is labeled, c; the triangular area below the D curve between D super 2 and D super 1 is labeled, d. Consumer loss = ay + b + c + d. Producer gain = ay. Quota rents = c.</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48818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 curve falls steeply through (Q sub M, P sub M) and (D sub f, P sub W). The curve M R is to the left of the D curve and falls more steeply, through a lower point at x = Q sub M. The rising curve M C passes through (Q sub f, P sub W) and then intersects both M R and D. X = Q sub f, x = Q sub M, and x = D sub f together represent imports under free trade.</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01733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 curve falls through (Q sub M, P sub M), then (D sub t, P sub W + t), then (D sub f, P sub W). An M R curve, to the left of and falling more steeply than the D curve, falls through a lower point at x = Q sub M. The M C curve rises through (Q sub f, P sub W), (Q sub t, P sub W + t), and then intersects M R at x = Q sub M, and intersects D at an unlabeled point. X = Q sub f, x = Q sub M, and x = D sub t together represent imports under a tariff.</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9084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 curve falls through (Q sub q + Q bar, P sub q). The D curve shifts to the left and down to form D sub q, which passes through a point to the left of the first, at (Q sub q, P sub q). The M R sub q curve is to the left of and falls more steeply than D sub q, and intersects the rising M C curve at x = Q sub q, between y = P sub q above and P sub W below, closer to P sub W. X = Q sub q and x = Q sub q + Q bar represent imports = Q bar.</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5921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 curve falls through (Q sub t + Q bar, P sub W + t). The D curve shifts to the left and down to form D sub q, which passes through (Q sub q, P sub q) and then (Q sub t, P sub W + t). The M R sub q curve is to the left of and falls more steeply than D sub q, and intersects the rising M C curve at x = Q sub q, to the left of x = Q sub t, and between y = P sub W + t above and P sub W below, closer to P sub W. X = Q sub t and x = Q sub t + Q bar represent imports = Q bar.</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9428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72</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11.wmf"/></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9.xml"/><Relationship Id="rId1" Type="http://schemas.openxmlformats.org/officeDocument/2006/relationships/vmlDrawing" Target="../drawings/vmlDrawing5.vml"/><Relationship Id="rId6" Type="http://schemas.openxmlformats.org/officeDocument/2006/relationships/image" Target="../media/image14.wmf"/><Relationship Id="rId5" Type="http://schemas.openxmlformats.org/officeDocument/2006/relationships/oleObject" Target="../embeddings/oleObject8.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9.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12.bin"/><Relationship Id="rId10" Type="http://schemas.openxmlformats.org/officeDocument/2006/relationships/image" Target="../media/image19.wmf"/><Relationship Id="rId4" Type="http://schemas.openxmlformats.org/officeDocument/2006/relationships/image" Target="../media/image17.wmf"/><Relationship Id="rId9"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8.xml"/><Relationship Id="rId1" Type="http://schemas.openxmlformats.org/officeDocument/2006/relationships/vmlDrawing" Target="../drawings/vmlDrawing8.v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1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notesSlide" Target="../notesSlides/notesSlide6.xml"/><Relationship Id="rId7" Type="http://schemas.openxmlformats.org/officeDocument/2006/relationships/oleObject" Target="../embeddings/oleObject19.bin"/><Relationship Id="rId2" Type="http://schemas.openxmlformats.org/officeDocument/2006/relationships/slideLayout" Target="../slideLayouts/slideLayout9.xml"/><Relationship Id="rId1" Type="http://schemas.openxmlformats.org/officeDocument/2006/relationships/vmlDrawing" Target="../drawings/vmlDrawing9.vml"/><Relationship Id="rId6" Type="http://schemas.openxmlformats.org/officeDocument/2006/relationships/image" Target="../media/image23.wmf"/><Relationship Id="rId5" Type="http://schemas.openxmlformats.org/officeDocument/2006/relationships/oleObject" Target="../embeddings/oleObject18.bin"/><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9.xml"/><Relationship Id="rId1" Type="http://schemas.openxmlformats.org/officeDocument/2006/relationships/vmlDrawing" Target="../drawings/vmlDrawing10.vml"/><Relationship Id="rId4" Type="http://schemas.openxmlformats.org/officeDocument/2006/relationships/image" Target="../media/image26.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1.vml"/><Relationship Id="rId4" Type="http://schemas.openxmlformats.org/officeDocument/2006/relationships/image" Target="../media/image2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32.wmf"/><Relationship Id="rId5" Type="http://schemas.openxmlformats.org/officeDocument/2006/relationships/oleObject" Target="../embeddings/oleObject23.bin"/><Relationship Id="rId4" Type="http://schemas.openxmlformats.org/officeDocument/2006/relationships/image" Target="../media/image31.wmf"/></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9.xml"/><Relationship Id="rId1" Type="http://schemas.openxmlformats.org/officeDocument/2006/relationships/vmlDrawing" Target="../drawings/vmlDrawing13.vml"/><Relationship Id="rId6" Type="http://schemas.openxmlformats.org/officeDocument/2006/relationships/image" Target="../media/image39.wmf"/><Relationship Id="rId5" Type="http://schemas.openxmlformats.org/officeDocument/2006/relationships/oleObject" Target="../embeddings/oleObject25.bin"/><Relationship Id="rId4" Type="http://schemas.openxmlformats.org/officeDocument/2006/relationships/image" Target="../media/image38.wmf"/></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notesSlide" Target="../notesSlides/notesSlide16.xml"/><Relationship Id="rId7" Type="http://schemas.openxmlformats.org/officeDocument/2006/relationships/oleObject" Target="../embeddings/oleObject27.bin"/><Relationship Id="rId2" Type="http://schemas.openxmlformats.org/officeDocument/2006/relationships/slideLayout" Target="../slideLayouts/slideLayout9.xml"/><Relationship Id="rId1" Type="http://schemas.openxmlformats.org/officeDocument/2006/relationships/vmlDrawing" Target="../drawings/vmlDrawing14.vml"/><Relationship Id="rId6" Type="http://schemas.openxmlformats.org/officeDocument/2006/relationships/image" Target="../media/image42.wmf"/><Relationship Id="rId5" Type="http://schemas.openxmlformats.org/officeDocument/2006/relationships/oleObject" Target="../embeddings/oleObject26.bin"/><Relationship Id="rId10" Type="http://schemas.openxmlformats.org/officeDocument/2006/relationships/image" Target="../media/image44.wmf"/><Relationship Id="rId4" Type="http://schemas.openxmlformats.org/officeDocument/2006/relationships/image" Target="../media/image45.PNG"/><Relationship Id="rId9" Type="http://schemas.openxmlformats.org/officeDocument/2006/relationships/oleObject" Target="../embeddings/oleObject2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9</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90"/>
            <a:ext cx="3657600" cy="902116"/>
          </a:xfrm>
        </p:spPr>
        <p:txBody>
          <a:bodyPr/>
          <a:lstStyle/>
          <a:p>
            <a:r>
              <a:rPr lang="en-US" dirty="0">
                <a:latin typeface="Arial (Body)"/>
                <a:ea typeface="Verdana" panose="020B0604030504040204" pitchFamily="34" charset="0"/>
                <a:cs typeface="Verdana" panose="020B0604030504040204" pitchFamily="34" charset="0"/>
              </a:rPr>
              <a:t>The Instruments of Trade Policy</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a:t>
            </a:r>
            <a:endParaRPr lang="en-US" dirty="0"/>
          </a:p>
        </p:txBody>
      </p:sp>
      <p:sp>
        <p:nvSpPr>
          <p:cNvPr id="4" name="Content Placeholder 3"/>
          <p:cNvSpPr>
            <a:spLocks noGrp="1"/>
          </p:cNvSpPr>
          <p:nvPr>
            <p:ph sz="quarter" idx="13"/>
          </p:nvPr>
        </p:nvSpPr>
        <p:spPr>
          <a:xfrm>
            <a:off x="457200" y="1556328"/>
            <a:ext cx="8437418" cy="4010283"/>
          </a:xfrm>
        </p:spPr>
        <p:txBody>
          <a:bodyPr lIns="0" tIns="0" rIns="0" bIns="0"/>
          <a:lstStyle/>
          <a:p>
            <a:pPr marL="0" indent="0">
              <a:buNone/>
            </a:pPr>
            <a:r>
              <a:rPr lang="en-US" b="1" dirty="0">
                <a:solidFill>
                  <a:srgbClr val="007FA3"/>
                </a:solidFill>
                <a:latin typeface="Arial (Body)"/>
                <a:ea typeface="Verdana" panose="020B0604030504040204" pitchFamily="34" charset="0"/>
                <a:cs typeface="Verdana" panose="020B0604030504040204" pitchFamily="34" charset="0"/>
              </a:rPr>
              <a:t>9.1</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Evaluate the costs and benefits of tariffs, their welfare effects, and winners and losers of tariff policies.</a:t>
            </a:r>
            <a:endParaRPr lang="en-US" dirty="0">
              <a:latin typeface="Arial (Body)"/>
              <a:ea typeface="Verdana" panose="020B0604030504040204" pitchFamily="34" charset="0"/>
              <a:cs typeface="Verdana" panose="020B0604030504040204" pitchFamily="34" charset="0"/>
            </a:endParaRP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9.2 </a:t>
            </a:r>
            <a:r>
              <a:rPr lang="en-US" dirty="0">
                <a:latin typeface="Arial (Body)"/>
              </a:rPr>
              <a:t>Discuss what export subsidies and agricultural subsidies are, and explain how they affect trade in agriculture in the United States and the European Union.</a:t>
            </a:r>
            <a:endParaRPr lang="en-US" b="1" dirty="0">
              <a:solidFill>
                <a:srgbClr val="007FA3"/>
              </a:solidFill>
              <a:latin typeface="Arial (Body)"/>
              <a:ea typeface="Verdana" panose="020B0604030504040204" pitchFamily="34" charset="0"/>
              <a:cs typeface="Verdana" panose="020B0604030504040204" pitchFamily="34" charset="0"/>
            </a:endParaRP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9.3</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Recognize the effect of voluntary export restraints (V</a:t>
            </a:r>
            <a:r>
              <a:rPr lang="en-US" sz="100" dirty="0">
                <a:latin typeface="Arial (Body)"/>
              </a:rPr>
              <a:t> </a:t>
            </a:r>
            <a:r>
              <a:rPr lang="en-US" dirty="0">
                <a:latin typeface="Arial (Body)"/>
              </a:rPr>
              <a:t>E</a:t>
            </a:r>
            <a:r>
              <a:rPr lang="en-US" sz="100" dirty="0">
                <a:latin typeface="Arial (Body)"/>
              </a:rPr>
              <a:t> </a:t>
            </a:r>
            <a:r>
              <a:rPr lang="en-US" dirty="0" smtClean="0">
                <a:latin typeface="Arial (Body)"/>
              </a:rPr>
              <a:t>Rs</a:t>
            </a:r>
            <a:r>
              <a:rPr lang="en-US" dirty="0">
                <a:latin typeface="Arial (Body)"/>
              </a:rPr>
              <a:t>) on both importing and exporting countries, and describe how the welfare effects of these V</a:t>
            </a:r>
            <a:r>
              <a:rPr lang="en-US" sz="100" dirty="0">
                <a:latin typeface="Arial (Body)"/>
              </a:rPr>
              <a:t> </a:t>
            </a:r>
            <a:r>
              <a:rPr lang="en-US" dirty="0">
                <a:latin typeface="Arial (Body)"/>
              </a:rPr>
              <a:t>E</a:t>
            </a:r>
            <a:r>
              <a:rPr lang="en-US" sz="100" dirty="0">
                <a:latin typeface="Arial (Body)"/>
              </a:rPr>
              <a:t> </a:t>
            </a:r>
            <a:r>
              <a:rPr lang="en-US" dirty="0" smtClean="0">
                <a:latin typeface="Arial (Body)"/>
              </a:rPr>
              <a:t>Rs </a:t>
            </a:r>
            <a:r>
              <a:rPr lang="en-US" dirty="0">
                <a:latin typeface="Arial (Body)"/>
              </a:rPr>
              <a:t>compare with tariff and quota policies.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Preview</a:t>
            </a:r>
            <a:endParaRPr lang="en-US" dirty="0"/>
          </a:p>
        </p:txBody>
      </p:sp>
      <p:sp>
        <p:nvSpPr>
          <p:cNvPr id="7" name="Content Placeholder 6"/>
          <p:cNvSpPr>
            <a:spLocks noGrp="1"/>
          </p:cNvSpPr>
          <p:nvPr>
            <p:ph sz="quarter" idx="13"/>
          </p:nvPr>
        </p:nvSpPr>
        <p:spPr>
          <a:xfrm>
            <a:off x="457200" y="1556326"/>
            <a:ext cx="8229600" cy="3817058"/>
          </a:xfrm>
        </p:spPr>
        <p:txBody>
          <a:bodyPr lIns="0" tIns="0" rIns="0" bIns="0"/>
          <a:lstStyle/>
          <a:p>
            <a:r>
              <a:rPr lang="en-US" altLang="en-US" dirty="0">
                <a:latin typeface="Arial (Body)"/>
                <a:ea typeface="ヒラギノ角ゴ Pro W3" pitchFamily="-84" charset="-128"/>
                <a:cs typeface="Arial" panose="020B0604020202020204" pitchFamily="34" charset="0"/>
              </a:rPr>
              <a:t>Partial equilibrium analysis of tariffs in a single industry: supply, demand, and trade</a:t>
            </a:r>
          </a:p>
          <a:p>
            <a:r>
              <a:rPr lang="en-US" altLang="en-US" dirty="0">
                <a:latin typeface="Arial (Body)"/>
                <a:ea typeface="ヒラギノ角ゴ Pro W3" pitchFamily="-84" charset="-128"/>
                <a:cs typeface="Arial" panose="020B0604020202020204" pitchFamily="34" charset="0"/>
              </a:rPr>
              <a:t>Costs and benefits of tariffs</a:t>
            </a:r>
          </a:p>
          <a:p>
            <a:r>
              <a:rPr lang="en-US" altLang="en-US" dirty="0">
                <a:latin typeface="Arial (Body)"/>
                <a:ea typeface="ヒラギノ角ゴ Pro W3" pitchFamily="-84" charset="-128"/>
                <a:cs typeface="Arial" panose="020B0604020202020204" pitchFamily="34" charset="0"/>
              </a:rPr>
              <a:t>Export subsidies</a:t>
            </a:r>
          </a:p>
          <a:p>
            <a:pPr eaLnBrk="1" hangingPunct="1"/>
            <a:r>
              <a:rPr lang="en-US" altLang="en-US" dirty="0">
                <a:latin typeface="Arial (Body)"/>
                <a:ea typeface="ヒラギノ角ゴ Pro W3" pitchFamily="-84" charset="-128"/>
                <a:cs typeface="Arial" panose="020B0604020202020204" pitchFamily="34" charset="0"/>
              </a:rPr>
              <a:t>Import quotas</a:t>
            </a:r>
          </a:p>
          <a:p>
            <a:pPr eaLnBrk="1" hangingPunct="1"/>
            <a:r>
              <a:rPr lang="en-US" altLang="en-US" dirty="0">
                <a:latin typeface="Arial (Body)"/>
                <a:ea typeface="ヒラギノ角ゴ Pro W3" pitchFamily="-84" charset="-128"/>
                <a:cs typeface="Arial" panose="020B0604020202020204" pitchFamily="34" charset="0"/>
              </a:rPr>
              <a:t>Voluntary export restraints</a:t>
            </a:r>
          </a:p>
          <a:p>
            <a:pPr eaLnBrk="1" hangingPunct="1"/>
            <a:r>
              <a:rPr lang="en-US" altLang="en-US" dirty="0">
                <a:latin typeface="Arial (Body)"/>
                <a:ea typeface="ヒラギノ角ゴ Pro W3" pitchFamily="-84" charset="-128"/>
                <a:cs typeface="Arial" panose="020B0604020202020204" pitchFamily="34" charset="0"/>
              </a:rPr>
              <a:t>Local content requirements</a:t>
            </a:r>
            <a:endParaRPr lang="en-US"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Types of Tariffs</a:t>
            </a:r>
            <a:endParaRPr lang="en-US" dirty="0"/>
          </a:p>
        </p:txBody>
      </p:sp>
      <p:sp>
        <p:nvSpPr>
          <p:cNvPr id="7" name="Content Placeholder 6"/>
          <p:cNvSpPr>
            <a:spLocks noGrp="1"/>
          </p:cNvSpPr>
          <p:nvPr>
            <p:ph sz="quarter" idx="13"/>
          </p:nvPr>
        </p:nvSpPr>
        <p:spPr>
          <a:xfrm>
            <a:off x="466603" y="1552575"/>
            <a:ext cx="8012380" cy="3743819"/>
          </a:xfrm>
        </p:spPr>
        <p:txBody>
          <a:bodyPr lIns="0" tIns="0" rIns="0" bIns="0"/>
          <a:lstStyle/>
          <a:p>
            <a:r>
              <a:rPr lang="en-US" altLang="en-US" dirty="0">
                <a:ea typeface="ヒラギノ角ゴ Pro W3" pitchFamily="-84" charset="-128"/>
              </a:rPr>
              <a:t>A tariff is a tax levied when a good is imported</a:t>
            </a:r>
            <a:r>
              <a:rPr lang="en-US" altLang="en-US" dirty="0" smtClean="0">
                <a:ea typeface="ヒラギノ角ゴ Pro W3" pitchFamily="-84" charset="-128"/>
              </a:rPr>
              <a:t>.</a:t>
            </a:r>
            <a:endParaRPr lang="en-US" altLang="en-US" dirty="0">
              <a:ea typeface="ヒラギノ角ゴ Pro W3" pitchFamily="-84" charset="-128"/>
            </a:endParaRPr>
          </a:p>
          <a:p>
            <a:r>
              <a:rPr lang="en-US" altLang="en-US" dirty="0">
                <a:ea typeface="ヒラギノ角ゴ Pro W3" pitchFamily="-84" charset="-128"/>
              </a:rPr>
              <a:t>A </a:t>
            </a:r>
            <a:r>
              <a:rPr lang="en-US" altLang="en-US" b="1" dirty="0">
                <a:ea typeface="ヒラギノ角ゴ Pro W3" pitchFamily="-84" charset="-128"/>
              </a:rPr>
              <a:t>specific tariff</a:t>
            </a:r>
            <a:r>
              <a:rPr lang="en-US" altLang="en-US" dirty="0">
                <a:ea typeface="ヒラギノ角ゴ Pro W3" pitchFamily="-84" charset="-128"/>
              </a:rPr>
              <a:t> is levied as a fixed charge for each unit of imported goods.</a:t>
            </a:r>
          </a:p>
          <a:p>
            <a:pPr lvl="1"/>
            <a:r>
              <a:rPr lang="en-US" altLang="en-US" dirty="0">
                <a:ea typeface="ヒラギノ角ゴ Pro W3" pitchFamily="-84" charset="-128"/>
              </a:rPr>
              <a:t>For example, </a:t>
            </a:r>
            <a:r>
              <a:rPr lang="en-US" altLang="en-US" dirty="0">
                <a:ea typeface="ヒラギノ角ゴ Pro W3" pitchFamily="-84" charset="-128"/>
                <a:cs typeface="Arial" panose="020B0604020202020204" pitchFamily="34" charset="0"/>
              </a:rPr>
              <a:t>$</a:t>
            </a:r>
            <a:r>
              <a:rPr lang="en-US" altLang="en-US" dirty="0">
                <a:ea typeface="ヒラギノ角ゴ Pro W3" pitchFamily="-84" charset="-128"/>
              </a:rPr>
              <a:t>3 per barrel of oil.</a:t>
            </a:r>
          </a:p>
          <a:p>
            <a:r>
              <a:rPr lang="en-US" altLang="en-US" dirty="0">
                <a:ea typeface="ヒラギノ角ゴ Pro W3" pitchFamily="-84" charset="-128"/>
              </a:rPr>
              <a:t>An </a:t>
            </a:r>
            <a:r>
              <a:rPr lang="en-US" altLang="en-US" b="1" dirty="0">
                <a:ea typeface="ヒラギノ角ゴ Pro W3" pitchFamily="-84" charset="-128"/>
              </a:rPr>
              <a:t>ad valorem tariff</a:t>
            </a:r>
            <a:r>
              <a:rPr lang="en-US" altLang="en-US" dirty="0">
                <a:ea typeface="ヒラギノ角ゴ Pro W3" pitchFamily="-84" charset="-128"/>
              </a:rPr>
              <a:t> is levied as a fraction of the value of imported goods.</a:t>
            </a:r>
          </a:p>
          <a:p>
            <a:pPr lvl="1"/>
            <a:r>
              <a:rPr lang="en-US" altLang="en-US" dirty="0">
                <a:ea typeface="ヒラギノ角ゴ Pro W3" pitchFamily="-84" charset="-128"/>
              </a:rPr>
              <a:t>For example, 25% tariff on the value of imported trucks.</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(1 of 4)</a:t>
            </a:r>
            <a:endParaRPr lang="en-US" dirty="0"/>
          </a:p>
        </p:txBody>
      </p:sp>
      <p:sp>
        <p:nvSpPr>
          <p:cNvPr id="7" name="Content Placeholder 6"/>
          <p:cNvSpPr>
            <a:spLocks noGrp="1"/>
          </p:cNvSpPr>
          <p:nvPr>
            <p:ph sz="quarter" idx="13"/>
          </p:nvPr>
        </p:nvSpPr>
        <p:spPr>
          <a:xfrm>
            <a:off x="457200" y="1552575"/>
            <a:ext cx="8229600" cy="2783119"/>
          </a:xfrm>
        </p:spPr>
        <p:txBody>
          <a:bodyPr lIns="0" tIns="0" rIns="0" bIns="0"/>
          <a:lstStyle/>
          <a:p>
            <a:pPr eaLnBrk="1" hangingPunct="1"/>
            <a:r>
              <a:rPr lang="en-US" altLang="en-US" dirty="0">
                <a:latin typeface="Arial (Body)"/>
                <a:ea typeface="ヒラギノ角ゴ Pro W3" pitchFamily="-84" charset="-128"/>
              </a:rPr>
              <a:t>Consider how a tariff affects a single market, say that of wheat.</a:t>
            </a:r>
          </a:p>
          <a:p>
            <a:r>
              <a:rPr lang="en-US" altLang="en-US" dirty="0">
                <a:latin typeface="Arial (Body)"/>
                <a:ea typeface="ヒラギノ角ゴ Pro W3" pitchFamily="-84" charset="-128"/>
              </a:rPr>
              <a:t>Suppose that in the absence of trade the price of wheat is higher in Home than it is in Foreign.</a:t>
            </a:r>
          </a:p>
          <a:p>
            <a:r>
              <a:rPr lang="en-US" altLang="en-US" dirty="0">
                <a:latin typeface="Arial (Body)"/>
                <a:ea typeface="ヒラギノ角ゴ Pro W3" pitchFamily="-84" charset="-128"/>
              </a:rPr>
              <a:t>With trade, wheat will be shipped from Foreign to Home until the price difference is eliminated.</a:t>
            </a:r>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(2 of 4)</a:t>
            </a:r>
            <a:endParaRPr lang="en-IN" sz="2000" dirty="0"/>
          </a:p>
        </p:txBody>
      </p:sp>
      <p:sp>
        <p:nvSpPr>
          <p:cNvPr id="8" name="Content Placeholder 7"/>
          <p:cNvSpPr>
            <a:spLocks noGrp="1"/>
          </p:cNvSpPr>
          <p:nvPr>
            <p:ph sz="quarter" idx="13"/>
          </p:nvPr>
        </p:nvSpPr>
        <p:spPr>
          <a:xfrm>
            <a:off x="457200" y="1552574"/>
            <a:ext cx="8229600" cy="1804401"/>
          </a:xfrm>
        </p:spPr>
        <p:txBody>
          <a:bodyPr/>
          <a:lstStyle/>
          <a:p>
            <a:pPr eaLnBrk="1" hangingPunct="1"/>
            <a:r>
              <a:rPr lang="en-US" altLang="en-US" dirty="0">
                <a:latin typeface="Arial (Body)"/>
                <a:ea typeface="ヒラギノ角ゴ Pro W3" pitchFamily="-84" charset="-128"/>
              </a:rPr>
              <a:t>An </a:t>
            </a:r>
            <a:r>
              <a:rPr lang="en-US" altLang="en-US" b="1" dirty="0">
                <a:latin typeface="Arial (Body)"/>
                <a:ea typeface="ヒラギノ角ゴ Pro W3" pitchFamily="-84" charset="-128"/>
              </a:rPr>
              <a:t>import demand</a:t>
            </a:r>
            <a:r>
              <a:rPr lang="en-US" altLang="en-US" dirty="0">
                <a:latin typeface="Arial (Body)"/>
                <a:ea typeface="ヒラギノ角ゴ Pro W3" pitchFamily="-84" charset="-128"/>
              </a:rPr>
              <a:t> curve is the difference between the quantity that Home consumers demand minus the quantity </a:t>
            </a:r>
            <a:r>
              <a:rPr lang="en-US" altLang="en-US" dirty="0" smtClean="0">
                <a:latin typeface="Arial (Body)"/>
                <a:ea typeface="ヒラギノ角ゴ Pro W3" pitchFamily="-84" charset="-128"/>
              </a:rPr>
              <a:t>that </a:t>
            </a:r>
            <a:r>
              <a:rPr lang="en-US" altLang="en-US" dirty="0">
                <a:latin typeface="Arial (Body)"/>
                <a:ea typeface="ヒラギノ角ゴ Pro W3" pitchFamily="-84" charset="-128"/>
              </a:rPr>
              <a:t>Home producers supply, at each price.</a:t>
            </a:r>
          </a:p>
          <a:p>
            <a:pPr eaLnBrk="1" hangingPunct="1"/>
            <a:r>
              <a:rPr lang="en-US" altLang="en-US" dirty="0">
                <a:latin typeface="Arial (Body)"/>
                <a:ea typeface="ヒラギノ角ゴ Pro W3" pitchFamily="-84" charset="-128"/>
              </a:rPr>
              <a:t>The Home import demand curve</a:t>
            </a:r>
          </a:p>
        </p:txBody>
      </p:sp>
      <p:graphicFrame>
        <p:nvGraphicFramePr>
          <p:cNvPr id="22" name="Object 21" descr="M D = D minus S"/>
          <p:cNvGraphicFramePr>
            <a:graphicFrameLocks noChangeAspect="1"/>
          </p:cNvGraphicFramePr>
          <p:nvPr>
            <p:extLst>
              <p:ext uri="{D42A27DB-BD31-4B8C-83A1-F6EECF244321}">
                <p14:modId xmlns:p14="http://schemas.microsoft.com/office/powerpoint/2010/main" val="453968154"/>
              </p:ext>
            </p:extLst>
          </p:nvPr>
        </p:nvGraphicFramePr>
        <p:xfrm>
          <a:off x="3884324" y="3432238"/>
          <a:ext cx="1375352" cy="316056"/>
        </p:xfrm>
        <a:graphic>
          <a:graphicData uri="http://schemas.openxmlformats.org/presentationml/2006/ole">
            <mc:AlternateContent xmlns:mc="http://schemas.openxmlformats.org/markup-compatibility/2006">
              <mc:Choice xmlns:v="urn:schemas-microsoft-com:vml" Requires="v">
                <p:oleObj spid="_x0000_s15434" name="Equation" r:id="rId3" imgW="774360" imgH="177480" progId="Equation.DSMT4">
                  <p:embed/>
                </p:oleObj>
              </mc:Choice>
              <mc:Fallback>
                <p:oleObj name="Equation" r:id="rId3" imgW="774360" imgH="177480" progId="Equation.DSMT4">
                  <p:embed/>
                  <p:pic>
                    <p:nvPicPr>
                      <p:cNvPr id="8" name="Object 7" descr="M D = D minus S"/>
                      <p:cNvPicPr/>
                      <p:nvPr/>
                    </p:nvPicPr>
                    <p:blipFill>
                      <a:blip r:embed="rId4"/>
                      <a:stretch>
                        <a:fillRect/>
                      </a:stretch>
                    </p:blipFill>
                    <p:spPr>
                      <a:xfrm>
                        <a:off x="3884324" y="3432238"/>
                        <a:ext cx="1375352" cy="316056"/>
                      </a:xfrm>
                      <a:prstGeom prst="rect">
                        <a:avLst/>
                      </a:prstGeom>
                    </p:spPr>
                  </p:pic>
                </p:oleObj>
              </mc:Fallback>
            </mc:AlternateContent>
          </a:graphicData>
        </a:graphic>
      </p:graphicFrame>
      <p:sp>
        <p:nvSpPr>
          <p:cNvPr id="9" name="Content Placeholder 8"/>
          <p:cNvSpPr>
            <a:spLocks noGrp="1"/>
          </p:cNvSpPr>
          <p:nvPr>
            <p:ph sz="quarter" idx="14"/>
          </p:nvPr>
        </p:nvSpPr>
        <p:spPr>
          <a:xfrm>
            <a:off x="457200" y="3823557"/>
            <a:ext cx="4031673" cy="410240"/>
          </a:xfrm>
        </p:spPr>
        <p:txBody>
          <a:bodyPr tIns="0"/>
          <a:lstStyle/>
          <a:p>
            <a:pPr marL="255600"/>
            <a:r>
              <a:rPr lang="en-US" altLang="en-US" dirty="0">
                <a:latin typeface="Arial (Body)"/>
                <a:ea typeface="ヒラギノ角ゴ Pro W3" pitchFamily="-84" charset="-128"/>
              </a:rPr>
              <a:t>intercepts the price axis at</a:t>
            </a:r>
            <a:endParaRPr lang="en-US" dirty="0"/>
          </a:p>
        </p:txBody>
      </p:sp>
      <p:graphicFrame>
        <p:nvGraphicFramePr>
          <p:cNvPr id="23" name="Object 22" descr="P sub A"/>
          <p:cNvGraphicFramePr>
            <a:graphicFrameLocks noChangeAspect="1"/>
          </p:cNvGraphicFramePr>
          <p:nvPr>
            <p:extLst>
              <p:ext uri="{D42A27DB-BD31-4B8C-83A1-F6EECF244321}">
                <p14:modId xmlns:p14="http://schemas.microsoft.com/office/powerpoint/2010/main" val="1315909845"/>
              </p:ext>
            </p:extLst>
          </p:nvPr>
        </p:nvGraphicFramePr>
        <p:xfrm>
          <a:off x="4571157" y="3823241"/>
          <a:ext cx="356746" cy="428094"/>
        </p:xfrm>
        <a:graphic>
          <a:graphicData uri="http://schemas.openxmlformats.org/presentationml/2006/ole">
            <mc:AlternateContent xmlns:mc="http://schemas.openxmlformats.org/markup-compatibility/2006">
              <mc:Choice xmlns:v="urn:schemas-microsoft-com:vml" Requires="v">
                <p:oleObj spid="_x0000_s15435" name="Equation" r:id="rId5" imgW="190440" imgH="228600" progId="Equation.DSMT4">
                  <p:embed/>
                </p:oleObj>
              </mc:Choice>
              <mc:Fallback>
                <p:oleObj name="Equation" r:id="rId5" imgW="190440" imgH="228600" progId="Equation.DSMT4">
                  <p:embed/>
                  <p:pic>
                    <p:nvPicPr>
                      <p:cNvPr id="11" name="Object 10" descr="P sub A"/>
                      <p:cNvPicPr/>
                      <p:nvPr/>
                    </p:nvPicPr>
                    <p:blipFill>
                      <a:blip r:embed="rId6"/>
                      <a:stretch>
                        <a:fillRect/>
                      </a:stretch>
                    </p:blipFill>
                    <p:spPr>
                      <a:xfrm>
                        <a:off x="4571157" y="3823241"/>
                        <a:ext cx="356746" cy="428094"/>
                      </a:xfrm>
                      <a:prstGeom prst="rect">
                        <a:avLst/>
                      </a:prstGeom>
                    </p:spPr>
                  </p:pic>
                </p:oleObj>
              </mc:Fallback>
            </mc:AlternateContent>
          </a:graphicData>
        </a:graphic>
      </p:graphicFrame>
      <p:sp>
        <p:nvSpPr>
          <p:cNvPr id="10" name="Content Placeholder 9"/>
          <p:cNvSpPr>
            <a:spLocks noGrp="1"/>
          </p:cNvSpPr>
          <p:nvPr>
            <p:ph sz="quarter" idx="15"/>
          </p:nvPr>
        </p:nvSpPr>
        <p:spPr>
          <a:xfrm>
            <a:off x="4996357" y="3823557"/>
            <a:ext cx="3583568" cy="410240"/>
          </a:xfrm>
        </p:spPr>
        <p:txBody>
          <a:bodyPr lIns="0" tIns="0" rIns="0"/>
          <a:lstStyle/>
          <a:p>
            <a:pPr marL="0" indent="-486918">
              <a:buNone/>
            </a:pPr>
            <a:r>
              <a:rPr lang="en-US" altLang="en-US" dirty="0">
                <a:latin typeface="Arial (Body)"/>
                <a:ea typeface="ヒラギノ角ゴ Pro W3" pitchFamily="-84" charset="-128"/>
              </a:rPr>
              <a:t>and is downward sloping:</a:t>
            </a:r>
            <a:endParaRPr lang="en-US" dirty="0"/>
          </a:p>
        </p:txBody>
      </p:sp>
      <p:sp>
        <p:nvSpPr>
          <p:cNvPr id="11" name="Content Placeholder 10"/>
          <p:cNvSpPr>
            <a:spLocks noGrp="1"/>
          </p:cNvSpPr>
          <p:nvPr>
            <p:ph sz="quarter" idx="16"/>
          </p:nvPr>
        </p:nvSpPr>
        <p:spPr>
          <a:xfrm>
            <a:off x="457200" y="4315348"/>
            <a:ext cx="8473858" cy="845376"/>
          </a:xfrm>
        </p:spPr>
        <p:txBody>
          <a:bodyPr tIns="0"/>
          <a:lstStyle/>
          <a:p>
            <a:pPr marL="740664" lvl="1" indent="-283464" eaLnBrk="1" hangingPunct="1"/>
            <a:r>
              <a:rPr lang="en-US" altLang="en-US" dirty="0">
                <a:latin typeface="Arial (Body)"/>
                <a:ea typeface="ヒラギノ角ゴ Pro W3" pitchFamily="-84" charset="-128"/>
              </a:rPr>
              <a:t>As price increases, the quantity of imports demanded declines.</a:t>
            </a:r>
            <a:endParaRPr lang="en-US" dirty="0"/>
          </a:p>
        </p:txBody>
      </p:sp>
    </p:spTree>
    <p:extLst>
      <p:ext uri="{BB962C8B-B14F-4D97-AF65-F5344CB8AC3E}">
        <p14:creationId xmlns:p14="http://schemas.microsoft.com/office/powerpoint/2010/main" val="414951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 Deriving Home’</a:t>
            </a:r>
            <a:r>
              <a:rPr lang="en-US" altLang="ja-JP" sz="3200" dirty="0">
                <a:ea typeface="ヒラギノ角ゴ Pro W3" pitchFamily="-84" charset="-128"/>
              </a:rPr>
              <a:t>s Import Demand Curve</a:t>
            </a:r>
            <a:endParaRPr lang="en-US" sz="3200" dirty="0"/>
          </a:p>
        </p:txBody>
      </p:sp>
      <p:pic>
        <p:nvPicPr>
          <p:cNvPr id="7" name="Content Placeholder 3" descr="Two graphs plot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099029" y="1575512"/>
            <a:ext cx="7142354" cy="3298737"/>
          </a:xfrm>
        </p:spPr>
      </p:pic>
      <p:sp>
        <p:nvSpPr>
          <p:cNvPr id="4" name="Content Placeholder 4"/>
          <p:cNvSpPr>
            <a:spLocks noGrp="1"/>
          </p:cNvSpPr>
          <p:nvPr>
            <p:ph sz="quarter" idx="14"/>
          </p:nvPr>
        </p:nvSpPr>
        <p:spPr>
          <a:xfrm>
            <a:off x="457200" y="5106390"/>
            <a:ext cx="8229599" cy="1238848"/>
          </a:xfrm>
        </p:spPr>
        <p:txBody>
          <a:bodyPr lIns="0" tIns="0" rIns="0" bIns="0"/>
          <a:lstStyle/>
          <a:p>
            <a:pPr marL="432" indent="0">
              <a:buNone/>
            </a:pPr>
            <a:r>
              <a:rPr lang="en-US" dirty="0">
                <a:latin typeface="Arial (Body)"/>
              </a:rPr>
              <a:t>As the price of the good increases, Home consumers demand less, while Home producers supply more, so that the demand for imports declines.</a:t>
            </a:r>
          </a:p>
        </p:txBody>
      </p:sp>
    </p:spTree>
    <p:extLst>
      <p:ext uri="{BB962C8B-B14F-4D97-AF65-F5344CB8AC3E}">
        <p14:creationId xmlns:p14="http://schemas.microsoft.com/office/powerpoint/2010/main" val="3701166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a:xfrm>
            <a:off x="457200" y="1552575"/>
            <a:ext cx="8229600" cy="1691750"/>
          </a:xfrm>
        </p:spPr>
        <p:txBody>
          <a:bodyPr lIns="0" tIns="0" rIns="0" bIns="0"/>
          <a:lstStyle/>
          <a:p>
            <a:r>
              <a:rPr lang="en-US" altLang="en-US" dirty="0"/>
              <a:t>An export supply curve is the difference between the quantity that Foreign producers supply minus the quantity that Foreign consumers demand, at each price.</a:t>
            </a:r>
          </a:p>
          <a:p>
            <a:r>
              <a:rPr lang="en-US" altLang="en-US" dirty="0"/>
              <a:t>The Foreign export supply curve</a:t>
            </a:r>
          </a:p>
        </p:txBody>
      </p:sp>
      <p:graphicFrame>
        <p:nvGraphicFramePr>
          <p:cNvPr id="24" name="Object 23" descr="X S asterisk = S asterisk minus D asterisk"/>
          <p:cNvGraphicFramePr>
            <a:graphicFrameLocks noChangeAspect="1"/>
          </p:cNvGraphicFramePr>
          <p:nvPr>
            <p:extLst>
              <p:ext uri="{D42A27DB-BD31-4B8C-83A1-F6EECF244321}">
                <p14:modId xmlns:p14="http://schemas.microsoft.com/office/powerpoint/2010/main" val="2683250684"/>
              </p:ext>
            </p:extLst>
          </p:nvPr>
        </p:nvGraphicFramePr>
        <p:xfrm>
          <a:off x="3782580" y="3398477"/>
          <a:ext cx="1578841" cy="405535"/>
        </p:xfrm>
        <a:graphic>
          <a:graphicData uri="http://schemas.openxmlformats.org/presentationml/2006/ole">
            <mc:AlternateContent xmlns:mc="http://schemas.openxmlformats.org/markup-compatibility/2006">
              <mc:Choice xmlns:v="urn:schemas-microsoft-com:vml" Requires="v">
                <p:oleObj spid="_x0000_s2226" name="Equation" r:id="rId3" imgW="888840" imgH="228600" progId="Equation.DSMT4">
                  <p:embed/>
                </p:oleObj>
              </mc:Choice>
              <mc:Fallback>
                <p:oleObj name="Equation" r:id="rId3" imgW="888840" imgH="228600" progId="Equation.DSMT4">
                  <p:embed/>
                  <p:pic>
                    <p:nvPicPr>
                      <p:cNvPr id="8" name="Object 7"/>
                      <p:cNvPicPr/>
                      <p:nvPr/>
                    </p:nvPicPr>
                    <p:blipFill>
                      <a:blip r:embed="rId4"/>
                      <a:stretch>
                        <a:fillRect/>
                      </a:stretch>
                    </p:blipFill>
                    <p:spPr>
                      <a:xfrm>
                        <a:off x="3782580" y="3398477"/>
                        <a:ext cx="1578841" cy="405535"/>
                      </a:xfrm>
                      <a:prstGeom prst="rect">
                        <a:avLst/>
                      </a:prstGeom>
                    </p:spPr>
                  </p:pic>
                </p:oleObj>
              </mc:Fallback>
            </mc:AlternateContent>
          </a:graphicData>
        </a:graphic>
      </p:graphicFrame>
      <p:sp>
        <p:nvSpPr>
          <p:cNvPr id="4" name="Content Placeholder 3"/>
          <p:cNvSpPr>
            <a:spLocks noGrp="1"/>
          </p:cNvSpPr>
          <p:nvPr>
            <p:ph sz="quarter" idx="14"/>
          </p:nvPr>
        </p:nvSpPr>
        <p:spPr>
          <a:xfrm>
            <a:off x="457200" y="3915043"/>
            <a:ext cx="3881438" cy="397947"/>
          </a:xfrm>
        </p:spPr>
        <p:txBody>
          <a:bodyPr lIns="0" tIns="0" rIns="0" bIns="0"/>
          <a:lstStyle/>
          <a:p>
            <a:r>
              <a:rPr lang="en-US" altLang="en-US" dirty="0">
                <a:latin typeface="Arial (Body)"/>
                <a:ea typeface="ヒラギノ角ゴ Pro W3" pitchFamily="-84" charset="-128"/>
              </a:rPr>
              <a:t>intersects the price axis at</a:t>
            </a:r>
            <a:endParaRPr lang="en-US" dirty="0">
              <a:latin typeface="Arial (Body)"/>
            </a:endParaRPr>
          </a:p>
        </p:txBody>
      </p:sp>
      <p:graphicFrame>
        <p:nvGraphicFramePr>
          <p:cNvPr id="48" name="Object 47" descr="P asterisk sub A"/>
          <p:cNvGraphicFramePr>
            <a:graphicFrameLocks noChangeAspect="1"/>
          </p:cNvGraphicFramePr>
          <p:nvPr>
            <p:extLst>
              <p:ext uri="{D42A27DB-BD31-4B8C-83A1-F6EECF244321}">
                <p14:modId xmlns:p14="http://schemas.microsoft.com/office/powerpoint/2010/main" val="439678175"/>
              </p:ext>
            </p:extLst>
          </p:nvPr>
        </p:nvGraphicFramePr>
        <p:xfrm>
          <a:off x="4419713" y="3906323"/>
          <a:ext cx="448143" cy="446894"/>
        </p:xfrm>
        <a:graphic>
          <a:graphicData uri="http://schemas.openxmlformats.org/presentationml/2006/ole">
            <mc:AlternateContent xmlns:mc="http://schemas.openxmlformats.org/markup-compatibility/2006">
              <mc:Choice xmlns:v="urn:schemas-microsoft-com:vml" Requires="v">
                <p:oleObj spid="_x0000_s2227" name="Equation" r:id="rId5" imgW="241200" imgH="241200" progId="Equation.DSMT4">
                  <p:embed/>
                </p:oleObj>
              </mc:Choice>
              <mc:Fallback>
                <p:oleObj name="Equation" r:id="rId5" imgW="241200" imgH="241200" progId="Equation.DSMT4">
                  <p:embed/>
                  <p:pic>
                    <p:nvPicPr>
                      <p:cNvPr id="13" name="Object 12"/>
                      <p:cNvPicPr/>
                      <p:nvPr/>
                    </p:nvPicPr>
                    <p:blipFill>
                      <a:blip r:embed="rId6"/>
                      <a:stretch>
                        <a:fillRect/>
                      </a:stretch>
                    </p:blipFill>
                    <p:spPr>
                      <a:xfrm>
                        <a:off x="4419713" y="3906323"/>
                        <a:ext cx="448143" cy="446894"/>
                      </a:xfrm>
                      <a:prstGeom prst="rect">
                        <a:avLst/>
                      </a:prstGeom>
                    </p:spPr>
                  </p:pic>
                </p:oleObj>
              </mc:Fallback>
            </mc:AlternateContent>
          </a:graphicData>
        </a:graphic>
      </p:graphicFrame>
      <p:sp>
        <p:nvSpPr>
          <p:cNvPr id="5" name="Content Placeholder 4"/>
          <p:cNvSpPr>
            <a:spLocks noGrp="1"/>
          </p:cNvSpPr>
          <p:nvPr>
            <p:ph sz="quarter" idx="15"/>
          </p:nvPr>
        </p:nvSpPr>
        <p:spPr>
          <a:xfrm>
            <a:off x="4966483" y="3921497"/>
            <a:ext cx="3298744" cy="412997"/>
          </a:xfrm>
        </p:spPr>
        <p:txBody>
          <a:bodyPr lIns="0" tIns="0" rIns="0" bIns="0"/>
          <a:lstStyle/>
          <a:p>
            <a:pPr marL="0" indent="0">
              <a:buNone/>
            </a:pPr>
            <a:r>
              <a:rPr lang="en-US" altLang="en-US" dirty="0">
                <a:latin typeface="Arial (Body)"/>
                <a:ea typeface="ヒラギノ角ゴ Pro W3" pitchFamily="-84" charset="-128"/>
              </a:rPr>
              <a:t>and is upward sloping:</a:t>
            </a:r>
            <a:endParaRPr lang="en-US" dirty="0">
              <a:latin typeface="Arial (Body)"/>
            </a:endParaRPr>
          </a:p>
        </p:txBody>
      </p:sp>
      <p:sp>
        <p:nvSpPr>
          <p:cNvPr id="6" name="Content Placeholder 5"/>
          <p:cNvSpPr>
            <a:spLocks noGrp="1"/>
          </p:cNvSpPr>
          <p:nvPr>
            <p:ph sz="quarter" idx="16"/>
          </p:nvPr>
        </p:nvSpPr>
        <p:spPr>
          <a:xfrm>
            <a:off x="457200" y="4456564"/>
            <a:ext cx="8229600" cy="846479"/>
          </a:xfrm>
        </p:spPr>
        <p:txBody>
          <a:bodyPr lIns="0" tIns="0" rIns="0" bIns="0"/>
          <a:lstStyle/>
          <a:p>
            <a:pPr lvl="1"/>
            <a:r>
              <a:rPr lang="en-US" altLang="en-US" dirty="0">
                <a:latin typeface="Arial (Body)"/>
                <a:ea typeface="ヒラギノ角ゴ Pro W3" pitchFamily="-84" charset="-128"/>
              </a:rPr>
              <a:t>As price increases, the quantity of exports supplied rises.</a:t>
            </a:r>
            <a:endParaRPr lang="en-US" dirty="0">
              <a:latin typeface="Arial (Body)"/>
            </a:endParaRPr>
          </a:p>
        </p:txBody>
      </p:sp>
    </p:spTree>
    <p:extLst>
      <p:ext uri="{BB962C8B-B14F-4D97-AF65-F5344CB8AC3E}">
        <p14:creationId xmlns:p14="http://schemas.microsoft.com/office/powerpoint/2010/main" val="388910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9.2 Deriving Foreign’</a:t>
            </a:r>
            <a:r>
              <a:rPr lang="en-US" altLang="ja-JP" sz="3200" dirty="0">
                <a:ea typeface="ヒラギノ角ゴ Pro W3" pitchFamily="-84" charset="-128"/>
              </a:rPr>
              <a:t>s Export Supply Curve</a:t>
            </a:r>
            <a:endParaRPr lang="en-US" sz="3200" dirty="0"/>
          </a:p>
        </p:txBody>
      </p:sp>
      <p:pic>
        <p:nvPicPr>
          <p:cNvPr id="5" name="Content Placeholder 3" descr="Two graphs plot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09013" y="1582771"/>
            <a:ext cx="7325975" cy="3445162"/>
          </a:xfrm>
        </p:spPr>
      </p:pic>
      <p:sp>
        <p:nvSpPr>
          <p:cNvPr id="4" name="Content Placeholder 4"/>
          <p:cNvSpPr>
            <a:spLocks noGrp="1"/>
          </p:cNvSpPr>
          <p:nvPr>
            <p:ph sz="quarter" idx="14"/>
          </p:nvPr>
        </p:nvSpPr>
        <p:spPr>
          <a:xfrm>
            <a:off x="457200" y="5342077"/>
            <a:ext cx="8229600" cy="987259"/>
          </a:xfrm>
        </p:spPr>
        <p:txBody>
          <a:bodyPr lIns="0" tIns="0" rIns="0" bIns="0"/>
          <a:lstStyle/>
          <a:p>
            <a:pPr marL="432" indent="0">
              <a:buNone/>
            </a:pPr>
            <a:r>
              <a:rPr lang="en-US" sz="2000" dirty="0">
                <a:latin typeface="Arial (Body)"/>
              </a:rPr>
              <a:t>As the price of the good rises, Foreign producers supply more while Foreign consumers demand less, so that the supply available for export rises.</a:t>
            </a:r>
          </a:p>
        </p:txBody>
      </p:sp>
    </p:spTree>
    <p:extLst>
      <p:ext uri="{BB962C8B-B14F-4D97-AF65-F5344CB8AC3E}">
        <p14:creationId xmlns:p14="http://schemas.microsoft.com/office/powerpoint/2010/main" val="319651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Supply, Demand, and Trade in a Single Industry </a:t>
            </a:r>
            <a:r>
              <a:rPr lang="en-US" altLang="en-US" sz="2000" b="0" dirty="0">
                <a:ea typeface="ヒラギノ角ゴ Pro W3" pitchFamily="-84" charset="-128"/>
              </a:rPr>
              <a:t>(4 of 4)</a:t>
            </a:r>
            <a:endParaRPr lang="en-US" dirty="0"/>
          </a:p>
        </p:txBody>
      </p:sp>
      <p:sp>
        <p:nvSpPr>
          <p:cNvPr id="3" name="Content Placeholder 2"/>
          <p:cNvSpPr>
            <a:spLocks noGrp="1"/>
          </p:cNvSpPr>
          <p:nvPr>
            <p:ph sz="quarter" idx="13"/>
          </p:nvPr>
        </p:nvSpPr>
        <p:spPr>
          <a:xfrm>
            <a:off x="466602" y="1552575"/>
            <a:ext cx="2157845" cy="359352"/>
          </a:xfrm>
        </p:spPr>
        <p:txBody>
          <a:bodyPr lIns="0" tIns="0" rIns="0" bIns="0"/>
          <a:lstStyle/>
          <a:p>
            <a:pPr eaLnBrk="1" hangingPunct="1"/>
            <a:r>
              <a:rPr lang="en-US" altLang="en-US" sz="2000" dirty="0">
                <a:latin typeface="Arial (Body)"/>
                <a:ea typeface="ヒラギノ角ゴ Pro W3" pitchFamily="-84" charset="-128"/>
              </a:rPr>
              <a:t>In equilibrium,</a:t>
            </a:r>
          </a:p>
        </p:txBody>
      </p:sp>
      <p:sp>
        <p:nvSpPr>
          <p:cNvPr id="4" name="Content Placeholder 3"/>
          <p:cNvSpPr>
            <a:spLocks noGrp="1"/>
          </p:cNvSpPr>
          <p:nvPr>
            <p:ph sz="quarter" idx="14"/>
          </p:nvPr>
        </p:nvSpPr>
        <p:spPr>
          <a:xfrm>
            <a:off x="467474" y="2034286"/>
            <a:ext cx="4057025" cy="364737"/>
          </a:xfrm>
        </p:spPr>
        <p:txBody>
          <a:bodyPr lIns="0" tIns="0" rIns="0" bIns="0"/>
          <a:lstStyle/>
          <a:p>
            <a:pPr marL="285750" indent="0" eaLnBrk="1" hangingPunct="1">
              <a:buNone/>
            </a:pPr>
            <a:r>
              <a:rPr lang="en-US" altLang="en-US" sz="2000" dirty="0">
                <a:latin typeface="Arial (Body)"/>
                <a:ea typeface="ヒラギノ角ゴ Pro W3" pitchFamily="-84" charset="-128"/>
              </a:rPr>
              <a:t>import demand = export supply,</a:t>
            </a:r>
          </a:p>
        </p:txBody>
      </p:sp>
      <p:graphicFrame>
        <p:nvGraphicFramePr>
          <p:cNvPr id="9" name="Object 8" descr="Home demand minus home supply = foreign supply minus foreign demand,"/>
          <p:cNvGraphicFramePr>
            <a:graphicFrameLocks noChangeAspect="1"/>
          </p:cNvGraphicFramePr>
          <p:nvPr>
            <p:extLst>
              <p:ext uri="{D42A27DB-BD31-4B8C-83A1-F6EECF244321}">
                <p14:modId xmlns:p14="http://schemas.microsoft.com/office/powerpoint/2010/main" val="2115173360"/>
              </p:ext>
            </p:extLst>
          </p:nvPr>
        </p:nvGraphicFramePr>
        <p:xfrm>
          <a:off x="735758" y="2560710"/>
          <a:ext cx="6858000" cy="318943"/>
        </p:xfrm>
        <a:graphic>
          <a:graphicData uri="http://schemas.openxmlformats.org/presentationml/2006/ole">
            <mc:AlternateContent xmlns:mc="http://schemas.openxmlformats.org/markup-compatibility/2006">
              <mc:Choice xmlns:v="urn:schemas-microsoft-com:vml" Requires="v">
                <p:oleObj spid="_x0000_s3162" name="Equation" r:id="rId3" imgW="4368600" imgH="203040" progId="Equation.DSMT4">
                  <p:embed/>
                </p:oleObj>
              </mc:Choice>
              <mc:Fallback>
                <p:oleObj name="Equation" r:id="rId3" imgW="4368600" imgH="203040" progId="Equation.DSMT4">
                  <p:embed/>
                  <p:pic>
                    <p:nvPicPr>
                      <p:cNvPr id="0" name=""/>
                      <p:cNvPicPr/>
                      <p:nvPr/>
                    </p:nvPicPr>
                    <p:blipFill>
                      <a:blip r:embed="rId4"/>
                      <a:stretch>
                        <a:fillRect/>
                      </a:stretch>
                    </p:blipFill>
                    <p:spPr>
                      <a:xfrm>
                        <a:off x="735758" y="2560710"/>
                        <a:ext cx="6858000" cy="318943"/>
                      </a:xfrm>
                      <a:prstGeom prst="rect">
                        <a:avLst/>
                      </a:prstGeom>
                    </p:spPr>
                  </p:pic>
                </p:oleObj>
              </mc:Fallback>
            </mc:AlternateContent>
          </a:graphicData>
        </a:graphic>
      </p:graphicFrame>
      <p:sp>
        <p:nvSpPr>
          <p:cNvPr id="5" name="Content Placeholder 4"/>
          <p:cNvSpPr>
            <a:spLocks noGrp="1"/>
          </p:cNvSpPr>
          <p:nvPr>
            <p:ph sz="quarter" idx="15"/>
          </p:nvPr>
        </p:nvSpPr>
        <p:spPr>
          <a:xfrm>
            <a:off x="457200" y="3041158"/>
            <a:ext cx="8229601" cy="877700"/>
          </a:xfrm>
        </p:spPr>
        <p:txBody>
          <a:bodyPr lIns="0" tIns="0" rIns="0" bIns="0"/>
          <a:lstStyle/>
          <a:p>
            <a:pPr marL="285750" indent="0" eaLnBrk="1" hangingPunct="1">
              <a:buNone/>
            </a:pPr>
            <a:r>
              <a:rPr lang="en-US" altLang="en-US" sz="2000" dirty="0">
                <a:latin typeface="Arial (Body)"/>
                <a:ea typeface="ヒラギノ角ゴ Pro W3" pitchFamily="-84" charset="-128"/>
              </a:rPr>
              <a:t>home demand + foreign demand = home supply + foreign supply,</a:t>
            </a:r>
          </a:p>
          <a:p>
            <a:pPr marL="285750" indent="0" eaLnBrk="1" hangingPunct="1">
              <a:buNone/>
            </a:pPr>
            <a:r>
              <a:rPr lang="en-US" altLang="en-US" sz="2000" dirty="0">
                <a:latin typeface="Arial (Body)"/>
                <a:ea typeface="ヒラギノ角ゴ Pro W3" pitchFamily="-84" charset="-128"/>
              </a:rPr>
              <a:t>world demand = world supply.</a:t>
            </a:r>
          </a:p>
        </p:txBody>
      </p:sp>
    </p:spTree>
    <p:extLst>
      <p:ext uri="{BB962C8B-B14F-4D97-AF65-F5344CB8AC3E}">
        <p14:creationId xmlns:p14="http://schemas.microsoft.com/office/powerpoint/2010/main" val="1026634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9.3 World Equilibrium</a:t>
            </a:r>
            <a:endParaRPr lang="en-US" dirty="0"/>
          </a:p>
        </p:txBody>
      </p:sp>
      <p:pic>
        <p:nvPicPr>
          <p:cNvPr id="6" name="Content Placeholder 3" descr="The graph plots price, P, versus quantity, Q. X S rises from y-intercept at P sub A asterisk; M D falls from y-intercept at P sub A.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10289" y="1557338"/>
            <a:ext cx="4123422" cy="3573631"/>
          </a:xfrm>
        </p:spPr>
      </p:pic>
      <p:sp>
        <p:nvSpPr>
          <p:cNvPr id="4" name="Content Placeholder 4"/>
          <p:cNvSpPr>
            <a:spLocks noGrp="1"/>
          </p:cNvSpPr>
          <p:nvPr>
            <p:ph sz="quarter" idx="14"/>
          </p:nvPr>
        </p:nvSpPr>
        <p:spPr>
          <a:xfrm>
            <a:off x="466604" y="5430084"/>
            <a:ext cx="8059880" cy="816338"/>
          </a:xfrm>
        </p:spPr>
        <p:txBody>
          <a:bodyPr lIns="0" tIns="0" rIns="0" bIns="0"/>
          <a:lstStyle/>
          <a:p>
            <a:pPr marL="432" indent="0">
              <a:buNone/>
            </a:pPr>
            <a:r>
              <a:rPr lang="en-US" dirty="0">
                <a:latin typeface="Arial (Body)"/>
              </a:rPr>
              <a:t>The equilibrium world price is where Home import demand (</a:t>
            </a:r>
            <a:r>
              <a:rPr lang="en-US" i="1" dirty="0">
                <a:latin typeface="Arial (Body)"/>
              </a:rPr>
              <a:t>M</a:t>
            </a:r>
            <a:r>
              <a:rPr lang="en-US" sz="200" i="1" dirty="0">
                <a:latin typeface="Arial (Body)"/>
              </a:rPr>
              <a:t> </a:t>
            </a:r>
            <a:r>
              <a:rPr lang="en-US" i="1" dirty="0">
                <a:latin typeface="Arial (Body)"/>
              </a:rPr>
              <a:t>D </a:t>
            </a:r>
            <a:r>
              <a:rPr lang="en-US" dirty="0">
                <a:latin typeface="Arial (Body)"/>
              </a:rPr>
              <a:t>curve) equals Foreign export supply (</a:t>
            </a:r>
            <a:r>
              <a:rPr lang="en-US" i="1" dirty="0">
                <a:latin typeface="Arial (Body)"/>
              </a:rPr>
              <a:t>X</a:t>
            </a:r>
            <a:r>
              <a:rPr lang="en-US" sz="200" i="1" dirty="0">
                <a:latin typeface="Arial (Body)"/>
              </a:rPr>
              <a:t> </a:t>
            </a:r>
            <a:r>
              <a:rPr lang="en-US" i="1" dirty="0">
                <a:latin typeface="Arial (Body)"/>
              </a:rPr>
              <a:t>S </a:t>
            </a:r>
            <a:r>
              <a:rPr lang="en-US" dirty="0">
                <a:latin typeface="Arial (Body)"/>
              </a:rPr>
              <a:t>curve).</a:t>
            </a:r>
            <a:endParaRPr lang="en-US" dirty="0"/>
          </a:p>
        </p:txBody>
      </p:sp>
    </p:spTree>
    <p:extLst>
      <p:ext uri="{BB962C8B-B14F-4D97-AF65-F5344CB8AC3E}">
        <p14:creationId xmlns:p14="http://schemas.microsoft.com/office/powerpoint/2010/main" val="58885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(1 of 4)</a:t>
            </a:r>
            <a:endParaRPr lang="en-US" dirty="0"/>
          </a:p>
        </p:txBody>
      </p:sp>
      <p:sp>
        <p:nvSpPr>
          <p:cNvPr id="3" name="Content Placeholder 2"/>
          <p:cNvSpPr>
            <a:spLocks noGrp="1"/>
          </p:cNvSpPr>
          <p:nvPr>
            <p:ph sz="quarter" idx="13"/>
          </p:nvPr>
        </p:nvSpPr>
        <p:spPr>
          <a:xfrm>
            <a:off x="457200" y="1552576"/>
            <a:ext cx="8021782" cy="1175218"/>
          </a:xfrm>
        </p:spPr>
        <p:txBody>
          <a:bodyPr lIns="0" tIns="0" rIns="0" bIns="0"/>
          <a:lstStyle/>
          <a:p>
            <a:r>
              <a:rPr lang="en-US" altLang="en-US" dirty="0">
                <a:latin typeface="Arial (Body)"/>
                <a:ea typeface="ヒラギノ角ゴ Pro W3" pitchFamily="-84" charset="-128"/>
              </a:rPr>
              <a:t>A tariff acts like a transportation cost, making sellers unwilling to ship goods unless the Home price exceeds the Foreign price by the amount of the tariff:</a:t>
            </a:r>
          </a:p>
        </p:txBody>
      </p:sp>
      <p:graphicFrame>
        <p:nvGraphicFramePr>
          <p:cNvPr id="5" name="Object 4" descr="P sub T minus lower t = P asterisk sub T"/>
          <p:cNvGraphicFramePr>
            <a:graphicFrameLocks noChangeAspect="1"/>
          </p:cNvGraphicFramePr>
          <p:nvPr>
            <p:extLst>
              <p:ext uri="{D42A27DB-BD31-4B8C-83A1-F6EECF244321}">
                <p14:modId xmlns:p14="http://schemas.microsoft.com/office/powerpoint/2010/main" val="4265780693"/>
              </p:ext>
            </p:extLst>
          </p:nvPr>
        </p:nvGraphicFramePr>
        <p:xfrm>
          <a:off x="3799635" y="2967720"/>
          <a:ext cx="1336911" cy="471003"/>
        </p:xfrm>
        <a:graphic>
          <a:graphicData uri="http://schemas.openxmlformats.org/presentationml/2006/ole">
            <mc:AlternateContent xmlns:mc="http://schemas.openxmlformats.org/markup-compatibility/2006">
              <mc:Choice xmlns:v="urn:schemas-microsoft-com:vml" Requires="v">
                <p:oleObj spid="_x0000_s4186" name="Equation" r:id="rId3" imgW="685800" imgH="241200" progId="Equation.DSMT4">
                  <p:embed/>
                </p:oleObj>
              </mc:Choice>
              <mc:Fallback>
                <p:oleObj name="Equation" r:id="rId3" imgW="685800" imgH="241200" progId="Equation.DSMT4">
                  <p:embed/>
                  <p:pic>
                    <p:nvPicPr>
                      <p:cNvPr id="0" name=""/>
                      <p:cNvPicPr/>
                      <p:nvPr/>
                    </p:nvPicPr>
                    <p:blipFill>
                      <a:blip r:embed="rId4"/>
                      <a:stretch>
                        <a:fillRect/>
                      </a:stretch>
                    </p:blipFill>
                    <p:spPr>
                      <a:xfrm>
                        <a:off x="3799635" y="2967720"/>
                        <a:ext cx="1336911" cy="471003"/>
                      </a:xfrm>
                      <a:prstGeom prst="rect">
                        <a:avLst/>
                      </a:prstGeom>
                    </p:spPr>
                  </p:pic>
                </p:oleObj>
              </mc:Fallback>
            </mc:AlternateContent>
          </a:graphicData>
        </a:graphic>
      </p:graphicFrame>
      <p:sp>
        <p:nvSpPr>
          <p:cNvPr id="4" name="Content Placeholder 3"/>
          <p:cNvSpPr>
            <a:spLocks noGrp="1"/>
          </p:cNvSpPr>
          <p:nvPr>
            <p:ph sz="quarter" idx="14"/>
          </p:nvPr>
        </p:nvSpPr>
        <p:spPr>
          <a:xfrm>
            <a:off x="457200" y="3760343"/>
            <a:ext cx="8229600" cy="914399"/>
          </a:xfrm>
        </p:spPr>
        <p:txBody>
          <a:bodyPr lIns="0" tIns="0" rIns="0" bIns="0"/>
          <a:lstStyle/>
          <a:p>
            <a:r>
              <a:rPr lang="en-US" altLang="en-US" dirty="0">
                <a:latin typeface="Arial (Body)"/>
                <a:ea typeface="ヒラギノ角ゴ Pro W3" pitchFamily="-84" charset="-128"/>
              </a:rPr>
              <a:t>A tariff makes the price rise in the Home market and fall in the Foreign market.</a:t>
            </a:r>
            <a:endParaRPr lang="en-US" dirty="0"/>
          </a:p>
        </p:txBody>
      </p:sp>
    </p:spTree>
    <p:extLst>
      <p:ext uri="{BB962C8B-B14F-4D97-AF65-F5344CB8AC3E}">
        <p14:creationId xmlns:p14="http://schemas.microsoft.com/office/powerpoint/2010/main" val="3035429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9.4 Effects of a Tariff</a:t>
            </a:r>
            <a:endParaRPr lang="en-US" dirty="0"/>
          </a:p>
        </p:txBody>
      </p:sp>
      <p:pic>
        <p:nvPicPr>
          <p:cNvPr id="5" name="Content Placeholder 2" descr="The 3 graphs show price, P versus quantity, Q. Graph 1 is the home market and the intersection of a rising S line and a falling D lin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28371" y="1648828"/>
            <a:ext cx="7687259" cy="3489519"/>
          </a:xfrm>
        </p:spPr>
      </p:pic>
      <p:sp>
        <p:nvSpPr>
          <p:cNvPr id="4" name="Content Placeholder 3"/>
          <p:cNvSpPr>
            <a:spLocks noGrp="1"/>
          </p:cNvSpPr>
          <p:nvPr>
            <p:ph sz="quarter" idx="14"/>
          </p:nvPr>
        </p:nvSpPr>
        <p:spPr>
          <a:xfrm>
            <a:off x="457200" y="5474525"/>
            <a:ext cx="8229600" cy="870713"/>
          </a:xfrm>
        </p:spPr>
        <p:txBody>
          <a:bodyPr lIns="0" tIns="0" rIns="0" bIns="0"/>
          <a:lstStyle/>
          <a:p>
            <a:pPr marL="432" indent="0">
              <a:buNone/>
            </a:pPr>
            <a:r>
              <a:rPr lang="en-US" dirty="0">
                <a:latin typeface="Arial (Body)"/>
              </a:rPr>
              <a:t>A tariff raises the price in Home while lowering the price in Foreign. The volume traded thus declines.</a:t>
            </a:r>
            <a:endParaRPr lang="en-US" dirty="0"/>
          </a:p>
        </p:txBody>
      </p:sp>
    </p:spTree>
    <p:extLst>
      <p:ext uri="{BB962C8B-B14F-4D97-AF65-F5344CB8AC3E}">
        <p14:creationId xmlns:p14="http://schemas.microsoft.com/office/powerpoint/2010/main" val="446582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a:xfrm>
            <a:off x="457199" y="1552574"/>
            <a:ext cx="7110413" cy="406855"/>
          </a:xfrm>
        </p:spPr>
        <p:txBody>
          <a:bodyPr lIns="0" tIns="0" rIns="0" bIns="0"/>
          <a:lstStyle/>
          <a:p>
            <a:pPr eaLnBrk="1" hangingPunct="1"/>
            <a:r>
              <a:rPr lang="en-US" altLang="en-US" dirty="0">
                <a:latin typeface="Arial (Body)"/>
                <a:ea typeface="ヒラギノ角ゴ Pro W3" pitchFamily="-84" charset="-128"/>
              </a:rPr>
              <a:t>Because the price in the Foreign market falls from</a:t>
            </a:r>
          </a:p>
        </p:txBody>
      </p:sp>
      <p:graphicFrame>
        <p:nvGraphicFramePr>
          <p:cNvPr id="17" name="Object 16" descr="P sub W"/>
          <p:cNvGraphicFramePr>
            <a:graphicFrameLocks noChangeAspect="1"/>
          </p:cNvGraphicFramePr>
          <p:nvPr>
            <p:extLst>
              <p:ext uri="{D42A27DB-BD31-4B8C-83A1-F6EECF244321}">
                <p14:modId xmlns:p14="http://schemas.microsoft.com/office/powerpoint/2010/main" val="894800275"/>
              </p:ext>
            </p:extLst>
          </p:nvPr>
        </p:nvGraphicFramePr>
        <p:xfrm>
          <a:off x="7631724" y="1562559"/>
          <a:ext cx="395980" cy="445477"/>
        </p:xfrm>
        <a:graphic>
          <a:graphicData uri="http://schemas.openxmlformats.org/presentationml/2006/ole">
            <mc:AlternateContent xmlns:mc="http://schemas.openxmlformats.org/markup-compatibility/2006">
              <mc:Choice xmlns:v="urn:schemas-microsoft-com:vml" Requires="v">
                <p:oleObj spid="_x0000_s5474" name="Equation" r:id="rId3" imgW="203040" imgH="228600" progId="Equation.DSMT4">
                  <p:embed/>
                </p:oleObj>
              </mc:Choice>
              <mc:Fallback>
                <p:oleObj name="Equation" r:id="rId3" imgW="203040" imgH="228600" progId="Equation.DSMT4">
                  <p:embed/>
                  <p:pic>
                    <p:nvPicPr>
                      <p:cNvPr id="17" name="Object 16"/>
                      <p:cNvPicPr/>
                      <p:nvPr/>
                    </p:nvPicPr>
                    <p:blipFill>
                      <a:blip r:embed="rId4"/>
                      <a:stretch>
                        <a:fillRect/>
                      </a:stretch>
                    </p:blipFill>
                    <p:spPr>
                      <a:xfrm>
                        <a:off x="7631724" y="1562559"/>
                        <a:ext cx="395980" cy="445477"/>
                      </a:xfrm>
                      <a:prstGeom prst="rect">
                        <a:avLst/>
                      </a:prstGeom>
                    </p:spPr>
                  </p:pic>
                </p:oleObj>
              </mc:Fallback>
            </mc:AlternateContent>
          </a:graphicData>
        </a:graphic>
      </p:graphicFrame>
      <p:sp>
        <p:nvSpPr>
          <p:cNvPr id="4" name="Content Placeholder 3"/>
          <p:cNvSpPr>
            <a:spLocks noGrp="1"/>
          </p:cNvSpPr>
          <p:nvPr>
            <p:ph sz="quarter" idx="14"/>
          </p:nvPr>
        </p:nvSpPr>
        <p:spPr>
          <a:xfrm>
            <a:off x="457200" y="2035664"/>
            <a:ext cx="2900063" cy="396000"/>
          </a:xfrm>
        </p:spPr>
        <p:txBody>
          <a:bodyPr lIns="0" tIns="0" rIns="0" bIns="0"/>
          <a:lstStyle/>
          <a:p>
            <a:pPr marL="255600" indent="0">
              <a:buNone/>
            </a:pPr>
            <a:r>
              <a:rPr lang="en-US" altLang="en-US" dirty="0">
                <a:latin typeface="Arial (Body)"/>
                <a:ea typeface="ヒラギノ角ゴ Pro W3" pitchFamily="-84" charset="-128"/>
              </a:rPr>
              <a:t>under free trade to</a:t>
            </a:r>
            <a:endParaRPr lang="en-US" dirty="0"/>
          </a:p>
        </p:txBody>
      </p:sp>
      <p:graphicFrame>
        <p:nvGraphicFramePr>
          <p:cNvPr id="18" name="Object 17" descr="P sub T"/>
          <p:cNvGraphicFramePr>
            <a:graphicFrameLocks noChangeAspect="1"/>
          </p:cNvGraphicFramePr>
          <p:nvPr>
            <p:extLst>
              <p:ext uri="{D42A27DB-BD31-4B8C-83A1-F6EECF244321}">
                <p14:modId xmlns:p14="http://schemas.microsoft.com/office/powerpoint/2010/main" val="1515618271"/>
              </p:ext>
            </p:extLst>
          </p:nvPr>
        </p:nvGraphicFramePr>
        <p:xfrm>
          <a:off x="3432982" y="2015560"/>
          <a:ext cx="371231" cy="445477"/>
        </p:xfrm>
        <a:graphic>
          <a:graphicData uri="http://schemas.openxmlformats.org/presentationml/2006/ole">
            <mc:AlternateContent xmlns:mc="http://schemas.openxmlformats.org/markup-compatibility/2006">
              <mc:Choice xmlns:v="urn:schemas-microsoft-com:vml" Requires="v">
                <p:oleObj spid="_x0000_s5475" name="Equation" r:id="rId5" imgW="190440" imgH="228600" progId="Equation.DSMT4">
                  <p:embed/>
                </p:oleObj>
              </mc:Choice>
              <mc:Fallback>
                <p:oleObj name="Equation" r:id="rId5" imgW="190440" imgH="228600" progId="Equation.DSMT4">
                  <p:embed/>
                  <p:pic>
                    <p:nvPicPr>
                      <p:cNvPr id="18" name="Object 17"/>
                      <p:cNvPicPr/>
                      <p:nvPr/>
                    </p:nvPicPr>
                    <p:blipFill>
                      <a:blip r:embed="rId6"/>
                      <a:stretch>
                        <a:fillRect/>
                      </a:stretch>
                    </p:blipFill>
                    <p:spPr>
                      <a:xfrm>
                        <a:off x="3432982" y="2015560"/>
                        <a:ext cx="371231" cy="445477"/>
                      </a:xfrm>
                      <a:prstGeom prst="rect">
                        <a:avLst/>
                      </a:prstGeom>
                    </p:spPr>
                  </p:pic>
                </p:oleObj>
              </mc:Fallback>
            </mc:AlternateContent>
          </a:graphicData>
        </a:graphic>
      </p:graphicFrame>
      <p:sp>
        <p:nvSpPr>
          <p:cNvPr id="5" name="Content Placeholder 4"/>
          <p:cNvSpPr>
            <a:spLocks noGrp="1"/>
          </p:cNvSpPr>
          <p:nvPr>
            <p:ph sz="quarter" idx="15"/>
          </p:nvPr>
        </p:nvSpPr>
        <p:spPr>
          <a:xfrm>
            <a:off x="3906614" y="2021150"/>
            <a:ext cx="2005883" cy="400133"/>
          </a:xfrm>
        </p:spPr>
        <p:txBody>
          <a:bodyPr lIns="0" tIns="0" rIns="0" bIns="0"/>
          <a:lstStyle/>
          <a:p>
            <a:pPr marL="432" indent="0">
              <a:buNone/>
            </a:pPr>
            <a:r>
              <a:rPr lang="en-US" altLang="en-US" dirty="0"/>
              <a:t>with the tariff,</a:t>
            </a:r>
            <a:endParaRPr lang="en-US" dirty="0"/>
          </a:p>
        </p:txBody>
      </p:sp>
      <p:sp>
        <p:nvSpPr>
          <p:cNvPr id="6" name="Content Placeholder 5"/>
          <p:cNvSpPr>
            <a:spLocks noGrp="1"/>
          </p:cNvSpPr>
          <p:nvPr>
            <p:ph sz="quarter" idx="16"/>
          </p:nvPr>
        </p:nvSpPr>
        <p:spPr>
          <a:xfrm>
            <a:off x="457200" y="2524532"/>
            <a:ext cx="8229600" cy="776808"/>
          </a:xfrm>
        </p:spPr>
        <p:txBody>
          <a:bodyPr lIns="0" tIns="0" rIns="0" bIns="0"/>
          <a:lstStyle/>
          <a:p>
            <a:pPr lvl="1"/>
            <a:r>
              <a:rPr lang="en-US" altLang="en-US" dirty="0">
                <a:latin typeface="Arial (Body)"/>
                <a:ea typeface="ヒラギノ角ゴ Pro W3" pitchFamily="-84" charset="-128"/>
              </a:rPr>
              <a:t>Home producers supply more and Home consumers demand less, so</a:t>
            </a:r>
            <a:endParaRPr lang="en-US" dirty="0"/>
          </a:p>
        </p:txBody>
      </p:sp>
      <p:sp>
        <p:nvSpPr>
          <p:cNvPr id="7" name="Content Placeholder 6"/>
          <p:cNvSpPr>
            <a:spLocks noGrp="1"/>
          </p:cNvSpPr>
          <p:nvPr>
            <p:ph sz="quarter" idx="17"/>
          </p:nvPr>
        </p:nvSpPr>
        <p:spPr>
          <a:xfrm>
            <a:off x="457199" y="3373256"/>
            <a:ext cx="5238995" cy="403097"/>
          </a:xfrm>
        </p:spPr>
        <p:txBody>
          <a:bodyPr lIns="0" tIns="0" rIns="0" bIns="0"/>
          <a:lstStyle/>
          <a:p>
            <a:pPr lvl="1"/>
            <a:r>
              <a:rPr lang="en-US" altLang="en-US" dirty="0">
                <a:latin typeface="Arial (Body)"/>
                <a:ea typeface="ヒラギノ角ゴ Pro W3" pitchFamily="-84" charset="-128"/>
              </a:rPr>
              <a:t>the quantity of imports falls from</a:t>
            </a:r>
            <a:endParaRPr lang="en-US" dirty="0"/>
          </a:p>
        </p:txBody>
      </p:sp>
      <p:graphicFrame>
        <p:nvGraphicFramePr>
          <p:cNvPr id="19" name="Object 18" descr="Q sub W"/>
          <p:cNvGraphicFramePr>
            <a:graphicFrameLocks noChangeAspect="1"/>
          </p:cNvGraphicFramePr>
          <p:nvPr>
            <p:extLst>
              <p:ext uri="{D42A27DB-BD31-4B8C-83A1-F6EECF244321}">
                <p14:modId xmlns:p14="http://schemas.microsoft.com/office/powerpoint/2010/main" val="3220040843"/>
              </p:ext>
            </p:extLst>
          </p:nvPr>
        </p:nvGraphicFramePr>
        <p:xfrm>
          <a:off x="5758114" y="3371861"/>
          <a:ext cx="420728" cy="445477"/>
        </p:xfrm>
        <a:graphic>
          <a:graphicData uri="http://schemas.openxmlformats.org/presentationml/2006/ole">
            <mc:AlternateContent xmlns:mc="http://schemas.openxmlformats.org/markup-compatibility/2006">
              <mc:Choice xmlns:v="urn:schemas-microsoft-com:vml" Requires="v">
                <p:oleObj spid="_x0000_s5476" name="Equation" r:id="rId7" imgW="215640" imgH="228600" progId="Equation.DSMT4">
                  <p:embed/>
                </p:oleObj>
              </mc:Choice>
              <mc:Fallback>
                <p:oleObj name="Equation" r:id="rId7" imgW="215640" imgH="228600" progId="Equation.DSMT4">
                  <p:embed/>
                  <p:pic>
                    <p:nvPicPr>
                      <p:cNvPr id="19" name="Object 18"/>
                      <p:cNvPicPr/>
                      <p:nvPr/>
                    </p:nvPicPr>
                    <p:blipFill>
                      <a:blip r:embed="rId8"/>
                      <a:stretch>
                        <a:fillRect/>
                      </a:stretch>
                    </p:blipFill>
                    <p:spPr>
                      <a:xfrm>
                        <a:off x="5758114" y="3371861"/>
                        <a:ext cx="420728" cy="445477"/>
                      </a:xfrm>
                      <a:prstGeom prst="rect">
                        <a:avLst/>
                      </a:prstGeom>
                    </p:spPr>
                  </p:pic>
                </p:oleObj>
              </mc:Fallback>
            </mc:AlternateContent>
          </a:graphicData>
        </a:graphic>
      </p:graphicFrame>
      <p:sp>
        <p:nvSpPr>
          <p:cNvPr id="8" name="Content Placeholder 7"/>
          <p:cNvSpPr>
            <a:spLocks noGrp="1"/>
          </p:cNvSpPr>
          <p:nvPr>
            <p:ph sz="quarter" idx="18"/>
          </p:nvPr>
        </p:nvSpPr>
        <p:spPr>
          <a:xfrm>
            <a:off x="6273583" y="3381844"/>
            <a:ext cx="2413217" cy="427235"/>
          </a:xfrm>
        </p:spPr>
        <p:txBody>
          <a:bodyPr lIns="0" tIns="0" rIns="0" bIns="0"/>
          <a:lstStyle/>
          <a:p>
            <a:pPr marL="0" lvl="1" indent="0">
              <a:buNone/>
            </a:pPr>
            <a:r>
              <a:rPr lang="en-US" altLang="en-US" dirty="0">
                <a:latin typeface="Arial (Body)"/>
                <a:ea typeface="ヒラギノ角ゴ Pro W3" pitchFamily="-84" charset="-128"/>
              </a:rPr>
              <a:t>under free trade</a:t>
            </a:r>
            <a:endParaRPr lang="en-US" dirty="0"/>
          </a:p>
        </p:txBody>
      </p:sp>
      <p:sp>
        <p:nvSpPr>
          <p:cNvPr id="9" name="Content Placeholder 8"/>
          <p:cNvSpPr>
            <a:spLocks noGrp="1"/>
          </p:cNvSpPr>
          <p:nvPr>
            <p:ph sz="quarter" idx="19"/>
          </p:nvPr>
        </p:nvSpPr>
        <p:spPr>
          <a:xfrm>
            <a:off x="457200" y="3853788"/>
            <a:ext cx="1134093" cy="413948"/>
          </a:xfrm>
        </p:spPr>
        <p:txBody>
          <a:bodyPr lIns="0" tIns="0" rIns="0" bIns="0"/>
          <a:lstStyle/>
          <a:p>
            <a:pPr marL="741600" lvl="1" indent="0">
              <a:buNone/>
            </a:pPr>
            <a:r>
              <a:rPr lang="en-US" dirty="0"/>
              <a:t>to</a:t>
            </a:r>
          </a:p>
        </p:txBody>
      </p:sp>
      <p:graphicFrame>
        <p:nvGraphicFramePr>
          <p:cNvPr id="20" name="Object 19" descr="Q sub T"/>
          <p:cNvGraphicFramePr>
            <a:graphicFrameLocks noChangeAspect="1"/>
          </p:cNvGraphicFramePr>
          <p:nvPr>
            <p:extLst>
              <p:ext uri="{D42A27DB-BD31-4B8C-83A1-F6EECF244321}">
                <p14:modId xmlns:p14="http://schemas.microsoft.com/office/powerpoint/2010/main" val="2888688740"/>
              </p:ext>
            </p:extLst>
          </p:nvPr>
        </p:nvGraphicFramePr>
        <p:xfrm>
          <a:off x="1629141" y="3862756"/>
          <a:ext cx="382480" cy="404979"/>
        </p:xfrm>
        <a:graphic>
          <a:graphicData uri="http://schemas.openxmlformats.org/presentationml/2006/ole">
            <mc:AlternateContent xmlns:mc="http://schemas.openxmlformats.org/markup-compatibility/2006">
              <mc:Choice xmlns:v="urn:schemas-microsoft-com:vml" Requires="v">
                <p:oleObj spid="_x0000_s5477" name="Equation" r:id="rId9" imgW="215640" imgH="228600" progId="Equation.DSMT4">
                  <p:embed/>
                </p:oleObj>
              </mc:Choice>
              <mc:Fallback>
                <p:oleObj name="Equation" r:id="rId9" imgW="215640" imgH="228600" progId="Equation.DSMT4">
                  <p:embed/>
                  <p:pic>
                    <p:nvPicPr>
                      <p:cNvPr id="20" name="Object 19"/>
                      <p:cNvPicPr/>
                      <p:nvPr/>
                    </p:nvPicPr>
                    <p:blipFill>
                      <a:blip r:embed="rId10"/>
                      <a:stretch>
                        <a:fillRect/>
                      </a:stretch>
                    </p:blipFill>
                    <p:spPr>
                      <a:xfrm>
                        <a:off x="1629141" y="3862756"/>
                        <a:ext cx="382480" cy="404979"/>
                      </a:xfrm>
                      <a:prstGeom prst="rect">
                        <a:avLst/>
                      </a:prstGeom>
                    </p:spPr>
                  </p:pic>
                </p:oleObj>
              </mc:Fallback>
            </mc:AlternateContent>
          </a:graphicData>
        </a:graphic>
      </p:graphicFrame>
      <p:sp>
        <p:nvSpPr>
          <p:cNvPr id="10" name="Content Placeholder 9"/>
          <p:cNvSpPr>
            <a:spLocks noGrp="1"/>
          </p:cNvSpPr>
          <p:nvPr>
            <p:ph sz="quarter" idx="20"/>
          </p:nvPr>
        </p:nvSpPr>
        <p:spPr>
          <a:xfrm>
            <a:off x="2106672" y="3846696"/>
            <a:ext cx="2215946" cy="428421"/>
          </a:xfrm>
        </p:spPr>
        <p:txBody>
          <a:bodyPr lIns="0" tIns="0" rIns="0" bIns="0"/>
          <a:lstStyle/>
          <a:p>
            <a:pPr marL="0" lvl="1" indent="0">
              <a:buNone/>
            </a:pPr>
            <a:r>
              <a:rPr lang="en-US" altLang="en-US" dirty="0">
                <a:latin typeface="Arial (Body)"/>
                <a:ea typeface="ヒラギノ角ゴ Pro W3" pitchFamily="-84" charset="-128"/>
              </a:rPr>
              <a:t>with the tariff.</a:t>
            </a:r>
          </a:p>
        </p:txBody>
      </p:sp>
    </p:spTree>
    <p:extLst>
      <p:ext uri="{BB962C8B-B14F-4D97-AF65-F5344CB8AC3E}">
        <p14:creationId xmlns:p14="http://schemas.microsoft.com/office/powerpoint/2010/main" val="3083244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(2 of 4)</a:t>
            </a:r>
            <a:endParaRPr lang="en-US" dirty="0"/>
          </a:p>
        </p:txBody>
      </p:sp>
      <p:sp>
        <p:nvSpPr>
          <p:cNvPr id="3" name="Content Placeholder 2"/>
          <p:cNvSpPr>
            <a:spLocks noGrp="1"/>
          </p:cNvSpPr>
          <p:nvPr>
            <p:ph sz="quarter" idx="13"/>
          </p:nvPr>
        </p:nvSpPr>
        <p:spPr>
          <a:xfrm>
            <a:off x="457200" y="1552574"/>
            <a:ext cx="7017805" cy="418730"/>
          </a:xfrm>
        </p:spPr>
        <p:txBody>
          <a:bodyPr lIns="0" tIns="0" rIns="0" bIns="0"/>
          <a:lstStyle/>
          <a:p>
            <a:pPr eaLnBrk="1" hangingPunct="1"/>
            <a:r>
              <a:rPr lang="en-US" altLang="en-US" dirty="0">
                <a:latin typeface="Arial (Body)"/>
                <a:ea typeface="ヒラギノ角ゴ Pro W3" pitchFamily="-84" charset="-128"/>
              </a:rPr>
              <a:t>Because the price in the Home market rises from</a:t>
            </a:r>
          </a:p>
        </p:txBody>
      </p:sp>
      <p:graphicFrame>
        <p:nvGraphicFramePr>
          <p:cNvPr id="17" name="Object 16" descr="P sub W"/>
          <p:cNvGraphicFramePr>
            <a:graphicFrameLocks noChangeAspect="1"/>
          </p:cNvGraphicFramePr>
          <p:nvPr>
            <p:extLst>
              <p:ext uri="{D42A27DB-BD31-4B8C-83A1-F6EECF244321}">
                <p14:modId xmlns:p14="http://schemas.microsoft.com/office/powerpoint/2010/main" val="3364766843"/>
              </p:ext>
            </p:extLst>
          </p:nvPr>
        </p:nvGraphicFramePr>
        <p:xfrm>
          <a:off x="7551214" y="1562559"/>
          <a:ext cx="395980" cy="445477"/>
        </p:xfrm>
        <a:graphic>
          <a:graphicData uri="http://schemas.openxmlformats.org/presentationml/2006/ole">
            <mc:AlternateContent xmlns:mc="http://schemas.openxmlformats.org/markup-compatibility/2006">
              <mc:Choice xmlns:v="urn:schemas-microsoft-com:vml" Requires="v">
                <p:oleObj spid="_x0000_s6498" name="Equation" r:id="rId3" imgW="203040" imgH="228600" progId="Equation.DSMT4">
                  <p:embed/>
                </p:oleObj>
              </mc:Choice>
              <mc:Fallback>
                <p:oleObj name="Equation" r:id="rId3" imgW="203040" imgH="228600" progId="Equation.DSMT4">
                  <p:embed/>
                  <p:pic>
                    <p:nvPicPr>
                      <p:cNvPr id="0" name=""/>
                      <p:cNvPicPr/>
                      <p:nvPr/>
                    </p:nvPicPr>
                    <p:blipFill>
                      <a:blip r:embed="rId4"/>
                      <a:stretch>
                        <a:fillRect/>
                      </a:stretch>
                    </p:blipFill>
                    <p:spPr>
                      <a:xfrm>
                        <a:off x="7551214" y="1562559"/>
                        <a:ext cx="395980" cy="445477"/>
                      </a:xfrm>
                      <a:prstGeom prst="rect">
                        <a:avLst/>
                      </a:prstGeom>
                    </p:spPr>
                  </p:pic>
                </p:oleObj>
              </mc:Fallback>
            </mc:AlternateContent>
          </a:graphicData>
        </a:graphic>
      </p:graphicFrame>
      <p:sp>
        <p:nvSpPr>
          <p:cNvPr id="4" name="Content Placeholder 3"/>
          <p:cNvSpPr>
            <a:spLocks noGrp="1"/>
          </p:cNvSpPr>
          <p:nvPr>
            <p:ph sz="quarter" idx="14"/>
          </p:nvPr>
        </p:nvSpPr>
        <p:spPr>
          <a:xfrm>
            <a:off x="457200" y="2030861"/>
            <a:ext cx="2898541" cy="403582"/>
          </a:xfrm>
        </p:spPr>
        <p:txBody>
          <a:bodyPr lIns="0" tIns="0" rIns="0" bIns="0"/>
          <a:lstStyle/>
          <a:p>
            <a:pPr marL="255600" indent="0">
              <a:buNone/>
            </a:pPr>
            <a:r>
              <a:rPr lang="en-US" altLang="en-US" dirty="0">
                <a:latin typeface="Arial (Body)"/>
                <a:ea typeface="ヒラギノ角ゴ Pro W3" pitchFamily="-84" charset="-128"/>
              </a:rPr>
              <a:t>under free trade to</a:t>
            </a:r>
            <a:endParaRPr lang="en-US" dirty="0"/>
          </a:p>
        </p:txBody>
      </p:sp>
      <p:graphicFrame>
        <p:nvGraphicFramePr>
          <p:cNvPr id="18" name="Object 17" descr="P asterisk sub T"/>
          <p:cNvGraphicFramePr>
            <a:graphicFrameLocks noChangeAspect="1"/>
          </p:cNvGraphicFramePr>
          <p:nvPr>
            <p:extLst>
              <p:ext uri="{D42A27DB-BD31-4B8C-83A1-F6EECF244321}">
                <p14:modId xmlns:p14="http://schemas.microsoft.com/office/powerpoint/2010/main" val="3761361280"/>
              </p:ext>
            </p:extLst>
          </p:nvPr>
        </p:nvGraphicFramePr>
        <p:xfrm>
          <a:off x="3426210" y="2019104"/>
          <a:ext cx="546427" cy="428543"/>
        </p:xfrm>
        <a:graphic>
          <a:graphicData uri="http://schemas.openxmlformats.org/presentationml/2006/ole">
            <mc:AlternateContent xmlns:mc="http://schemas.openxmlformats.org/markup-compatibility/2006">
              <mc:Choice xmlns:v="urn:schemas-microsoft-com:vml" Requires="v">
                <p:oleObj spid="_x0000_s6499" name="Equation" r:id="rId5" imgW="291960" imgH="228600" progId="Equation.DSMT4">
                  <p:embed/>
                </p:oleObj>
              </mc:Choice>
              <mc:Fallback>
                <p:oleObj name="Equation" r:id="rId5" imgW="291960" imgH="228600" progId="Equation.DSMT4">
                  <p:embed/>
                  <p:pic>
                    <p:nvPicPr>
                      <p:cNvPr id="0" name=""/>
                      <p:cNvPicPr/>
                      <p:nvPr/>
                    </p:nvPicPr>
                    <p:blipFill>
                      <a:blip r:embed="rId6"/>
                      <a:stretch>
                        <a:fillRect/>
                      </a:stretch>
                    </p:blipFill>
                    <p:spPr>
                      <a:xfrm>
                        <a:off x="3426210" y="2019104"/>
                        <a:ext cx="546427" cy="428543"/>
                      </a:xfrm>
                      <a:prstGeom prst="rect">
                        <a:avLst/>
                      </a:prstGeom>
                    </p:spPr>
                  </p:pic>
                </p:oleObj>
              </mc:Fallback>
            </mc:AlternateContent>
          </a:graphicData>
        </a:graphic>
      </p:graphicFrame>
      <p:sp>
        <p:nvSpPr>
          <p:cNvPr id="5" name="Content Placeholder 4"/>
          <p:cNvSpPr>
            <a:spLocks noGrp="1"/>
          </p:cNvSpPr>
          <p:nvPr>
            <p:ph sz="quarter" idx="15"/>
          </p:nvPr>
        </p:nvSpPr>
        <p:spPr>
          <a:xfrm>
            <a:off x="4023905" y="2016347"/>
            <a:ext cx="2005883" cy="418095"/>
          </a:xfrm>
        </p:spPr>
        <p:txBody>
          <a:bodyPr lIns="0" tIns="0" rIns="0" bIns="0"/>
          <a:lstStyle/>
          <a:p>
            <a:pPr marL="432" indent="0">
              <a:buNone/>
            </a:pPr>
            <a:r>
              <a:rPr lang="en-US" altLang="en-US" dirty="0"/>
              <a:t>with the tariff,</a:t>
            </a:r>
            <a:endParaRPr lang="en-US" dirty="0"/>
          </a:p>
        </p:txBody>
      </p:sp>
      <p:sp>
        <p:nvSpPr>
          <p:cNvPr id="6" name="Content Placeholder 5"/>
          <p:cNvSpPr>
            <a:spLocks noGrp="1"/>
          </p:cNvSpPr>
          <p:nvPr>
            <p:ph sz="quarter" idx="16"/>
          </p:nvPr>
        </p:nvSpPr>
        <p:spPr>
          <a:xfrm>
            <a:off x="457200" y="2530003"/>
            <a:ext cx="8019144" cy="795088"/>
          </a:xfrm>
        </p:spPr>
        <p:txBody>
          <a:bodyPr lIns="0" tIns="0" rIns="0" bIns="0"/>
          <a:lstStyle/>
          <a:p>
            <a:pPr lvl="1"/>
            <a:r>
              <a:rPr lang="en-US" altLang="en-US" dirty="0">
                <a:latin typeface="Arial (Body)"/>
                <a:ea typeface="ヒラギノ角ゴ Pro W3" pitchFamily="-84" charset="-128"/>
              </a:rPr>
              <a:t>Foreign producers supply less, and Foreign consumers demand more, so</a:t>
            </a:r>
          </a:p>
        </p:txBody>
      </p:sp>
      <p:sp>
        <p:nvSpPr>
          <p:cNvPr id="7" name="Content Placeholder 6"/>
          <p:cNvSpPr>
            <a:spLocks noGrp="1"/>
          </p:cNvSpPr>
          <p:nvPr>
            <p:ph sz="quarter" idx="17"/>
          </p:nvPr>
        </p:nvSpPr>
        <p:spPr>
          <a:xfrm>
            <a:off x="457200" y="3404078"/>
            <a:ext cx="5183579" cy="431651"/>
          </a:xfrm>
        </p:spPr>
        <p:txBody>
          <a:bodyPr lIns="0" tIns="0" rIns="0" bIns="0"/>
          <a:lstStyle/>
          <a:p>
            <a:pPr lvl="1"/>
            <a:r>
              <a:rPr lang="en-US" altLang="en-US" dirty="0"/>
              <a:t>the quantity of exports falls from</a:t>
            </a:r>
            <a:endParaRPr lang="en-US" dirty="0"/>
          </a:p>
        </p:txBody>
      </p:sp>
      <p:graphicFrame>
        <p:nvGraphicFramePr>
          <p:cNvPr id="19" name="Object 18" descr="Q sub W"/>
          <p:cNvGraphicFramePr>
            <a:graphicFrameLocks noChangeAspect="1"/>
          </p:cNvGraphicFramePr>
          <p:nvPr>
            <p:extLst>
              <p:ext uri="{D42A27DB-BD31-4B8C-83A1-F6EECF244321}">
                <p14:modId xmlns:p14="http://schemas.microsoft.com/office/powerpoint/2010/main" val="451125565"/>
              </p:ext>
            </p:extLst>
          </p:nvPr>
        </p:nvGraphicFramePr>
        <p:xfrm>
          <a:off x="5699580" y="3380409"/>
          <a:ext cx="462801" cy="490025"/>
        </p:xfrm>
        <a:graphic>
          <a:graphicData uri="http://schemas.openxmlformats.org/presentationml/2006/ole">
            <mc:AlternateContent xmlns:mc="http://schemas.openxmlformats.org/markup-compatibility/2006">
              <mc:Choice xmlns:v="urn:schemas-microsoft-com:vml" Requires="v">
                <p:oleObj spid="_x0000_s6500" name="Equation" r:id="rId7" imgW="215640" imgH="228600" progId="Equation.DSMT4">
                  <p:embed/>
                </p:oleObj>
              </mc:Choice>
              <mc:Fallback>
                <p:oleObj name="Equation" r:id="rId7" imgW="215640" imgH="228600" progId="Equation.DSMT4">
                  <p:embed/>
                  <p:pic>
                    <p:nvPicPr>
                      <p:cNvPr id="0" name=""/>
                      <p:cNvPicPr/>
                      <p:nvPr/>
                    </p:nvPicPr>
                    <p:blipFill>
                      <a:blip r:embed="rId8"/>
                      <a:stretch>
                        <a:fillRect/>
                      </a:stretch>
                    </p:blipFill>
                    <p:spPr>
                      <a:xfrm>
                        <a:off x="5699580" y="3380409"/>
                        <a:ext cx="462801" cy="490025"/>
                      </a:xfrm>
                      <a:prstGeom prst="rect">
                        <a:avLst/>
                      </a:prstGeom>
                    </p:spPr>
                  </p:pic>
                </p:oleObj>
              </mc:Fallback>
            </mc:AlternateContent>
          </a:graphicData>
        </a:graphic>
      </p:graphicFrame>
      <p:sp>
        <p:nvSpPr>
          <p:cNvPr id="8" name="Content Placeholder 7"/>
          <p:cNvSpPr>
            <a:spLocks noGrp="1"/>
          </p:cNvSpPr>
          <p:nvPr>
            <p:ph sz="quarter" idx="18"/>
          </p:nvPr>
        </p:nvSpPr>
        <p:spPr>
          <a:xfrm>
            <a:off x="6240911" y="3405616"/>
            <a:ext cx="406714" cy="429193"/>
          </a:xfrm>
        </p:spPr>
        <p:txBody>
          <a:bodyPr lIns="0" tIns="0" rIns="0" bIns="0"/>
          <a:lstStyle/>
          <a:p>
            <a:pPr marL="0" lvl="1" indent="0">
              <a:buNone/>
            </a:pPr>
            <a:r>
              <a:rPr lang="en-US" altLang="en-US" dirty="0"/>
              <a:t>to</a:t>
            </a:r>
            <a:endParaRPr lang="en-US" dirty="0"/>
          </a:p>
        </p:txBody>
      </p:sp>
      <p:graphicFrame>
        <p:nvGraphicFramePr>
          <p:cNvPr id="20" name="Object 19" descr="Q sub T."/>
          <p:cNvGraphicFramePr>
            <a:graphicFrameLocks noChangeAspect="1"/>
          </p:cNvGraphicFramePr>
          <p:nvPr>
            <p:extLst>
              <p:ext uri="{D42A27DB-BD31-4B8C-83A1-F6EECF244321}">
                <p14:modId xmlns:p14="http://schemas.microsoft.com/office/powerpoint/2010/main" val="1328330583"/>
              </p:ext>
            </p:extLst>
          </p:nvPr>
        </p:nvGraphicFramePr>
        <p:xfrm>
          <a:off x="6716709" y="3391540"/>
          <a:ext cx="513758" cy="464201"/>
        </p:xfrm>
        <a:graphic>
          <a:graphicData uri="http://schemas.openxmlformats.org/presentationml/2006/ole">
            <mc:AlternateContent xmlns:mc="http://schemas.openxmlformats.org/markup-compatibility/2006">
              <mc:Choice xmlns:v="urn:schemas-microsoft-com:vml" Requires="v">
                <p:oleObj spid="_x0000_s6501" name="Equation" r:id="rId9" imgW="253800" imgH="228600" progId="Equation.DSMT4">
                  <p:embed/>
                </p:oleObj>
              </mc:Choice>
              <mc:Fallback>
                <p:oleObj name="Equation" r:id="rId9" imgW="253800" imgH="228600" progId="Equation.DSMT4">
                  <p:embed/>
                  <p:pic>
                    <p:nvPicPr>
                      <p:cNvPr id="0" name=""/>
                      <p:cNvPicPr/>
                      <p:nvPr/>
                    </p:nvPicPr>
                    <p:blipFill>
                      <a:blip r:embed="rId10"/>
                      <a:stretch>
                        <a:fillRect/>
                      </a:stretch>
                    </p:blipFill>
                    <p:spPr>
                      <a:xfrm>
                        <a:off x="6716709" y="3391540"/>
                        <a:ext cx="513758" cy="464201"/>
                      </a:xfrm>
                      <a:prstGeom prst="rect">
                        <a:avLst/>
                      </a:prstGeom>
                    </p:spPr>
                  </p:pic>
                </p:oleObj>
              </mc:Fallback>
            </mc:AlternateContent>
          </a:graphicData>
        </a:graphic>
      </p:graphicFrame>
    </p:spTree>
    <p:extLst>
      <p:ext uri="{BB962C8B-B14F-4D97-AF65-F5344CB8AC3E}">
        <p14:creationId xmlns:p14="http://schemas.microsoft.com/office/powerpoint/2010/main" val="3021024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dirty="0">
                <a:ea typeface="ヒラギノ角ゴ Pro W3" pitchFamily="-84" charset="-128"/>
              </a:rPr>
              <a:t>Effects of a Tariff </a:t>
            </a:r>
            <a:r>
              <a:rPr lang="en-US" altLang="en-US" sz="2000" b="0" dirty="0">
                <a:ea typeface="ヒラギノ角ゴ Pro W3" pitchFamily="-84" charset="-128"/>
              </a:rPr>
              <a:t>(4 of 4)</a:t>
            </a:r>
            <a:endParaRPr lang="en-US" dirty="0"/>
          </a:p>
        </p:txBody>
      </p:sp>
      <p:sp>
        <p:nvSpPr>
          <p:cNvPr id="18" name="Content Placeholder 17"/>
          <p:cNvSpPr>
            <a:spLocks noGrp="1"/>
          </p:cNvSpPr>
          <p:nvPr>
            <p:ph sz="quarter" idx="13"/>
          </p:nvPr>
        </p:nvSpPr>
        <p:spPr>
          <a:xfrm>
            <a:off x="457200" y="1556328"/>
            <a:ext cx="8229600" cy="837552"/>
          </a:xfrm>
        </p:spPr>
        <p:txBody>
          <a:bodyPr lIns="0" tIns="0" rIns="0" bIns="0"/>
          <a:lstStyle/>
          <a:p>
            <a:r>
              <a:rPr lang="en-US" altLang="en-US" dirty="0">
                <a:latin typeface="Arial (Body)"/>
                <a:ea typeface="ヒラギノ角ゴ Pro W3" pitchFamily="-84" charset="-128"/>
              </a:rPr>
              <a:t>The quantity of Home imports demanded equals the quantity of Foreign exports supplied when</a:t>
            </a:r>
          </a:p>
        </p:txBody>
      </p:sp>
      <p:graphicFrame>
        <p:nvGraphicFramePr>
          <p:cNvPr id="20" name="Object 19" descr="P sub T minus P asterisk sub T = t"/>
          <p:cNvGraphicFramePr>
            <a:graphicFrameLocks noChangeAspect="1"/>
          </p:cNvGraphicFramePr>
          <p:nvPr>
            <p:extLst>
              <p:ext uri="{D42A27DB-BD31-4B8C-83A1-F6EECF244321}">
                <p14:modId xmlns:p14="http://schemas.microsoft.com/office/powerpoint/2010/main" val="1001985526"/>
              </p:ext>
            </p:extLst>
          </p:nvPr>
        </p:nvGraphicFramePr>
        <p:xfrm>
          <a:off x="3879273" y="2497713"/>
          <a:ext cx="1385455" cy="469690"/>
        </p:xfrm>
        <a:graphic>
          <a:graphicData uri="http://schemas.openxmlformats.org/presentationml/2006/ole">
            <mc:AlternateContent xmlns:mc="http://schemas.openxmlformats.org/markup-compatibility/2006">
              <mc:Choice xmlns:v="urn:schemas-microsoft-com:vml" Requires="v">
                <p:oleObj spid="_x0000_s7258" name="Equation" r:id="rId3" imgW="711000" imgH="241200" progId="Equation.DSMT4">
                  <p:embed/>
                </p:oleObj>
              </mc:Choice>
              <mc:Fallback>
                <p:oleObj name="Equation" r:id="rId3" imgW="711000" imgH="241200" progId="Equation.DSMT4">
                  <p:embed/>
                  <p:pic>
                    <p:nvPicPr>
                      <p:cNvPr id="0" name=""/>
                      <p:cNvPicPr/>
                      <p:nvPr/>
                    </p:nvPicPr>
                    <p:blipFill>
                      <a:blip r:embed="rId4"/>
                      <a:stretch>
                        <a:fillRect/>
                      </a:stretch>
                    </p:blipFill>
                    <p:spPr>
                      <a:xfrm>
                        <a:off x="3879273" y="2497713"/>
                        <a:ext cx="1385455" cy="469690"/>
                      </a:xfrm>
                      <a:prstGeom prst="rect">
                        <a:avLst/>
                      </a:prstGeom>
                    </p:spPr>
                  </p:pic>
                </p:oleObj>
              </mc:Fallback>
            </mc:AlternateContent>
          </a:graphicData>
        </a:graphic>
      </p:graphicFrame>
      <p:sp>
        <p:nvSpPr>
          <p:cNvPr id="19" name="Content Placeholder 18"/>
          <p:cNvSpPr>
            <a:spLocks noGrp="1"/>
          </p:cNvSpPr>
          <p:nvPr>
            <p:ph sz="quarter" idx="14"/>
          </p:nvPr>
        </p:nvSpPr>
        <p:spPr>
          <a:xfrm>
            <a:off x="457200" y="3071237"/>
            <a:ext cx="8045532" cy="2153906"/>
          </a:xfrm>
        </p:spPr>
        <p:txBody>
          <a:bodyPr lIns="0" tIns="0" rIns="0" bIns="0"/>
          <a:lstStyle/>
          <a:p>
            <a:r>
              <a:rPr lang="en-US" altLang="en-US" dirty="0">
                <a:latin typeface="Arial (Body)"/>
                <a:ea typeface="ヒラギノ角ゴ Pro W3" pitchFamily="-84" charset="-128"/>
              </a:rPr>
              <a:t>The increase in the price in Home can be less than the amount of the tariff.</a:t>
            </a:r>
          </a:p>
          <a:p>
            <a:pPr lvl="1"/>
            <a:r>
              <a:rPr lang="en-US" altLang="en-US" dirty="0">
                <a:latin typeface="Arial (Body)"/>
                <a:ea typeface="ヒラギノ角ゴ Pro W3" pitchFamily="-84" charset="-128"/>
              </a:rPr>
              <a:t>Part of the effect of the tariff causes the Foreign export price to decline.</a:t>
            </a:r>
          </a:p>
          <a:p>
            <a:pPr lvl="1"/>
            <a:r>
              <a:rPr lang="en-US" altLang="en-US" dirty="0">
                <a:latin typeface="Arial (Body)"/>
                <a:ea typeface="ヒラギノ角ゴ Pro W3" pitchFamily="-84" charset="-128"/>
              </a:rPr>
              <a:t>But this effect is sometimes very small.</a:t>
            </a:r>
            <a:endParaRPr lang="en-US" dirty="0"/>
          </a:p>
        </p:txBody>
      </p:sp>
    </p:spTree>
    <p:extLst>
      <p:ext uri="{BB962C8B-B14F-4D97-AF65-F5344CB8AC3E}">
        <p14:creationId xmlns:p14="http://schemas.microsoft.com/office/powerpoint/2010/main" val="956398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 Tariff in a Small Country</a:t>
            </a:r>
            <a:endParaRPr lang="en-US" dirty="0"/>
          </a:p>
        </p:txBody>
      </p:sp>
      <p:sp>
        <p:nvSpPr>
          <p:cNvPr id="3" name="Content Placeholder 2"/>
          <p:cNvSpPr>
            <a:spLocks noGrp="1"/>
          </p:cNvSpPr>
          <p:nvPr>
            <p:ph sz="quarter" idx="13"/>
          </p:nvPr>
        </p:nvSpPr>
        <p:spPr>
          <a:xfrm>
            <a:off x="457200" y="1552576"/>
            <a:ext cx="8232128" cy="1146516"/>
          </a:xfrm>
        </p:spPr>
        <p:txBody>
          <a:bodyPr lIns="0" tIns="0" rIns="0" bIns="0"/>
          <a:lstStyle/>
          <a:p>
            <a:pPr eaLnBrk="1" hangingPunct="1"/>
            <a:r>
              <a:rPr lang="en-US" altLang="en-US" dirty="0">
                <a:ea typeface="ヒラギノ角ゴ Pro W3" pitchFamily="-84" charset="-128"/>
              </a:rPr>
              <a:t>When a country is “</a:t>
            </a:r>
            <a:r>
              <a:rPr lang="en-US" altLang="ja-JP" dirty="0">
                <a:ea typeface="ヒラギノ角ゴ Pro W3" pitchFamily="-84" charset="-128"/>
              </a:rPr>
              <a:t>small,” it has no effect on the foreign (world) price because its demand is an insignificant part of world demand for the good.</a:t>
            </a:r>
            <a:endParaRPr lang="en-US" altLang="en-US" i="1" dirty="0">
              <a:ea typeface="ヒラギノ角ゴ Pro W3" pitchFamily="-84" charset="-128"/>
            </a:endParaRPr>
          </a:p>
        </p:txBody>
      </p:sp>
      <p:sp>
        <p:nvSpPr>
          <p:cNvPr id="4" name="Content Placeholder 3"/>
          <p:cNvSpPr>
            <a:spLocks noGrp="1"/>
          </p:cNvSpPr>
          <p:nvPr>
            <p:ph sz="quarter" idx="14"/>
          </p:nvPr>
        </p:nvSpPr>
        <p:spPr>
          <a:xfrm>
            <a:off x="457200" y="2771812"/>
            <a:ext cx="7035799" cy="434525"/>
          </a:xfrm>
        </p:spPr>
        <p:txBody>
          <a:bodyPr lIns="0" tIns="0" rIns="0" bIns="0"/>
          <a:lstStyle/>
          <a:p>
            <a:pPr lvl="1" indent="-284400" eaLnBrk="1" hangingPunct="1"/>
            <a:r>
              <a:rPr lang="en-US" altLang="en-US" dirty="0">
                <a:latin typeface="Arial (Body)"/>
                <a:ea typeface="ヒラギノ角ゴ Pro W3" pitchFamily="-84" charset="-128"/>
              </a:rPr>
              <a:t>The foreign price does not fall, but remains at</a:t>
            </a:r>
            <a:endParaRPr lang="en-US" altLang="en-US" i="1" dirty="0">
              <a:latin typeface="Arial (Body)"/>
              <a:ea typeface="ヒラギノ角ゴ Pro W3" pitchFamily="-84" charset="-128"/>
            </a:endParaRPr>
          </a:p>
        </p:txBody>
      </p:sp>
      <p:graphicFrame>
        <p:nvGraphicFramePr>
          <p:cNvPr id="6" name="Object 5" descr="P sub W."/>
          <p:cNvGraphicFramePr>
            <a:graphicFrameLocks noChangeAspect="1"/>
          </p:cNvGraphicFramePr>
          <p:nvPr>
            <p:extLst>
              <p:ext uri="{D42A27DB-BD31-4B8C-83A1-F6EECF244321}">
                <p14:modId xmlns:p14="http://schemas.microsoft.com/office/powerpoint/2010/main" val="440420609"/>
              </p:ext>
            </p:extLst>
          </p:nvPr>
        </p:nvGraphicFramePr>
        <p:xfrm>
          <a:off x="7550262" y="2760093"/>
          <a:ext cx="469900" cy="446087"/>
        </p:xfrm>
        <a:graphic>
          <a:graphicData uri="http://schemas.openxmlformats.org/presentationml/2006/ole">
            <mc:AlternateContent xmlns:mc="http://schemas.openxmlformats.org/markup-compatibility/2006">
              <mc:Choice xmlns:v="urn:schemas-microsoft-com:vml" Requires="v">
                <p:oleObj spid="_x0000_s8370" name="Equation" r:id="rId3" imgW="241200" imgH="228600" progId="Equation.DSMT4">
                  <p:embed/>
                </p:oleObj>
              </mc:Choice>
              <mc:Fallback>
                <p:oleObj name="Equation" r:id="rId3" imgW="241200" imgH="228600" progId="Equation.DSMT4">
                  <p:embed/>
                  <p:pic>
                    <p:nvPicPr>
                      <p:cNvPr id="0" name=""/>
                      <p:cNvPicPr/>
                      <p:nvPr/>
                    </p:nvPicPr>
                    <p:blipFill>
                      <a:blip r:embed="rId4"/>
                      <a:stretch>
                        <a:fillRect/>
                      </a:stretch>
                    </p:blipFill>
                    <p:spPr>
                      <a:xfrm>
                        <a:off x="7550262" y="2760093"/>
                        <a:ext cx="469900" cy="446087"/>
                      </a:xfrm>
                      <a:prstGeom prst="rect">
                        <a:avLst/>
                      </a:prstGeom>
                    </p:spPr>
                  </p:pic>
                </p:oleObj>
              </mc:Fallback>
            </mc:AlternateContent>
          </a:graphicData>
        </a:graphic>
      </p:graphicFrame>
      <p:sp>
        <p:nvSpPr>
          <p:cNvPr id="8" name="Content Placeholder 4"/>
          <p:cNvSpPr>
            <a:spLocks noGrp="1"/>
          </p:cNvSpPr>
          <p:nvPr>
            <p:ph sz="quarter" idx="15"/>
          </p:nvPr>
        </p:nvSpPr>
        <p:spPr>
          <a:xfrm>
            <a:off x="457201" y="3311479"/>
            <a:ext cx="8232127" cy="412197"/>
          </a:xfrm>
        </p:spPr>
        <p:txBody>
          <a:bodyPr lIns="0" tIns="0" rIns="0" bIns="0"/>
          <a:lstStyle/>
          <a:p>
            <a:pPr lvl="1" indent="-284400"/>
            <a:r>
              <a:rPr lang="en-US" altLang="en-US" dirty="0">
                <a:latin typeface="Arial (Body)"/>
                <a:ea typeface="ヒラギノ角ゴ Pro W3" pitchFamily="-84" charset="-128"/>
              </a:rPr>
              <a:t>The price in the home market rises by the full amount</a:t>
            </a:r>
            <a:endParaRPr lang="en-US" dirty="0"/>
          </a:p>
        </p:txBody>
      </p:sp>
      <p:sp>
        <p:nvSpPr>
          <p:cNvPr id="9" name="Content Placeholder 5"/>
          <p:cNvSpPr>
            <a:spLocks noGrp="1"/>
          </p:cNvSpPr>
          <p:nvPr>
            <p:ph sz="quarter" idx="16"/>
          </p:nvPr>
        </p:nvSpPr>
        <p:spPr>
          <a:xfrm>
            <a:off x="457202" y="3797563"/>
            <a:ext cx="2736000" cy="418176"/>
          </a:xfrm>
        </p:spPr>
        <p:txBody>
          <a:bodyPr lIns="0" tIns="0" rIns="0" bIns="0"/>
          <a:lstStyle/>
          <a:p>
            <a:pPr marL="741600" lvl="1" indent="0">
              <a:buNone/>
            </a:pPr>
            <a:r>
              <a:rPr lang="en-US" altLang="en-US" dirty="0">
                <a:latin typeface="Arial (Body)"/>
                <a:ea typeface="ヒラギノ角ゴ Pro W3" pitchFamily="-84" charset="-128"/>
              </a:rPr>
              <a:t>of the tariff, to</a:t>
            </a:r>
            <a:endParaRPr lang="en-US" dirty="0"/>
          </a:p>
        </p:txBody>
      </p:sp>
      <p:graphicFrame>
        <p:nvGraphicFramePr>
          <p:cNvPr id="7" name="Object 6" descr="P sub T = P sub W + lower t."/>
          <p:cNvGraphicFramePr>
            <a:graphicFrameLocks noChangeAspect="1"/>
          </p:cNvGraphicFramePr>
          <p:nvPr>
            <p:extLst>
              <p:ext uri="{D42A27DB-BD31-4B8C-83A1-F6EECF244321}">
                <p14:modId xmlns:p14="http://schemas.microsoft.com/office/powerpoint/2010/main" val="2733105440"/>
              </p:ext>
            </p:extLst>
          </p:nvPr>
        </p:nvGraphicFramePr>
        <p:xfrm>
          <a:off x="3287398" y="3773521"/>
          <a:ext cx="1435100" cy="444500"/>
        </p:xfrm>
        <a:graphic>
          <a:graphicData uri="http://schemas.openxmlformats.org/presentationml/2006/ole">
            <mc:AlternateContent xmlns:mc="http://schemas.openxmlformats.org/markup-compatibility/2006">
              <mc:Choice xmlns:v="urn:schemas-microsoft-com:vml" Requires="v">
                <p:oleObj spid="_x0000_s8371" name="Equation" r:id="rId5" imgW="736560" imgH="228600" progId="Equation.DSMT4">
                  <p:embed/>
                </p:oleObj>
              </mc:Choice>
              <mc:Fallback>
                <p:oleObj name="Equation" r:id="rId5" imgW="736560" imgH="228600" progId="Equation.DSMT4">
                  <p:embed/>
                  <p:pic>
                    <p:nvPicPr>
                      <p:cNvPr id="0" name=""/>
                      <p:cNvPicPr/>
                      <p:nvPr/>
                    </p:nvPicPr>
                    <p:blipFill>
                      <a:blip r:embed="rId6"/>
                      <a:stretch>
                        <a:fillRect/>
                      </a:stretch>
                    </p:blipFill>
                    <p:spPr>
                      <a:xfrm>
                        <a:off x="3287398" y="3773521"/>
                        <a:ext cx="1435100" cy="444500"/>
                      </a:xfrm>
                      <a:prstGeom prst="rect">
                        <a:avLst/>
                      </a:prstGeom>
                    </p:spPr>
                  </p:pic>
                </p:oleObj>
              </mc:Fallback>
            </mc:AlternateContent>
          </a:graphicData>
        </a:graphic>
      </p:graphicFrame>
    </p:spTree>
    <p:extLst>
      <p:ext uri="{BB962C8B-B14F-4D97-AF65-F5344CB8AC3E}">
        <p14:creationId xmlns:p14="http://schemas.microsoft.com/office/powerpoint/2010/main" val="2467706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9.5 A Tariff in a Small Country</a:t>
            </a:r>
            <a:endParaRPr lang="en-US" sz="3200" dirty="0"/>
          </a:p>
        </p:txBody>
      </p:sp>
      <p:pic>
        <p:nvPicPr>
          <p:cNvPr id="17" name="Content Placeholder 16" descr="The graph shows price, P versus quantity, Q.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918389" y="1558929"/>
            <a:ext cx="3307223" cy="3662183"/>
          </a:xfrm>
        </p:spPr>
      </p:pic>
      <p:sp>
        <p:nvSpPr>
          <p:cNvPr id="4" name="Content Placeholder 3"/>
          <p:cNvSpPr>
            <a:spLocks noGrp="1"/>
          </p:cNvSpPr>
          <p:nvPr>
            <p:ph sz="quarter" idx="14"/>
          </p:nvPr>
        </p:nvSpPr>
        <p:spPr>
          <a:xfrm>
            <a:off x="457200" y="5372390"/>
            <a:ext cx="7962900" cy="284924"/>
          </a:xfrm>
        </p:spPr>
        <p:txBody>
          <a:bodyPr lIns="0" tIns="0" rIns="0" bIns="0"/>
          <a:lstStyle/>
          <a:p>
            <a:pPr marL="432" indent="0">
              <a:buNone/>
            </a:pPr>
            <a:r>
              <a:rPr lang="en-US" sz="1600" dirty="0"/>
              <a:t>When a country is small, a tariff it imposes cannot lower the foreign price of the good it</a:t>
            </a:r>
          </a:p>
        </p:txBody>
      </p:sp>
      <p:sp>
        <p:nvSpPr>
          <p:cNvPr id="5" name="Content Placeholder 4"/>
          <p:cNvSpPr>
            <a:spLocks noGrp="1"/>
          </p:cNvSpPr>
          <p:nvPr>
            <p:ph sz="quarter" idx="15"/>
          </p:nvPr>
        </p:nvSpPr>
        <p:spPr>
          <a:xfrm>
            <a:off x="457200" y="5716766"/>
            <a:ext cx="4862513" cy="279004"/>
          </a:xfrm>
        </p:spPr>
        <p:txBody>
          <a:bodyPr lIns="0" tIns="0" rIns="0" bIns="0"/>
          <a:lstStyle/>
          <a:p>
            <a:pPr marL="432" indent="0">
              <a:buNone/>
            </a:pPr>
            <a:r>
              <a:rPr lang="en-US" sz="1600" dirty="0"/>
              <a:t>imports. As a result, the price of the import rises from</a:t>
            </a:r>
          </a:p>
        </p:txBody>
      </p:sp>
      <p:graphicFrame>
        <p:nvGraphicFramePr>
          <p:cNvPr id="18" name="Object 17" descr="P sub W to P sub W + lower t"/>
          <p:cNvGraphicFramePr>
            <a:graphicFrameLocks noChangeAspect="1"/>
          </p:cNvGraphicFramePr>
          <p:nvPr>
            <p:extLst>
              <p:ext uri="{D42A27DB-BD31-4B8C-83A1-F6EECF244321}">
                <p14:modId xmlns:p14="http://schemas.microsoft.com/office/powerpoint/2010/main" val="1156314180"/>
              </p:ext>
            </p:extLst>
          </p:nvPr>
        </p:nvGraphicFramePr>
        <p:xfrm>
          <a:off x="5397003" y="5733984"/>
          <a:ext cx="968121" cy="276606"/>
        </p:xfrm>
        <a:graphic>
          <a:graphicData uri="http://schemas.openxmlformats.org/presentationml/2006/ole">
            <mc:AlternateContent xmlns:mc="http://schemas.openxmlformats.org/markup-compatibility/2006">
              <mc:Choice xmlns:v="urn:schemas-microsoft-com:vml" Requires="v">
                <p:oleObj spid="_x0000_s9394" name="Equation" r:id="rId5" imgW="799920" imgH="228600" progId="Equation.DSMT4">
                  <p:embed/>
                </p:oleObj>
              </mc:Choice>
              <mc:Fallback>
                <p:oleObj name="Equation" r:id="rId5" imgW="799920" imgH="228600" progId="Equation.DSMT4">
                  <p:embed/>
                  <p:pic>
                    <p:nvPicPr>
                      <p:cNvPr id="0" name=""/>
                      <p:cNvPicPr/>
                      <p:nvPr/>
                    </p:nvPicPr>
                    <p:blipFill>
                      <a:blip r:embed="rId6"/>
                      <a:stretch>
                        <a:fillRect/>
                      </a:stretch>
                    </p:blipFill>
                    <p:spPr>
                      <a:xfrm>
                        <a:off x="5397003" y="5733984"/>
                        <a:ext cx="968121" cy="276606"/>
                      </a:xfrm>
                      <a:prstGeom prst="rect">
                        <a:avLst/>
                      </a:prstGeom>
                    </p:spPr>
                  </p:pic>
                </p:oleObj>
              </mc:Fallback>
            </mc:AlternateContent>
          </a:graphicData>
        </a:graphic>
      </p:graphicFrame>
      <p:sp>
        <p:nvSpPr>
          <p:cNvPr id="6" name="Content Placeholder 5"/>
          <p:cNvSpPr>
            <a:spLocks noGrp="1"/>
          </p:cNvSpPr>
          <p:nvPr>
            <p:ph sz="quarter" idx="16"/>
          </p:nvPr>
        </p:nvSpPr>
        <p:spPr>
          <a:xfrm>
            <a:off x="6449934" y="5715754"/>
            <a:ext cx="1813004" cy="280016"/>
          </a:xfrm>
        </p:spPr>
        <p:txBody>
          <a:bodyPr lIns="0" tIns="0" rIns="0" bIns="0"/>
          <a:lstStyle/>
          <a:p>
            <a:pPr marL="432" indent="0">
              <a:buNone/>
            </a:pPr>
            <a:r>
              <a:rPr lang="en-US" sz="1600" dirty="0"/>
              <a:t>and the quantity of</a:t>
            </a:r>
          </a:p>
        </p:txBody>
      </p:sp>
      <p:sp>
        <p:nvSpPr>
          <p:cNvPr id="7" name="Content Placeholder 6"/>
          <p:cNvSpPr>
            <a:spLocks noGrp="1"/>
          </p:cNvSpPr>
          <p:nvPr>
            <p:ph sz="quarter" idx="17"/>
          </p:nvPr>
        </p:nvSpPr>
        <p:spPr>
          <a:xfrm>
            <a:off x="457201" y="6050328"/>
            <a:ext cx="2664618" cy="275642"/>
          </a:xfrm>
        </p:spPr>
        <p:txBody>
          <a:bodyPr lIns="0" tIns="0" rIns="0" bIns="0"/>
          <a:lstStyle/>
          <a:p>
            <a:pPr marL="432" indent="0">
              <a:buNone/>
            </a:pPr>
            <a:r>
              <a:rPr lang="en-US" sz="1600" dirty="0"/>
              <a:t>imports demanded falls from</a:t>
            </a:r>
          </a:p>
        </p:txBody>
      </p:sp>
      <p:graphicFrame>
        <p:nvGraphicFramePr>
          <p:cNvPr id="19" name="Object 18" descr="D sub 1 minus S sub 1 to D sub 2 minus S sub 2."/>
          <p:cNvGraphicFramePr>
            <a:graphicFrameLocks noChangeAspect="1"/>
          </p:cNvGraphicFramePr>
          <p:nvPr>
            <p:extLst>
              <p:ext uri="{D42A27DB-BD31-4B8C-83A1-F6EECF244321}">
                <p14:modId xmlns:p14="http://schemas.microsoft.com/office/powerpoint/2010/main" val="3475108244"/>
              </p:ext>
            </p:extLst>
          </p:nvPr>
        </p:nvGraphicFramePr>
        <p:xfrm>
          <a:off x="3198102" y="6050808"/>
          <a:ext cx="1521333" cy="304267"/>
        </p:xfrm>
        <a:graphic>
          <a:graphicData uri="http://schemas.openxmlformats.org/presentationml/2006/ole">
            <mc:AlternateContent xmlns:mc="http://schemas.openxmlformats.org/markup-compatibility/2006">
              <mc:Choice xmlns:v="urn:schemas-microsoft-com:vml" Requires="v">
                <p:oleObj spid="_x0000_s9395" name="Equation" r:id="rId7" imgW="1143000" imgH="228600" progId="Equation.DSMT4">
                  <p:embed/>
                </p:oleObj>
              </mc:Choice>
              <mc:Fallback>
                <p:oleObj name="Equation" r:id="rId7" imgW="1143000" imgH="228600" progId="Equation.DSMT4">
                  <p:embed/>
                  <p:pic>
                    <p:nvPicPr>
                      <p:cNvPr id="0" name=""/>
                      <p:cNvPicPr/>
                      <p:nvPr/>
                    </p:nvPicPr>
                    <p:blipFill>
                      <a:blip r:embed="rId8"/>
                      <a:stretch>
                        <a:fillRect/>
                      </a:stretch>
                    </p:blipFill>
                    <p:spPr>
                      <a:xfrm>
                        <a:off x="3198102" y="6050808"/>
                        <a:ext cx="1521333" cy="304267"/>
                      </a:xfrm>
                      <a:prstGeom prst="rect">
                        <a:avLst/>
                      </a:prstGeom>
                    </p:spPr>
                  </p:pic>
                </p:oleObj>
              </mc:Fallback>
            </mc:AlternateContent>
          </a:graphicData>
        </a:graphic>
      </p:graphicFrame>
    </p:spTree>
    <p:extLst>
      <p:ext uri="{BB962C8B-B14F-4D97-AF65-F5344CB8AC3E}">
        <p14:creationId xmlns:p14="http://schemas.microsoft.com/office/powerpoint/2010/main" val="3712584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ea typeface="ヒラギノ角ゴ Pro W3" pitchFamily="-84" charset="-128"/>
              </a:rPr>
              <a:t>Measuring the Amount of Protection </a:t>
            </a:r>
            <a:r>
              <a:rPr lang="en-US" altLang="en-US" sz="2000" b="0" dirty="0">
                <a:latin typeface="+mn-lt"/>
                <a:ea typeface="ヒラギノ角ゴ Pro W3" pitchFamily="-84" charset="-128"/>
              </a:rPr>
              <a:t>(1 of 3)</a:t>
            </a:r>
            <a:endParaRPr lang="en-US" dirty="0">
              <a:latin typeface="+mn-lt"/>
            </a:endParaRPr>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The </a:t>
            </a:r>
            <a:r>
              <a:rPr lang="en-US" altLang="en-US" b="1" dirty="0">
                <a:ea typeface="ヒラギノ角ゴ Pro W3" pitchFamily="-84" charset="-128"/>
              </a:rPr>
              <a:t>effective rate of protection</a:t>
            </a:r>
            <a:r>
              <a:rPr lang="en-US" altLang="en-US" dirty="0">
                <a:ea typeface="ヒラギノ角ゴ Pro W3" pitchFamily="-84" charset="-128"/>
              </a:rPr>
              <a:t> measures how much protection a tariff (or other trade policy) provides.</a:t>
            </a:r>
          </a:p>
          <a:p>
            <a:pPr lvl="1" eaLnBrk="1" hangingPunct="1"/>
            <a:r>
              <a:rPr lang="en-US" altLang="en-US" dirty="0">
                <a:ea typeface="ヒラギノ角ゴ Pro W3" pitchFamily="-84" charset="-128"/>
              </a:rPr>
              <a:t>It represents the change in value that firms in an industry add to the production process when trade policy changes, which depends on the change in prices the trade policy causes.</a:t>
            </a:r>
          </a:p>
          <a:p>
            <a:pPr eaLnBrk="1" hangingPunct="1"/>
            <a:r>
              <a:rPr lang="en-US" altLang="en-US" dirty="0">
                <a:ea typeface="ヒラギノ角ゴ Pro W3" pitchFamily="-84" charset="-128"/>
              </a:rPr>
              <a:t>Effective rates of protection often differ from tariff rates because tariffs affect sectors other than the protected sector, causing indirect effects on the prices and value added for the protected sector.</a:t>
            </a:r>
          </a:p>
        </p:txBody>
      </p:sp>
    </p:spTree>
    <p:extLst>
      <p:ext uri="{BB962C8B-B14F-4D97-AF65-F5344CB8AC3E}">
        <p14:creationId xmlns:p14="http://schemas.microsoft.com/office/powerpoint/2010/main" val="1222129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Amount of Protection </a:t>
            </a:r>
            <a:r>
              <a:rPr lang="en-US" altLang="en-US" sz="2000" b="0" dirty="0">
                <a:ea typeface="ヒラギノ角ゴ Pro W3" pitchFamily="-84" charset="-128"/>
              </a:rPr>
              <a:t>(2 of 3)</a:t>
            </a:r>
            <a:endParaRPr lang="en-US" dirty="0"/>
          </a:p>
        </p:txBody>
      </p:sp>
      <p:sp>
        <p:nvSpPr>
          <p:cNvPr id="4" name="Content Placeholder 3"/>
          <p:cNvSpPr>
            <a:spLocks noGrp="1"/>
          </p:cNvSpPr>
          <p:nvPr>
            <p:ph sz="quarter" idx="13"/>
          </p:nvPr>
        </p:nvSpPr>
        <p:spPr>
          <a:xfrm>
            <a:off x="457200" y="1552575"/>
            <a:ext cx="8229600" cy="1233262"/>
          </a:xfrm>
        </p:spPr>
        <p:txBody>
          <a:bodyPr/>
          <a:lstStyle/>
          <a:p>
            <a:r>
              <a:rPr lang="en-US" altLang="en-US" dirty="0">
                <a:latin typeface="Arial (Body)"/>
                <a:ea typeface="ヒラギノ角ゴ Pro W3" pitchFamily="-84" charset="-128"/>
              </a:rPr>
              <a:t>For example, suppose that automobiles sell in world markets for $8,000, and they are made from factors of production worth $6,000.</a:t>
            </a:r>
          </a:p>
        </p:txBody>
      </p:sp>
      <p:sp>
        <p:nvSpPr>
          <p:cNvPr id="5" name="Content Placeholder 4"/>
          <p:cNvSpPr>
            <a:spLocks noGrp="1"/>
          </p:cNvSpPr>
          <p:nvPr>
            <p:ph sz="quarter" idx="14"/>
          </p:nvPr>
        </p:nvSpPr>
        <p:spPr>
          <a:xfrm>
            <a:off x="457200" y="2864223"/>
            <a:ext cx="7071756" cy="401492"/>
          </a:xfrm>
        </p:spPr>
        <p:txBody>
          <a:bodyPr tIns="0"/>
          <a:lstStyle/>
          <a:p>
            <a:pPr lvl="1"/>
            <a:r>
              <a:rPr lang="en-US" altLang="en-US" dirty="0">
                <a:latin typeface="Arial (Body)"/>
                <a:ea typeface="ヒラギノ角ゴ Pro W3" pitchFamily="-84" charset="-128"/>
              </a:rPr>
              <a:t>The value added of the production process is</a:t>
            </a:r>
            <a:endParaRPr lang="en-US" dirty="0"/>
          </a:p>
        </p:txBody>
      </p:sp>
      <p:graphicFrame>
        <p:nvGraphicFramePr>
          <p:cNvPr id="18" name="Object 17" descr="$8,000 minus $6,000."/>
          <p:cNvGraphicFramePr>
            <a:graphicFrameLocks noChangeAspect="1"/>
          </p:cNvGraphicFramePr>
          <p:nvPr>
            <p:extLst>
              <p:ext uri="{D42A27DB-BD31-4B8C-83A1-F6EECF244321}">
                <p14:modId xmlns:p14="http://schemas.microsoft.com/office/powerpoint/2010/main" val="2095333958"/>
              </p:ext>
            </p:extLst>
          </p:nvPr>
        </p:nvGraphicFramePr>
        <p:xfrm>
          <a:off x="1271597" y="3328311"/>
          <a:ext cx="2276880" cy="371231"/>
        </p:xfrm>
        <a:graphic>
          <a:graphicData uri="http://schemas.openxmlformats.org/presentationml/2006/ole">
            <mc:AlternateContent xmlns:mc="http://schemas.openxmlformats.org/markup-compatibility/2006">
              <mc:Choice xmlns:v="urn:schemas-microsoft-com:vml" Requires="v">
                <p:oleObj spid="_x0000_s10330" name="Equation" r:id="rId3" imgW="1168200" imgH="190440" progId="Equation.DSMT4">
                  <p:embed/>
                </p:oleObj>
              </mc:Choice>
              <mc:Fallback>
                <p:oleObj name="Equation" r:id="rId3" imgW="1168200" imgH="190440" progId="Equation.DSMT4">
                  <p:embed/>
                  <p:pic>
                    <p:nvPicPr>
                      <p:cNvPr id="0" name=""/>
                      <p:cNvPicPr/>
                      <p:nvPr/>
                    </p:nvPicPr>
                    <p:blipFill>
                      <a:blip r:embed="rId4"/>
                      <a:stretch>
                        <a:fillRect/>
                      </a:stretch>
                    </p:blipFill>
                    <p:spPr>
                      <a:xfrm>
                        <a:off x="1271597" y="3328311"/>
                        <a:ext cx="2276880" cy="371231"/>
                      </a:xfrm>
                      <a:prstGeom prst="rect">
                        <a:avLst/>
                      </a:prstGeom>
                    </p:spPr>
                  </p:pic>
                </p:oleObj>
              </mc:Fallback>
            </mc:AlternateContent>
          </a:graphicData>
        </a:graphic>
      </p:graphicFrame>
      <p:sp>
        <p:nvSpPr>
          <p:cNvPr id="6" name="Content Placeholder 5"/>
          <p:cNvSpPr>
            <a:spLocks noGrp="1"/>
          </p:cNvSpPr>
          <p:nvPr>
            <p:ph sz="quarter" idx="15"/>
          </p:nvPr>
        </p:nvSpPr>
        <p:spPr>
          <a:xfrm>
            <a:off x="457200" y="3762139"/>
            <a:ext cx="8229600" cy="1356126"/>
          </a:xfrm>
        </p:spPr>
        <p:txBody>
          <a:bodyPr/>
          <a:lstStyle/>
          <a:p>
            <a:r>
              <a:rPr lang="en-US" altLang="en-US" dirty="0">
                <a:latin typeface="Arial (Body)"/>
                <a:ea typeface="ヒラギノ角ゴ Pro W3" pitchFamily="-84" charset="-128"/>
              </a:rPr>
              <a:t>Suppose that a country puts a 25% tariff on imported autos so that home auto assembly firms can now charge up to $10,000 instead of $8,000.</a:t>
            </a:r>
          </a:p>
        </p:txBody>
      </p:sp>
    </p:spTree>
    <p:extLst>
      <p:ext uri="{BB962C8B-B14F-4D97-AF65-F5344CB8AC3E}">
        <p14:creationId xmlns:p14="http://schemas.microsoft.com/office/powerpoint/2010/main" val="3756415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Amount of Protection </a:t>
            </a:r>
            <a:r>
              <a:rPr lang="en-US" altLang="en-US" sz="2000" b="0" dirty="0">
                <a:ea typeface="ヒラギノ角ゴ Pro W3" pitchFamily="-84" charset="-128"/>
              </a:rPr>
              <a:t>(3 of 3)</a:t>
            </a:r>
            <a:endParaRPr lang="en-US" dirty="0"/>
          </a:p>
        </p:txBody>
      </p:sp>
      <p:sp>
        <p:nvSpPr>
          <p:cNvPr id="4" name="Content Placeholder 3"/>
          <p:cNvSpPr>
            <a:spLocks noGrp="1"/>
          </p:cNvSpPr>
          <p:nvPr>
            <p:ph sz="quarter" idx="13"/>
          </p:nvPr>
        </p:nvSpPr>
        <p:spPr>
          <a:xfrm>
            <a:off x="457200" y="1556327"/>
            <a:ext cx="8229600" cy="901865"/>
          </a:xfrm>
        </p:spPr>
        <p:txBody>
          <a:bodyPr/>
          <a:lstStyle/>
          <a:p>
            <a:r>
              <a:rPr lang="en-US" altLang="en-US" dirty="0">
                <a:latin typeface="Arial (Body)"/>
                <a:ea typeface="ヒラギノ角ゴ Pro W3" pitchFamily="-84" charset="-128"/>
              </a:rPr>
              <a:t>The effective rate of protection for home auto assembly firms is the change in value added</a:t>
            </a:r>
            <a:r>
              <a:rPr lang="en-US" altLang="en-US" dirty="0" smtClean="0">
                <a:latin typeface="Arial (Body)"/>
                <a:ea typeface="ヒラギノ角ゴ Pro W3" pitchFamily="-84" charset="-128"/>
              </a:rPr>
              <a:t>:</a:t>
            </a:r>
            <a:endParaRPr lang="en-US" altLang="en-US" dirty="0">
              <a:latin typeface="Arial (Body)"/>
              <a:ea typeface="ヒラギノ角ゴ Pro W3" pitchFamily="-84" charset="-128"/>
            </a:endParaRPr>
          </a:p>
        </p:txBody>
      </p:sp>
      <p:graphicFrame>
        <p:nvGraphicFramePr>
          <p:cNvPr id="6" name="Object 5" descr="Start fraction left parenthesis $4,000 minus $2,000 right parenthesis over $2,000 end fraction = 100%"/>
          <p:cNvGraphicFramePr>
            <a:graphicFrameLocks noChangeAspect="1"/>
          </p:cNvGraphicFramePr>
          <p:nvPr>
            <p:extLst>
              <p:ext uri="{D42A27DB-BD31-4B8C-83A1-F6EECF244321}">
                <p14:modId xmlns:p14="http://schemas.microsoft.com/office/powerpoint/2010/main" val="3730021440"/>
              </p:ext>
            </p:extLst>
          </p:nvPr>
        </p:nvGraphicFramePr>
        <p:xfrm>
          <a:off x="2802468" y="2686213"/>
          <a:ext cx="3539065" cy="890954"/>
        </p:xfrm>
        <a:graphic>
          <a:graphicData uri="http://schemas.openxmlformats.org/presentationml/2006/ole">
            <mc:AlternateContent xmlns:mc="http://schemas.openxmlformats.org/markup-compatibility/2006">
              <mc:Choice xmlns:v="urn:schemas-microsoft-com:vml" Requires="v">
                <p:oleObj spid="_x0000_s11354" name="Equation" r:id="rId3" imgW="1815840" imgH="457200" progId="Equation.DSMT4">
                  <p:embed/>
                </p:oleObj>
              </mc:Choice>
              <mc:Fallback>
                <p:oleObj name="Equation" r:id="rId3" imgW="1815840" imgH="457200" progId="Equation.DSMT4">
                  <p:embed/>
                  <p:pic>
                    <p:nvPicPr>
                      <p:cNvPr id="0" name=""/>
                      <p:cNvPicPr/>
                      <p:nvPr/>
                    </p:nvPicPr>
                    <p:blipFill>
                      <a:blip r:embed="rId4"/>
                      <a:stretch>
                        <a:fillRect/>
                      </a:stretch>
                    </p:blipFill>
                    <p:spPr>
                      <a:xfrm>
                        <a:off x="2802468" y="2686213"/>
                        <a:ext cx="3539065" cy="890954"/>
                      </a:xfrm>
                      <a:prstGeom prst="rect">
                        <a:avLst/>
                      </a:prstGeom>
                    </p:spPr>
                  </p:pic>
                </p:oleObj>
              </mc:Fallback>
            </mc:AlternateContent>
          </a:graphicData>
        </a:graphic>
      </p:graphicFrame>
      <p:sp>
        <p:nvSpPr>
          <p:cNvPr id="5" name="Content Placeholder 4"/>
          <p:cNvSpPr>
            <a:spLocks noGrp="1"/>
          </p:cNvSpPr>
          <p:nvPr>
            <p:ph sz="quarter" idx="14"/>
          </p:nvPr>
        </p:nvSpPr>
        <p:spPr>
          <a:xfrm>
            <a:off x="457200" y="3759650"/>
            <a:ext cx="7760525" cy="907353"/>
          </a:xfrm>
        </p:spPr>
        <p:txBody>
          <a:bodyPr/>
          <a:lstStyle/>
          <a:p>
            <a:r>
              <a:rPr lang="en-US" altLang="en-US" dirty="0">
                <a:latin typeface="Arial (Body)"/>
                <a:ea typeface="ヒラギノ角ゴ Pro W3" pitchFamily="-84" charset="-128"/>
              </a:rPr>
              <a:t>In this case, the effective rate of protection is greater than the tariff rate.</a:t>
            </a:r>
            <a:endParaRPr lang="en-US" dirty="0"/>
          </a:p>
        </p:txBody>
      </p:sp>
    </p:spTree>
    <p:extLst>
      <p:ext uri="{BB962C8B-B14F-4D97-AF65-F5344CB8AC3E}">
        <p14:creationId xmlns:p14="http://schemas.microsoft.com/office/powerpoint/2010/main" val="298051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Costs and Benefits of Tariffs</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A tariff raises the price of a good in the importing country, so it hurts consumers and benefits producers there.</a:t>
            </a:r>
          </a:p>
          <a:p>
            <a:pPr eaLnBrk="1" hangingPunct="1"/>
            <a:r>
              <a:rPr lang="en-US" altLang="en-US" dirty="0">
                <a:latin typeface="Arial (Body)"/>
                <a:ea typeface="ヒラギノ角ゴ Pro W3" pitchFamily="-84" charset="-128"/>
              </a:rPr>
              <a:t>In addition, the government gains tariff revenue.</a:t>
            </a:r>
          </a:p>
          <a:p>
            <a:pPr eaLnBrk="1" hangingPunct="1"/>
            <a:r>
              <a:rPr lang="en-US" altLang="en-US" dirty="0">
                <a:latin typeface="Arial (Body)"/>
                <a:ea typeface="ヒラギノ角ゴ Pro W3" pitchFamily="-84" charset="-128"/>
              </a:rPr>
              <a:t>How to measure these costs and benefits?</a:t>
            </a:r>
          </a:p>
          <a:p>
            <a:pPr eaLnBrk="1" hangingPunct="1"/>
            <a:r>
              <a:rPr lang="en-US" altLang="en-US" dirty="0">
                <a:latin typeface="Arial (Body)"/>
                <a:ea typeface="ヒラギノ角ゴ Pro W3" pitchFamily="-84" charset="-128"/>
              </a:rPr>
              <a:t>Use the concepts of consumer surplus and producer surplus.</a:t>
            </a:r>
          </a:p>
        </p:txBody>
      </p:sp>
    </p:spTree>
    <p:extLst>
      <p:ext uri="{BB962C8B-B14F-4D97-AF65-F5344CB8AC3E}">
        <p14:creationId xmlns:p14="http://schemas.microsoft.com/office/powerpoint/2010/main" val="3496141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ea typeface="ヒラギノ角ゴ Pro W3" pitchFamily="-84" charset="-128"/>
              </a:rPr>
              <a:t>Consumer and Producer Surplus </a:t>
            </a:r>
            <a:r>
              <a:rPr lang="en-US" altLang="en-US" sz="2000" b="0" dirty="0">
                <a:ea typeface="ヒラギノ角ゴ Pro W3" pitchFamily="-84" charset="-128"/>
              </a:rPr>
              <a:t>(1 of 2)</a:t>
            </a:r>
            <a:endParaRPr lang="en-US" sz="2000" dirty="0"/>
          </a:p>
        </p:txBody>
      </p:sp>
      <p:sp>
        <p:nvSpPr>
          <p:cNvPr id="3" name="Content Placeholder 2"/>
          <p:cNvSpPr>
            <a:spLocks noGrp="1"/>
          </p:cNvSpPr>
          <p:nvPr>
            <p:ph sz="quarter" idx="13"/>
          </p:nvPr>
        </p:nvSpPr>
        <p:spPr/>
        <p:txBody>
          <a:bodyPr/>
          <a:lstStyle/>
          <a:p>
            <a:pPr eaLnBrk="1" hangingPunct="1"/>
            <a:r>
              <a:rPr lang="en-US" altLang="en-US" b="1" dirty="0">
                <a:ea typeface="ヒラギノ角ゴ Pro W3" pitchFamily="-84" charset="-128"/>
              </a:rPr>
              <a:t>Consumer surplus</a:t>
            </a:r>
            <a:r>
              <a:rPr lang="en-US" altLang="en-US" dirty="0">
                <a:ea typeface="ヒラギノ角ゴ Pro W3" pitchFamily="-84" charset="-128"/>
              </a:rPr>
              <a:t> measures the amount that consumers gain from purchases by computing the difference in the price actually paid from the maximum price they would be willing to pay for each unit consumed.</a:t>
            </a:r>
          </a:p>
          <a:p>
            <a:pPr lvl="1" eaLnBrk="1" hangingPunct="1"/>
            <a:r>
              <a:rPr lang="en-US" altLang="en-US" dirty="0">
                <a:ea typeface="ヒラギノ角ゴ Pro W3" pitchFamily="-84" charset="-128"/>
              </a:rPr>
              <a:t>When price increases, the quantity demanded decreases as well as the consumer surplus.</a:t>
            </a:r>
          </a:p>
        </p:txBody>
      </p:sp>
    </p:spTree>
    <p:extLst>
      <p:ext uri="{BB962C8B-B14F-4D97-AF65-F5344CB8AC3E}">
        <p14:creationId xmlns:p14="http://schemas.microsoft.com/office/powerpoint/2010/main" val="1290654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ea typeface="ヒラギノ角ゴ Pro W3" pitchFamily="-84" charset="-128"/>
              </a:rPr>
              <a:t>Figure 9.6 Deriving Consumer Surplus from the Demand Curve</a:t>
            </a:r>
            <a:endParaRPr lang="en-US" sz="3200" dirty="0">
              <a:latin typeface="+mn-lt"/>
            </a:endParaRPr>
          </a:p>
        </p:txBody>
      </p:sp>
      <p:pic>
        <p:nvPicPr>
          <p:cNvPr id="6" name="Content Placeholder 5" descr="A graph depicts consumer surplus. The graph plots price, P versus quantity. The plot forms a falling step shape demand curve. The following points are marked. (8, $12), (9, $10), (10, $9), x = 11."/>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438335" y="1557338"/>
            <a:ext cx="4267330" cy="4018853"/>
          </a:xfrm>
        </p:spPr>
      </p:pic>
      <p:sp>
        <p:nvSpPr>
          <p:cNvPr id="5" name="Content Placeholder 4"/>
          <p:cNvSpPr>
            <a:spLocks noGrp="1"/>
          </p:cNvSpPr>
          <p:nvPr>
            <p:ph sz="quarter" idx="14"/>
          </p:nvPr>
        </p:nvSpPr>
        <p:spPr>
          <a:xfrm>
            <a:off x="457200" y="5682345"/>
            <a:ext cx="8229600" cy="624112"/>
          </a:xfrm>
        </p:spPr>
        <p:txBody>
          <a:bodyPr/>
          <a:lstStyle/>
          <a:p>
            <a:pPr marL="432" indent="0">
              <a:buNone/>
            </a:pPr>
            <a:r>
              <a:rPr lang="en-US" sz="1600" dirty="0">
                <a:latin typeface="Arial (Body)"/>
              </a:rPr>
              <a:t>Consumer surplus on each unit sold is the difference between the actual price and what consumers would have been willing to pay.</a:t>
            </a:r>
          </a:p>
        </p:txBody>
      </p:sp>
    </p:spTree>
    <p:extLst>
      <p:ext uri="{BB962C8B-B14F-4D97-AF65-F5344CB8AC3E}">
        <p14:creationId xmlns:p14="http://schemas.microsoft.com/office/powerpoint/2010/main" val="3326164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A graph of price, P versus quantity, Q has a falling D curve as a line beginning at the y-axis and falling through (D super 2, P super 2) and then (D super 1, P super 1). For long description in Notes pane, press F6."/>
          <p:cNvSpPr>
            <a:spLocks noGrp="1"/>
          </p:cNvSpPr>
          <p:nvPr>
            <p:ph type="title"/>
          </p:nvPr>
        </p:nvSpPr>
        <p:spPr/>
        <p:txBody>
          <a:bodyPr/>
          <a:lstStyle/>
          <a:p>
            <a:r>
              <a:rPr lang="en-US" altLang="en-US" sz="3200" dirty="0">
                <a:ea typeface="ヒラギノ角ゴ Pro W3" pitchFamily="-84" charset="-128"/>
              </a:rPr>
              <a:t>Figure 9.7 Geometry of Consumer Surplus</a:t>
            </a:r>
            <a:endParaRPr lang="en-US" sz="3200" dirty="0"/>
          </a:p>
        </p:txBody>
      </p:sp>
      <p:pic>
        <p:nvPicPr>
          <p:cNvPr id="4" name="Content Placeholder 3" descr="A graph of price, P versus quantity, Q has a falling D curve as a line beginning at the y-axis and falling through (D super 2, P super 2) and then (D super 1, P super 1).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54926" y="1581847"/>
            <a:ext cx="4234149" cy="4018853"/>
          </a:xfrm>
        </p:spPr>
      </p:pic>
      <p:sp>
        <p:nvSpPr>
          <p:cNvPr id="5" name="Content Placeholder 4" descr="A graph of price, P versus quantity, Q has a falling D curve as a line beginning at the y-axis and falling through (D super 2, P super 2) and then (D super 1, P super 1). For long description in Notes pane, press F6."/>
          <p:cNvSpPr>
            <a:spLocks noGrp="1"/>
          </p:cNvSpPr>
          <p:nvPr>
            <p:ph sz="quarter" idx="14"/>
          </p:nvPr>
        </p:nvSpPr>
        <p:spPr>
          <a:xfrm>
            <a:off x="457200" y="5850078"/>
            <a:ext cx="8229600" cy="476250"/>
          </a:xfrm>
        </p:spPr>
        <p:txBody>
          <a:bodyPr/>
          <a:lstStyle/>
          <a:p>
            <a:pPr marL="432" indent="0">
              <a:buNone/>
            </a:pPr>
            <a:r>
              <a:rPr lang="en-US" sz="1600" dirty="0">
                <a:latin typeface="Arial (Body)"/>
              </a:rPr>
              <a:t>Consumer surplus is equal to the area under the demand curve and above the price.</a:t>
            </a:r>
          </a:p>
        </p:txBody>
      </p:sp>
    </p:spTree>
    <p:extLst>
      <p:ext uri="{BB962C8B-B14F-4D97-AF65-F5344CB8AC3E}">
        <p14:creationId xmlns:p14="http://schemas.microsoft.com/office/powerpoint/2010/main" val="2427190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latin typeface="+mn-lt"/>
                <a:ea typeface="ヒラギノ角ゴ Pro W3" pitchFamily="-84" charset="-128"/>
              </a:rPr>
              <a:t>Consumer and Producer Surplus </a:t>
            </a:r>
            <a:r>
              <a:rPr lang="en-US" altLang="en-US" sz="2000" b="0" dirty="0">
                <a:latin typeface="+mn-lt"/>
                <a:ea typeface="ヒラギノ角ゴ Pro W3" pitchFamily="-84" charset="-128"/>
              </a:rPr>
              <a:t>(2 of 2)</a:t>
            </a:r>
            <a:endParaRPr lang="en-US" sz="2000" dirty="0">
              <a:latin typeface="+mn-lt"/>
            </a:endParaRPr>
          </a:p>
        </p:txBody>
      </p:sp>
      <p:sp>
        <p:nvSpPr>
          <p:cNvPr id="3" name="Content Placeholder 2"/>
          <p:cNvSpPr>
            <a:spLocks noGrp="1"/>
          </p:cNvSpPr>
          <p:nvPr>
            <p:ph sz="quarter" idx="13"/>
          </p:nvPr>
        </p:nvSpPr>
        <p:spPr/>
        <p:txBody>
          <a:bodyPr/>
          <a:lstStyle/>
          <a:p>
            <a:pPr eaLnBrk="1" hangingPunct="1"/>
            <a:r>
              <a:rPr lang="en-US" altLang="en-US" b="1" dirty="0">
                <a:ea typeface="ヒラギノ角ゴ Pro W3" pitchFamily="-84" charset="-128"/>
              </a:rPr>
              <a:t>Producer surplus</a:t>
            </a:r>
            <a:r>
              <a:rPr lang="en-US" altLang="en-US" dirty="0">
                <a:ea typeface="ヒラギノ角ゴ Pro W3" pitchFamily="-84" charset="-128"/>
              </a:rPr>
              <a:t> measures the amount that producers gain from sales by computing the difference in the price received from the minimum price at which they would be willing to sell.</a:t>
            </a:r>
          </a:p>
          <a:p>
            <a:pPr lvl="1" eaLnBrk="1" hangingPunct="1"/>
            <a:r>
              <a:rPr lang="en-US" altLang="en-US" dirty="0">
                <a:ea typeface="ヒラギノ角ゴ Pro W3" pitchFamily="-84" charset="-128"/>
              </a:rPr>
              <a:t>When price increases, the quantity supplied increases as well as the producer surplus.</a:t>
            </a:r>
          </a:p>
        </p:txBody>
      </p:sp>
    </p:spTree>
    <p:extLst>
      <p:ext uri="{BB962C8B-B14F-4D97-AF65-F5344CB8AC3E}">
        <p14:creationId xmlns:p14="http://schemas.microsoft.com/office/powerpoint/2010/main" val="1758383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9.8 Geometry of Producer Surplus</a:t>
            </a:r>
            <a:endParaRPr lang="en-US" sz="3200" dirty="0"/>
          </a:p>
        </p:txBody>
      </p:sp>
      <p:pic>
        <p:nvPicPr>
          <p:cNvPr id="4" name="Content Placeholder 3" descr="A graph of price, P versus quantity, Q has a rising S curve as a line beginning at the y-axis and rising through (S super 1, P super 1) and then (S super 2, P super 2).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55758" y="1557338"/>
            <a:ext cx="4832485" cy="4018853"/>
          </a:xfrm>
        </p:spPr>
      </p:pic>
      <p:sp>
        <p:nvSpPr>
          <p:cNvPr id="5" name="Content Placeholder 4"/>
          <p:cNvSpPr>
            <a:spLocks noGrp="1"/>
          </p:cNvSpPr>
          <p:nvPr>
            <p:ph sz="quarter" idx="14"/>
          </p:nvPr>
        </p:nvSpPr>
        <p:spPr>
          <a:xfrm>
            <a:off x="457200" y="5787740"/>
            <a:ext cx="8229600" cy="492579"/>
          </a:xfrm>
        </p:spPr>
        <p:txBody>
          <a:bodyPr/>
          <a:lstStyle/>
          <a:p>
            <a:pPr marL="432" indent="0">
              <a:buNone/>
            </a:pPr>
            <a:r>
              <a:rPr lang="en-US" sz="1600" dirty="0">
                <a:latin typeface="Arial (Body)"/>
              </a:rPr>
              <a:t>Producer surplus is equal to the area above the supply curve and below the price.</a:t>
            </a:r>
          </a:p>
        </p:txBody>
      </p:sp>
    </p:spTree>
    <p:extLst>
      <p:ext uri="{BB962C8B-B14F-4D97-AF65-F5344CB8AC3E}">
        <p14:creationId xmlns:p14="http://schemas.microsoft.com/office/powerpoint/2010/main" val="2428537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(1 of 4)</a:t>
            </a:r>
            <a:endParaRPr lang="en-US" dirty="0"/>
          </a:p>
        </p:txBody>
      </p:sp>
      <p:sp>
        <p:nvSpPr>
          <p:cNvPr id="4" name="Content Placeholder 3"/>
          <p:cNvSpPr>
            <a:spLocks noGrp="1"/>
          </p:cNvSpPr>
          <p:nvPr>
            <p:ph sz="quarter" idx="13"/>
          </p:nvPr>
        </p:nvSpPr>
        <p:spPr/>
        <p:txBody>
          <a:bodyPr/>
          <a:lstStyle/>
          <a:p>
            <a:pPr eaLnBrk="1" hangingPunct="1"/>
            <a:r>
              <a:rPr lang="en-US" altLang="en-US" dirty="0">
                <a:ea typeface="ヒラギノ角ゴ Pro W3" pitchFamily="-84" charset="-128"/>
              </a:rPr>
              <a:t>A tariff raises the price in the importing country:</a:t>
            </a:r>
          </a:p>
          <a:p>
            <a:pPr lvl="1" eaLnBrk="1" hangingPunct="1"/>
            <a:r>
              <a:rPr lang="en-US" altLang="en-US" dirty="0">
                <a:ea typeface="ヒラギノ角ゴ Pro W3" pitchFamily="-84" charset="-128"/>
              </a:rPr>
              <a:t>consumer surplus decreases (consumers worse off) </a:t>
            </a:r>
          </a:p>
          <a:p>
            <a:pPr lvl="1" eaLnBrk="1" hangingPunct="1"/>
            <a:r>
              <a:rPr lang="en-US" altLang="en-US" dirty="0">
                <a:ea typeface="ヒラギノ角ゴ Pro W3" pitchFamily="-84" charset="-128"/>
              </a:rPr>
              <a:t>producer surplus increases (producers better off).</a:t>
            </a:r>
          </a:p>
          <a:p>
            <a:pPr lvl="1" eaLnBrk="1" hangingPunct="1"/>
            <a:r>
              <a:rPr lang="en-US" altLang="en-US" dirty="0">
                <a:ea typeface="ヒラギノ角ゴ Pro W3" pitchFamily="-84" charset="-128"/>
              </a:rPr>
              <a:t>the government collects tariff revenue equal to the tariff rate times the quantity of imports with the tariff.</a:t>
            </a:r>
          </a:p>
        </p:txBody>
      </p:sp>
      <p:graphicFrame>
        <p:nvGraphicFramePr>
          <p:cNvPr id="6" name="Object 5" descr="Lower t Q sub upper T = left parenthesis P sub upper T minus P asterisk sub upper T right parenthesis left parenthesis D sub 2 minus S sub 2 right parenthesis"/>
          <p:cNvGraphicFramePr>
            <a:graphicFrameLocks noChangeAspect="1"/>
          </p:cNvGraphicFramePr>
          <p:nvPr>
            <p:extLst>
              <p:ext uri="{D42A27DB-BD31-4B8C-83A1-F6EECF244321}">
                <p14:modId xmlns:p14="http://schemas.microsoft.com/office/powerpoint/2010/main" val="991330456"/>
              </p:ext>
            </p:extLst>
          </p:nvPr>
        </p:nvGraphicFramePr>
        <p:xfrm>
          <a:off x="3012832" y="3895105"/>
          <a:ext cx="3118337" cy="544471"/>
        </p:xfrm>
        <a:graphic>
          <a:graphicData uri="http://schemas.openxmlformats.org/presentationml/2006/ole">
            <mc:AlternateContent xmlns:mc="http://schemas.openxmlformats.org/markup-compatibility/2006">
              <mc:Choice xmlns:v="urn:schemas-microsoft-com:vml" Requires="v">
                <p:oleObj spid="_x0000_s12466" name="Equation" r:id="rId3" imgW="1600200" imgH="279360" progId="Equation.DSMT4">
                  <p:embed/>
                </p:oleObj>
              </mc:Choice>
              <mc:Fallback>
                <p:oleObj name="Equation" r:id="rId3" imgW="1600200" imgH="279360" progId="Equation.DSMT4">
                  <p:embed/>
                  <p:pic>
                    <p:nvPicPr>
                      <p:cNvPr id="0" name=""/>
                      <p:cNvPicPr/>
                      <p:nvPr/>
                    </p:nvPicPr>
                    <p:blipFill>
                      <a:blip r:embed="rId4"/>
                      <a:stretch>
                        <a:fillRect/>
                      </a:stretch>
                    </p:blipFill>
                    <p:spPr>
                      <a:xfrm>
                        <a:off x="3012832" y="3895105"/>
                        <a:ext cx="3118337" cy="544471"/>
                      </a:xfrm>
                      <a:prstGeom prst="rect">
                        <a:avLst/>
                      </a:prstGeom>
                    </p:spPr>
                  </p:pic>
                </p:oleObj>
              </mc:Fallback>
            </mc:AlternateContent>
          </a:graphicData>
        </a:graphic>
      </p:graphicFrame>
      <p:sp>
        <p:nvSpPr>
          <p:cNvPr id="5" name="Content Placeholder 4"/>
          <p:cNvSpPr>
            <a:spLocks noGrp="1"/>
          </p:cNvSpPr>
          <p:nvPr>
            <p:ph sz="quarter" idx="14"/>
          </p:nvPr>
        </p:nvSpPr>
        <p:spPr>
          <a:xfrm>
            <a:off x="457200" y="4510826"/>
            <a:ext cx="5361709" cy="417433"/>
          </a:xfrm>
        </p:spPr>
        <p:txBody>
          <a:bodyPr tIns="0"/>
          <a:lstStyle/>
          <a:p>
            <a:r>
              <a:rPr lang="en-US" altLang="en-US" dirty="0">
                <a:latin typeface="Arial (Body)"/>
                <a:ea typeface="ヒラギノ角ゴ Pro W3" pitchFamily="-84" charset="-128"/>
              </a:rPr>
              <a:t>Change in welfare due to the tariff is</a:t>
            </a:r>
            <a:endParaRPr lang="en-US" dirty="0">
              <a:latin typeface="Arial (Body)"/>
            </a:endParaRPr>
          </a:p>
        </p:txBody>
      </p:sp>
      <p:graphicFrame>
        <p:nvGraphicFramePr>
          <p:cNvPr id="7" name="Object 6" descr="e minus left parenthesis b + d right parenthesis."/>
          <p:cNvGraphicFramePr>
            <a:graphicFrameLocks noChangeAspect="1"/>
          </p:cNvGraphicFramePr>
          <p:nvPr>
            <p:extLst>
              <p:ext uri="{D42A27DB-BD31-4B8C-83A1-F6EECF244321}">
                <p14:modId xmlns:p14="http://schemas.microsoft.com/office/powerpoint/2010/main" val="2741594619"/>
              </p:ext>
            </p:extLst>
          </p:nvPr>
        </p:nvGraphicFramePr>
        <p:xfrm>
          <a:off x="5872442" y="4532279"/>
          <a:ext cx="1410676" cy="395980"/>
        </p:xfrm>
        <a:graphic>
          <a:graphicData uri="http://schemas.openxmlformats.org/presentationml/2006/ole">
            <mc:AlternateContent xmlns:mc="http://schemas.openxmlformats.org/markup-compatibility/2006">
              <mc:Choice xmlns:v="urn:schemas-microsoft-com:vml" Requires="v">
                <p:oleObj spid="_x0000_s12467" name="Equation" r:id="rId5" imgW="723600" imgH="203040" progId="Equation.DSMT4">
                  <p:embed/>
                </p:oleObj>
              </mc:Choice>
              <mc:Fallback>
                <p:oleObj name="Equation" r:id="rId5" imgW="723600" imgH="203040" progId="Equation.DSMT4">
                  <p:embed/>
                  <p:pic>
                    <p:nvPicPr>
                      <p:cNvPr id="0" name=""/>
                      <p:cNvPicPr/>
                      <p:nvPr/>
                    </p:nvPicPr>
                    <p:blipFill>
                      <a:blip r:embed="rId6"/>
                      <a:stretch>
                        <a:fillRect/>
                      </a:stretch>
                    </p:blipFill>
                    <p:spPr>
                      <a:xfrm>
                        <a:off x="5872442" y="4532279"/>
                        <a:ext cx="1410676" cy="395980"/>
                      </a:xfrm>
                      <a:prstGeom prst="rect">
                        <a:avLst/>
                      </a:prstGeom>
                    </p:spPr>
                  </p:pic>
                </p:oleObj>
              </mc:Fallback>
            </mc:AlternateContent>
          </a:graphicData>
        </a:graphic>
      </p:graphicFrame>
    </p:spTree>
    <p:extLst>
      <p:ext uri="{BB962C8B-B14F-4D97-AF65-F5344CB8AC3E}">
        <p14:creationId xmlns:p14="http://schemas.microsoft.com/office/powerpoint/2010/main" val="1094425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9.9 Costs and Benefits of a Tariff for the Importing Country</a:t>
            </a:r>
            <a:endParaRPr lang="en-US" sz="3200" dirty="0"/>
          </a:p>
        </p:txBody>
      </p:sp>
      <p:pic>
        <p:nvPicPr>
          <p:cNvPr id="6" name="Content Placeholder 5" descr="A graph shows price, P versus quantity, Q with a rising S line intersects a falling D lin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935332" y="1573182"/>
            <a:ext cx="3273336" cy="3939665"/>
          </a:xfrm>
        </p:spPr>
      </p:pic>
      <p:sp>
        <p:nvSpPr>
          <p:cNvPr id="5" name="Content Placeholder 4"/>
          <p:cNvSpPr>
            <a:spLocks noGrp="1"/>
          </p:cNvSpPr>
          <p:nvPr>
            <p:ph sz="quarter" idx="14"/>
          </p:nvPr>
        </p:nvSpPr>
        <p:spPr>
          <a:xfrm>
            <a:off x="457200" y="5611090"/>
            <a:ext cx="8229600" cy="718458"/>
          </a:xfrm>
        </p:spPr>
        <p:txBody>
          <a:bodyPr/>
          <a:lstStyle/>
          <a:p>
            <a:pPr marL="432" indent="0">
              <a:buNone/>
            </a:pPr>
            <a:r>
              <a:rPr lang="en-US" sz="1800" dirty="0">
                <a:latin typeface="Arial (Body)"/>
              </a:rPr>
              <a:t>The costs and benefits to different groups can be represented as sums of the five areas </a:t>
            </a:r>
            <a:r>
              <a:rPr lang="en-US" sz="1800" i="1" dirty="0">
                <a:latin typeface="Arial (Body)"/>
              </a:rPr>
              <a:t>a</a:t>
            </a:r>
            <a:r>
              <a:rPr lang="en-US" sz="1800" dirty="0">
                <a:latin typeface="Arial (Body)"/>
              </a:rPr>
              <a:t>, </a:t>
            </a:r>
            <a:r>
              <a:rPr lang="en-US" sz="1800" i="1" dirty="0">
                <a:latin typeface="Arial (Body)"/>
              </a:rPr>
              <a:t>b</a:t>
            </a:r>
            <a:r>
              <a:rPr lang="en-US" sz="1800" dirty="0">
                <a:latin typeface="Arial (Body)"/>
              </a:rPr>
              <a:t>, </a:t>
            </a:r>
            <a:r>
              <a:rPr lang="en-US" sz="1800" i="1" dirty="0">
                <a:latin typeface="Arial (Body)"/>
              </a:rPr>
              <a:t>c</a:t>
            </a:r>
            <a:r>
              <a:rPr lang="en-US" sz="1800" dirty="0">
                <a:latin typeface="Arial (Body)"/>
              </a:rPr>
              <a:t>, </a:t>
            </a:r>
            <a:r>
              <a:rPr lang="en-US" sz="1800" i="1" dirty="0">
                <a:latin typeface="Arial (Body)"/>
              </a:rPr>
              <a:t>d</a:t>
            </a:r>
            <a:r>
              <a:rPr lang="en-US" sz="1800" dirty="0">
                <a:latin typeface="Arial (Body)"/>
              </a:rPr>
              <a:t>, and </a:t>
            </a:r>
            <a:r>
              <a:rPr lang="en-US" sz="1800" i="1" dirty="0">
                <a:latin typeface="Arial (Body)"/>
              </a:rPr>
              <a:t>e</a:t>
            </a:r>
            <a:r>
              <a:rPr lang="en-US" sz="1800" dirty="0">
                <a:latin typeface="Arial (Body)"/>
              </a:rPr>
              <a:t>.</a:t>
            </a:r>
          </a:p>
        </p:txBody>
      </p:sp>
    </p:spTree>
    <p:extLst>
      <p:ext uri="{BB962C8B-B14F-4D97-AF65-F5344CB8AC3E}">
        <p14:creationId xmlns:p14="http://schemas.microsoft.com/office/powerpoint/2010/main" val="3971305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(2 of 4)</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For a </a:t>
            </a:r>
            <a:r>
              <a:rPr lang="en-US" altLang="ja-JP" dirty="0">
                <a:ea typeface="ヒラギノ角ゴ Pro W3" pitchFamily="-84" charset="-128"/>
              </a:rPr>
              <a:t>“large” country, whose imports and exports affect world prices, the welfare effect of a tariff is ambiguous</a:t>
            </a:r>
            <a:r>
              <a:rPr lang="en-US" altLang="ja-JP" dirty="0" smtClean="0">
                <a:ea typeface="ヒラギノ角ゴ Pro W3" pitchFamily="-84" charset="-128"/>
              </a:rPr>
              <a:t>.</a:t>
            </a:r>
            <a:endParaRPr lang="en-US" altLang="ja-JP" dirty="0">
              <a:ea typeface="ヒラギノ角ゴ Pro W3" pitchFamily="-84" charset="-128"/>
            </a:endParaRPr>
          </a:p>
          <a:p>
            <a:pPr eaLnBrk="1" hangingPunct="1"/>
            <a:r>
              <a:rPr lang="en-US" altLang="en-US" dirty="0">
                <a:ea typeface="ヒラギノ角ゴ Pro W3" pitchFamily="-84" charset="-128"/>
              </a:rPr>
              <a:t>The triangles </a:t>
            </a:r>
            <a:r>
              <a:rPr lang="en-US" altLang="en-US" i="1" dirty="0">
                <a:ea typeface="ヒラギノ角ゴ Pro W3" pitchFamily="-84" charset="-128"/>
              </a:rPr>
              <a:t>b</a:t>
            </a:r>
            <a:r>
              <a:rPr lang="en-US" altLang="en-US" dirty="0">
                <a:ea typeface="ヒラギノ角ゴ Pro W3" pitchFamily="-84" charset="-128"/>
              </a:rPr>
              <a:t> and </a:t>
            </a:r>
            <a:r>
              <a:rPr lang="en-US" altLang="en-US" i="1" dirty="0">
                <a:ea typeface="ヒラギノ角ゴ Pro W3" pitchFamily="-84" charset="-128"/>
              </a:rPr>
              <a:t>d</a:t>
            </a:r>
            <a:r>
              <a:rPr lang="en-US" altLang="en-US" dirty="0">
                <a:ea typeface="ヒラギノ角ゴ Pro W3" pitchFamily="-84" charset="-128"/>
              </a:rPr>
              <a:t> represent the </a:t>
            </a:r>
            <a:r>
              <a:rPr lang="en-US" altLang="en-US" b="1" dirty="0">
                <a:ea typeface="ヒラギノ角ゴ Pro W3" pitchFamily="-84" charset="-128"/>
              </a:rPr>
              <a:t>efficiency loss</a:t>
            </a:r>
            <a:r>
              <a:rPr lang="en-US" altLang="en-US" dirty="0">
                <a:ea typeface="ヒラギノ角ゴ Pro W3" pitchFamily="-84" charset="-128"/>
              </a:rPr>
              <a:t>.</a:t>
            </a:r>
          </a:p>
          <a:p>
            <a:pPr lvl="1" eaLnBrk="1" hangingPunct="1"/>
            <a:r>
              <a:rPr lang="en-US" altLang="en-US" dirty="0">
                <a:ea typeface="ヒラギノ角ゴ Pro W3" pitchFamily="-84" charset="-128"/>
              </a:rPr>
              <a:t>The tariff distorts production and consumption decisions: producers produce too much and consumers consume too little.</a:t>
            </a:r>
          </a:p>
          <a:p>
            <a:pPr eaLnBrk="1" hangingPunct="1"/>
            <a:r>
              <a:rPr lang="en-US" altLang="en-US" dirty="0">
                <a:ea typeface="ヒラギノ角ゴ Pro W3" pitchFamily="-84" charset="-128"/>
              </a:rPr>
              <a:t>The rectangle </a:t>
            </a:r>
            <a:r>
              <a:rPr lang="en-US" altLang="en-US" i="1" dirty="0">
                <a:ea typeface="ヒラギノ角ゴ Pro W3" pitchFamily="-84" charset="-128"/>
              </a:rPr>
              <a:t>e</a:t>
            </a:r>
            <a:r>
              <a:rPr lang="en-US" altLang="en-US" dirty="0">
                <a:ea typeface="ヒラギノ角ゴ Pro W3" pitchFamily="-84" charset="-128"/>
              </a:rPr>
              <a:t> represents the </a:t>
            </a:r>
            <a:r>
              <a:rPr lang="en-US" altLang="en-US" b="1" dirty="0">
                <a:ea typeface="ヒラギノ角ゴ Pro W3" pitchFamily="-84" charset="-128"/>
              </a:rPr>
              <a:t>terms of trade gain</a:t>
            </a:r>
            <a:r>
              <a:rPr lang="en-US" altLang="en-US" dirty="0" smtClean="0">
                <a:ea typeface="ヒラギノ角ゴ Pro W3" pitchFamily="-84" charset="-128"/>
              </a:rPr>
              <a:t>.</a:t>
            </a:r>
            <a:endParaRPr lang="en-US" altLang="en-US" dirty="0">
              <a:ea typeface="ヒラギノ角ゴ Pro W3" pitchFamily="-84" charset="-128"/>
            </a:endParaRPr>
          </a:p>
          <a:p>
            <a:pPr lvl="1" eaLnBrk="1" hangingPunct="1"/>
            <a:r>
              <a:rPr lang="en-US" altLang="en-US" dirty="0">
                <a:ea typeface="ヒラギノ角ゴ Pro W3" pitchFamily="-84" charset="-128"/>
              </a:rPr>
              <a:t>The tariff lowers the Foreign price, allowing Home to buy its imports cheaper.</a:t>
            </a:r>
          </a:p>
        </p:txBody>
      </p:sp>
    </p:spTree>
    <p:extLst>
      <p:ext uri="{BB962C8B-B14F-4D97-AF65-F5344CB8AC3E}">
        <p14:creationId xmlns:p14="http://schemas.microsoft.com/office/powerpoint/2010/main" val="2848337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(3 of 4)</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Part of government revenue (rectangle </a:t>
            </a:r>
            <a:r>
              <a:rPr lang="en-US" altLang="en-US" i="1" dirty="0">
                <a:ea typeface="ヒラギノ角ゴ Pro W3" pitchFamily="-84" charset="-128"/>
              </a:rPr>
              <a:t>e</a:t>
            </a:r>
            <a:r>
              <a:rPr lang="en-US" altLang="en-US" dirty="0">
                <a:ea typeface="ヒラギノ角ゴ Pro W3" pitchFamily="-84" charset="-128"/>
              </a:rPr>
              <a:t>) represents the terms of trade gain, and part (rectangle </a:t>
            </a:r>
            <a:r>
              <a:rPr lang="en-US" altLang="en-US" i="1" dirty="0">
                <a:ea typeface="ヒラギノ角ゴ Pro W3" pitchFamily="-84" charset="-128"/>
              </a:rPr>
              <a:t>c</a:t>
            </a:r>
            <a:r>
              <a:rPr lang="en-US" altLang="en-US" dirty="0">
                <a:ea typeface="ヒラギノ角ゴ Pro W3" pitchFamily="-84" charset="-128"/>
              </a:rPr>
              <a:t>) represents some of the loss in consumer surplus.</a:t>
            </a:r>
          </a:p>
          <a:p>
            <a:pPr lvl="1" eaLnBrk="1" hangingPunct="1"/>
            <a:r>
              <a:rPr lang="en-US" altLang="en-US" dirty="0">
                <a:ea typeface="ヒラギノ角ゴ Pro W3" pitchFamily="-84" charset="-128"/>
              </a:rPr>
              <a:t>The government gains at the expense of consumers and foreigners.</a:t>
            </a:r>
          </a:p>
          <a:p>
            <a:pPr eaLnBrk="1" hangingPunct="1"/>
            <a:r>
              <a:rPr lang="en-US" altLang="en-US" dirty="0">
                <a:ea typeface="ヒラギノ角ゴ Pro W3" pitchFamily="-84" charset="-128"/>
              </a:rPr>
              <a:t>If the terms of trade gain exceed the efficiency loss, then national welfare will increase under a tariff, at the expense of foreign countries.</a:t>
            </a:r>
          </a:p>
          <a:p>
            <a:pPr lvl="1" eaLnBrk="1" hangingPunct="1"/>
            <a:r>
              <a:rPr lang="en-US" altLang="en-US" dirty="0">
                <a:ea typeface="ヒラギノ角ゴ Pro W3" pitchFamily="-84" charset="-128"/>
              </a:rPr>
              <a:t>However, foreign countries are apt to retaliate.</a:t>
            </a:r>
            <a:endParaRPr lang="en-US" altLang="en-US" i="1" dirty="0">
              <a:ea typeface="ヒラギノ角ゴ Pro W3" pitchFamily="-84" charset="-128"/>
            </a:endParaRPr>
          </a:p>
        </p:txBody>
      </p:sp>
    </p:spTree>
    <p:extLst>
      <p:ext uri="{BB962C8B-B14F-4D97-AF65-F5344CB8AC3E}">
        <p14:creationId xmlns:p14="http://schemas.microsoft.com/office/powerpoint/2010/main" val="188504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9.10 Net Welfare Effects of a Tariff</a:t>
            </a:r>
            <a:endParaRPr lang="en-US" sz="3200" dirty="0"/>
          </a:p>
        </p:txBody>
      </p:sp>
      <p:pic>
        <p:nvPicPr>
          <p:cNvPr id="6" name="Content Placeholder 5" descr="A graph shows price, P versus Quantity, Q, with a rising S curve that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57632" y="1580810"/>
            <a:ext cx="3628737" cy="3900658"/>
          </a:xfrm>
        </p:spPr>
      </p:pic>
      <p:sp>
        <p:nvSpPr>
          <p:cNvPr id="5" name="Content Placeholder 4"/>
          <p:cNvSpPr>
            <a:spLocks noGrp="1"/>
          </p:cNvSpPr>
          <p:nvPr>
            <p:ph sz="quarter" idx="14"/>
          </p:nvPr>
        </p:nvSpPr>
        <p:spPr>
          <a:xfrm>
            <a:off x="457200" y="5605154"/>
            <a:ext cx="8229600" cy="740084"/>
          </a:xfrm>
        </p:spPr>
        <p:txBody>
          <a:bodyPr/>
          <a:lstStyle/>
          <a:p>
            <a:pPr marL="432" indent="0">
              <a:buNone/>
            </a:pPr>
            <a:r>
              <a:rPr lang="en-US" sz="1800" dirty="0">
                <a:latin typeface="Arial (Body)"/>
              </a:rPr>
              <a:t>The colored triangles represent efficiency losses, while the rectangle represents a terms of trade gain.</a:t>
            </a:r>
          </a:p>
        </p:txBody>
      </p:sp>
    </p:spTree>
    <p:extLst>
      <p:ext uri="{BB962C8B-B14F-4D97-AF65-F5344CB8AC3E}">
        <p14:creationId xmlns:p14="http://schemas.microsoft.com/office/powerpoint/2010/main" val="3566862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Measuring the Costs and Benefits of Tariffs </a:t>
            </a:r>
            <a:r>
              <a:rPr lang="en-US" altLang="en-US" sz="2000" b="0" dirty="0">
                <a:ea typeface="ヒラギノ角ゴ Pro W3" pitchFamily="-84" charset="-128"/>
              </a:rPr>
              <a:t>(4 of 4)</a:t>
            </a:r>
            <a:endParaRPr lang="en-US" dirty="0"/>
          </a:p>
        </p:txBody>
      </p:sp>
      <p:sp>
        <p:nvSpPr>
          <p:cNvPr id="3" name="Content Placeholder 2"/>
          <p:cNvSpPr>
            <a:spLocks noGrp="1"/>
          </p:cNvSpPr>
          <p:nvPr>
            <p:ph sz="quarter" idx="13"/>
          </p:nvPr>
        </p:nvSpPr>
        <p:spPr>
          <a:xfrm>
            <a:off x="457200" y="1556327"/>
            <a:ext cx="8009906" cy="4586896"/>
          </a:xfrm>
        </p:spPr>
        <p:txBody>
          <a:bodyPr/>
          <a:lstStyle/>
          <a:p>
            <a:pPr eaLnBrk="1" hangingPunct="1"/>
            <a:r>
              <a:rPr lang="en-US" altLang="en-US" dirty="0">
                <a:ea typeface="ヒラギノ角ゴ Pro W3" pitchFamily="-84" charset="-128"/>
              </a:rPr>
              <a:t>Tariffs can lead trading partners to retaliate with their own tariffs, thus hurting exporters in the country that first adopted the tariff.</a:t>
            </a:r>
          </a:p>
          <a:p>
            <a:pPr eaLnBrk="1" hangingPunct="1"/>
            <a:r>
              <a:rPr lang="en-US" altLang="en-US" dirty="0">
                <a:ea typeface="ヒラギノ角ゴ Pro W3" pitchFamily="-84" charset="-128"/>
              </a:rPr>
              <a:t>Tariffs can be hard to remove and large tariffs may induce producers to engage in wasteful activities to avoid paying tariffs.</a:t>
            </a:r>
          </a:p>
          <a:p>
            <a:pPr lvl="1" eaLnBrk="1" hangingPunct="1"/>
            <a:r>
              <a:rPr lang="en-US" altLang="en-US" dirty="0">
                <a:ea typeface="ヒラギノ角ゴ Pro W3" pitchFamily="-84" charset="-128"/>
              </a:rPr>
              <a:t>Ford and Subaru install (then later remove) seats in vans and pickups trucks to avoid U.S. tariff on imports of light commercial trucks.</a:t>
            </a:r>
          </a:p>
        </p:txBody>
      </p:sp>
    </p:spTree>
    <p:extLst>
      <p:ext uri="{BB962C8B-B14F-4D97-AF65-F5344CB8AC3E}">
        <p14:creationId xmlns:p14="http://schemas.microsoft.com/office/powerpoint/2010/main" val="863919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(1 of 3)</a:t>
            </a:r>
            <a:endParaRPr lang="en-US" dirty="0"/>
          </a:p>
        </p:txBody>
      </p:sp>
      <p:sp>
        <p:nvSpPr>
          <p:cNvPr id="3" name="Content Placeholder 2"/>
          <p:cNvSpPr>
            <a:spLocks noGrp="1"/>
          </p:cNvSpPr>
          <p:nvPr>
            <p:ph sz="quarter" idx="13"/>
          </p:nvPr>
        </p:nvSpPr>
        <p:spPr/>
        <p:txBody>
          <a:bodyPr/>
          <a:lstStyle/>
          <a:p>
            <a:r>
              <a:rPr lang="en-US" dirty="0"/>
              <a:t>Looking at the timeline of average tariffs imposed by the Trump administration 2018–2019:</a:t>
            </a:r>
          </a:p>
          <a:p>
            <a:pPr lvl="1"/>
            <a:r>
              <a:rPr lang="en-US" dirty="0"/>
              <a:t>Some tariffs on specific goods (solar panels, washing machines, steel, and aluminum) were imposed on a large set of exporting countries.</a:t>
            </a:r>
          </a:p>
          <a:p>
            <a:pPr lvl="1"/>
            <a:r>
              <a:rPr lang="en-US" dirty="0"/>
              <a:t>Some tariffs were targeted at specific countries (mostly China but also the European Union later on) and covered many different goods</a:t>
            </a:r>
            <a:r>
              <a:rPr lang="en-US" dirty="0" smtClean="0"/>
              <a:t>.</a:t>
            </a:r>
            <a:endParaRPr lang="en-US" dirty="0"/>
          </a:p>
          <a:p>
            <a:pPr lvl="1"/>
            <a:r>
              <a:rPr lang="en-US" dirty="0"/>
              <a:t>By 2019, over 66% of Chinese exports to the United States were hit by the tariffs shown in Figure 9-11.</a:t>
            </a:r>
          </a:p>
        </p:txBody>
      </p:sp>
    </p:spTree>
    <p:extLst>
      <p:ext uri="{BB962C8B-B14F-4D97-AF65-F5344CB8AC3E}">
        <p14:creationId xmlns:p14="http://schemas.microsoft.com/office/powerpoint/2010/main" val="2375438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9.11 Average Tariffs on U.S. Imports</a:t>
            </a:r>
            <a:endParaRPr lang="en-US" sz="3200" dirty="0"/>
          </a:p>
        </p:txBody>
      </p:sp>
      <p:pic>
        <p:nvPicPr>
          <p:cNvPr id="4" name="Content Placeholder 3" descr="A graph depicts the timeline of the average tariffs on the U S imports during the 20 18 to 20 19 period.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08286" y="1540658"/>
            <a:ext cx="5327428" cy="3289615"/>
          </a:xfrm>
        </p:spPr>
      </p:pic>
      <p:sp>
        <p:nvSpPr>
          <p:cNvPr id="5" name="Content Placeholder 4"/>
          <p:cNvSpPr>
            <a:spLocks noGrp="1"/>
          </p:cNvSpPr>
          <p:nvPr>
            <p:ph sz="quarter" idx="14"/>
          </p:nvPr>
        </p:nvSpPr>
        <p:spPr>
          <a:xfrm>
            <a:off x="457200" y="4912466"/>
            <a:ext cx="8229600" cy="557725"/>
          </a:xfrm>
        </p:spPr>
        <p:txBody>
          <a:bodyPr lIns="0" tIns="0" rIns="0" bIns="0"/>
          <a:lstStyle/>
          <a:p>
            <a:pPr marL="432" indent="0">
              <a:buNone/>
            </a:pPr>
            <a:r>
              <a:rPr lang="en-US" sz="1600" dirty="0">
                <a:latin typeface="Arial (Body)"/>
              </a:rPr>
              <a:t>Over the 2018–2019 period, the Trump administration drastically increased tariffs targeted both at specific goods as well as specific trading partners.</a:t>
            </a:r>
          </a:p>
        </p:txBody>
      </p:sp>
      <p:sp>
        <p:nvSpPr>
          <p:cNvPr id="6" name="Content Placeholder 5"/>
          <p:cNvSpPr>
            <a:spLocks noGrp="1"/>
          </p:cNvSpPr>
          <p:nvPr>
            <p:ph sz="quarter" idx="15"/>
          </p:nvPr>
        </p:nvSpPr>
        <p:spPr>
          <a:xfrm>
            <a:off x="457200" y="5541968"/>
            <a:ext cx="8229600" cy="803270"/>
          </a:xfrm>
        </p:spPr>
        <p:txBody>
          <a:bodyPr lIns="0" tIns="0" rIns="0" bIns="0"/>
          <a:lstStyle/>
          <a:p>
            <a:pPr marL="432" indent="0">
              <a:buNone/>
            </a:pPr>
            <a:r>
              <a:rPr lang="en-US" sz="1600" b="1" dirty="0">
                <a:latin typeface="Arial (Body)"/>
              </a:rPr>
              <a:t>Source</a:t>
            </a:r>
            <a:r>
              <a:rPr lang="en-US" sz="1600" dirty="0">
                <a:latin typeface="Arial (Body)"/>
              </a:rPr>
              <a:t>: 2019 update of Pablo D. Fajgelbaum, Pinelopi K. Goldberg, Patrick J. Kennedy, and Amit K. Khandelwal, “The Return to Protectionism,” </a:t>
            </a:r>
            <a:r>
              <a:rPr lang="en-US" sz="1600" b="1" dirty="0">
                <a:latin typeface="Arial (Body)"/>
              </a:rPr>
              <a:t>The Quarterly Journal of Economics</a:t>
            </a:r>
            <a:r>
              <a:rPr lang="en-US" sz="1600" dirty="0">
                <a:latin typeface="Arial (Body)"/>
              </a:rPr>
              <a:t> 135, no. 1 (February 1, 2020), </a:t>
            </a:r>
            <a:r>
              <a:rPr lang="en-US" sz="1600" dirty="0" smtClean="0">
                <a:latin typeface="Arial (Body)"/>
              </a:rPr>
              <a:t>p</a:t>
            </a:r>
            <a:r>
              <a:rPr lang="en-US" sz="100" dirty="0" smtClean="0">
                <a:latin typeface="Arial (Body)"/>
              </a:rPr>
              <a:t> </a:t>
            </a:r>
            <a:r>
              <a:rPr lang="en-US" sz="1600" dirty="0" smtClean="0">
                <a:latin typeface="Arial (Body)"/>
              </a:rPr>
              <a:t>p</a:t>
            </a:r>
            <a:r>
              <a:rPr lang="en-US" sz="1600" dirty="0">
                <a:latin typeface="Arial (Body)"/>
              </a:rPr>
              <a:t>. 1–55.</a:t>
            </a:r>
          </a:p>
        </p:txBody>
      </p:sp>
    </p:spTree>
    <p:extLst>
      <p:ext uri="{BB962C8B-B14F-4D97-AF65-F5344CB8AC3E}">
        <p14:creationId xmlns:p14="http://schemas.microsoft.com/office/powerpoint/2010/main" val="363145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(2 of 3)</a:t>
            </a:r>
            <a:endParaRPr lang="en-US" dirty="0"/>
          </a:p>
        </p:txBody>
      </p:sp>
      <p:sp>
        <p:nvSpPr>
          <p:cNvPr id="3" name="Content Placeholder 2"/>
          <p:cNvSpPr>
            <a:spLocks noGrp="1"/>
          </p:cNvSpPr>
          <p:nvPr>
            <p:ph sz="quarter" idx="13"/>
          </p:nvPr>
        </p:nvSpPr>
        <p:spPr/>
        <p:txBody>
          <a:bodyPr/>
          <a:lstStyle/>
          <a:p>
            <a:r>
              <a:rPr lang="en-US" dirty="0"/>
              <a:t>How have those tariff increases affected the prices of goods consumed in the United States?</a:t>
            </a:r>
          </a:p>
          <a:p>
            <a:r>
              <a:rPr lang="en-US" dirty="0"/>
              <a:t>Any terms-of-trade gains were negligible—foreign exporters did not lower their prices to absorb hardly any of the tariffs.</a:t>
            </a:r>
          </a:p>
          <a:p>
            <a:r>
              <a:rPr lang="en-US" dirty="0"/>
              <a:t>Almost the entire brunt of the tariffs has been borne by U.S. consumers and firms buying intermediate goods.</a:t>
            </a:r>
          </a:p>
          <a:p>
            <a:r>
              <a:rPr lang="en-US" dirty="0"/>
              <a:t>The higher import prices due to the tariffs represented a substantial annual cost increase of $300-900 for U.S. households.</a:t>
            </a:r>
          </a:p>
        </p:txBody>
      </p:sp>
    </p:spTree>
    <p:extLst>
      <p:ext uri="{BB962C8B-B14F-4D97-AF65-F5344CB8AC3E}">
        <p14:creationId xmlns:p14="http://schemas.microsoft.com/office/powerpoint/2010/main" val="2291266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ea typeface="ヒラギノ角ゴ Pro W3" pitchFamily="-84" charset="-128"/>
              </a:rPr>
              <a:t>Figure 9.12 Annual Cost of Higher Prices by Household Income</a:t>
            </a:r>
            <a:endParaRPr lang="en-US" sz="3200" dirty="0"/>
          </a:p>
        </p:txBody>
      </p:sp>
      <p:pic>
        <p:nvPicPr>
          <p:cNvPr id="7" name="Content Placeholder 6" descr="A graph depicts the timeline of the annual cost on United States import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l="2561" t="3709" r="2778" b="2811"/>
          <a:stretch/>
        </p:blipFill>
        <p:spPr>
          <a:xfrm>
            <a:off x="2108444" y="1567838"/>
            <a:ext cx="4927112" cy="3481233"/>
          </a:xfrm>
        </p:spPr>
      </p:pic>
      <p:sp>
        <p:nvSpPr>
          <p:cNvPr id="8" name="Content Placeholder 7"/>
          <p:cNvSpPr>
            <a:spLocks noGrp="1"/>
          </p:cNvSpPr>
          <p:nvPr>
            <p:ph sz="quarter" idx="14"/>
          </p:nvPr>
        </p:nvSpPr>
        <p:spPr>
          <a:xfrm>
            <a:off x="457200" y="5196938"/>
            <a:ext cx="8229600" cy="538851"/>
          </a:xfrm>
        </p:spPr>
        <p:txBody>
          <a:bodyPr lIns="0" tIns="0" rIns="0" bIns="0"/>
          <a:lstStyle/>
          <a:p>
            <a:pPr marL="432" indent="0">
              <a:buNone/>
            </a:pPr>
            <a:r>
              <a:rPr lang="en-US" sz="1600" dirty="0"/>
              <a:t>The higher prices for imported goods due to the new tariffs represented a substantial annual cost increase for U.S. households.</a:t>
            </a:r>
          </a:p>
        </p:txBody>
      </p:sp>
      <p:sp>
        <p:nvSpPr>
          <p:cNvPr id="9" name="Content Placeholder 8"/>
          <p:cNvSpPr>
            <a:spLocks noGrp="1"/>
          </p:cNvSpPr>
          <p:nvPr>
            <p:ph sz="quarter" idx="15"/>
          </p:nvPr>
        </p:nvSpPr>
        <p:spPr>
          <a:xfrm>
            <a:off x="457200" y="5807034"/>
            <a:ext cx="8229600" cy="538203"/>
          </a:xfrm>
        </p:spPr>
        <p:txBody>
          <a:bodyPr lIns="0" tIns="0" rIns="0" bIns="0"/>
          <a:lstStyle/>
          <a:p>
            <a:pPr marL="432" indent="0">
              <a:buNone/>
            </a:pPr>
            <a:r>
              <a:rPr lang="en-US" sz="1600" b="1" dirty="0"/>
              <a:t>Source: </a:t>
            </a:r>
            <a:r>
              <a:rPr lang="en-US" sz="1600" dirty="0"/>
              <a:t>Kirill Borusyak and Xavier Jaravel, “The Distributional Effects of Trade: Theory and Evidence from the United States,” </a:t>
            </a:r>
            <a:r>
              <a:rPr lang="en-US" sz="1600" dirty="0" smtClean="0"/>
              <a:t>S</a:t>
            </a:r>
            <a:r>
              <a:rPr lang="en-US" sz="100" dirty="0" smtClean="0"/>
              <a:t> </a:t>
            </a:r>
            <a:r>
              <a:rPr lang="en-US" sz="1600" dirty="0" smtClean="0"/>
              <a:t>S</a:t>
            </a:r>
            <a:r>
              <a:rPr lang="en-US" sz="100" dirty="0" smtClean="0"/>
              <a:t> </a:t>
            </a:r>
            <a:r>
              <a:rPr lang="en-US" sz="1600" dirty="0" smtClean="0"/>
              <a:t>R</a:t>
            </a:r>
            <a:r>
              <a:rPr lang="en-US" sz="100" dirty="0" smtClean="0"/>
              <a:t> </a:t>
            </a:r>
            <a:r>
              <a:rPr lang="en-US" sz="1600" dirty="0" smtClean="0"/>
              <a:t>N </a:t>
            </a:r>
            <a:r>
              <a:rPr lang="en-US" sz="1600" dirty="0"/>
              <a:t>Scholarly Paper, October 6, 2018.</a:t>
            </a:r>
          </a:p>
        </p:txBody>
      </p:sp>
    </p:spTree>
    <p:extLst>
      <p:ext uri="{BB962C8B-B14F-4D97-AF65-F5344CB8AC3E}">
        <p14:creationId xmlns:p14="http://schemas.microsoft.com/office/powerpoint/2010/main" val="69133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Winners and Losers of the Trump Trade War </a:t>
            </a:r>
            <a:r>
              <a:rPr 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p:txBody>
          <a:bodyPr/>
          <a:lstStyle/>
          <a:p>
            <a:r>
              <a:rPr lang="en-US" dirty="0"/>
              <a:t>The new tariffs imposed by the United States inevitably led to retaliation by its trading partners. Looking at the progression of those retaliatory tariffs (averaged over the set of targeted goods) over time</a:t>
            </a:r>
            <a:r>
              <a:rPr lang="en-US" dirty="0" smtClean="0"/>
              <a:t>:</a:t>
            </a:r>
            <a:endParaRPr lang="en-US" dirty="0"/>
          </a:p>
          <a:p>
            <a:pPr lvl="1"/>
            <a:r>
              <a:rPr lang="en-US" dirty="0"/>
              <a:t>China responded with higher tariffs on par with the higher tariffs imposed by the United States</a:t>
            </a:r>
            <a:r>
              <a:rPr lang="en-US" dirty="0" smtClean="0"/>
              <a:t>.</a:t>
            </a:r>
            <a:endParaRPr lang="en-US" dirty="0"/>
          </a:p>
          <a:p>
            <a:pPr lvl="1"/>
            <a:r>
              <a:rPr lang="en-US" dirty="0"/>
              <a:t>Major steel and aluminum exporters to the United States responded with tariffs on various U.S. imports.</a:t>
            </a:r>
          </a:p>
          <a:p>
            <a:pPr lvl="1"/>
            <a:r>
              <a:rPr lang="en-US" dirty="0"/>
              <a:t>All those retaliatory tariffs overwhelmingly targeted agricultural products. The Chinese tariffs covered virtually all U.S. agricultural exports.</a:t>
            </a:r>
          </a:p>
        </p:txBody>
      </p:sp>
    </p:spTree>
    <p:extLst>
      <p:ext uri="{BB962C8B-B14F-4D97-AF65-F5344CB8AC3E}">
        <p14:creationId xmlns:p14="http://schemas.microsoft.com/office/powerpoint/2010/main" val="4007558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9.13 Average Retaliatory Tariffs on U.S. Exports</a:t>
            </a:r>
            <a:endParaRPr lang="en-US" sz="3200" dirty="0"/>
          </a:p>
        </p:txBody>
      </p:sp>
      <p:pic>
        <p:nvPicPr>
          <p:cNvPr id="18" name="Content Placeholder 17" descr="A graph depicts the timeline of the average retaliatory tariffs on United States Expor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75730" y="1575306"/>
            <a:ext cx="4592540" cy="3180073"/>
          </a:xfrm>
        </p:spPr>
      </p:pic>
      <p:sp>
        <p:nvSpPr>
          <p:cNvPr id="5" name="Content Placeholder 4"/>
          <p:cNvSpPr>
            <a:spLocks noGrp="1"/>
          </p:cNvSpPr>
          <p:nvPr>
            <p:ph sz="quarter" idx="14"/>
          </p:nvPr>
        </p:nvSpPr>
        <p:spPr>
          <a:xfrm>
            <a:off x="457200" y="4904507"/>
            <a:ext cx="7914904" cy="522515"/>
          </a:xfrm>
        </p:spPr>
        <p:txBody>
          <a:bodyPr lIns="0" tIns="0" rIns="0" bIns="0"/>
          <a:lstStyle/>
          <a:p>
            <a:pPr marL="432" indent="0">
              <a:buNone/>
            </a:pPr>
            <a:r>
              <a:rPr lang="en-US" sz="1600" dirty="0">
                <a:latin typeface="Arial (Body)"/>
              </a:rPr>
              <a:t>All of the United States’ major trading partners responded to the tariffs on their exports with tariffs of their own targeting U.S. exports.</a:t>
            </a:r>
          </a:p>
        </p:txBody>
      </p:sp>
      <p:sp>
        <p:nvSpPr>
          <p:cNvPr id="6" name="Content Placeholder 5"/>
          <p:cNvSpPr>
            <a:spLocks noGrp="1"/>
          </p:cNvSpPr>
          <p:nvPr>
            <p:ph sz="quarter" idx="15"/>
          </p:nvPr>
        </p:nvSpPr>
        <p:spPr>
          <a:xfrm>
            <a:off x="457200" y="5522026"/>
            <a:ext cx="8229600" cy="823212"/>
          </a:xfrm>
        </p:spPr>
        <p:txBody>
          <a:bodyPr lIns="0" tIns="0" rIns="0" bIns="0"/>
          <a:lstStyle/>
          <a:p>
            <a:pPr marL="432" indent="0">
              <a:buNone/>
            </a:pPr>
            <a:r>
              <a:rPr lang="en-US" sz="1600" b="1" dirty="0">
                <a:latin typeface="Arial (Body)"/>
              </a:rPr>
              <a:t>Source: </a:t>
            </a:r>
            <a:r>
              <a:rPr lang="en-US" sz="1600" dirty="0">
                <a:latin typeface="Arial (Body)"/>
              </a:rPr>
              <a:t>2019 update of Pablo D. Fajgelbaum, Pinelopi K. Goldberg, Patrick J. Kennedy, and Amit K. Khandelwal, “The Return to Protectionism,” </a:t>
            </a:r>
            <a:r>
              <a:rPr lang="en-US" sz="1600" b="1" dirty="0">
                <a:latin typeface="Arial (Body)"/>
              </a:rPr>
              <a:t>The Quarterly Journal of Economics</a:t>
            </a:r>
            <a:r>
              <a:rPr lang="en-US" sz="1600" dirty="0">
                <a:latin typeface="Arial (Body)"/>
              </a:rPr>
              <a:t> 135, no. 1 (February 1, 2020), </a:t>
            </a:r>
            <a:r>
              <a:rPr lang="en-US" sz="1600" dirty="0" smtClean="0">
                <a:latin typeface="Arial (Body)"/>
              </a:rPr>
              <a:t>p</a:t>
            </a:r>
            <a:r>
              <a:rPr lang="en-US" sz="100" dirty="0" smtClean="0">
                <a:latin typeface="Arial (Body)"/>
              </a:rPr>
              <a:t> </a:t>
            </a:r>
            <a:r>
              <a:rPr lang="en-US" sz="1600" dirty="0" smtClean="0">
                <a:latin typeface="Arial (Body)"/>
              </a:rPr>
              <a:t>p</a:t>
            </a:r>
            <a:r>
              <a:rPr lang="en-US" sz="1600" dirty="0">
                <a:latin typeface="Arial (Body)"/>
              </a:rPr>
              <a:t>. 1–55.</a:t>
            </a:r>
            <a:endParaRPr lang="en-US" sz="1600" dirty="0"/>
          </a:p>
        </p:txBody>
      </p:sp>
    </p:spTree>
    <p:extLst>
      <p:ext uri="{BB962C8B-B14F-4D97-AF65-F5344CB8AC3E}">
        <p14:creationId xmlns:p14="http://schemas.microsoft.com/office/powerpoint/2010/main" val="32190052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Tariffs for the Long Haul</a:t>
            </a:r>
          </a:p>
        </p:txBody>
      </p:sp>
      <p:sp>
        <p:nvSpPr>
          <p:cNvPr id="3" name="Content Placeholder 2"/>
          <p:cNvSpPr>
            <a:spLocks noGrp="1"/>
          </p:cNvSpPr>
          <p:nvPr>
            <p:ph sz="quarter" idx="13"/>
          </p:nvPr>
        </p:nvSpPr>
        <p:spPr>
          <a:xfrm>
            <a:off x="457199" y="1556327"/>
            <a:ext cx="8116785" cy="4586896"/>
          </a:xfrm>
        </p:spPr>
        <p:txBody>
          <a:bodyPr/>
          <a:lstStyle/>
          <a:p>
            <a:r>
              <a:rPr lang="en-US" dirty="0"/>
              <a:t>Tariffs can induce producers to behave in creative —though ultimately wasteful—ways in order to avoid them.</a:t>
            </a:r>
          </a:p>
          <a:p>
            <a:r>
              <a:rPr lang="en-US" dirty="0"/>
              <a:t>Ford wants to avoid paying 25% tariff on light commercial trucks when imports its small commercial van from Europe.</a:t>
            </a:r>
          </a:p>
          <a:p>
            <a:pPr lvl="1"/>
            <a:r>
              <a:rPr lang="en-US" dirty="0"/>
              <a:t>Ford installs rear windows, rear seats, and seat belts prior to shipping the vehicles to the United States in an attempt to be classified as passenger vehicles (and pay 2.5% tariff</a:t>
            </a:r>
            <a:r>
              <a:rPr lang="en-US" dirty="0" smtClean="0"/>
              <a:t>).</a:t>
            </a:r>
            <a:endParaRPr lang="en-US" dirty="0"/>
          </a:p>
          <a:p>
            <a:pPr lvl="1"/>
            <a:r>
              <a:rPr lang="en-US" dirty="0"/>
              <a:t>Upon arrival, process reversed before delivery to dealers.</a:t>
            </a:r>
          </a:p>
        </p:txBody>
      </p:sp>
    </p:spTree>
    <p:extLst>
      <p:ext uri="{BB962C8B-B14F-4D97-AF65-F5344CB8AC3E}">
        <p14:creationId xmlns:p14="http://schemas.microsoft.com/office/powerpoint/2010/main" val="17091015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(1 of 3)</a:t>
            </a:r>
            <a:endParaRPr lang="en-US" dirty="0"/>
          </a:p>
        </p:txBody>
      </p:sp>
      <p:sp>
        <p:nvSpPr>
          <p:cNvPr id="3" name="Content Placeholder 2"/>
          <p:cNvSpPr>
            <a:spLocks noGrp="1"/>
          </p:cNvSpPr>
          <p:nvPr>
            <p:ph sz="quarter" idx="13"/>
          </p:nvPr>
        </p:nvSpPr>
        <p:spPr/>
        <p:txBody>
          <a:bodyPr/>
          <a:lstStyle/>
          <a:p>
            <a:pPr eaLnBrk="1" hangingPunct="1"/>
            <a:r>
              <a:rPr lang="en-US" altLang="en-US" dirty="0">
                <a:solidFill>
                  <a:schemeClr val="tx1"/>
                </a:solidFill>
                <a:ea typeface="ヒラギノ角ゴ Pro W3" pitchFamily="-84" charset="-128"/>
              </a:rPr>
              <a:t>An export subsidy can also be </a:t>
            </a:r>
            <a:r>
              <a:rPr lang="en-US" altLang="en-US" b="1" dirty="0">
                <a:solidFill>
                  <a:schemeClr val="tx1"/>
                </a:solidFill>
                <a:ea typeface="ヒラギノ角ゴ Pro W3" pitchFamily="-84" charset="-128"/>
              </a:rPr>
              <a:t>specific or ad valorem</a:t>
            </a:r>
            <a:r>
              <a:rPr lang="en-US" altLang="en-US" dirty="0">
                <a:solidFill>
                  <a:schemeClr val="tx1"/>
                </a:solidFill>
                <a:ea typeface="ヒラギノ角ゴ Pro W3" pitchFamily="-84" charset="-128"/>
              </a:rPr>
              <a:t>:</a:t>
            </a:r>
          </a:p>
          <a:p>
            <a:pPr lvl="1" eaLnBrk="1" hangingPunct="1"/>
            <a:r>
              <a:rPr lang="en-US" altLang="en-US" dirty="0">
                <a:solidFill>
                  <a:schemeClr val="tx1"/>
                </a:solidFill>
                <a:ea typeface="ヒラギノ角ゴ Pro W3" pitchFamily="-84" charset="-128"/>
              </a:rPr>
              <a:t>A specific subsidy is a payment per unit exported.</a:t>
            </a:r>
          </a:p>
          <a:p>
            <a:pPr lvl="1" eaLnBrk="1" hangingPunct="1"/>
            <a:r>
              <a:rPr lang="en-US" altLang="en-US" dirty="0">
                <a:solidFill>
                  <a:schemeClr val="tx1"/>
                </a:solidFill>
                <a:ea typeface="ヒラギノ角ゴ Pro W3" pitchFamily="-84" charset="-128"/>
              </a:rPr>
              <a:t>An ad valorem subsidy is a payment as a proportion of the value exported.</a:t>
            </a:r>
          </a:p>
          <a:p>
            <a:pPr eaLnBrk="1" hangingPunct="1"/>
            <a:r>
              <a:rPr lang="en-US" altLang="en-US" dirty="0">
                <a:solidFill>
                  <a:schemeClr val="tx1"/>
                </a:solidFill>
                <a:ea typeface="ヒラギノ角ゴ Pro W3" pitchFamily="-84" charset="-128"/>
              </a:rPr>
              <a:t>An export subsidy raises the price in the exporting country, decreasing its consumer surplus (consumers worse off) and increasing its producer surplus (producers better off).</a:t>
            </a:r>
          </a:p>
        </p:txBody>
      </p:sp>
    </p:spTree>
    <p:extLst>
      <p:ext uri="{BB962C8B-B14F-4D97-AF65-F5344CB8AC3E}">
        <p14:creationId xmlns:p14="http://schemas.microsoft.com/office/powerpoint/2010/main" val="3795156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(2 of 3)</a:t>
            </a:r>
            <a:endParaRPr lang="en-US" dirty="0"/>
          </a:p>
        </p:txBody>
      </p:sp>
      <p:sp>
        <p:nvSpPr>
          <p:cNvPr id="4" name="Content Placeholder 3"/>
          <p:cNvSpPr>
            <a:spLocks noGrp="1"/>
          </p:cNvSpPr>
          <p:nvPr>
            <p:ph sz="quarter" idx="13"/>
          </p:nvPr>
        </p:nvSpPr>
        <p:spPr>
          <a:xfrm>
            <a:off x="457201" y="1552575"/>
            <a:ext cx="6484144" cy="406854"/>
          </a:xfrm>
        </p:spPr>
        <p:txBody>
          <a:bodyPr lIns="0" tIns="0" rIns="0" bIns="0"/>
          <a:lstStyle/>
          <a:p>
            <a:r>
              <a:rPr lang="en-US" altLang="en-US" dirty="0">
                <a:ea typeface="ヒラギノ角ゴ Pro W3" pitchFamily="-84" charset="-128"/>
              </a:rPr>
              <a:t>Also, government revenue falls due to paying</a:t>
            </a:r>
          </a:p>
        </p:txBody>
      </p:sp>
      <p:graphicFrame>
        <p:nvGraphicFramePr>
          <p:cNvPr id="18" name="Object 17" descr="S X asterisk sub S"/>
          <p:cNvGraphicFramePr>
            <a:graphicFrameLocks noChangeAspect="1"/>
          </p:cNvGraphicFramePr>
          <p:nvPr>
            <p:extLst>
              <p:ext uri="{D42A27DB-BD31-4B8C-83A1-F6EECF244321}">
                <p14:modId xmlns:p14="http://schemas.microsoft.com/office/powerpoint/2010/main" val="2626044150"/>
              </p:ext>
            </p:extLst>
          </p:nvPr>
        </p:nvGraphicFramePr>
        <p:xfrm>
          <a:off x="7007736" y="1541398"/>
          <a:ext cx="697465" cy="427478"/>
        </p:xfrm>
        <a:graphic>
          <a:graphicData uri="http://schemas.openxmlformats.org/presentationml/2006/ole">
            <mc:AlternateContent xmlns:mc="http://schemas.openxmlformats.org/markup-compatibility/2006">
              <mc:Choice xmlns:v="urn:schemas-microsoft-com:vml" Requires="v">
                <p:oleObj spid="_x0000_s13490" name="Equation" r:id="rId3" imgW="393480" imgH="241200" progId="Equation.DSMT4">
                  <p:embed/>
                </p:oleObj>
              </mc:Choice>
              <mc:Fallback>
                <p:oleObj name="Equation" r:id="rId3" imgW="393480" imgH="241200" progId="Equation.DSMT4">
                  <p:embed/>
                  <p:pic>
                    <p:nvPicPr>
                      <p:cNvPr id="0" name=""/>
                      <p:cNvPicPr/>
                      <p:nvPr/>
                    </p:nvPicPr>
                    <p:blipFill>
                      <a:blip r:embed="rId4"/>
                      <a:stretch>
                        <a:fillRect/>
                      </a:stretch>
                    </p:blipFill>
                    <p:spPr>
                      <a:xfrm>
                        <a:off x="7007736" y="1541398"/>
                        <a:ext cx="697465" cy="427478"/>
                      </a:xfrm>
                      <a:prstGeom prst="rect">
                        <a:avLst/>
                      </a:prstGeom>
                    </p:spPr>
                  </p:pic>
                </p:oleObj>
              </mc:Fallback>
            </mc:AlternateContent>
          </a:graphicData>
        </a:graphic>
      </p:graphicFrame>
      <p:sp>
        <p:nvSpPr>
          <p:cNvPr id="5" name="Content Placeholder 4"/>
          <p:cNvSpPr>
            <a:spLocks noGrp="1"/>
          </p:cNvSpPr>
          <p:nvPr>
            <p:ph sz="quarter" idx="14"/>
          </p:nvPr>
        </p:nvSpPr>
        <p:spPr>
          <a:xfrm>
            <a:off x="457200" y="2014902"/>
            <a:ext cx="3416301" cy="431418"/>
          </a:xfrm>
        </p:spPr>
        <p:txBody>
          <a:bodyPr lIns="0" tIns="0" rIns="0" bIns="0"/>
          <a:lstStyle/>
          <a:p>
            <a:pPr marL="255600" indent="0">
              <a:buNone/>
            </a:pPr>
            <a:r>
              <a:rPr lang="en-US" altLang="en-US" dirty="0">
                <a:latin typeface="Arial (Body)"/>
                <a:ea typeface="ヒラギノ角ゴ Pro W3" pitchFamily="-84" charset="-128"/>
              </a:rPr>
              <a:t>for the export subsidy.</a:t>
            </a:r>
            <a:endParaRPr lang="en-US" dirty="0">
              <a:latin typeface="Arial (Body)"/>
            </a:endParaRPr>
          </a:p>
        </p:txBody>
      </p:sp>
      <p:sp>
        <p:nvSpPr>
          <p:cNvPr id="6" name="Content Placeholder 5"/>
          <p:cNvSpPr>
            <a:spLocks noGrp="1"/>
          </p:cNvSpPr>
          <p:nvPr>
            <p:ph sz="quarter" idx="15"/>
          </p:nvPr>
        </p:nvSpPr>
        <p:spPr>
          <a:xfrm>
            <a:off x="457201" y="2521355"/>
            <a:ext cx="7410450" cy="428576"/>
          </a:xfrm>
        </p:spPr>
        <p:txBody>
          <a:bodyPr lIns="0" tIns="0" rIns="0" bIns="0"/>
          <a:lstStyle/>
          <a:p>
            <a:r>
              <a:rPr lang="en-US" altLang="en-US" dirty="0">
                <a:latin typeface="Arial (Body)"/>
                <a:ea typeface="ヒラギノ角ゴ Pro W3" pitchFamily="-84" charset="-128"/>
              </a:rPr>
              <a:t>An export subsidy lowers the price paid in importing</a:t>
            </a:r>
            <a:endParaRPr lang="en-US" dirty="0">
              <a:latin typeface="Arial (Body)"/>
            </a:endParaRPr>
          </a:p>
        </p:txBody>
      </p:sp>
      <p:sp>
        <p:nvSpPr>
          <p:cNvPr id="7" name="Content Placeholder 6"/>
          <p:cNvSpPr>
            <a:spLocks noGrp="1"/>
          </p:cNvSpPr>
          <p:nvPr>
            <p:ph sz="quarter" idx="16"/>
          </p:nvPr>
        </p:nvSpPr>
        <p:spPr>
          <a:xfrm>
            <a:off x="457201" y="3020466"/>
            <a:ext cx="1630590" cy="428576"/>
          </a:xfrm>
        </p:spPr>
        <p:txBody>
          <a:bodyPr lIns="0" tIns="0" rIns="0" bIns="0"/>
          <a:lstStyle/>
          <a:p>
            <a:pPr marL="255600" indent="0">
              <a:buNone/>
            </a:pPr>
            <a:r>
              <a:rPr lang="en-US" altLang="en-US" dirty="0">
                <a:latin typeface="Arial (Body)"/>
                <a:ea typeface="ヒラギノ角ゴ Pro W3" pitchFamily="-84" charset="-128"/>
              </a:rPr>
              <a:t>countries</a:t>
            </a:r>
            <a:endParaRPr lang="en-US" dirty="0"/>
          </a:p>
        </p:txBody>
      </p:sp>
      <p:graphicFrame>
        <p:nvGraphicFramePr>
          <p:cNvPr id="19" name="Object 18" descr="P sub S = P sub S minus S."/>
          <p:cNvGraphicFramePr>
            <a:graphicFrameLocks noChangeAspect="1"/>
          </p:cNvGraphicFramePr>
          <p:nvPr>
            <p:extLst>
              <p:ext uri="{D42A27DB-BD31-4B8C-83A1-F6EECF244321}">
                <p14:modId xmlns:p14="http://schemas.microsoft.com/office/powerpoint/2010/main" val="1058585640"/>
              </p:ext>
            </p:extLst>
          </p:nvPr>
        </p:nvGraphicFramePr>
        <p:xfrm>
          <a:off x="2168679" y="3015322"/>
          <a:ext cx="1346129" cy="412523"/>
        </p:xfrm>
        <a:graphic>
          <a:graphicData uri="http://schemas.openxmlformats.org/presentationml/2006/ole">
            <mc:AlternateContent xmlns:mc="http://schemas.openxmlformats.org/markup-compatibility/2006">
              <mc:Choice xmlns:v="urn:schemas-microsoft-com:vml" Requires="v">
                <p:oleObj spid="_x0000_s13491" name="Equation" r:id="rId5" imgW="787320" imgH="241200" progId="Equation.DSMT4">
                  <p:embed/>
                </p:oleObj>
              </mc:Choice>
              <mc:Fallback>
                <p:oleObj name="Equation" r:id="rId5" imgW="787320" imgH="241200" progId="Equation.DSMT4">
                  <p:embed/>
                  <p:pic>
                    <p:nvPicPr>
                      <p:cNvPr id="0" name=""/>
                      <p:cNvPicPr/>
                      <p:nvPr/>
                    </p:nvPicPr>
                    <p:blipFill>
                      <a:blip r:embed="rId6"/>
                      <a:stretch>
                        <a:fillRect/>
                      </a:stretch>
                    </p:blipFill>
                    <p:spPr>
                      <a:xfrm>
                        <a:off x="2168679" y="3015322"/>
                        <a:ext cx="1346129" cy="412523"/>
                      </a:xfrm>
                      <a:prstGeom prst="rect">
                        <a:avLst/>
                      </a:prstGeom>
                    </p:spPr>
                  </p:pic>
                </p:oleObj>
              </mc:Fallback>
            </mc:AlternateContent>
          </a:graphicData>
        </a:graphic>
      </p:graphicFrame>
      <p:sp>
        <p:nvSpPr>
          <p:cNvPr id="8" name="Content Placeholder 7"/>
          <p:cNvSpPr>
            <a:spLocks noGrp="1"/>
          </p:cNvSpPr>
          <p:nvPr>
            <p:ph sz="quarter" idx="17"/>
          </p:nvPr>
        </p:nvSpPr>
        <p:spPr>
          <a:xfrm>
            <a:off x="457200" y="3500218"/>
            <a:ext cx="8259288" cy="868591"/>
          </a:xfrm>
        </p:spPr>
        <p:txBody>
          <a:bodyPr lIns="0" tIns="0" rIns="0" bIns="0"/>
          <a:lstStyle/>
          <a:p>
            <a:r>
              <a:rPr lang="en-US" altLang="en-US" dirty="0">
                <a:latin typeface="Arial (Body)"/>
                <a:ea typeface="ヒラギノ角ゴ Pro W3" pitchFamily="-84" charset="-128"/>
              </a:rPr>
              <a:t>In contrast to a tariff, an export subsidy worsens the terms of trade by lowering the price of exports in world markets.</a:t>
            </a:r>
            <a:endParaRPr lang="en-US" dirty="0">
              <a:latin typeface="Arial (Body)"/>
            </a:endParaRPr>
          </a:p>
        </p:txBody>
      </p:sp>
    </p:spTree>
    <p:extLst>
      <p:ext uri="{BB962C8B-B14F-4D97-AF65-F5344CB8AC3E}">
        <p14:creationId xmlns:p14="http://schemas.microsoft.com/office/powerpoint/2010/main" val="4103274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9.14 Effects of an Export Subsidy</a:t>
            </a:r>
            <a:endParaRPr lang="en-US" sz="3200" dirty="0"/>
          </a:p>
        </p:txBody>
      </p:sp>
      <p:pic>
        <p:nvPicPr>
          <p:cNvPr id="4" name="Content Placeholder 3" descr="A graph shows price, P versus quantity, Q, with a rising S curve that intersects a falling D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84159" y="1557338"/>
            <a:ext cx="4575683" cy="4018853"/>
          </a:xfrm>
        </p:spPr>
      </p:pic>
      <p:sp>
        <p:nvSpPr>
          <p:cNvPr id="5" name="Content Placeholder 4"/>
          <p:cNvSpPr>
            <a:spLocks noGrp="1"/>
          </p:cNvSpPr>
          <p:nvPr>
            <p:ph sz="quarter" idx="14"/>
          </p:nvPr>
        </p:nvSpPr>
        <p:spPr>
          <a:xfrm>
            <a:off x="457200" y="5664530"/>
            <a:ext cx="8229600" cy="680708"/>
          </a:xfrm>
        </p:spPr>
        <p:txBody>
          <a:bodyPr lIns="0" tIns="0" rIns="0" bIns="0"/>
          <a:lstStyle/>
          <a:p>
            <a:pPr marL="432" indent="0">
              <a:buNone/>
            </a:pPr>
            <a:r>
              <a:rPr lang="en-US" sz="2000" dirty="0">
                <a:latin typeface="Arial (Body)"/>
              </a:rPr>
              <a:t>An export subsidy raises prices in the exporting country while lowering them in the importing country.</a:t>
            </a:r>
          </a:p>
        </p:txBody>
      </p:sp>
    </p:spTree>
    <p:extLst>
      <p:ext uri="{BB962C8B-B14F-4D97-AF65-F5344CB8AC3E}">
        <p14:creationId xmlns:p14="http://schemas.microsoft.com/office/powerpoint/2010/main" val="1190294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Export Subsidy </a:t>
            </a:r>
            <a:r>
              <a:rPr lang="en-US" alt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An export subsidy damages national welfare.</a:t>
            </a:r>
          </a:p>
          <a:p>
            <a:pPr eaLnBrk="1" hangingPunct="1"/>
            <a:r>
              <a:rPr lang="en-US" altLang="en-US" dirty="0">
                <a:ea typeface="ヒラギノ角ゴ Pro W3" pitchFamily="-84" charset="-128"/>
              </a:rPr>
              <a:t>The triangles </a:t>
            </a:r>
            <a:r>
              <a:rPr lang="en-US" altLang="en-US" i="1" dirty="0">
                <a:ea typeface="ヒラギノ角ゴ Pro W3" pitchFamily="-84" charset="-128"/>
              </a:rPr>
              <a:t>b</a:t>
            </a:r>
            <a:r>
              <a:rPr lang="en-US" altLang="en-US" dirty="0">
                <a:ea typeface="ヒラギノ角ゴ Pro W3" pitchFamily="-84" charset="-128"/>
              </a:rPr>
              <a:t> and </a:t>
            </a:r>
            <a:r>
              <a:rPr lang="en-US" altLang="en-US" i="1" dirty="0">
                <a:ea typeface="ヒラギノ角ゴ Pro W3" pitchFamily="-84" charset="-128"/>
              </a:rPr>
              <a:t>d</a:t>
            </a:r>
            <a:r>
              <a:rPr lang="en-US" altLang="en-US" dirty="0">
                <a:ea typeface="ヒラギノ角ゴ Pro W3" pitchFamily="-84" charset="-128"/>
              </a:rPr>
              <a:t> represent the </a:t>
            </a:r>
            <a:r>
              <a:rPr lang="en-US" altLang="en-US" b="1" dirty="0">
                <a:ea typeface="ヒラギノ角ゴ Pro W3" pitchFamily="-84" charset="-128"/>
              </a:rPr>
              <a:t>efficiency loss</a:t>
            </a:r>
            <a:r>
              <a:rPr lang="en-US" altLang="en-US" dirty="0">
                <a:ea typeface="ヒラギノ角ゴ Pro W3" pitchFamily="-84" charset="-128"/>
              </a:rPr>
              <a:t>.</a:t>
            </a:r>
          </a:p>
          <a:p>
            <a:pPr lvl="1" eaLnBrk="1" hangingPunct="1"/>
            <a:r>
              <a:rPr lang="en-US" altLang="en-US" dirty="0">
                <a:ea typeface="ヒラギノ角ゴ Pro W3" pitchFamily="-84" charset="-128"/>
              </a:rPr>
              <a:t>The export subsidy distorts production and consumption decisions: producers produce too much and consumers consume too little compared to the market outcome.</a:t>
            </a:r>
          </a:p>
          <a:p>
            <a:pPr eaLnBrk="1" hangingPunct="1"/>
            <a:r>
              <a:rPr lang="en-US" altLang="en-US" dirty="0">
                <a:ea typeface="ヒラギノ角ゴ Pro W3" pitchFamily="-84" charset="-128"/>
              </a:rPr>
              <a:t>The area </a:t>
            </a:r>
            <a:r>
              <a:rPr lang="en-US" altLang="en-US" i="1" dirty="0">
                <a:ea typeface="ヒラギノ角ゴ Pro W3" pitchFamily="-84" charset="-128"/>
              </a:rPr>
              <a:t>b + c + d + f + g </a:t>
            </a:r>
            <a:r>
              <a:rPr lang="en-US" altLang="en-US" dirty="0">
                <a:ea typeface="ヒラギノ角ゴ Pro W3" pitchFamily="-84" charset="-128"/>
              </a:rPr>
              <a:t>represents the </a:t>
            </a:r>
            <a:r>
              <a:rPr lang="en-US" altLang="en-US" b="1" dirty="0">
                <a:ea typeface="ヒラギノ角ゴ Pro W3" pitchFamily="-84" charset="-128"/>
              </a:rPr>
              <a:t>cost of the subsidy paid by the government</a:t>
            </a:r>
            <a:r>
              <a:rPr lang="en-US" altLang="en-US" dirty="0" smtClean="0">
                <a:ea typeface="ヒラギノ角ゴ Pro W3" pitchFamily="-84" charset="-128"/>
              </a:rPr>
              <a:t>.</a:t>
            </a:r>
            <a:endParaRPr lang="en-US" altLang="en-US" dirty="0">
              <a:ea typeface="ヒラギノ角ゴ Pro W3" pitchFamily="-84" charset="-128"/>
            </a:endParaRPr>
          </a:p>
          <a:p>
            <a:pPr lvl="1" eaLnBrk="1" hangingPunct="1"/>
            <a:r>
              <a:rPr lang="en-US" altLang="en-US" dirty="0">
                <a:ea typeface="ヒラギノ角ゴ Pro W3" pitchFamily="-84" charset="-128"/>
              </a:rPr>
              <a:t>The terms of trade </a:t>
            </a:r>
            <a:r>
              <a:rPr lang="en-US" altLang="en-US" b="1" dirty="0">
                <a:ea typeface="ヒラギノ角ゴ Pro W3" pitchFamily="-84" charset="-128"/>
              </a:rPr>
              <a:t>decrease</a:t>
            </a:r>
            <a:r>
              <a:rPr lang="en-US" altLang="en-US" dirty="0">
                <a:ea typeface="ヒラギノ角ゴ Pro W3" pitchFamily="-84" charset="-128"/>
              </a:rPr>
              <a:t>, because the price of exports falls.</a:t>
            </a:r>
          </a:p>
        </p:txBody>
      </p:sp>
    </p:spTree>
    <p:extLst>
      <p:ext uri="{BB962C8B-B14F-4D97-AF65-F5344CB8AC3E}">
        <p14:creationId xmlns:p14="http://schemas.microsoft.com/office/powerpoint/2010/main" val="3477635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The Unfriendly Skies: Settling the Longest Running Trade Dispute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p:txBody>
          <a:bodyPr/>
          <a:lstStyle/>
          <a:p>
            <a:r>
              <a:rPr lang="en-US" dirty="0">
                <a:latin typeface="Arial (Body)"/>
              </a:rPr>
              <a:t>The W</a:t>
            </a:r>
            <a:r>
              <a:rPr lang="en-US" sz="100" dirty="0">
                <a:latin typeface="Arial (Body)"/>
              </a:rPr>
              <a:t> </a:t>
            </a:r>
            <a:r>
              <a:rPr lang="en-US" dirty="0">
                <a:latin typeface="Arial (Body)"/>
              </a:rPr>
              <a:t>T</a:t>
            </a:r>
            <a:r>
              <a:rPr lang="en-US" sz="100" dirty="0">
                <a:latin typeface="Arial (Body)"/>
              </a:rPr>
              <a:t> </a:t>
            </a:r>
            <a:r>
              <a:rPr lang="en-US" dirty="0">
                <a:latin typeface="Arial (Body)"/>
              </a:rPr>
              <a:t>O labels production subsidies to exporters that are shown to harm foreign producers as “actionable” and allows the impacted countries to impose countervailing duties (tariffs) against the subsidizing country.</a:t>
            </a:r>
          </a:p>
          <a:p>
            <a:r>
              <a:rPr lang="en-US" dirty="0">
                <a:latin typeface="Arial (Body)"/>
              </a:rPr>
              <a:t>In 2004, the United States filed a case with the W</a:t>
            </a:r>
            <a:r>
              <a:rPr lang="en-US" sz="100" dirty="0">
                <a:latin typeface="Arial (Body)"/>
              </a:rPr>
              <a:t> </a:t>
            </a:r>
            <a:r>
              <a:rPr lang="en-US" dirty="0">
                <a:latin typeface="Arial (Body)"/>
              </a:rPr>
              <a:t>T</a:t>
            </a:r>
            <a:r>
              <a:rPr lang="en-US" sz="100" dirty="0">
                <a:latin typeface="Arial (Body)"/>
              </a:rPr>
              <a:t> </a:t>
            </a:r>
            <a:r>
              <a:rPr lang="en-US" dirty="0">
                <a:latin typeface="Arial (Body)"/>
              </a:rPr>
              <a:t>O complaining that European-owned Airbus had received favorable loan agreements for the development of their new A380 and A350 jumbo jets</a:t>
            </a:r>
            <a:r>
              <a:rPr lang="en-US" dirty="0" smtClean="0">
                <a:latin typeface="Arial (Body)"/>
              </a:rPr>
              <a:t>.</a:t>
            </a:r>
            <a:endParaRPr lang="en-US" dirty="0">
              <a:latin typeface="Arial (Body)"/>
            </a:endParaRPr>
          </a:p>
          <a:p>
            <a:r>
              <a:rPr lang="en-US" dirty="0">
                <a:latin typeface="Arial (Body)"/>
              </a:rPr>
              <a:t>The European Union immediately filed a counterclaim that Boeing received tax rebates and favorable contracting terms from the U.S. government.</a:t>
            </a:r>
            <a:endParaRPr lang="en-US" dirty="0"/>
          </a:p>
        </p:txBody>
      </p:sp>
    </p:spTree>
    <p:extLst>
      <p:ext uri="{BB962C8B-B14F-4D97-AF65-F5344CB8AC3E}">
        <p14:creationId xmlns:p14="http://schemas.microsoft.com/office/powerpoint/2010/main" val="18946685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The Unfriendly Skies: Settling the Longest Running Trade Dispute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a:xfrm>
            <a:off x="457199" y="1556327"/>
            <a:ext cx="8318665" cy="4586896"/>
          </a:xfrm>
        </p:spPr>
        <p:txBody>
          <a:bodyPr/>
          <a:lstStyle/>
          <a:p>
            <a:r>
              <a:rPr lang="en-US" dirty="0"/>
              <a:t>Both governments claimed that assistance received by airplane manufacturers were actionable export subsidies. The W</a:t>
            </a:r>
            <a:r>
              <a:rPr lang="en-US" sz="100" dirty="0"/>
              <a:t> </a:t>
            </a:r>
            <a:r>
              <a:rPr lang="en-US" dirty="0"/>
              <a:t>T</a:t>
            </a:r>
            <a:r>
              <a:rPr lang="en-US" sz="100" dirty="0"/>
              <a:t> </a:t>
            </a:r>
            <a:r>
              <a:rPr lang="en-US" dirty="0"/>
              <a:t>O eventually ruled in favor of both cases.</a:t>
            </a:r>
          </a:p>
          <a:p>
            <a:r>
              <a:rPr lang="en-US" dirty="0"/>
              <a:t>In 2019, the United States imposed tariffs on European wines and specialty food items. The European Union retaliated with tariffs on U.S. whiskey, nuts, and tobacco</a:t>
            </a:r>
            <a:r>
              <a:rPr lang="en-US" dirty="0" smtClean="0"/>
              <a:t>.</a:t>
            </a:r>
            <a:endParaRPr lang="en-US" dirty="0"/>
          </a:p>
          <a:p>
            <a:r>
              <a:rPr lang="en-US" dirty="0"/>
              <a:t>In 2021, the United States and the European Union finally agreed to end their 17-year trade dispute regarding the production subsidies received by Boeing and Airbus (the world’s two largest passenger airplane manufacturers).</a:t>
            </a:r>
          </a:p>
        </p:txBody>
      </p:sp>
    </p:spTree>
    <p:extLst>
      <p:ext uri="{BB962C8B-B14F-4D97-AF65-F5344CB8AC3E}">
        <p14:creationId xmlns:p14="http://schemas.microsoft.com/office/powerpoint/2010/main" val="22526416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Import Quota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a:xfrm>
            <a:off x="457199" y="1556327"/>
            <a:ext cx="8318665" cy="4586896"/>
          </a:xfrm>
        </p:spPr>
        <p:txBody>
          <a:bodyPr/>
          <a:lstStyle/>
          <a:p>
            <a:pPr eaLnBrk="1" hangingPunct="1"/>
            <a:r>
              <a:rPr lang="en-US" altLang="en-US" dirty="0">
                <a:latin typeface="Arial (Body)"/>
                <a:ea typeface="ヒラギノ角ゴ Pro W3" pitchFamily="-84" charset="-128"/>
              </a:rPr>
              <a:t>An </a:t>
            </a:r>
            <a:r>
              <a:rPr lang="en-US" altLang="en-US" b="1" dirty="0">
                <a:latin typeface="Arial (Body)"/>
                <a:ea typeface="ヒラギノ角ゴ Pro W3" pitchFamily="-84" charset="-128"/>
              </a:rPr>
              <a:t>import quota</a:t>
            </a:r>
            <a:r>
              <a:rPr lang="en-US" altLang="en-US" i="1" dirty="0">
                <a:latin typeface="Arial (Body)"/>
                <a:ea typeface="ヒラギノ角ゴ Pro W3" pitchFamily="-84" charset="-128"/>
              </a:rPr>
              <a:t> </a:t>
            </a:r>
            <a:r>
              <a:rPr lang="en-US" altLang="en-US" dirty="0">
                <a:latin typeface="Arial (Body)"/>
                <a:ea typeface="ヒラギノ角ゴ Pro W3" pitchFamily="-84" charset="-128"/>
              </a:rPr>
              <a:t>is a restriction on the quantity of a good that may be imported.</a:t>
            </a:r>
          </a:p>
          <a:p>
            <a:pPr eaLnBrk="1" hangingPunct="1"/>
            <a:r>
              <a:rPr lang="en-US" altLang="en-US" dirty="0">
                <a:latin typeface="Arial (Body)"/>
                <a:ea typeface="ヒラギノ角ゴ Pro W3" pitchFamily="-84" charset="-128"/>
              </a:rPr>
              <a:t>This restriction is usually enforced by issuing licenses or quota rights.</a:t>
            </a:r>
          </a:p>
          <a:p>
            <a:pPr eaLnBrk="1" hangingPunct="1"/>
            <a:r>
              <a:rPr lang="en-US" altLang="en-US" dirty="0">
                <a:latin typeface="Arial (Body)"/>
                <a:ea typeface="ヒラギノ角ゴ Pro W3" pitchFamily="-84" charset="-128"/>
              </a:rPr>
              <a:t>A binding import quota will push up the price of the import because the quantity demanded will exceed the quantity supplied by Home producers and from imports.</a:t>
            </a:r>
          </a:p>
        </p:txBody>
      </p:sp>
    </p:spTree>
    <p:extLst>
      <p:ext uri="{BB962C8B-B14F-4D97-AF65-F5344CB8AC3E}">
        <p14:creationId xmlns:p14="http://schemas.microsoft.com/office/powerpoint/2010/main" val="3983486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Import Quota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When a quota instead of a tariff is used to restrict imports, the government receives no revenue.</a:t>
            </a:r>
          </a:p>
          <a:p>
            <a:pPr lvl="1" eaLnBrk="1" hangingPunct="1"/>
            <a:r>
              <a:rPr lang="en-US" altLang="en-US" dirty="0">
                <a:ea typeface="ヒラギノ角ゴ Pro W3" pitchFamily="-84" charset="-128"/>
              </a:rPr>
              <a:t>Instead, the revenue from selling imports at high prices goes to quota license holders.</a:t>
            </a:r>
          </a:p>
          <a:p>
            <a:pPr lvl="1" eaLnBrk="1" hangingPunct="1"/>
            <a:r>
              <a:rPr lang="en-US" altLang="en-US" dirty="0">
                <a:ea typeface="ヒラギノ角ゴ Pro W3" pitchFamily="-84" charset="-128"/>
              </a:rPr>
              <a:t>These extra revenues are called </a:t>
            </a:r>
            <a:r>
              <a:rPr lang="en-US" altLang="en-US" b="1" dirty="0">
                <a:ea typeface="ヒラギノ角ゴ Pro W3" pitchFamily="-84" charset="-128"/>
              </a:rPr>
              <a:t>quota rents</a:t>
            </a:r>
            <a:r>
              <a:rPr lang="en-US" altLang="en-US" dirty="0">
                <a:ea typeface="ヒラギノ角ゴ Pro W3" pitchFamily="-84" charset="-128"/>
              </a:rPr>
              <a:t>.</a:t>
            </a:r>
          </a:p>
        </p:txBody>
      </p:sp>
    </p:spTree>
    <p:extLst>
      <p:ext uri="{BB962C8B-B14F-4D97-AF65-F5344CB8AC3E}">
        <p14:creationId xmlns:p14="http://schemas.microsoft.com/office/powerpoint/2010/main" val="3377650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(1 of 4)</a:t>
            </a:r>
            <a:endParaRPr lang="en-US" dirty="0"/>
          </a:p>
        </p:txBody>
      </p:sp>
      <p:sp>
        <p:nvSpPr>
          <p:cNvPr id="3" name="Content Placeholder 2"/>
          <p:cNvSpPr>
            <a:spLocks noGrp="1"/>
          </p:cNvSpPr>
          <p:nvPr>
            <p:ph sz="quarter" idx="13"/>
          </p:nvPr>
        </p:nvSpPr>
        <p:spPr/>
        <p:txBody>
          <a:bodyPr/>
          <a:lstStyle/>
          <a:p>
            <a:r>
              <a:rPr lang="en-US" dirty="0">
                <a:latin typeface="Arial (Body)"/>
              </a:rPr>
              <a:t>Imports of sugar into the United States limited and quota rights passed out to foreign governments.</a:t>
            </a:r>
          </a:p>
          <a:p>
            <a:r>
              <a:rPr lang="en-US" dirty="0">
                <a:latin typeface="Arial (Body)"/>
              </a:rPr>
              <a:t>Price of sugar in the United States has remained well above world prices</a:t>
            </a:r>
            <a:r>
              <a:rPr lang="en-US" dirty="0" smtClean="0">
                <a:latin typeface="Arial (Body)"/>
              </a:rPr>
              <a:t>.</a:t>
            </a:r>
            <a:endParaRPr lang="en-US" dirty="0">
              <a:latin typeface="Arial (Body)"/>
            </a:endParaRPr>
          </a:p>
          <a:p>
            <a:r>
              <a:rPr lang="en-US" dirty="0">
                <a:latin typeface="Arial (Body)"/>
              </a:rPr>
              <a:t>U.S. consumers are hurt by more than U.S. producers benefit; foreigners earn quota rents.</a:t>
            </a:r>
          </a:p>
          <a:p>
            <a:pPr lvl="1"/>
            <a:r>
              <a:rPr lang="en-US" dirty="0">
                <a:latin typeface="Arial (Body)"/>
              </a:rPr>
              <a:t>Overall effect on national welfare negative.</a:t>
            </a:r>
          </a:p>
        </p:txBody>
      </p:sp>
    </p:spTree>
    <p:extLst>
      <p:ext uri="{BB962C8B-B14F-4D97-AF65-F5344CB8AC3E}">
        <p14:creationId xmlns:p14="http://schemas.microsoft.com/office/powerpoint/2010/main" val="337349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(2 of 4)</a:t>
            </a:r>
            <a:endParaRPr lang="en-US" dirty="0"/>
          </a:p>
        </p:txBody>
      </p:sp>
      <p:sp>
        <p:nvSpPr>
          <p:cNvPr id="3" name="Content Placeholder 2"/>
          <p:cNvSpPr>
            <a:spLocks noGrp="1"/>
          </p:cNvSpPr>
          <p:nvPr>
            <p:ph sz="quarter" idx="13"/>
          </p:nvPr>
        </p:nvSpPr>
        <p:spPr>
          <a:xfrm>
            <a:off x="457200" y="1556327"/>
            <a:ext cx="8128660" cy="4586896"/>
          </a:xfrm>
        </p:spPr>
        <p:txBody>
          <a:bodyPr/>
          <a:lstStyle/>
          <a:p>
            <a:r>
              <a:rPr lang="en-US" dirty="0"/>
              <a:t>Under N</a:t>
            </a:r>
            <a:r>
              <a:rPr lang="en-US" sz="100" dirty="0"/>
              <a:t> </a:t>
            </a:r>
            <a:r>
              <a:rPr lang="en-US" dirty="0"/>
              <a:t>A</a:t>
            </a:r>
            <a:r>
              <a:rPr lang="en-US" sz="100" dirty="0"/>
              <a:t> </a:t>
            </a:r>
            <a:r>
              <a:rPr lang="en-US" dirty="0"/>
              <a:t>F</a:t>
            </a:r>
            <a:r>
              <a:rPr lang="en-US" sz="100" dirty="0"/>
              <a:t> </a:t>
            </a:r>
            <a:r>
              <a:rPr lang="en-US" dirty="0"/>
              <a:t>T</a:t>
            </a:r>
            <a:r>
              <a:rPr lang="en-US" sz="100" dirty="0"/>
              <a:t> </a:t>
            </a:r>
            <a:r>
              <a:rPr lang="en-US" dirty="0"/>
              <a:t>A, Mexico’s sugar exports were slowly exempted from the quota restrictions and the U.S. sugar price premium decreased to its lowest level in over 25 years.</a:t>
            </a:r>
          </a:p>
          <a:p>
            <a:r>
              <a:rPr lang="en-US" dirty="0"/>
              <a:t>U.S. sugar producers complained, and the U.S. Commerce Department sharply reduced Mexican sugar imports.</a:t>
            </a:r>
          </a:p>
          <a:p>
            <a:pPr lvl="1"/>
            <a:r>
              <a:rPr lang="en-US" dirty="0"/>
              <a:t>Imposed a 64% anti-dumping tariff and then negotiated a suspension of the tariff in return for lower exports</a:t>
            </a:r>
            <a:r>
              <a:rPr lang="en-US" dirty="0" smtClean="0"/>
              <a:t>.</a:t>
            </a:r>
            <a:endParaRPr lang="en-US" dirty="0"/>
          </a:p>
        </p:txBody>
      </p:sp>
    </p:spTree>
    <p:extLst>
      <p:ext uri="{BB962C8B-B14F-4D97-AF65-F5344CB8AC3E}">
        <p14:creationId xmlns:p14="http://schemas.microsoft.com/office/powerpoint/2010/main" val="218171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(3 of 4)</a:t>
            </a:r>
            <a:endParaRPr lang="en-US" dirty="0"/>
          </a:p>
        </p:txBody>
      </p:sp>
      <p:sp>
        <p:nvSpPr>
          <p:cNvPr id="3" name="Content Placeholder 2"/>
          <p:cNvSpPr>
            <a:spLocks noGrp="1"/>
          </p:cNvSpPr>
          <p:nvPr>
            <p:ph sz="quarter" idx="13"/>
          </p:nvPr>
        </p:nvSpPr>
        <p:spPr>
          <a:xfrm>
            <a:off x="457200" y="1556326"/>
            <a:ext cx="8229600" cy="4788911"/>
          </a:xfrm>
        </p:spPr>
        <p:txBody>
          <a:bodyPr/>
          <a:lstStyle/>
          <a:p>
            <a:r>
              <a:rPr lang="en-US" sz="2200" dirty="0">
                <a:latin typeface="Arial (Body)"/>
              </a:rPr>
              <a:t>With access to the world sugar market successfully impeded, U.S. sugar prices have substantially risen again</a:t>
            </a:r>
            <a:r>
              <a:rPr lang="en-US" sz="2200" dirty="0" smtClean="0">
                <a:latin typeface="Arial (Body)"/>
              </a:rPr>
              <a:t>.</a:t>
            </a:r>
            <a:endParaRPr lang="en-US" sz="2200" dirty="0">
              <a:latin typeface="Arial (Body)"/>
            </a:endParaRPr>
          </a:p>
          <a:p>
            <a:pPr lvl="1"/>
            <a:r>
              <a:rPr lang="en-US" sz="2200" dirty="0">
                <a:latin typeface="Arial (Body)"/>
              </a:rPr>
              <a:t>In 2015, that price was almost double the world price.</a:t>
            </a:r>
          </a:p>
          <a:p>
            <a:r>
              <a:rPr lang="en-US" sz="2200" dirty="0">
                <a:latin typeface="Arial (Body)"/>
              </a:rPr>
              <a:t>For 2014, the sugar quota is estimated to:</a:t>
            </a:r>
          </a:p>
          <a:p>
            <a:pPr lvl="1"/>
            <a:r>
              <a:rPr lang="en-US" sz="2200" dirty="0">
                <a:latin typeface="Arial (Body)"/>
              </a:rPr>
              <a:t>cost consumers 3.5 billion ($11 per person or $30 for a typical household)</a:t>
            </a:r>
          </a:p>
          <a:p>
            <a:pPr lvl="1"/>
            <a:r>
              <a:rPr lang="en-US" sz="2200" dirty="0">
                <a:latin typeface="Arial (Body)"/>
              </a:rPr>
              <a:t>generate producer surplus losses for food producers who use refined sugar as an ingredient) of $909 million</a:t>
            </a:r>
          </a:p>
          <a:p>
            <a:pPr lvl="1"/>
            <a:r>
              <a:rPr lang="en-US" sz="2200" dirty="0">
                <a:latin typeface="Arial (Body)"/>
              </a:rPr>
              <a:t>for a total cost estimate of $4.4 billion</a:t>
            </a:r>
          </a:p>
          <a:p>
            <a:pPr lvl="1"/>
            <a:r>
              <a:rPr lang="en-US" sz="2200" dirty="0">
                <a:latin typeface="Arial (Body)"/>
              </a:rPr>
              <a:t>benefit sugar producers $3.9 billion (mostly to refiners)</a:t>
            </a:r>
          </a:p>
        </p:txBody>
      </p:sp>
    </p:spTree>
    <p:extLst>
      <p:ext uri="{BB962C8B-B14F-4D97-AF65-F5344CB8AC3E}">
        <p14:creationId xmlns:p14="http://schemas.microsoft.com/office/powerpoint/2010/main" val="26579460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An Import Quota in Practice: U.S. Sugar </a:t>
            </a:r>
            <a:r>
              <a:rPr lang="en-US" sz="2000" b="0" dirty="0"/>
              <a:t>(4 of 4)</a:t>
            </a:r>
            <a:endParaRPr lang="en-US" dirty="0"/>
          </a:p>
        </p:txBody>
      </p:sp>
      <p:sp>
        <p:nvSpPr>
          <p:cNvPr id="3" name="Content Placeholder 2"/>
          <p:cNvSpPr>
            <a:spLocks noGrp="1"/>
          </p:cNvSpPr>
          <p:nvPr>
            <p:ph sz="quarter" idx="13"/>
          </p:nvPr>
        </p:nvSpPr>
        <p:spPr/>
        <p:txBody>
          <a:bodyPr/>
          <a:lstStyle/>
          <a:p>
            <a:r>
              <a:rPr lang="en-US" dirty="0">
                <a:latin typeface="Arial (Body)"/>
              </a:rPr>
              <a:t>Eliminating the sugar quota, by reducing the price of sugar in the United States, would generate 17,000–20,000 new jobs in producing foods containing sugar</a:t>
            </a:r>
            <a:r>
              <a:rPr lang="en-US" dirty="0" smtClean="0">
                <a:latin typeface="Arial (Body)"/>
              </a:rPr>
              <a:t>.</a:t>
            </a:r>
            <a:endParaRPr lang="en-US" dirty="0">
              <a:latin typeface="Arial (Body)"/>
            </a:endParaRPr>
          </a:p>
          <a:p>
            <a:pPr lvl="1"/>
            <a:r>
              <a:rPr lang="en-US" dirty="0">
                <a:latin typeface="Arial (Body)"/>
              </a:rPr>
              <a:t>Far more than the 500–2,000 jobs that might be lost in the sugar industry.</a:t>
            </a:r>
          </a:p>
          <a:p>
            <a:pPr lvl="1"/>
            <a:r>
              <a:rPr lang="en-US" dirty="0">
                <a:latin typeface="Arial (Body)"/>
              </a:rPr>
              <a:t>Would turn the United States from a net importer to a net exporter of sugar-containing foods</a:t>
            </a:r>
            <a:r>
              <a:rPr lang="en-US" dirty="0" smtClean="0">
                <a:latin typeface="Arial (Body)"/>
              </a:rPr>
              <a:t>.</a:t>
            </a:r>
            <a:endParaRPr lang="en-US" dirty="0">
              <a:latin typeface="Arial (Body)"/>
            </a:endParaRPr>
          </a:p>
          <a:p>
            <a:r>
              <a:rPr lang="en-US" dirty="0">
                <a:latin typeface="Arial (Body)"/>
              </a:rPr>
              <a:t>The sugar producers are better lobbyists than the sugar-containing food sector so this protection has been extended.</a:t>
            </a:r>
          </a:p>
        </p:txBody>
      </p:sp>
    </p:spTree>
    <p:extLst>
      <p:ext uri="{BB962C8B-B14F-4D97-AF65-F5344CB8AC3E}">
        <p14:creationId xmlns:p14="http://schemas.microsoft.com/office/powerpoint/2010/main" val="26594377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9.15 U.S. and World Raw Sugar Prices, 1989–2019</a:t>
            </a:r>
            <a:endParaRPr lang="en-US" sz="3200" dirty="0"/>
          </a:p>
        </p:txBody>
      </p:sp>
      <p:pic>
        <p:nvPicPr>
          <p:cNvPr id="6" name="Content Placeholder 5" descr="A line graph displays raw sugar pric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20431" y="1572335"/>
            <a:ext cx="4503138" cy="4248243"/>
          </a:xfrm>
        </p:spPr>
      </p:pic>
      <p:sp>
        <p:nvSpPr>
          <p:cNvPr id="5" name="Content Placeholder 4"/>
          <p:cNvSpPr>
            <a:spLocks noGrp="1"/>
          </p:cNvSpPr>
          <p:nvPr>
            <p:ph sz="quarter" idx="14"/>
          </p:nvPr>
        </p:nvSpPr>
        <p:spPr>
          <a:xfrm>
            <a:off x="457200" y="5950857"/>
            <a:ext cx="3936670" cy="329289"/>
          </a:xfrm>
        </p:spPr>
        <p:txBody>
          <a:bodyPr lIns="0" tIns="0" rIns="0" bIns="0"/>
          <a:lstStyle/>
          <a:p>
            <a:pPr marL="432" indent="0">
              <a:buNone/>
            </a:pPr>
            <a:r>
              <a:rPr lang="en-US" sz="1600" b="1" dirty="0">
                <a:latin typeface="Arial (Body)"/>
              </a:rPr>
              <a:t>Source: </a:t>
            </a:r>
            <a:r>
              <a:rPr lang="en-US" sz="1600" dirty="0">
                <a:latin typeface="Arial (Body)"/>
              </a:rPr>
              <a:t>U.S. Department of Agriculture.</a:t>
            </a:r>
          </a:p>
        </p:txBody>
      </p:sp>
    </p:spTree>
    <p:extLst>
      <p:ext uri="{BB962C8B-B14F-4D97-AF65-F5344CB8AC3E}">
        <p14:creationId xmlns:p14="http://schemas.microsoft.com/office/powerpoint/2010/main" val="2896776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9.16 Effects of the U.S. Import Quota on Sugar </a:t>
            </a:r>
            <a:endParaRPr lang="en-US" sz="3200" dirty="0"/>
          </a:p>
        </p:txBody>
      </p:sp>
      <p:pic>
        <p:nvPicPr>
          <p:cNvPr id="18" name="Content Placeholder 17" descr="A graph plots price, U S sugar, versus quantity of sugar, with a rising S curve and falling D curve.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803179" y="1572196"/>
            <a:ext cx="3537642" cy="3612914"/>
          </a:xfrm>
        </p:spPr>
      </p:pic>
      <p:sp>
        <p:nvSpPr>
          <p:cNvPr id="5" name="Content Placeholder 4"/>
          <p:cNvSpPr>
            <a:spLocks noGrp="1"/>
          </p:cNvSpPr>
          <p:nvPr>
            <p:ph sz="quarter" idx="14"/>
          </p:nvPr>
        </p:nvSpPr>
        <p:spPr>
          <a:xfrm>
            <a:off x="457201" y="5346414"/>
            <a:ext cx="7808026" cy="293947"/>
          </a:xfrm>
        </p:spPr>
        <p:txBody>
          <a:bodyPr lIns="0" tIns="0" rIns="0" bIns="0"/>
          <a:lstStyle/>
          <a:p>
            <a:pPr marL="432" indent="0">
              <a:buNone/>
            </a:pPr>
            <a:r>
              <a:rPr lang="en-US" sz="1600" dirty="0">
                <a:latin typeface="Arial (Body)"/>
              </a:rPr>
              <a:t>The quota level </a:t>
            </a:r>
            <a:r>
              <a:rPr lang="en-US" sz="1600" i="1" dirty="0">
                <a:latin typeface="Arial (Body)"/>
              </a:rPr>
              <a:t>Q </a:t>
            </a:r>
            <a:r>
              <a:rPr lang="en-US" sz="1600" dirty="0">
                <a:latin typeface="Arial (Body)"/>
              </a:rPr>
              <a:t>raises the price of sugar in the United States above the world price</a:t>
            </a:r>
          </a:p>
        </p:txBody>
      </p:sp>
      <p:graphicFrame>
        <p:nvGraphicFramePr>
          <p:cNvPr id="19" name="Object 18" descr=", from P sub W to P sub Q."/>
          <p:cNvGraphicFramePr>
            <a:graphicFrameLocks noChangeAspect="1"/>
          </p:cNvGraphicFramePr>
          <p:nvPr>
            <p:extLst>
              <p:ext uri="{D42A27DB-BD31-4B8C-83A1-F6EECF244321}">
                <p14:modId xmlns:p14="http://schemas.microsoft.com/office/powerpoint/2010/main" val="759833660"/>
              </p:ext>
            </p:extLst>
          </p:nvPr>
        </p:nvGraphicFramePr>
        <p:xfrm>
          <a:off x="454817" y="5695695"/>
          <a:ext cx="1419911" cy="304267"/>
        </p:xfrm>
        <a:graphic>
          <a:graphicData uri="http://schemas.openxmlformats.org/presentationml/2006/ole">
            <mc:AlternateContent xmlns:mc="http://schemas.openxmlformats.org/markup-compatibility/2006">
              <mc:Choice xmlns:v="urn:schemas-microsoft-com:vml" Requires="v">
                <p:oleObj spid="_x0000_s14602" name="Equation" r:id="rId5" imgW="1066680" imgH="228600" progId="Equation.DSMT4">
                  <p:embed/>
                </p:oleObj>
              </mc:Choice>
              <mc:Fallback>
                <p:oleObj name="Equation" r:id="rId5" imgW="1066680" imgH="228600" progId="Equation.DSMT4">
                  <p:embed/>
                  <p:pic>
                    <p:nvPicPr>
                      <p:cNvPr id="0" name=""/>
                      <p:cNvPicPr/>
                      <p:nvPr/>
                    </p:nvPicPr>
                    <p:blipFill>
                      <a:blip r:embed="rId6"/>
                      <a:stretch>
                        <a:fillRect/>
                      </a:stretch>
                    </p:blipFill>
                    <p:spPr>
                      <a:xfrm>
                        <a:off x="454817" y="5695695"/>
                        <a:ext cx="1419911" cy="304267"/>
                      </a:xfrm>
                      <a:prstGeom prst="rect">
                        <a:avLst/>
                      </a:prstGeom>
                    </p:spPr>
                  </p:pic>
                </p:oleObj>
              </mc:Fallback>
            </mc:AlternateContent>
          </a:graphicData>
        </a:graphic>
      </p:graphicFrame>
      <p:sp>
        <p:nvSpPr>
          <p:cNvPr id="6" name="Content Placeholder 5"/>
          <p:cNvSpPr>
            <a:spLocks noGrp="1"/>
          </p:cNvSpPr>
          <p:nvPr>
            <p:ph sz="quarter" idx="15"/>
          </p:nvPr>
        </p:nvSpPr>
        <p:spPr>
          <a:xfrm>
            <a:off x="1963387" y="5700602"/>
            <a:ext cx="6553200" cy="279559"/>
          </a:xfrm>
        </p:spPr>
        <p:txBody>
          <a:bodyPr lIns="0" tIns="0" rIns="0" bIns="0"/>
          <a:lstStyle/>
          <a:p>
            <a:pPr marL="432" indent="0">
              <a:buNone/>
            </a:pPr>
            <a:r>
              <a:rPr lang="en-US" sz="1600" dirty="0">
                <a:latin typeface="Arial (Body)"/>
              </a:rPr>
              <a:t>The higher price associated with the quota induces an increase in U.S.</a:t>
            </a:r>
            <a:endParaRPr lang="en-US" sz="1600" dirty="0"/>
          </a:p>
        </p:txBody>
      </p:sp>
      <p:sp>
        <p:nvSpPr>
          <p:cNvPr id="7" name="Content Placeholder 6"/>
          <p:cNvSpPr>
            <a:spLocks noGrp="1"/>
          </p:cNvSpPr>
          <p:nvPr>
            <p:ph sz="quarter" idx="16"/>
          </p:nvPr>
        </p:nvSpPr>
        <p:spPr>
          <a:xfrm>
            <a:off x="475347" y="6069771"/>
            <a:ext cx="1623328" cy="276895"/>
          </a:xfrm>
        </p:spPr>
        <p:txBody>
          <a:bodyPr lIns="0" tIns="0" rIns="0" bIns="0"/>
          <a:lstStyle/>
          <a:p>
            <a:pPr marL="432" indent="0">
              <a:buNone/>
            </a:pPr>
            <a:r>
              <a:rPr lang="en-US" sz="1600" dirty="0">
                <a:latin typeface="Arial (Body)"/>
              </a:rPr>
              <a:t>sugar production</a:t>
            </a:r>
            <a:endParaRPr lang="en-US" sz="1600" dirty="0"/>
          </a:p>
        </p:txBody>
      </p:sp>
      <p:graphicFrame>
        <p:nvGraphicFramePr>
          <p:cNvPr id="20" name="Object 19" descr=", from S to the 1 power to S squared,"/>
          <p:cNvGraphicFramePr>
            <a:graphicFrameLocks noChangeAspect="1"/>
          </p:cNvGraphicFramePr>
          <p:nvPr>
            <p:extLst>
              <p:ext uri="{D42A27DB-BD31-4B8C-83A1-F6EECF244321}">
                <p14:modId xmlns:p14="http://schemas.microsoft.com/office/powerpoint/2010/main" val="3433731241"/>
              </p:ext>
            </p:extLst>
          </p:nvPr>
        </p:nvGraphicFramePr>
        <p:xfrm>
          <a:off x="2160116" y="6069748"/>
          <a:ext cx="1198626" cy="276606"/>
        </p:xfrm>
        <a:graphic>
          <a:graphicData uri="http://schemas.openxmlformats.org/presentationml/2006/ole">
            <mc:AlternateContent xmlns:mc="http://schemas.openxmlformats.org/markup-compatibility/2006">
              <mc:Choice xmlns:v="urn:schemas-microsoft-com:vml" Requires="v">
                <p:oleObj spid="_x0000_s14603" name="Equation" r:id="rId7" imgW="990360" imgH="228600" progId="Equation.DSMT4">
                  <p:embed/>
                </p:oleObj>
              </mc:Choice>
              <mc:Fallback>
                <p:oleObj name="Equation" r:id="rId7" imgW="990360" imgH="228600" progId="Equation.DSMT4">
                  <p:embed/>
                  <p:pic>
                    <p:nvPicPr>
                      <p:cNvPr id="0" name=""/>
                      <p:cNvPicPr/>
                      <p:nvPr/>
                    </p:nvPicPr>
                    <p:blipFill>
                      <a:blip r:embed="rId8"/>
                      <a:stretch>
                        <a:fillRect/>
                      </a:stretch>
                    </p:blipFill>
                    <p:spPr>
                      <a:xfrm>
                        <a:off x="2160116" y="6069748"/>
                        <a:ext cx="1198626" cy="276606"/>
                      </a:xfrm>
                      <a:prstGeom prst="rect">
                        <a:avLst/>
                      </a:prstGeom>
                    </p:spPr>
                  </p:pic>
                </p:oleObj>
              </mc:Fallback>
            </mc:AlternateContent>
          </a:graphicData>
        </a:graphic>
      </p:graphicFrame>
      <p:sp>
        <p:nvSpPr>
          <p:cNvPr id="8" name="Content Placeholder 7"/>
          <p:cNvSpPr>
            <a:spLocks noGrp="1"/>
          </p:cNvSpPr>
          <p:nvPr>
            <p:ph sz="quarter" idx="17"/>
          </p:nvPr>
        </p:nvSpPr>
        <p:spPr>
          <a:xfrm>
            <a:off x="3437912" y="6073354"/>
            <a:ext cx="3972292" cy="285188"/>
          </a:xfrm>
        </p:spPr>
        <p:txBody>
          <a:bodyPr lIns="0" tIns="0" rIns="0" bIns="0"/>
          <a:lstStyle/>
          <a:p>
            <a:pPr marL="432" indent="0">
              <a:buNone/>
            </a:pPr>
            <a:r>
              <a:rPr lang="en-US" sz="1600" dirty="0">
                <a:latin typeface="Arial (Body)"/>
              </a:rPr>
              <a:t>and a reduction in U.S. sugar consumption</a:t>
            </a:r>
            <a:endParaRPr lang="en-US" sz="1600" dirty="0"/>
          </a:p>
        </p:txBody>
      </p:sp>
      <p:graphicFrame>
        <p:nvGraphicFramePr>
          <p:cNvPr id="21" name="Object 20" descr=", from D to the 1 power to D squared."/>
          <p:cNvGraphicFramePr>
            <a:graphicFrameLocks noChangeAspect="1"/>
          </p:cNvGraphicFramePr>
          <p:nvPr>
            <p:extLst>
              <p:ext uri="{D42A27DB-BD31-4B8C-83A1-F6EECF244321}">
                <p14:modId xmlns:p14="http://schemas.microsoft.com/office/powerpoint/2010/main" val="3032017192"/>
              </p:ext>
            </p:extLst>
          </p:nvPr>
        </p:nvGraphicFramePr>
        <p:xfrm>
          <a:off x="7471920" y="6047462"/>
          <a:ext cx="1403007" cy="304267"/>
        </p:xfrm>
        <a:graphic>
          <a:graphicData uri="http://schemas.openxmlformats.org/presentationml/2006/ole">
            <mc:AlternateContent xmlns:mc="http://schemas.openxmlformats.org/markup-compatibility/2006">
              <mc:Choice xmlns:v="urn:schemas-microsoft-com:vml" Requires="v">
                <p:oleObj spid="_x0000_s14604" name="Equation" r:id="rId9" imgW="1054080" imgH="228600" progId="Equation.DSMT4">
                  <p:embed/>
                </p:oleObj>
              </mc:Choice>
              <mc:Fallback>
                <p:oleObj name="Equation" r:id="rId9" imgW="1054080" imgH="228600" progId="Equation.DSMT4">
                  <p:embed/>
                  <p:pic>
                    <p:nvPicPr>
                      <p:cNvPr id="0" name=""/>
                      <p:cNvPicPr/>
                      <p:nvPr/>
                    </p:nvPicPr>
                    <p:blipFill>
                      <a:blip r:embed="rId10"/>
                      <a:stretch>
                        <a:fillRect/>
                      </a:stretch>
                    </p:blipFill>
                    <p:spPr>
                      <a:xfrm>
                        <a:off x="7471920" y="6047462"/>
                        <a:ext cx="1403007" cy="304267"/>
                      </a:xfrm>
                      <a:prstGeom prst="rect">
                        <a:avLst/>
                      </a:prstGeom>
                    </p:spPr>
                  </p:pic>
                </p:oleObj>
              </mc:Fallback>
            </mc:AlternateContent>
          </a:graphicData>
        </a:graphic>
      </p:graphicFrame>
    </p:spTree>
    <p:extLst>
      <p:ext uri="{BB962C8B-B14F-4D97-AF65-F5344CB8AC3E}">
        <p14:creationId xmlns:p14="http://schemas.microsoft.com/office/powerpoint/2010/main" val="33636581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Voluntary Export Restraint</a:t>
            </a:r>
            <a:endParaRPr lang="en-US"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A </a:t>
            </a:r>
            <a:r>
              <a:rPr lang="en-US" altLang="en-US" b="1" dirty="0">
                <a:ea typeface="ヒラギノ角ゴ Pro W3" pitchFamily="-84" charset="-128"/>
              </a:rPr>
              <a:t>voluntary export restraint</a:t>
            </a:r>
            <a:r>
              <a:rPr lang="en-US" altLang="en-US" dirty="0">
                <a:ea typeface="ヒラギノ角ゴ Pro W3" pitchFamily="-84" charset="-128"/>
              </a:rPr>
              <a:t> works like an import quota, except that the quota is imposed by the exporting country rather than the importing country.</a:t>
            </a:r>
          </a:p>
          <a:p>
            <a:pPr eaLnBrk="1" hangingPunct="1"/>
            <a:r>
              <a:rPr lang="en-US" altLang="en-US" dirty="0">
                <a:ea typeface="ヒラギノ角ゴ Pro W3" pitchFamily="-84" charset="-128"/>
              </a:rPr>
              <a:t>These restraints are usually requested by the importing country.</a:t>
            </a:r>
          </a:p>
          <a:p>
            <a:pPr eaLnBrk="1" hangingPunct="1"/>
            <a:r>
              <a:rPr lang="en-US" altLang="en-US" dirty="0">
                <a:ea typeface="ヒラギノ角ゴ Pro W3" pitchFamily="-84" charset="-128"/>
              </a:rPr>
              <a:t>The profits or rents from this policy are earned by foreign governments or foreign producers.</a:t>
            </a:r>
          </a:p>
          <a:p>
            <a:pPr lvl="1" eaLnBrk="1" hangingPunct="1"/>
            <a:r>
              <a:rPr lang="en-US" altLang="en-US" dirty="0">
                <a:ea typeface="ヒラギノ角ゴ Pro W3" pitchFamily="-84" charset="-128"/>
              </a:rPr>
              <a:t>Foreigners sell a restricted quantity at an increased price.</a:t>
            </a:r>
          </a:p>
        </p:txBody>
      </p:sp>
    </p:spTree>
    <p:extLst>
      <p:ext uri="{BB962C8B-B14F-4D97-AF65-F5344CB8AC3E}">
        <p14:creationId xmlns:p14="http://schemas.microsoft.com/office/powerpoint/2010/main" val="39977609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 Voluntary Export Restraint in Practice </a:t>
            </a:r>
            <a:r>
              <a:rPr lang="en-US" sz="2000" b="0" dirty="0"/>
              <a:t>(1 of 2)</a:t>
            </a:r>
            <a:endParaRPr lang="en-US" dirty="0"/>
          </a:p>
        </p:txBody>
      </p:sp>
      <p:sp>
        <p:nvSpPr>
          <p:cNvPr id="3" name="Content Placeholder 2"/>
          <p:cNvSpPr>
            <a:spLocks noGrp="1"/>
          </p:cNvSpPr>
          <p:nvPr>
            <p:ph sz="quarter" idx="13"/>
          </p:nvPr>
        </p:nvSpPr>
        <p:spPr/>
        <p:txBody>
          <a:bodyPr/>
          <a:lstStyle/>
          <a:p>
            <a:r>
              <a:rPr lang="en-US" sz="2200" dirty="0">
                <a:latin typeface="Arial (Body)"/>
              </a:rPr>
              <a:t>In 1979, sharp oil price increases caused the U.S. market to shift abruptly toward smaller cars</a:t>
            </a:r>
            <a:r>
              <a:rPr lang="en-US" sz="2200" dirty="0" smtClean="0">
                <a:latin typeface="Arial (Body)"/>
              </a:rPr>
              <a:t>.</a:t>
            </a:r>
            <a:endParaRPr lang="en-US" sz="2200" dirty="0">
              <a:latin typeface="Arial (Body)"/>
            </a:endParaRPr>
          </a:p>
          <a:p>
            <a:r>
              <a:rPr lang="en-US" sz="2200" dirty="0">
                <a:latin typeface="Arial (Body)"/>
              </a:rPr>
              <a:t>Japanese producers moved in to fill the increased demand faster than U.S. auto companies could come out with smaller, more fuel-efficient models</a:t>
            </a:r>
            <a:r>
              <a:rPr lang="en-US" sz="2200" dirty="0" smtClean="0">
                <a:latin typeface="Arial (Body)"/>
              </a:rPr>
              <a:t>.</a:t>
            </a:r>
            <a:endParaRPr lang="en-US" sz="2200" dirty="0">
              <a:latin typeface="Arial (Body)"/>
            </a:endParaRPr>
          </a:p>
          <a:p>
            <a:r>
              <a:rPr lang="en-US" sz="2200" dirty="0">
                <a:latin typeface="Arial (Body)"/>
              </a:rPr>
              <a:t>As the Japanese market share soared and U.S. output fell, strong political forces in the United States demanded protection.</a:t>
            </a:r>
          </a:p>
          <a:p>
            <a:r>
              <a:rPr lang="en-US" sz="2200" dirty="0">
                <a:latin typeface="Arial (Body)"/>
              </a:rPr>
              <a:t>Rather than act unilaterally and risk creating a trade war, the U.S. government asked the Japanese government to limit its exports.</a:t>
            </a:r>
          </a:p>
        </p:txBody>
      </p:sp>
    </p:spTree>
    <p:extLst>
      <p:ext uri="{BB962C8B-B14F-4D97-AF65-F5344CB8AC3E}">
        <p14:creationId xmlns:p14="http://schemas.microsoft.com/office/powerpoint/2010/main" val="7833911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 Voluntary Export Restraint in Practice </a:t>
            </a:r>
            <a:r>
              <a:rPr lang="en-US" sz="2000" b="0" dirty="0"/>
              <a:t>(2 of 2)</a:t>
            </a:r>
            <a:endParaRPr lang="en-US" dirty="0"/>
          </a:p>
        </p:txBody>
      </p:sp>
      <p:sp>
        <p:nvSpPr>
          <p:cNvPr id="3" name="Content Placeholder 2"/>
          <p:cNvSpPr>
            <a:spLocks noGrp="1"/>
          </p:cNvSpPr>
          <p:nvPr>
            <p:ph sz="quarter" idx="13"/>
          </p:nvPr>
        </p:nvSpPr>
        <p:spPr/>
        <p:txBody>
          <a:bodyPr/>
          <a:lstStyle/>
          <a:p>
            <a:pPr marL="255588" indent="-255588"/>
            <a:r>
              <a:rPr lang="en-US" sz="2200" dirty="0">
                <a:latin typeface="Arial (Body)"/>
              </a:rPr>
              <a:t>The Japanese, fearing unilateral U.S. protectionist measures if they did not do so, agreed to limit their sales</a:t>
            </a:r>
            <a:r>
              <a:rPr lang="en-US" sz="2200" dirty="0" smtClean="0">
                <a:latin typeface="Arial (Body)"/>
              </a:rPr>
              <a:t>.</a:t>
            </a:r>
            <a:endParaRPr lang="en-US" sz="2200" dirty="0">
              <a:latin typeface="Arial (Body)"/>
            </a:endParaRPr>
          </a:p>
          <a:p>
            <a:pPr lvl="1"/>
            <a:r>
              <a:rPr lang="en-US" sz="2200" dirty="0">
                <a:latin typeface="Arial (Body)"/>
              </a:rPr>
              <a:t>The first agreement, in 1981, limited Japanese exports to the United States to 1.68 million automobiles</a:t>
            </a:r>
            <a:r>
              <a:rPr lang="en-US" sz="2200" dirty="0" smtClean="0">
                <a:latin typeface="Arial (Body)"/>
              </a:rPr>
              <a:t>.</a:t>
            </a:r>
            <a:endParaRPr lang="en-US" sz="2200" dirty="0">
              <a:latin typeface="Arial (Body)"/>
            </a:endParaRPr>
          </a:p>
          <a:p>
            <a:pPr lvl="1"/>
            <a:r>
              <a:rPr lang="en-US" sz="2200" dirty="0">
                <a:latin typeface="Arial (Body)"/>
              </a:rPr>
              <a:t>A revision raised that total to 1.85 million in 1984.</a:t>
            </a:r>
          </a:p>
          <a:p>
            <a:pPr lvl="1"/>
            <a:r>
              <a:rPr lang="en-US" sz="2200" dirty="0">
                <a:latin typeface="Arial (Body)"/>
              </a:rPr>
              <a:t>In 1985, the agreement was allowed to lapse.</a:t>
            </a:r>
          </a:p>
          <a:p>
            <a:r>
              <a:rPr lang="en-US" sz="2200" dirty="0">
                <a:latin typeface="Arial (Body)"/>
              </a:rPr>
              <a:t>The price of Japanese cars in the United States rose, with the rent captured by Japanese firms</a:t>
            </a:r>
            <a:r>
              <a:rPr lang="en-US" sz="2200" dirty="0" smtClean="0">
                <a:latin typeface="Arial (Body)"/>
              </a:rPr>
              <a:t>.</a:t>
            </a:r>
            <a:endParaRPr lang="en-US" sz="2200" dirty="0">
              <a:latin typeface="Arial (Body)"/>
            </a:endParaRPr>
          </a:p>
          <a:p>
            <a:r>
              <a:rPr lang="en-US" sz="2200" dirty="0">
                <a:latin typeface="Arial (Body)"/>
              </a:rPr>
              <a:t>The total costs to the United States are estimated to have been $3.2 billion in 1984.</a:t>
            </a:r>
          </a:p>
        </p:txBody>
      </p:sp>
    </p:spTree>
    <p:extLst>
      <p:ext uri="{BB962C8B-B14F-4D97-AF65-F5344CB8AC3E}">
        <p14:creationId xmlns:p14="http://schemas.microsoft.com/office/powerpoint/2010/main" val="34353673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Local Content Requirement </a:t>
            </a:r>
            <a:r>
              <a:rPr lang="en-US" altLang="en-US" sz="2000" b="0" dirty="0">
                <a:ea typeface="ヒラギノ角ゴ Pro W3" pitchFamily="-84" charset="-128"/>
              </a:rPr>
              <a:t>(1 of 5)</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ea typeface="ヒラギノ角ゴ Pro W3" pitchFamily="-84" charset="-128"/>
              </a:rPr>
              <a:t>A</a:t>
            </a:r>
            <a:r>
              <a:rPr lang="en-US" altLang="en-US" b="1" dirty="0">
                <a:latin typeface="Arial (Body)"/>
                <a:ea typeface="ヒラギノ角ゴ Pro W3" pitchFamily="-84" charset="-128"/>
              </a:rPr>
              <a:t> local content requirement</a:t>
            </a:r>
            <a:r>
              <a:rPr lang="en-US" altLang="en-US" dirty="0">
                <a:latin typeface="Arial (Body)"/>
                <a:ea typeface="ヒラギノ角ゴ Pro W3" pitchFamily="-84" charset="-128"/>
              </a:rPr>
              <a:t> (also called </a:t>
            </a:r>
            <a:r>
              <a:rPr lang="en-US" altLang="en-US" b="1" dirty="0">
                <a:latin typeface="Arial (Body)"/>
                <a:ea typeface="ヒラギノ角ゴ Pro W3" pitchFamily="-84" charset="-128"/>
              </a:rPr>
              <a:t>rules of origin</a:t>
            </a:r>
            <a:r>
              <a:rPr lang="en-US" altLang="en-US" dirty="0">
                <a:latin typeface="Arial (Body)"/>
                <a:ea typeface="ヒラギノ角ゴ Pro W3" pitchFamily="-84" charset="-128"/>
              </a:rPr>
              <a:t>) is a regulation that requires a specified fraction of a final good to be produced domestically.</a:t>
            </a:r>
          </a:p>
          <a:p>
            <a:pPr eaLnBrk="1" hangingPunct="1"/>
            <a:r>
              <a:rPr lang="en-US" altLang="en-US" dirty="0">
                <a:latin typeface="Arial (Body)"/>
                <a:ea typeface="ヒラギノ角ゴ Pro W3" pitchFamily="-84" charset="-128"/>
              </a:rPr>
              <a:t>It may be specified in value terms, by requiring that some minimum share of the value of a good represent home value added, or in physical units.</a:t>
            </a:r>
          </a:p>
        </p:txBody>
      </p:sp>
    </p:spTree>
    <p:extLst>
      <p:ext uri="{BB962C8B-B14F-4D97-AF65-F5344CB8AC3E}">
        <p14:creationId xmlns:p14="http://schemas.microsoft.com/office/powerpoint/2010/main" val="30669345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Local Content Requirement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a:xfrm>
            <a:off x="457200" y="1556327"/>
            <a:ext cx="8140535" cy="4586896"/>
          </a:xfrm>
        </p:spPr>
        <p:txBody>
          <a:bodyPr/>
          <a:lstStyle/>
          <a:p>
            <a:pPr eaLnBrk="1" hangingPunct="1"/>
            <a:r>
              <a:rPr lang="en-US" altLang="en-US" dirty="0">
                <a:latin typeface="Arial (Body)"/>
                <a:ea typeface="ヒラギノ角ゴ Pro W3" pitchFamily="-84" charset="-128"/>
              </a:rPr>
              <a:t>From the viewpoint of domestic producers of inputs, a local content requirement provides protection in the same way that an import quota would.</a:t>
            </a:r>
          </a:p>
          <a:p>
            <a:pPr eaLnBrk="1" hangingPunct="1"/>
            <a:r>
              <a:rPr lang="en-US" altLang="en-US" dirty="0">
                <a:latin typeface="Arial (Body)"/>
                <a:ea typeface="ヒラギノ角ゴ Pro W3" pitchFamily="-84" charset="-128"/>
              </a:rPr>
              <a:t>From the viewpoint of firms that must buy home inputs, however, the requirement does not place a strict limit on imports, but allows firms to import more if they also use more home parts.</a:t>
            </a:r>
            <a:endParaRPr lang="en-US" dirty="0"/>
          </a:p>
        </p:txBody>
      </p:sp>
    </p:spTree>
    <p:extLst>
      <p:ext uri="{BB962C8B-B14F-4D97-AF65-F5344CB8AC3E}">
        <p14:creationId xmlns:p14="http://schemas.microsoft.com/office/powerpoint/2010/main" val="7285010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Local Content Requirement </a:t>
            </a:r>
            <a:r>
              <a:rPr lang="en-US" altLang="en-US" sz="2000" b="0" dirty="0">
                <a:ea typeface="ヒラギノ角ゴ Pro W3" pitchFamily="-84" charset="-128"/>
              </a:rPr>
              <a:t>(3 of 5)</a:t>
            </a:r>
            <a:endParaRPr lang="en-US" dirty="0"/>
          </a:p>
        </p:txBody>
      </p:sp>
      <p:sp>
        <p:nvSpPr>
          <p:cNvPr id="3" name="Content Placeholder 2"/>
          <p:cNvSpPr>
            <a:spLocks noGrp="1"/>
          </p:cNvSpPr>
          <p:nvPr>
            <p:ph sz="quarter" idx="13"/>
          </p:nvPr>
        </p:nvSpPr>
        <p:spPr>
          <a:xfrm>
            <a:off x="457200" y="1556327"/>
            <a:ext cx="8271164" cy="4586896"/>
          </a:xfrm>
        </p:spPr>
        <p:txBody>
          <a:bodyPr/>
          <a:lstStyle/>
          <a:p>
            <a:pPr eaLnBrk="1" hangingPunct="1"/>
            <a:r>
              <a:rPr lang="en-US" altLang="en-US" dirty="0">
                <a:latin typeface="Arial (Body)"/>
                <a:ea typeface="ヒラギノ角ゴ Pro W3" pitchFamily="-84" charset="-128"/>
              </a:rPr>
              <a:t>Local content requirement provides neither government revenue (as a tariff would) nor quota rents.</a:t>
            </a:r>
          </a:p>
          <a:p>
            <a:pPr eaLnBrk="1" hangingPunct="1"/>
            <a:r>
              <a:rPr lang="en-US" altLang="en-US" dirty="0">
                <a:latin typeface="Arial (Body)"/>
                <a:ea typeface="ヒラギノ角ゴ Pro W3" pitchFamily="-84" charset="-128"/>
              </a:rPr>
              <a:t>Instead, the difference between the prices of home goods and imports is averaged into the price of the final good and is passed on to consumers.</a:t>
            </a:r>
          </a:p>
        </p:txBody>
      </p:sp>
    </p:spTree>
    <p:extLst>
      <p:ext uri="{BB962C8B-B14F-4D97-AF65-F5344CB8AC3E}">
        <p14:creationId xmlns:p14="http://schemas.microsoft.com/office/powerpoint/2010/main" val="428844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Local Content Requirement </a:t>
            </a:r>
            <a:r>
              <a:rPr lang="en-US" altLang="en-US" sz="2000" b="0" dirty="0">
                <a:ea typeface="ヒラギノ角ゴ Pro W3" pitchFamily="-84" charset="-128"/>
              </a:rPr>
              <a:t>(4 of 5)</a:t>
            </a:r>
            <a:endParaRPr lang="en-US" dirty="0"/>
          </a:p>
        </p:txBody>
      </p:sp>
      <p:sp>
        <p:nvSpPr>
          <p:cNvPr id="3" name="Content Placeholder 2"/>
          <p:cNvSpPr>
            <a:spLocks noGrp="1"/>
          </p:cNvSpPr>
          <p:nvPr>
            <p:ph sz="quarter" idx="13"/>
          </p:nvPr>
        </p:nvSpPr>
        <p:spPr>
          <a:xfrm>
            <a:off x="457199" y="1556327"/>
            <a:ext cx="8520545" cy="4586896"/>
          </a:xfrm>
        </p:spPr>
        <p:txBody>
          <a:bodyPr/>
          <a:lstStyle/>
          <a:p>
            <a:r>
              <a:rPr lang="en-US" sz="2200" dirty="0">
                <a:latin typeface="Arial (Body)"/>
                <a:ea typeface="ヒラギノ角ゴ Pro W3" pitchFamily="-84" charset="-128"/>
              </a:rPr>
              <a:t>In 2020, t</a:t>
            </a:r>
            <a:r>
              <a:rPr lang="en-US" sz="2200" dirty="0">
                <a:latin typeface="Arial (Body)"/>
              </a:rPr>
              <a:t>he United States-Mexico-Canada Agreement (U</a:t>
            </a:r>
            <a:r>
              <a:rPr lang="en-US" sz="100" dirty="0">
                <a:latin typeface="Arial (Body)"/>
              </a:rPr>
              <a:t> </a:t>
            </a:r>
            <a:r>
              <a:rPr lang="en-US" sz="2200" dirty="0">
                <a:latin typeface="Arial (Body)"/>
              </a:rPr>
              <a:t>S</a:t>
            </a:r>
            <a:r>
              <a:rPr lang="en-US" sz="100" dirty="0">
                <a:latin typeface="Arial (Body)"/>
              </a:rPr>
              <a:t> </a:t>
            </a:r>
            <a:r>
              <a:rPr lang="en-US" sz="2200" dirty="0">
                <a:latin typeface="Arial (Body)"/>
              </a:rPr>
              <a:t>M</a:t>
            </a:r>
            <a:r>
              <a:rPr lang="en-US" sz="100" dirty="0">
                <a:latin typeface="Arial (Body)"/>
              </a:rPr>
              <a:t> </a:t>
            </a:r>
            <a:r>
              <a:rPr lang="en-US" sz="2200" dirty="0">
                <a:latin typeface="Arial (Body)"/>
              </a:rPr>
              <a:t>C</a:t>
            </a:r>
            <a:r>
              <a:rPr lang="en-US" sz="100" dirty="0">
                <a:latin typeface="Arial (Body)"/>
              </a:rPr>
              <a:t> </a:t>
            </a:r>
            <a:r>
              <a:rPr lang="en-US" sz="2200" dirty="0">
                <a:latin typeface="Arial (Body)"/>
              </a:rPr>
              <a:t>A) increased the regional content requirements for vehicles from 62.5 (with N</a:t>
            </a:r>
            <a:r>
              <a:rPr lang="en-US" sz="100" dirty="0">
                <a:latin typeface="Arial (Body)"/>
              </a:rPr>
              <a:t> </a:t>
            </a:r>
            <a:r>
              <a:rPr lang="en-US" sz="2200" dirty="0">
                <a:latin typeface="Arial (Body)"/>
              </a:rPr>
              <a:t>A</a:t>
            </a:r>
            <a:r>
              <a:rPr lang="en-US" sz="100" dirty="0">
                <a:latin typeface="Arial (Body)"/>
              </a:rPr>
              <a:t> </a:t>
            </a:r>
            <a:r>
              <a:rPr lang="en-US" sz="2200" dirty="0">
                <a:latin typeface="Arial (Body)"/>
              </a:rPr>
              <a:t>F</a:t>
            </a:r>
            <a:r>
              <a:rPr lang="en-US" sz="100" dirty="0">
                <a:latin typeface="Arial (Body)"/>
              </a:rPr>
              <a:t> </a:t>
            </a:r>
            <a:r>
              <a:rPr lang="en-US" sz="2200" dirty="0">
                <a:latin typeface="Arial (Body)"/>
              </a:rPr>
              <a:t>T</a:t>
            </a:r>
            <a:r>
              <a:rPr lang="en-US" sz="100" dirty="0">
                <a:latin typeface="Arial (Body)"/>
              </a:rPr>
              <a:t> </a:t>
            </a:r>
            <a:r>
              <a:rPr lang="en-US" sz="2200" dirty="0">
                <a:latin typeface="Arial (Body)"/>
              </a:rPr>
              <a:t>A) to 75</a:t>
            </a:r>
            <a:r>
              <a:rPr lang="en-US" sz="2200" dirty="0" smtClean="0">
                <a:latin typeface="Arial (Body)"/>
              </a:rPr>
              <a:t>%.</a:t>
            </a:r>
            <a:endParaRPr lang="en-US" sz="2200" dirty="0">
              <a:latin typeface="Arial (Body)"/>
            </a:endParaRPr>
          </a:p>
          <a:p>
            <a:pPr lvl="1"/>
            <a:r>
              <a:rPr lang="en-US" sz="2200" dirty="0">
                <a:latin typeface="Arial (Body)"/>
              </a:rPr>
              <a:t>Any car or truck exported within North America must contain at least 75% of its content produced within the region</a:t>
            </a:r>
            <a:r>
              <a:rPr lang="en-US" sz="2200" dirty="0" smtClean="0">
                <a:latin typeface="Arial (Body)"/>
              </a:rPr>
              <a:t>.</a:t>
            </a:r>
            <a:endParaRPr lang="en-US" sz="2200" dirty="0">
              <a:latin typeface="Arial (Body)"/>
            </a:endParaRPr>
          </a:p>
          <a:p>
            <a:r>
              <a:rPr lang="en-US" sz="2200" dirty="0">
                <a:latin typeface="Arial (Body)"/>
              </a:rPr>
              <a:t>An additional requirement stipulates that 45% of the content must be made by workers earning at least $16 an hour, which effectively excludes most of auto parts made in Mexico, where most wages are below that level.</a:t>
            </a:r>
          </a:p>
          <a:p>
            <a:pPr lvl="1"/>
            <a:r>
              <a:rPr lang="en-US" sz="2200" dirty="0">
                <a:latin typeface="Arial (Body)"/>
              </a:rPr>
              <a:t>Intended to impose additional restrictions on vehicles assembled in Mexico for sale in the U.S. market.</a:t>
            </a:r>
            <a:endParaRPr lang="en-US" altLang="en-US" sz="2200" dirty="0">
              <a:latin typeface="Arial (Body)"/>
              <a:ea typeface="ヒラギノ角ゴ Pro W3" pitchFamily="-84" charset="-128"/>
            </a:endParaRPr>
          </a:p>
        </p:txBody>
      </p:sp>
    </p:spTree>
    <p:extLst>
      <p:ext uri="{BB962C8B-B14F-4D97-AF65-F5344CB8AC3E}">
        <p14:creationId xmlns:p14="http://schemas.microsoft.com/office/powerpoint/2010/main" val="2162968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Local Content Requirement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p:txBody>
          <a:bodyPr/>
          <a:lstStyle/>
          <a:p>
            <a:pPr eaLnBrk="1" hangingPunct="1"/>
            <a:r>
              <a:rPr lang="en-US" altLang="en-US" sz="2200" dirty="0">
                <a:latin typeface="Arial (Body)"/>
                <a:ea typeface="ヒラギノ角ゴ Pro W3" pitchFamily="-84" charset="-128"/>
              </a:rPr>
              <a:t>Any public work project funded by the American Recovery and Re-Investment Act of 2009 (A</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R</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R</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A) must use U.S. iron, steel, and manufactured goods (unless foreign bid more than 25% lower).</a:t>
            </a:r>
          </a:p>
          <a:p>
            <a:pPr lvl="1" eaLnBrk="1" hangingPunct="1"/>
            <a:r>
              <a:rPr lang="en-US" altLang="en-US" sz="2200" dirty="0">
                <a:latin typeface="Arial (Body)"/>
                <a:ea typeface="ヒラギノ角ゴ Pro W3" pitchFamily="-84" charset="-128"/>
              </a:rPr>
              <a:t>The Bay Bridge linking San Francisco and Oakland did not use A</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R</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R</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A funding because some key components would have been 23% ($400 million) more expensive.</a:t>
            </a:r>
          </a:p>
          <a:p>
            <a:pPr eaLnBrk="1" hangingPunct="1"/>
            <a:r>
              <a:rPr lang="en-US" altLang="en-US" sz="2200" dirty="0">
                <a:latin typeface="Arial (Body)"/>
                <a:ea typeface="ヒラギノ角ゴ Pro W3" pitchFamily="-84" charset="-128"/>
              </a:rPr>
              <a:t>Delays due to having to show that some items are unavailable from U.S. sources.</a:t>
            </a:r>
          </a:p>
          <a:p>
            <a:pPr eaLnBrk="1" hangingPunct="1"/>
            <a:r>
              <a:rPr lang="en-US" altLang="en-US" sz="2200" dirty="0">
                <a:latin typeface="Arial (Body)"/>
                <a:ea typeface="ヒラギノ角ゴ Pro W3" pitchFamily="-84" charset="-128"/>
              </a:rPr>
              <a:t>Has triggered protectionist clauses that shut U.S. firms out of opportunities abroad.</a:t>
            </a:r>
          </a:p>
        </p:txBody>
      </p:sp>
    </p:spTree>
    <p:extLst>
      <p:ext uri="{BB962C8B-B14F-4D97-AF65-F5344CB8AC3E}">
        <p14:creationId xmlns:p14="http://schemas.microsoft.com/office/powerpoint/2010/main" val="42539341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Other Trade Policies</a:t>
            </a:r>
            <a:endParaRPr lang="en-US" dirty="0"/>
          </a:p>
        </p:txBody>
      </p:sp>
      <p:sp>
        <p:nvSpPr>
          <p:cNvPr id="3" name="Content Placeholder 2"/>
          <p:cNvSpPr>
            <a:spLocks noGrp="1"/>
          </p:cNvSpPr>
          <p:nvPr>
            <p:ph sz="quarter" idx="13"/>
          </p:nvPr>
        </p:nvSpPr>
        <p:spPr/>
        <p:txBody>
          <a:bodyPr/>
          <a:lstStyle/>
          <a:p>
            <a:pPr eaLnBrk="1" hangingPunct="1"/>
            <a:r>
              <a:rPr lang="en-US" altLang="en-US" sz="2200" dirty="0">
                <a:latin typeface="Arial (Body)"/>
                <a:ea typeface="ヒラギノ角ゴ Pro W3" pitchFamily="-84" charset="-128"/>
              </a:rPr>
              <a:t>Export credit subsidies</a:t>
            </a:r>
          </a:p>
          <a:p>
            <a:pPr lvl="1" eaLnBrk="1" hangingPunct="1"/>
            <a:r>
              <a:rPr lang="en-US" altLang="en-US" sz="2200" dirty="0">
                <a:latin typeface="Arial (Body)"/>
                <a:ea typeface="ヒラギノ角ゴ Pro W3" pitchFamily="-84" charset="-128"/>
              </a:rPr>
              <a:t>A subsidized loan to exporters</a:t>
            </a:r>
          </a:p>
          <a:p>
            <a:pPr lvl="1" eaLnBrk="1" hangingPunct="1"/>
            <a:r>
              <a:rPr lang="en-US" altLang="en-US" sz="2200" dirty="0">
                <a:latin typeface="Arial (Body)"/>
                <a:ea typeface="ヒラギノ角ゴ Pro W3" pitchFamily="-84" charset="-128"/>
              </a:rPr>
              <a:t>U.S. Export-Import Bank subsidizes loans to U.S. exporters.</a:t>
            </a:r>
          </a:p>
          <a:p>
            <a:pPr eaLnBrk="1" hangingPunct="1"/>
            <a:r>
              <a:rPr lang="en-US" altLang="en-US" sz="2200" dirty="0">
                <a:latin typeface="Arial (Body)"/>
                <a:ea typeface="ヒラギノ角ゴ Pro W3" pitchFamily="-84" charset="-128"/>
              </a:rPr>
              <a:t>Government procurement</a:t>
            </a:r>
          </a:p>
          <a:p>
            <a:pPr lvl="1" eaLnBrk="1" hangingPunct="1"/>
            <a:r>
              <a:rPr lang="en-US" altLang="en-US" sz="2200" dirty="0">
                <a:latin typeface="Arial (Body)"/>
                <a:ea typeface="ヒラギノ角ゴ Pro W3" pitchFamily="-84" charset="-128"/>
              </a:rPr>
              <a:t>Government agencies are obligated to purchase from home suppliers, even when they charge higher prices </a:t>
            </a:r>
            <a:br>
              <a:rPr lang="en-US" altLang="en-US" sz="2200" dirty="0">
                <a:latin typeface="Arial (Body)"/>
                <a:ea typeface="ヒラギノ角ゴ Pro W3" pitchFamily="-84" charset="-128"/>
              </a:rPr>
            </a:br>
            <a:r>
              <a:rPr lang="en-US" altLang="en-US" sz="2200" dirty="0">
                <a:latin typeface="Arial (Body)"/>
                <a:ea typeface="ヒラギノ角ゴ Pro W3" pitchFamily="-84" charset="-128"/>
              </a:rPr>
              <a:t>(or have inferior quality) compared to foreign suppliers.</a:t>
            </a:r>
          </a:p>
          <a:p>
            <a:pPr eaLnBrk="1" hangingPunct="1"/>
            <a:r>
              <a:rPr lang="en-US" altLang="en-US" sz="2200" dirty="0">
                <a:latin typeface="Arial (Body)"/>
                <a:ea typeface="ヒラギノ角ゴ Pro W3" pitchFamily="-84" charset="-128"/>
              </a:rPr>
              <a:t>Bureaucratic regulations (red tape)</a:t>
            </a:r>
          </a:p>
          <a:p>
            <a:pPr lvl="1" eaLnBrk="1" hangingPunct="1"/>
            <a:r>
              <a:rPr lang="en-US" altLang="en-US" sz="2200" dirty="0">
                <a:latin typeface="Arial (Body)"/>
                <a:ea typeface="ヒラギノ角ゴ Pro W3" pitchFamily="-84" charset="-128"/>
              </a:rPr>
              <a:t>Safety, health, quality, or customs regulations can act as a form of protection and trade restriction.</a:t>
            </a:r>
          </a:p>
        </p:txBody>
      </p:sp>
    </p:spTree>
    <p:extLst>
      <p:ext uri="{BB962C8B-B14F-4D97-AF65-F5344CB8AC3E}">
        <p14:creationId xmlns:p14="http://schemas.microsoft.com/office/powerpoint/2010/main" val="535053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The Effects of Trade Policy: A Summary</a:t>
            </a:r>
            <a:endParaRPr lang="en-US" sz="3200" dirty="0"/>
          </a:p>
        </p:txBody>
      </p:sp>
      <p:sp>
        <p:nvSpPr>
          <p:cNvPr id="3" name="Content Placeholder 2"/>
          <p:cNvSpPr>
            <a:spLocks noGrp="1"/>
          </p:cNvSpPr>
          <p:nvPr>
            <p:ph sz="quarter" idx="13"/>
          </p:nvPr>
        </p:nvSpPr>
        <p:spPr/>
        <p:txBody>
          <a:bodyPr/>
          <a:lstStyle/>
          <a:p>
            <a:pPr eaLnBrk="1" hangingPunct="1"/>
            <a:r>
              <a:rPr lang="en-US" altLang="en-US" dirty="0">
                <a:ea typeface="ヒラギノ角ゴ Pro W3" pitchFamily="-84" charset="-128"/>
              </a:rPr>
              <a:t>For each trade policy, the price rises in the Home country adopting the policy.</a:t>
            </a:r>
          </a:p>
          <a:p>
            <a:pPr lvl="1" eaLnBrk="1" hangingPunct="1"/>
            <a:r>
              <a:rPr lang="en-US" altLang="en-US" dirty="0">
                <a:ea typeface="ヒラギノ角ゴ Pro W3" pitchFamily="-84" charset="-128"/>
              </a:rPr>
              <a:t>Home producers supply more and gain</a:t>
            </a:r>
            <a:r>
              <a:rPr lang="en-US" altLang="en-US" dirty="0" smtClean="0">
                <a:ea typeface="ヒラギノ角ゴ Pro W3" pitchFamily="-84" charset="-128"/>
              </a:rPr>
              <a:t>.</a:t>
            </a:r>
            <a:endParaRPr lang="en-US" altLang="en-US" dirty="0">
              <a:ea typeface="ヒラギノ角ゴ Pro W3" pitchFamily="-84" charset="-128"/>
            </a:endParaRPr>
          </a:p>
          <a:p>
            <a:pPr lvl="1" eaLnBrk="1" hangingPunct="1"/>
            <a:r>
              <a:rPr lang="en-US" altLang="en-US" dirty="0">
                <a:ea typeface="ヒラギノ角ゴ Pro W3" pitchFamily="-84" charset="-128"/>
              </a:rPr>
              <a:t>Home consumers </a:t>
            </a:r>
            <a:r>
              <a:rPr lang="en-US" altLang="en-US" dirty="0" smtClean="0">
                <a:ea typeface="ヒラギノ角ゴ Pro W3" pitchFamily="-84" charset="-128"/>
              </a:rPr>
              <a:t>demand </a:t>
            </a:r>
            <a:r>
              <a:rPr lang="en-US" altLang="en-US" dirty="0">
                <a:ea typeface="ヒラギノ角ゴ Pro W3" pitchFamily="-84" charset="-128"/>
              </a:rPr>
              <a:t>less and lose</a:t>
            </a:r>
            <a:r>
              <a:rPr lang="en-US" altLang="en-US" dirty="0" smtClean="0">
                <a:ea typeface="ヒラギノ角ゴ Pro W3" pitchFamily="-84" charset="-128"/>
              </a:rPr>
              <a:t>.</a:t>
            </a:r>
            <a:endParaRPr lang="en-US" altLang="en-US" dirty="0">
              <a:ea typeface="ヒラギノ角ゴ Pro W3" pitchFamily="-84" charset="-128"/>
            </a:endParaRPr>
          </a:p>
          <a:p>
            <a:pPr eaLnBrk="1" hangingPunct="1"/>
            <a:r>
              <a:rPr lang="en-US" altLang="en-US" dirty="0">
                <a:ea typeface="ヒラギノ角ゴ Pro W3" pitchFamily="-84" charset="-128"/>
              </a:rPr>
              <a:t>The world price falls when Home is a </a:t>
            </a:r>
            <a:r>
              <a:rPr lang="en-US" altLang="ja-JP" dirty="0">
                <a:ea typeface="ヒラギノ角ゴ Pro W3" pitchFamily="-84" charset="-128"/>
              </a:rPr>
              <a:t>“large” country that affects world prices.</a:t>
            </a:r>
          </a:p>
          <a:p>
            <a:pPr eaLnBrk="1" hangingPunct="1"/>
            <a:r>
              <a:rPr lang="en-US" altLang="en-US" dirty="0">
                <a:ea typeface="ヒラギノ角ゴ Pro W3" pitchFamily="-84" charset="-128"/>
              </a:rPr>
              <a:t>Tariffs generate government revenue; export subsidies drain it; import quotas do not affect government revenue.</a:t>
            </a:r>
          </a:p>
          <a:p>
            <a:pPr eaLnBrk="1" hangingPunct="1"/>
            <a:r>
              <a:rPr lang="en-US" altLang="en-US" dirty="0">
                <a:ea typeface="ヒラギノ角ゴ Pro W3" pitchFamily="-84" charset="-128"/>
              </a:rPr>
              <a:t>All these trade policies create production and consumption distortions.</a:t>
            </a:r>
          </a:p>
        </p:txBody>
      </p:sp>
    </p:spTree>
    <p:extLst>
      <p:ext uri="{BB962C8B-B14F-4D97-AF65-F5344CB8AC3E}">
        <p14:creationId xmlns:p14="http://schemas.microsoft.com/office/powerpoint/2010/main" val="36702431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Table 9.1 Effects of Alternative Trade Policies</a:t>
            </a:r>
            <a:endParaRPr lang="en-US"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4130214145"/>
              </p:ext>
            </p:extLst>
          </p:nvPr>
        </p:nvGraphicFramePr>
        <p:xfrm>
          <a:off x="457200" y="1555750"/>
          <a:ext cx="8229600" cy="3627120"/>
        </p:xfrm>
        <a:graphic>
          <a:graphicData uri="http://schemas.openxmlformats.org/drawingml/2006/table">
            <a:tbl>
              <a:tblPr firstRow="1" bandRow="1">
                <a:tableStyleId>{40F9630F-82C1-40B7-BC3A-925EFCFF5E92}</a:tableStyleId>
              </a:tblPr>
              <a:tblGrid>
                <a:gridCol w="1645920">
                  <a:extLst>
                    <a:ext uri="{9D8B030D-6E8A-4147-A177-3AD203B41FA5}">
                      <a16:colId xmlns:a16="http://schemas.microsoft.com/office/drawing/2014/main" val="1762334089"/>
                    </a:ext>
                  </a:extLst>
                </a:gridCol>
                <a:gridCol w="1645920">
                  <a:extLst>
                    <a:ext uri="{9D8B030D-6E8A-4147-A177-3AD203B41FA5}">
                      <a16:colId xmlns:a16="http://schemas.microsoft.com/office/drawing/2014/main" val="820651371"/>
                    </a:ext>
                  </a:extLst>
                </a:gridCol>
                <a:gridCol w="1645920">
                  <a:extLst>
                    <a:ext uri="{9D8B030D-6E8A-4147-A177-3AD203B41FA5}">
                      <a16:colId xmlns:a16="http://schemas.microsoft.com/office/drawing/2014/main" val="838553804"/>
                    </a:ext>
                  </a:extLst>
                </a:gridCol>
                <a:gridCol w="1645920">
                  <a:extLst>
                    <a:ext uri="{9D8B030D-6E8A-4147-A177-3AD203B41FA5}">
                      <a16:colId xmlns:a16="http://schemas.microsoft.com/office/drawing/2014/main" val="2834064207"/>
                    </a:ext>
                  </a:extLst>
                </a:gridCol>
                <a:gridCol w="1645920">
                  <a:extLst>
                    <a:ext uri="{9D8B030D-6E8A-4147-A177-3AD203B41FA5}">
                      <a16:colId xmlns:a16="http://schemas.microsoft.com/office/drawing/2014/main" val="1370808097"/>
                    </a:ext>
                  </a:extLst>
                </a:gridCol>
              </a:tblGrid>
              <a:tr h="370840">
                <a:tc>
                  <a:txBody>
                    <a:bodyPr/>
                    <a:lstStyle/>
                    <a:p>
                      <a:r>
                        <a:rPr lang="en-US" sz="1600" dirty="0">
                          <a:solidFill>
                            <a:schemeClr val="tx1"/>
                          </a:solidFill>
                          <a:latin typeface="+mn-lt"/>
                        </a:rPr>
                        <a:t>Policy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Tariff</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Export Subsidy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Import Quota</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mn-lt"/>
                        </a:rPr>
                        <a:t>Voluntary Export Restraint</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37471"/>
                  </a:ext>
                </a:extLst>
              </a:tr>
              <a:tr h="370840">
                <a:tc>
                  <a:txBody>
                    <a:bodyPr/>
                    <a:lstStyle/>
                    <a:p>
                      <a:r>
                        <a:rPr lang="en-US" sz="1600" dirty="0">
                          <a:latin typeface="+mn-lt"/>
                        </a:rPr>
                        <a:t>Producer surplus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80524185"/>
                  </a:ext>
                </a:extLst>
              </a:tr>
              <a:tr h="370840">
                <a:tc>
                  <a:txBody>
                    <a:bodyPr/>
                    <a:lstStyle/>
                    <a:p>
                      <a:r>
                        <a:rPr lang="en-US" sz="1600" dirty="0">
                          <a:latin typeface="+mn-lt"/>
                        </a:rPr>
                        <a:t>Consumer surplus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2242293"/>
                  </a:ext>
                </a:extLst>
              </a:tr>
              <a:tr h="370840">
                <a:tc>
                  <a:txBody>
                    <a:bodyPr/>
                    <a:lstStyle/>
                    <a:p>
                      <a:r>
                        <a:rPr lang="en-US" sz="1600" dirty="0">
                          <a:latin typeface="+mn-lt"/>
                        </a:rPr>
                        <a:t>Government revenue</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Increases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 (government spending rises)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No</a:t>
                      </a:r>
                      <a:r>
                        <a:rPr lang="en-US" sz="1600" baseline="0" dirty="0">
                          <a:latin typeface="+mn-lt"/>
                        </a:rPr>
                        <a:t> change (rents to license holders)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No change (rents to foreigners)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5455031"/>
                  </a:ext>
                </a:extLst>
              </a:tr>
              <a:tr h="370840">
                <a:tc>
                  <a:txBody>
                    <a:bodyPr/>
                    <a:lstStyle/>
                    <a:p>
                      <a:r>
                        <a:rPr lang="en-US" sz="1600" dirty="0">
                          <a:latin typeface="+mn-lt"/>
                        </a:rPr>
                        <a:t>Overall national</a:t>
                      </a:r>
                      <a:r>
                        <a:rPr lang="en-US" sz="1600" baseline="0" dirty="0">
                          <a:latin typeface="+mn-lt"/>
                        </a:rPr>
                        <a:t> welfare</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Ambiguous</a:t>
                      </a:r>
                      <a:r>
                        <a:rPr lang="en-US" sz="1600" baseline="0" dirty="0">
                          <a:latin typeface="+mn-lt"/>
                        </a:rPr>
                        <a:t> </a:t>
                      </a:r>
                      <a:r>
                        <a:rPr lang="en-US" sz="1600" dirty="0">
                          <a:latin typeface="+mn-lt"/>
                        </a:rPr>
                        <a:t>(falls for small country)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Ambiguous (falls for small country)</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mn-lt"/>
                        </a:rPr>
                        <a:t>Falls</a:t>
                      </a:r>
                      <a:endParaRPr lang="en-IN"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1345599"/>
                  </a:ext>
                </a:extLst>
              </a:tr>
            </a:tbl>
          </a:graphicData>
        </a:graphic>
      </p:graphicFrame>
    </p:spTree>
    <p:extLst>
      <p:ext uri="{BB962C8B-B14F-4D97-AF65-F5344CB8AC3E}">
        <p14:creationId xmlns:p14="http://schemas.microsoft.com/office/powerpoint/2010/main" val="34897412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(1 of 2)</a:t>
            </a:r>
            <a:endParaRPr lang="en-US" dirty="0"/>
          </a:p>
        </p:txBody>
      </p:sp>
      <p:sp>
        <p:nvSpPr>
          <p:cNvPr id="3" name="Content Placeholder 2"/>
          <p:cNvSpPr>
            <a:spLocks noGrp="1"/>
          </p:cNvSpPr>
          <p:nvPr>
            <p:ph sz="quarter" idx="13"/>
          </p:nvPr>
        </p:nvSpPr>
        <p:spPr/>
        <p:txBody>
          <a:bodyPr/>
          <a:lstStyle/>
          <a:p>
            <a:pPr marL="432000" indent="-432000" eaLnBrk="1" hangingPunct="1">
              <a:buFont typeface="Times" pitchFamily="-84" charset="0"/>
              <a:buAutoNum type="arabicPeriod"/>
            </a:pPr>
            <a:r>
              <a:rPr lang="en-US" altLang="en-US" dirty="0">
                <a:ea typeface="ヒラギノ角ゴ Pro W3" pitchFamily="-84" charset="-128"/>
              </a:rPr>
              <a:t>A tariff increases the home price and the quantity supplied and reduces the quantity demanded and the quantity traded; also decreases the world price when the country is </a:t>
            </a:r>
            <a:r>
              <a:rPr lang="en-US" altLang="ja-JP" dirty="0">
                <a:ea typeface="ヒラギノ角ゴ Pro W3" pitchFamily="-84" charset="-128"/>
              </a:rPr>
              <a:t>“large.”</a:t>
            </a:r>
          </a:p>
          <a:p>
            <a:pPr marL="432000" indent="-432000" eaLnBrk="1" hangingPunct="1">
              <a:buFont typeface="Times" pitchFamily="-84" charset="0"/>
              <a:buAutoNum type="arabicPeriod"/>
            </a:pPr>
            <a:r>
              <a:rPr lang="en-US" altLang="en-US" dirty="0">
                <a:ea typeface="ヒラギノ角ゴ Pro W3" pitchFamily="-84" charset="-128"/>
              </a:rPr>
              <a:t>A quota does the same; an export subsidy does the same.</a:t>
            </a:r>
          </a:p>
          <a:p>
            <a:pPr marL="432000" indent="-432000" eaLnBrk="1" hangingPunct="1">
              <a:buFont typeface="Times" pitchFamily="-84" charset="0"/>
              <a:buAutoNum type="arabicPeriod"/>
            </a:pPr>
            <a:r>
              <a:rPr lang="en-US" altLang="en-US" dirty="0">
                <a:ea typeface="ヒラギノ角ゴ Pro W3" pitchFamily="-84" charset="-128"/>
              </a:rPr>
              <a:t>Tariffs generate government revenue; export subsidies drain it; import quotas are revenue neutral.</a:t>
            </a:r>
          </a:p>
        </p:txBody>
      </p:sp>
    </p:spTree>
    <p:extLst>
      <p:ext uri="{BB962C8B-B14F-4D97-AF65-F5344CB8AC3E}">
        <p14:creationId xmlns:p14="http://schemas.microsoft.com/office/powerpoint/2010/main" val="12704086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(2 of 2)</a:t>
            </a:r>
            <a:endParaRPr lang="en-IN" dirty="0"/>
          </a:p>
        </p:txBody>
      </p:sp>
      <p:sp>
        <p:nvSpPr>
          <p:cNvPr id="5" name="Content Placeholder 4"/>
          <p:cNvSpPr>
            <a:spLocks noGrp="1"/>
          </p:cNvSpPr>
          <p:nvPr>
            <p:ph sz="quarter" idx="13"/>
          </p:nvPr>
        </p:nvSpPr>
        <p:spPr>
          <a:xfrm>
            <a:off x="457200" y="1552575"/>
            <a:ext cx="8229600" cy="869992"/>
          </a:xfrm>
        </p:spPr>
        <p:txBody>
          <a:bodyPr/>
          <a:lstStyle/>
          <a:p>
            <a:pPr marL="432000" indent="-432000" eaLnBrk="1" hangingPunct="1">
              <a:buFont typeface="Times" pitchFamily="-84" charset="0"/>
              <a:buAutoNum type="arabicPeriod" startAt="4"/>
            </a:pPr>
            <a:r>
              <a:rPr lang="en-US" altLang="en-US" dirty="0">
                <a:latin typeface="Arial (Body)"/>
                <a:ea typeface="ヒラギノ角ゴ Pro W3" pitchFamily="-84" charset="-128"/>
              </a:rPr>
              <a:t>The welfare effect of a tariff, quota, or export subsidy can be measured </a:t>
            </a:r>
            <a:r>
              <a:rPr lang="en-US" altLang="en-US" dirty="0" smtClean="0">
                <a:latin typeface="Arial (Body)"/>
                <a:ea typeface="ヒラギノ角ゴ Pro W3" pitchFamily="-84" charset="-128"/>
              </a:rPr>
              <a:t>by</a:t>
            </a:r>
            <a:endParaRPr lang="en-US" altLang="en-US" dirty="0">
              <a:latin typeface="Arial (Body)"/>
              <a:ea typeface="ヒラギノ角ゴ Pro W3" pitchFamily="-84" charset="-128"/>
            </a:endParaRPr>
          </a:p>
        </p:txBody>
      </p:sp>
      <p:sp>
        <p:nvSpPr>
          <p:cNvPr id="6" name="Content Placeholder 5"/>
          <p:cNvSpPr>
            <a:spLocks noGrp="1"/>
          </p:cNvSpPr>
          <p:nvPr>
            <p:ph sz="quarter" idx="14"/>
          </p:nvPr>
        </p:nvSpPr>
        <p:spPr>
          <a:xfrm>
            <a:off x="457200" y="2493818"/>
            <a:ext cx="8229600" cy="1330037"/>
          </a:xfrm>
        </p:spPr>
        <p:txBody>
          <a:bodyPr/>
          <a:lstStyle/>
          <a:p>
            <a:pPr marL="740664" lvl="1" indent="-283464" eaLnBrk="1" hangingPunct="1"/>
            <a:r>
              <a:rPr lang="en-US" altLang="en-US" dirty="0">
                <a:latin typeface="Arial (Body)"/>
                <a:ea typeface="ヒラギノ角ゴ Pro W3" pitchFamily="-84" charset="-128"/>
              </a:rPr>
              <a:t>efficiency loss from consumption and production distortions.</a:t>
            </a:r>
          </a:p>
          <a:p>
            <a:pPr marL="740664" lvl="1" indent="-283464" eaLnBrk="1" hangingPunct="1"/>
            <a:r>
              <a:rPr lang="en-US" altLang="en-US" dirty="0">
                <a:latin typeface="Arial (Body)"/>
                <a:ea typeface="ヒラギノ角ゴ Pro W3" pitchFamily="-84" charset="-128"/>
              </a:rPr>
              <a:t>terms of trade gain or loss.</a:t>
            </a:r>
          </a:p>
        </p:txBody>
      </p:sp>
      <p:sp>
        <p:nvSpPr>
          <p:cNvPr id="7" name="Content Placeholder 6"/>
          <p:cNvSpPr>
            <a:spLocks noGrp="1"/>
          </p:cNvSpPr>
          <p:nvPr>
            <p:ph sz="quarter" idx="15"/>
          </p:nvPr>
        </p:nvSpPr>
        <p:spPr>
          <a:xfrm>
            <a:off x="457200" y="3895106"/>
            <a:ext cx="8229600" cy="2316907"/>
          </a:xfrm>
        </p:spPr>
        <p:txBody>
          <a:bodyPr/>
          <a:lstStyle/>
          <a:p>
            <a:pPr marL="457200" indent="-457200" eaLnBrk="1" hangingPunct="1">
              <a:buFont typeface="+mj-lt"/>
              <a:buAutoNum type="arabicPeriod" startAt="5"/>
            </a:pPr>
            <a:r>
              <a:rPr lang="en-US" altLang="en-US" dirty="0">
                <a:latin typeface="Arial (Body)"/>
                <a:ea typeface="ヒラギノ角ゴ Pro W3" pitchFamily="-84" charset="-128"/>
              </a:rPr>
              <a:t>With import quotas, voluntary export restraints, and local content requirements, the government of the importing country receives no revenue.</a:t>
            </a:r>
          </a:p>
          <a:p>
            <a:pPr marL="457200" indent="-457200" eaLnBrk="1" hangingPunct="1">
              <a:buFont typeface="+mj-lt"/>
              <a:buAutoNum type="arabicPeriod" startAt="5"/>
            </a:pPr>
            <a:r>
              <a:rPr lang="en-US" altLang="en-US" dirty="0">
                <a:latin typeface="Arial (Body)"/>
                <a:ea typeface="ヒラギノ角ゴ Pro W3" pitchFamily="-84" charset="-128"/>
              </a:rPr>
              <a:t>With voluntary export restraints and occasionally import quotas, quota rents go to foreigners.</a:t>
            </a:r>
            <a:endParaRPr lang="en-US" dirty="0"/>
          </a:p>
        </p:txBody>
      </p:sp>
    </p:spTree>
    <p:extLst>
      <p:ext uri="{BB962C8B-B14F-4D97-AF65-F5344CB8AC3E}">
        <p14:creationId xmlns:p14="http://schemas.microsoft.com/office/powerpoint/2010/main" val="41218831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9A.1 A Monopolist under Free Trade</a:t>
            </a:r>
            <a:endParaRPr lang="en-US" sz="3200" dirty="0"/>
          </a:p>
        </p:txBody>
      </p:sp>
      <p:pic>
        <p:nvPicPr>
          <p:cNvPr id="6" name="Content Placeholder 5" descr="A graph of a monopolist and free trade plots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59144" y="1584490"/>
            <a:ext cx="4225713" cy="3900658"/>
          </a:xfrm>
        </p:spPr>
      </p:pic>
      <p:sp>
        <p:nvSpPr>
          <p:cNvPr id="5" name="Content Placeholder 4"/>
          <p:cNvSpPr>
            <a:spLocks noGrp="1"/>
          </p:cNvSpPr>
          <p:nvPr>
            <p:ph sz="quarter" idx="14"/>
          </p:nvPr>
        </p:nvSpPr>
        <p:spPr>
          <a:xfrm>
            <a:off x="457200" y="5604384"/>
            <a:ext cx="8229600" cy="740854"/>
          </a:xfrm>
        </p:spPr>
        <p:txBody>
          <a:bodyPr/>
          <a:lstStyle/>
          <a:p>
            <a:pPr marL="432" indent="0">
              <a:buNone/>
            </a:pPr>
            <a:r>
              <a:rPr lang="en-US" sz="2000" dirty="0"/>
              <a:t>The threat of import competition forces the monopolist to behave like a perfectly competitive industry.</a:t>
            </a:r>
          </a:p>
        </p:txBody>
      </p:sp>
    </p:spTree>
    <p:extLst>
      <p:ext uri="{BB962C8B-B14F-4D97-AF65-F5344CB8AC3E}">
        <p14:creationId xmlns:p14="http://schemas.microsoft.com/office/powerpoint/2010/main" val="28502692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9A.2 A Monopolist Protected by a Tariff</a:t>
            </a:r>
            <a:endParaRPr lang="en-US" sz="3200" dirty="0"/>
          </a:p>
        </p:txBody>
      </p:sp>
      <p:pic>
        <p:nvPicPr>
          <p:cNvPr id="6" name="Content Placeholder 5" descr="A graph plots price, P versus quantity, W.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57509" y="1584488"/>
            <a:ext cx="4487039" cy="3839867"/>
          </a:xfrm>
        </p:spPr>
      </p:pic>
      <p:sp>
        <p:nvSpPr>
          <p:cNvPr id="5" name="Content Placeholder 4"/>
          <p:cNvSpPr>
            <a:spLocks noGrp="1"/>
          </p:cNvSpPr>
          <p:nvPr>
            <p:ph sz="quarter" idx="14"/>
          </p:nvPr>
        </p:nvSpPr>
        <p:spPr>
          <a:xfrm>
            <a:off x="457200" y="5529940"/>
            <a:ext cx="8229600" cy="815298"/>
          </a:xfrm>
        </p:spPr>
        <p:txBody>
          <a:bodyPr/>
          <a:lstStyle/>
          <a:p>
            <a:pPr marL="432" indent="0">
              <a:buNone/>
            </a:pPr>
            <a:r>
              <a:rPr lang="en-US" sz="2000" dirty="0">
                <a:latin typeface="Arial (Body)"/>
              </a:rPr>
              <a:t>The tariff allows the monopolist to raise its price, but the price is still limited by the threat of imports.</a:t>
            </a:r>
          </a:p>
        </p:txBody>
      </p:sp>
    </p:spTree>
    <p:extLst>
      <p:ext uri="{BB962C8B-B14F-4D97-AF65-F5344CB8AC3E}">
        <p14:creationId xmlns:p14="http://schemas.microsoft.com/office/powerpoint/2010/main" val="22455025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9A.3 A Monopolist Protected by an Import Quota</a:t>
            </a:r>
            <a:endParaRPr lang="en-US" sz="3200" dirty="0"/>
          </a:p>
        </p:txBody>
      </p:sp>
      <p:pic>
        <p:nvPicPr>
          <p:cNvPr id="6" name="Content Placeholder 5" descr="A graph plots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53202" y="1576293"/>
            <a:ext cx="4237595" cy="3839867"/>
          </a:xfrm>
        </p:spPr>
      </p:pic>
      <p:sp>
        <p:nvSpPr>
          <p:cNvPr id="5" name="Content Placeholder 4"/>
          <p:cNvSpPr>
            <a:spLocks noGrp="1"/>
          </p:cNvSpPr>
          <p:nvPr>
            <p:ph sz="quarter" idx="14"/>
          </p:nvPr>
        </p:nvSpPr>
        <p:spPr>
          <a:xfrm>
            <a:off x="457200" y="5557651"/>
            <a:ext cx="8229600" cy="787585"/>
          </a:xfrm>
        </p:spPr>
        <p:txBody>
          <a:bodyPr/>
          <a:lstStyle/>
          <a:p>
            <a:pPr marL="432" indent="0">
              <a:buNone/>
            </a:pPr>
            <a:r>
              <a:rPr lang="en-US" sz="2000" dirty="0">
                <a:latin typeface="Arial (Body)"/>
              </a:rPr>
              <a:t>The monopolist is now free to raise prices, knowing that the domestic price of imports will rise too.</a:t>
            </a:r>
          </a:p>
        </p:txBody>
      </p:sp>
    </p:spTree>
    <p:extLst>
      <p:ext uri="{BB962C8B-B14F-4D97-AF65-F5344CB8AC3E}">
        <p14:creationId xmlns:p14="http://schemas.microsoft.com/office/powerpoint/2010/main" val="36288769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9A.4 Comparing a Tariff and a Quota</a:t>
            </a:r>
            <a:endParaRPr lang="en-US" sz="3200" dirty="0"/>
          </a:p>
        </p:txBody>
      </p:sp>
      <p:pic>
        <p:nvPicPr>
          <p:cNvPr id="6" name="Content Placeholder 5" descr="A graph plots price, P versus quantity, Q.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41292" y="1585057"/>
            <a:ext cx="4261417" cy="3939665"/>
          </a:xfrm>
        </p:spPr>
      </p:pic>
      <p:sp>
        <p:nvSpPr>
          <p:cNvPr id="5" name="Content Placeholder 4"/>
          <p:cNvSpPr>
            <a:spLocks noGrp="1"/>
          </p:cNvSpPr>
          <p:nvPr>
            <p:ph sz="quarter" idx="14"/>
          </p:nvPr>
        </p:nvSpPr>
        <p:spPr>
          <a:xfrm>
            <a:off x="457200" y="5640779"/>
            <a:ext cx="8229600" cy="704459"/>
          </a:xfrm>
        </p:spPr>
        <p:txBody>
          <a:bodyPr/>
          <a:lstStyle/>
          <a:p>
            <a:pPr marL="432" indent="0">
              <a:buNone/>
            </a:pPr>
            <a:r>
              <a:rPr lang="en-US" sz="1800" dirty="0">
                <a:latin typeface="Arial (Body)"/>
              </a:rPr>
              <a:t>A quota leads to lower domestic output and a higher price than a tariff that yields the same level of imports.</a:t>
            </a:r>
            <a:endParaRPr lang="en-US" sz="1800" dirty="0"/>
          </a:p>
        </p:txBody>
      </p:sp>
    </p:spTree>
    <p:extLst>
      <p:ext uri="{BB962C8B-B14F-4D97-AF65-F5344CB8AC3E}">
        <p14:creationId xmlns:p14="http://schemas.microsoft.com/office/powerpoint/2010/main" val="29483827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148196</TotalTime>
  <Words>7854</Words>
  <Application>Microsoft Office PowerPoint</Application>
  <PresentationFormat>On-screen Show (4:3)</PresentationFormat>
  <Paragraphs>372</Paragraphs>
  <Slides>72</Slides>
  <Notes>21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72</vt:i4>
      </vt:variant>
    </vt:vector>
  </HeadingPairs>
  <TitlesOfParts>
    <vt:vector size="82" baseType="lpstr">
      <vt:lpstr>Times New Roman</vt:lpstr>
      <vt:lpstr>Arial</vt:lpstr>
      <vt:lpstr>Times</vt:lpstr>
      <vt:lpstr>Arial (Body)</vt:lpstr>
      <vt:lpstr>ヒラギノ角ゴ Pro W3</vt:lpstr>
      <vt:lpstr>Noto Sans Symbols</vt:lpstr>
      <vt:lpstr>Verdana</vt:lpstr>
      <vt:lpstr>USHE</vt:lpstr>
      <vt:lpstr>USHE_slide options</vt:lpstr>
      <vt:lpstr>Equation</vt:lpstr>
      <vt:lpstr>International Economics: Theory and Policy</vt:lpstr>
      <vt:lpstr>Learning Objectives</vt:lpstr>
      <vt:lpstr>Preview</vt:lpstr>
      <vt:lpstr>Types of Tariffs</vt:lpstr>
      <vt:lpstr>Supply, Demand, and Trade in a Single Industry (1 of 4)</vt:lpstr>
      <vt:lpstr>Supply, Demand, and Trade in a Single Industry (2 of 4)</vt:lpstr>
      <vt:lpstr>Figure 9.1 Deriving Home’s Import Demand Curve</vt:lpstr>
      <vt:lpstr>Supply, Demand, and Trade in a Single Industry (3 of 4)</vt:lpstr>
      <vt:lpstr>Figure 9.2 Deriving Foreign’s Export Supply Curve</vt:lpstr>
      <vt:lpstr>Supply, Demand, and Trade in a Single Industry (4 of 4)</vt:lpstr>
      <vt:lpstr>Figure 9.3 World Equilibrium</vt:lpstr>
      <vt:lpstr>Effects of a Tariff (1 of 4)</vt:lpstr>
      <vt:lpstr>Figure 9.4 Effects of a Tariff</vt:lpstr>
      <vt:lpstr>Effects of a Tariff (3 of 4)</vt:lpstr>
      <vt:lpstr>Effects of a Tariff (2 of 4)</vt:lpstr>
      <vt:lpstr>Effects of a Tariff (4 of 4)</vt:lpstr>
      <vt:lpstr>Effects of a Tariff in a Small Country</vt:lpstr>
      <vt:lpstr>Figure 9.5 A Tariff in a Small Country</vt:lpstr>
      <vt:lpstr>Measuring the Amount of Protection (1 of 3)</vt:lpstr>
      <vt:lpstr>Measuring the Amount of Protection (2 of 3)</vt:lpstr>
      <vt:lpstr>Measuring the Amount of Protection (3 of 3)</vt:lpstr>
      <vt:lpstr>Costs and Benefits of Tariffs</vt:lpstr>
      <vt:lpstr>Consumer and Producer Surplus (1 of 2)</vt:lpstr>
      <vt:lpstr>Figure 9.6 Deriving Consumer Surplus from the Demand Curve</vt:lpstr>
      <vt:lpstr>Figure 9.7 Geometry of Consumer Surplus</vt:lpstr>
      <vt:lpstr>Consumer and Producer Surplus (2 of 2)</vt:lpstr>
      <vt:lpstr>Figure 9.8 Geometry of Producer Surplus</vt:lpstr>
      <vt:lpstr>Measuring the Costs and Benefits of Tariffs (1 of 4)</vt:lpstr>
      <vt:lpstr>Figure 9.9 Costs and Benefits of a Tariff for the Importing Country</vt:lpstr>
      <vt:lpstr>Measuring the Costs and Benefits of Tariffs (2 of 4)</vt:lpstr>
      <vt:lpstr>Measuring the Costs and Benefits of Tariffs (3 of 4)</vt:lpstr>
      <vt:lpstr>Figure 9.10 Net Welfare Effects of a Tariff</vt:lpstr>
      <vt:lpstr>Measuring the Costs and Benefits of Tariffs (4 of 4)</vt:lpstr>
      <vt:lpstr>Winners and Losers of the Trump Trade War (1 of 3)</vt:lpstr>
      <vt:lpstr>Figure 9.11 Average Tariffs on U.S. Imports</vt:lpstr>
      <vt:lpstr>Winners and Losers of the Trump Trade War (2 of 3)</vt:lpstr>
      <vt:lpstr>Figure 9.12 Annual Cost of Higher Prices by Household Income</vt:lpstr>
      <vt:lpstr>Winners and Losers of the Trump Trade War (3 of 3)</vt:lpstr>
      <vt:lpstr>Figure 9.13 Average Retaliatory Tariffs on U.S. Exports</vt:lpstr>
      <vt:lpstr>Tariffs for the Long Haul</vt:lpstr>
      <vt:lpstr>Export Subsidy (1 of 3)</vt:lpstr>
      <vt:lpstr>Export Subsidy (2 of 3)</vt:lpstr>
      <vt:lpstr>Figure 9.14 Effects of an Export Subsidy</vt:lpstr>
      <vt:lpstr>Export Subsidy (3 of 3)</vt:lpstr>
      <vt:lpstr>The Unfriendly Skies: Settling the Longest Running Trade Dispute (1 of 2)</vt:lpstr>
      <vt:lpstr>The Unfriendly Skies: Settling the Longest Running Trade Dispute (2 of 2)</vt:lpstr>
      <vt:lpstr>Import Quota (1 of 2)</vt:lpstr>
      <vt:lpstr>Import Quota (2 of 2)</vt:lpstr>
      <vt:lpstr>An Import Quota in Practice: U.S. Sugar (1 of 4)</vt:lpstr>
      <vt:lpstr>An Import Quota in Practice: U.S. Sugar (2 of 4)</vt:lpstr>
      <vt:lpstr>An Import Quota in Practice: U.S. Sugar (3 of 4)</vt:lpstr>
      <vt:lpstr>An Import Quota in Practice: U.S. Sugar (4 of 4)</vt:lpstr>
      <vt:lpstr>Figure 9.15 U.S. and World Raw Sugar Prices, 1989–2019</vt:lpstr>
      <vt:lpstr>Figure 9.16 Effects of the U.S. Import Quota on Sugar </vt:lpstr>
      <vt:lpstr>Voluntary Export Restraint</vt:lpstr>
      <vt:lpstr>A Voluntary Export Restraint in Practice (1 of 2)</vt:lpstr>
      <vt:lpstr>A Voluntary Export Restraint in Practice (2 of 2)</vt:lpstr>
      <vt:lpstr>Local Content Requirement (1 of 5)</vt:lpstr>
      <vt:lpstr>Local Content Requirement (2 of 5)</vt:lpstr>
      <vt:lpstr>Local Content Requirement (3 of 5)</vt:lpstr>
      <vt:lpstr>Local Content Requirement (4 of 5)</vt:lpstr>
      <vt:lpstr>Local Content Requirement (5 of 5)</vt:lpstr>
      <vt:lpstr>Other Trade Policies</vt:lpstr>
      <vt:lpstr>The Effects of Trade Policy: A Summary</vt:lpstr>
      <vt:lpstr>Table 9.1 Effects of Alternative Trade Policies</vt:lpstr>
      <vt:lpstr>Summary (1 of 2)</vt:lpstr>
      <vt:lpstr>Summary (2 of 2)</vt:lpstr>
      <vt:lpstr>Figure 9A.1 A Monopolist under Free Trade</vt:lpstr>
      <vt:lpstr>Figure 9A.2 A Monopolist Protected by a Tariff</vt:lpstr>
      <vt:lpstr>Figure 9A.3 A Monopolist Protected by an Import Quota</vt:lpstr>
      <vt:lpstr>Figure 9A.4 Comparing a Tariff and a Quota</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9, The Instruments of Trade Policy</dc:title>
  <dc:subject>Business</dc:subject>
  <dc:creator>Krugman/Obstfeld/Melitz</dc:creator>
  <cp:keywords>International Economics</cp:keywords>
  <dc:description>Long description alt-text is inserted in the notes pane.</dc:description>
  <cp:lastModifiedBy>admin</cp:lastModifiedBy>
  <cp:revision>1110</cp:revision>
  <dcterms:modified xsi:type="dcterms:W3CDTF">2021-11-10T07:04:07Z</dcterms:modified>
</cp:coreProperties>
</file>