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59" r:id="rId2"/>
    <p:sldMasterId id="2147483699" r:id="rId3"/>
  </p:sldMasterIdLst>
  <p:notesMasterIdLst>
    <p:notesMasterId r:id="rId36"/>
  </p:notesMasterIdLst>
  <p:handoutMasterIdLst>
    <p:handoutMasterId r:id="rId37"/>
  </p:handoutMasterIdLst>
  <p:sldIdLst>
    <p:sldId id="1405" r:id="rId4"/>
    <p:sldId id="331" r:id="rId5"/>
    <p:sldId id="333" r:id="rId6"/>
    <p:sldId id="332" r:id="rId7"/>
    <p:sldId id="336" r:id="rId8"/>
    <p:sldId id="337" r:id="rId9"/>
    <p:sldId id="338" r:id="rId10"/>
    <p:sldId id="339" r:id="rId11"/>
    <p:sldId id="340" r:id="rId12"/>
    <p:sldId id="335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522" r:id="rId26"/>
    <p:sldId id="524" r:id="rId27"/>
    <p:sldId id="525" r:id="rId28"/>
    <p:sldId id="526" r:id="rId29"/>
    <p:sldId id="527" r:id="rId30"/>
    <p:sldId id="528" r:id="rId31"/>
    <p:sldId id="529" r:id="rId32"/>
    <p:sldId id="530" r:id="rId33"/>
    <p:sldId id="531" r:id="rId34"/>
    <p:sldId id="532" r:id="rId35"/>
  </p:sldIdLst>
  <p:sldSz cx="9144000" cy="6858000" type="screen4x3"/>
  <p:notesSz cx="6858000" cy="9144000"/>
  <p:embeddedFontLst>
    <p:embeddedFont>
      <p:font typeface="Noto Sans Symbols" panose="020B0604020202020204" pitchFamily="34" charset="0"/>
      <p:regular r:id="rId38"/>
      <p:bold r:id="rId39"/>
      <p:italic r:id="rId40"/>
      <p:boldItalic r:id="rId41"/>
    </p:embeddedFont>
    <p:embeddedFont>
      <p:font typeface="Times" panose="02020603050405020304" pitchFamily="18" charset="0"/>
      <p:regular r:id="rId42"/>
      <p:bold r:id="rId43"/>
      <p:italic r:id="rId44"/>
      <p:boldItalic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2" pos="360" userDrawn="1">
          <p15:clr>
            <a:srgbClr val="A4A3A4"/>
          </p15:clr>
        </p15:guide>
        <p15:guide id="3" orient="horz" pos="4178" userDrawn="1">
          <p15:clr>
            <a:srgbClr val="A4A3A4"/>
          </p15:clr>
        </p15:guide>
        <p15:guide id="4" orient="horz" pos="119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1071" userDrawn="1">
          <p15:clr>
            <a:srgbClr val="A4A3A4"/>
          </p15:clr>
        </p15:guide>
        <p15:guide id="7" pos="6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Holcomb" initials="" lastIdx="3" clrIdx="0"/>
  <p:cmAuthor id="7" name="Ramkumar P" initials="RP" lastIdx="8" clrIdx="7">
    <p:extLst>
      <p:ext uri="{19B8F6BF-5375-455C-9EA6-DF929625EA0E}">
        <p15:presenceInfo xmlns:p15="http://schemas.microsoft.com/office/powerpoint/2012/main" userId="S-1-5-21-2752970185-40930380-1894245210-1593" providerId="AD"/>
      </p:ext>
    </p:extLst>
  </p:cmAuthor>
  <p:cmAuthor id="1" name="Ruchi Sachdev" initials="" lastIdx="8" clrIdx="1"/>
  <p:cmAuthor id="2" name="Sarah Reusché" initials="" lastIdx="13" clrIdx="2"/>
  <p:cmAuthor id="3" name="Nitin Shankar" initials="" lastIdx="6" clrIdx="3"/>
  <p:cmAuthor id="4" name="Kristen Flathman" initials="" lastIdx="1" clrIdx="4"/>
  <p:cmAuthor id="5" name="Ben Schroeter" initials="" lastIdx="0" clrIdx="5"/>
  <p:cmAuthor id="6" name="AnnMarie Short" initials="AS" lastIdx="35" clrIdx="6">
    <p:extLst>
      <p:ext uri="{19B8F6BF-5375-455C-9EA6-DF929625EA0E}">
        <p15:presenceInfo xmlns:p15="http://schemas.microsoft.com/office/powerpoint/2012/main" userId="5a9a73d1263ca8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9" autoAdjust="0"/>
    <p:restoredTop sz="53832" autoAdjust="0"/>
  </p:normalViewPr>
  <p:slideViewPr>
    <p:cSldViewPr snapToGrid="0" snapToObjects="1">
      <p:cViewPr varScale="1">
        <p:scale>
          <a:sx n="120" d="100"/>
          <a:sy n="120" d="100"/>
        </p:scale>
        <p:origin x="176" y="264"/>
      </p:cViewPr>
      <p:guideLst>
        <p:guide orient="horz" pos="3997"/>
        <p:guide pos="360"/>
        <p:guide orient="horz" pos="4178"/>
        <p:guide orient="horz" pos="119"/>
        <p:guide orient="horz" pos="709"/>
        <p:guide orient="horz" pos="1071"/>
        <p:guide pos="635"/>
      </p:guideLst>
    </p:cSldViewPr>
  </p:slideViewPr>
  <p:outlineViewPr>
    <p:cViewPr>
      <p:scale>
        <a:sx n="33" d="100"/>
        <a:sy n="33" d="100"/>
      </p:scale>
      <p:origin x="0" y="-405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346"/>
    </p:cViewPr>
  </p:sorterViewPr>
  <p:notesViewPr>
    <p:cSldViewPr snapToGrid="0" snapToObjects="1">
      <p:cViewPr varScale="1">
        <p:scale>
          <a:sx n="68" d="100"/>
          <a:sy n="68" d="100"/>
        </p:scale>
        <p:origin x="306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7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9/18/25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</a:t>
            </a:r>
            <a:r>
              <a:rPr lang="en-IN" dirty="0" err="1"/>
              <a:t>MathType</a:t>
            </a:r>
            <a:r>
              <a:rPr lang="en-IN" dirty="0"/>
              <a:t>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8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259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 of the graph is the intersection of the labor input in food and the output of cloth, on the x-axis, versus the output of food down to the labor input in cloth, on the y-axis. The upper left quadrant is production function of food, Q sub F = Q sub F (T, L sub F). The y-axis is the output of food, Q sub F, which increases upward from the origin, versus the labor input of food, L sub F, which increases leftward from the origin. The plot rises to the left with decreasing steepness from the origin through 3 points. The upper right quadrant is the economy’s production possibility frontier, P P; the y-axis is output of food, Q sub F, which increase upward from the origin, and the x-axis is output of cloth, Q sub C, which increases rightward from the origin. The plot falls with increasing steepness from the y-axis to the x-axis through 3 points, 1 prime, 2 prime, and 3 prime. The lower left quadrant is the economy’s allocation of labor, A </a:t>
            </a:r>
            <a:r>
              <a:rPr lang="en-US" dirty="0" err="1"/>
              <a:t>A</a:t>
            </a:r>
            <a:r>
              <a:rPr lang="en-US" dirty="0"/>
              <a:t>. It has an upper x-axis of labor input of food, L sub F, which increases leftward from the origin, and a y-axis at the right for labor input in cloth, L sub C., which increases downward from the origin. The plot is a straight line that extends downward from point L on the x-axis to point L on the y-axis, through points 1, 2, and 3. The lower right quadrant is the production function for cloth, Q sub C = Q sub C, left parenthesis K comma L sub C right parenthesis. The quadrant has an upper x-axis of output of cloth, Q sub C, which increases rightward from the origin, and a y-axis at the left for labor input in cloth, L sub C, which increases downward from the origin. The plot falls from the origin with increasing steepness through 3 points. Additional points are placed on each axis as follows: L squared sub F, on the axis for L sub F where A </a:t>
            </a:r>
            <a:r>
              <a:rPr lang="en-US" dirty="0" err="1"/>
              <a:t>A</a:t>
            </a:r>
            <a:r>
              <a:rPr lang="en-US" dirty="0"/>
              <a:t> = 2; Q squared sub F, on the Q sub F axis where P P = 2 prime; Q squared sub C, on the Q sub C axis where P P = 2 prime; and L squared sub C, on the L sub C axis where A </a:t>
            </a:r>
            <a:r>
              <a:rPr lang="en-US" dirty="0" err="1"/>
              <a:t>A</a:t>
            </a:r>
            <a:r>
              <a:rPr lang="en-US" dirty="0"/>
              <a:t>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5692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59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341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4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223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5039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16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 labor supply is divided into two equal parts, labor used in cloth or L sub C, and labor used in food or L sub F. These parts are labeled L super 1 sub C, on the left, and L super 1 sub F, on the right, and decrease toward the center of the x-axis, increasing outward in opposite directions. The demand curve for labor in cloth, P sub C times M P L sub C, falls with decreasing steepness from left to right. The demand curve for labor in food, P sub F times M P L sub F, rises with increasing steepness from left to right. The two curves intersect at point 1, where y = w super 1, and the labor used in cloth is equal to the labor used in food.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4778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54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plot falls with increasing steepness from y-axis to x-axis. The slope = negative, left parenthesis, P sub C, over P sub F, right parenthesis, super 1, where y = Q super 1 sub F and x = Q super 1 sub F, which intersect at point 1 on the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8477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9467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297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shows wage rate versus labor supply, which is divided into 2 equal parts, labor used in cloth or L sub C, and labor used in food or L sub F. Labor used in cloth increases to the left and labor used in food increases to the right. The plot for P sub C super 1 times M P L sub C falls with decreasing steepness from left to right. The plot for P sub F super 1 times M P L sub F rises from left to right with increasing steepness. The two plots intersect at point 1, where y = w 1. With a 10% wage increase to y = W super 2, both the P sub C and P sub F increase by 10%; the plots also rise or fall with greater steepness. The plot for P sub C super 2 times M P L sub C falls from left to right with decreasing steepness, and the plot for P sub F super 2 times M P L sub F rises with increasing steepness. The plots intersect at point 2, where y = w super 2, at the same x-value as point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7068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3767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 used in cloth increases to the left and labor used in food increases to the right. Horizontal lines are drawn at y = w super 1, and y = w super 2, which indicated a wage rate rise by less than 7%. A dotted line at y = w super 2 prime indicates is above y = W super 2. The plot for P sub F super 1 times M P L sub F rises with increasing steepness through point 1, where y = w super 1, and through point 2, where y = w super 2. The plot for P sub C super 1 times M P L sub C falls with decreasing steepness through point 1, where y = w 1. With a P sub C increase of 7%, the plot for P sub C super 2 times M P L sub C falls with decreasing steepness through point 2, where y = w super 2. The dotted line for y = w super 2 intersected this plot in line with point 1 on the x-axis. Point 2 is shifted to the right of point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329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plot for P P falls with increasing steepness from the y-axis to the x-axis, through points 1 and 2. At point 1, where y = Q sub F super 1 and x = Q sub C super 1, the plot = negative, left parenthesis, P sub C over P sub F, right parenthesis, super 1. At point 2, where y = Q sub F super 2 and x = Q sub C super 2, the slope is more steep, labeled as negative, left parenthesis, P sub C over P sub F, right parenthesis, super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3426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 S curve rises with increasing steepness and intersects the R D curve, which falls with decreasing steepness. Their intersection is the equilibrium, point 1. At point 1, y = P sub C over P sub F, super 1, and x = Q sub C over Q sub F, super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1061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2556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72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-add copyrigh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9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958098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000" b="0" i="0" u="none" strike="noStrike" cap="none">
                <a:solidFill>
                  <a:srgbClr val="007FA3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677B9-EC76-47FA-B8D6-49D033518C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4397375" cy="45259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of front cover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D3915-2147-4382-A599-2376CC8854D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29200" y="1600200"/>
            <a:ext cx="3657600" cy="1492250"/>
          </a:xfrm>
        </p:spPr>
        <p:txBody>
          <a:bodyPr anchor="b"/>
          <a:lstStyle>
            <a:lvl1pPr marL="101600" indent="0" algn="ctr">
              <a:buNone/>
              <a:defRPr sz="3000" b="1">
                <a:latin typeface="+mn-lt"/>
              </a:defRPr>
            </a:lvl1pPr>
            <a:lvl2pPr marL="558800" indent="0">
              <a:buNone/>
              <a:defRPr/>
            </a:lvl2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8FD8D-0DB0-4A1A-A3F1-E26B606AC8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29200" y="3252788"/>
            <a:ext cx="3657600" cy="2873375"/>
          </a:xfrm>
        </p:spPr>
        <p:txBody>
          <a:bodyPr/>
          <a:lstStyle>
            <a:lvl1pPr marL="0" indent="0" algn="ctr">
              <a:buNone/>
              <a:defRPr sz="2200">
                <a:latin typeface="+mn-lt"/>
              </a:defRPr>
            </a:lvl1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5328E6C-2B17-49B8-8712-6C0E107A1D9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E0B5B1C-8858-43DC-BD75-C546F47387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1B8939D-A957-42F9-A1B5-556D29D235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6400801"/>
            <a:ext cx="1001713" cy="228600"/>
          </a:xfrm>
        </p:spPr>
        <p:txBody>
          <a:bodyPr anchor="ctr"/>
          <a:lstStyle>
            <a:lvl1pPr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CF87F15-2C58-4DFC-BACB-0E2C6507BC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97088" y="6400800"/>
            <a:ext cx="6589712" cy="228600"/>
          </a:xfrm>
        </p:spPr>
        <p:txBody>
          <a:bodyPr anchor="ctr"/>
          <a:lstStyle>
            <a:lvl1pPr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839355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72B1-175B-85BD-79BE-5B4162C7B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59319-6613-1DC2-F4DC-907F418A6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750A-3C11-1235-1EE3-892C38E3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BB3D-833E-B06C-ECDE-E56CD795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F0DA0-0ECF-67EB-5FED-6C0B8B61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540721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-add copyrigh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itle Placeholder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Content Placeholder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one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4586896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87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226752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971925"/>
            <a:ext cx="8229600" cy="210502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Two Content_5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88207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919413"/>
            <a:ext cx="8229600" cy="882074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AAF22-7E52-4BB8-A19A-B8136D7E604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156075"/>
            <a:ext cx="8229600" cy="1039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3B4D9-DE07-4E83-8378-A2C310A8B3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5549900"/>
            <a:ext cx="8229600" cy="754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A90310-CB6B-49A6-9445-8C566ACD43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5313" y="6483350"/>
            <a:ext cx="8091487" cy="63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58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Two Content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701964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525348"/>
            <a:ext cx="8229600" cy="59192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872F-BA18-402C-9D97-50510F81EAB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3227388"/>
            <a:ext cx="8229600" cy="5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83C8D-0F22-41E2-ACD5-80F91A1912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989388"/>
            <a:ext cx="8229600" cy="5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21ED12-B362-438C-859F-FE5720E1A9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4737967"/>
            <a:ext cx="8229600" cy="5637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C96A21-DAFB-4ED2-A2EB-105BDC4118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5486400"/>
            <a:ext cx="8229600" cy="77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23C4FAB-A7AB-4E6D-B5ED-0B0DF61085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6386513"/>
            <a:ext cx="8229600" cy="471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436023-CACB-4C2B-A51A-8EF87B2F52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200" y="7037388"/>
            <a:ext cx="8229600" cy="67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73BEC7-659D-41CA-98BA-DC8EE7B83CC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7896225"/>
            <a:ext cx="8382000" cy="67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457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hree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030" y="1556326"/>
            <a:ext cx="3631545" cy="452062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4542" y="1563574"/>
            <a:ext cx="4452258" cy="210502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3D41-401A-43DB-9BC0-38F51965B8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43595" y="3977558"/>
            <a:ext cx="4443205" cy="2112272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06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2575"/>
            <a:ext cx="399197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4830" y="1552575"/>
            <a:ext cx="399197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11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hree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03" y="1552575"/>
            <a:ext cx="2595602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90555" y="1552575"/>
            <a:ext cx="2595603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1197" y="1552575"/>
            <a:ext cx="2595603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443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our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2575"/>
            <a:ext cx="188595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72593" y="1552575"/>
            <a:ext cx="188595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7986" y="1552575"/>
            <a:ext cx="188595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803378" y="1552575"/>
            <a:ext cx="1885950" cy="44386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1214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Ten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2575"/>
            <a:ext cx="4011769" cy="46940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216772"/>
            <a:ext cx="4011769" cy="552186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953477"/>
            <a:ext cx="4011769" cy="52536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640944"/>
            <a:ext cx="4011769" cy="52536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7200" y="4352925"/>
            <a:ext cx="4011769" cy="4762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457200" y="5010150"/>
            <a:ext cx="4011769" cy="5143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57200" y="5692775"/>
            <a:ext cx="4011769" cy="56673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20"/>
          </p:nvPr>
        </p:nvSpPr>
        <p:spPr>
          <a:xfrm>
            <a:off x="4622801" y="1557338"/>
            <a:ext cx="4064000" cy="465137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1"/>
          </p:nvPr>
        </p:nvSpPr>
        <p:spPr>
          <a:xfrm>
            <a:off x="4622800" y="2216150"/>
            <a:ext cx="4064000" cy="5524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2"/>
          </p:nvPr>
        </p:nvSpPr>
        <p:spPr>
          <a:xfrm>
            <a:off x="4622800" y="2952750"/>
            <a:ext cx="4064000" cy="52546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3"/>
          </p:nvPr>
        </p:nvSpPr>
        <p:spPr>
          <a:xfrm>
            <a:off x="4622800" y="3641725"/>
            <a:ext cx="4064000" cy="52387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24"/>
          </p:nvPr>
        </p:nvSpPr>
        <p:spPr>
          <a:xfrm>
            <a:off x="4622800" y="4352925"/>
            <a:ext cx="4064000" cy="4762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25"/>
          </p:nvPr>
        </p:nvSpPr>
        <p:spPr>
          <a:xfrm>
            <a:off x="4713288" y="5010150"/>
            <a:ext cx="3973512" cy="51435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Content Placeholder 24"/>
          <p:cNvSpPr>
            <a:spLocks noGrp="1"/>
          </p:cNvSpPr>
          <p:nvPr>
            <p:ph sz="quarter" idx="26"/>
          </p:nvPr>
        </p:nvSpPr>
        <p:spPr>
          <a:xfrm>
            <a:off x="4713288" y="5692775"/>
            <a:ext cx="3973512" cy="56673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12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20_Content_4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3309"/>
            <a:ext cx="8229600" cy="387941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063853"/>
            <a:ext cx="8229600" cy="342864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495832"/>
            <a:ext cx="8229600" cy="35883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946415"/>
            <a:ext cx="8229600" cy="394716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7200" y="3423855"/>
            <a:ext cx="8229600" cy="32528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457200" y="3857050"/>
            <a:ext cx="8229600" cy="42508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57200" y="4338157"/>
            <a:ext cx="8229600" cy="395774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20"/>
          </p:nvPr>
        </p:nvSpPr>
        <p:spPr>
          <a:xfrm>
            <a:off x="457201" y="4837386"/>
            <a:ext cx="8229600" cy="23868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1"/>
          </p:nvPr>
        </p:nvSpPr>
        <p:spPr>
          <a:xfrm>
            <a:off x="457200" y="5211857"/>
            <a:ext cx="8229600" cy="28349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2"/>
          </p:nvPr>
        </p:nvSpPr>
        <p:spPr>
          <a:xfrm>
            <a:off x="457200" y="5606853"/>
            <a:ext cx="8229600" cy="26964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3"/>
          </p:nvPr>
        </p:nvSpPr>
        <p:spPr>
          <a:xfrm>
            <a:off x="457200" y="5983525"/>
            <a:ext cx="8229600" cy="268831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24"/>
          </p:nvPr>
        </p:nvSpPr>
        <p:spPr>
          <a:xfrm>
            <a:off x="457201" y="6331844"/>
            <a:ext cx="8229600" cy="244392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25"/>
          </p:nvPr>
        </p:nvSpPr>
        <p:spPr>
          <a:xfrm>
            <a:off x="457201" y="6654233"/>
            <a:ext cx="8046362" cy="26394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Content Placeholder 24"/>
          <p:cNvSpPr>
            <a:spLocks noGrp="1"/>
          </p:cNvSpPr>
          <p:nvPr>
            <p:ph sz="quarter" idx="26"/>
          </p:nvPr>
        </p:nvSpPr>
        <p:spPr>
          <a:xfrm>
            <a:off x="457201" y="7063805"/>
            <a:ext cx="8046362" cy="29082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18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7"/>
          </p:nvPr>
        </p:nvSpPr>
        <p:spPr>
          <a:xfrm>
            <a:off x="457200" y="7483231"/>
            <a:ext cx="8012113" cy="219075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8"/>
          </p:nvPr>
        </p:nvSpPr>
        <p:spPr>
          <a:xfrm>
            <a:off x="457200" y="7832725"/>
            <a:ext cx="8012113" cy="293688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9"/>
          </p:nvPr>
        </p:nvSpPr>
        <p:spPr>
          <a:xfrm>
            <a:off x="457200" y="8258175"/>
            <a:ext cx="8047038" cy="327025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30"/>
          </p:nvPr>
        </p:nvSpPr>
        <p:spPr>
          <a:xfrm>
            <a:off x="457200" y="8609013"/>
            <a:ext cx="8012113" cy="323850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31"/>
          </p:nvPr>
        </p:nvSpPr>
        <p:spPr>
          <a:xfrm>
            <a:off x="457200" y="9036050"/>
            <a:ext cx="8047038" cy="239713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32"/>
          </p:nvPr>
        </p:nvSpPr>
        <p:spPr>
          <a:xfrm>
            <a:off x="457200" y="9466263"/>
            <a:ext cx="8047038" cy="150812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33"/>
          </p:nvPr>
        </p:nvSpPr>
        <p:spPr>
          <a:xfrm>
            <a:off x="457200" y="9807575"/>
            <a:ext cx="8047038" cy="263525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34"/>
          </p:nvPr>
        </p:nvSpPr>
        <p:spPr>
          <a:xfrm>
            <a:off x="457200" y="10174288"/>
            <a:ext cx="8012113" cy="322262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35"/>
          </p:nvPr>
        </p:nvSpPr>
        <p:spPr>
          <a:xfrm>
            <a:off x="457200" y="10663977"/>
            <a:ext cx="8047038" cy="257175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36"/>
          </p:nvPr>
        </p:nvSpPr>
        <p:spPr>
          <a:xfrm>
            <a:off x="457200" y="11063288"/>
            <a:ext cx="8047038" cy="295275"/>
          </a:xfrm>
        </p:spPr>
        <p:txBody>
          <a:bodyPr/>
          <a:lstStyle>
            <a:lvl1pPr indent="-255600">
              <a:defRPr>
                <a:latin typeface="+mn-lt"/>
              </a:defRPr>
            </a:lvl1pPr>
            <a:lvl2pPr indent="-284400">
              <a:defRPr>
                <a:latin typeface="+mn-lt"/>
              </a:defRPr>
            </a:lvl2pPr>
            <a:lvl3pPr marL="1143000" indent="-127000">
              <a:buFont typeface="Arial" panose="020B0604020202020204" pitchFamily="34" charset="0"/>
              <a:buChar char="▪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40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le Placeholder"/>
          <p:cNvSpPr txBox="1">
            <a:spLocks noGrp="1"/>
          </p:cNvSpPr>
          <p:nvPr>
            <p:ph type="title" hasCustomPrompt="1"/>
          </p:nvPr>
        </p:nvSpPr>
        <p:spPr>
          <a:xfrm>
            <a:off x="457200" y="241479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CB993-AC2C-41C5-BFB7-F2499EC1A1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564404"/>
            <a:ext cx="8232775" cy="34178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5" name="Content Placeholder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102487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8412"/>
            <a:ext cx="4484688" cy="37544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Figure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F3FDC-1BE7-4A19-A3D7-02B55407B9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48250" y="1558412"/>
            <a:ext cx="3638550" cy="3754437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40E849-7663-4A75-9BC8-012C23AC44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5420799"/>
            <a:ext cx="8229600" cy="533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220716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109" y="2647157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109" y="3613151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81874" y="1681163"/>
            <a:ext cx="1304925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1874" y="2651590"/>
            <a:ext cx="1304925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81874" y="3613151"/>
            <a:ext cx="1304925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Placeholder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Content Placeholder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B097-4490-0DFC-58C1-C6A6D6C71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8C42A-EABA-2662-8A99-C8800AA13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856F9-0CC1-0D32-58C5-734BBAAD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7BF32-2CAB-2859-B7C8-B3DD2825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785DA-32AC-CC04-9531-1C740AD5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2413530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01BE-3F74-F7C8-8F20-293AFCD7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256E-376C-262B-967A-584E76D31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9A699-0687-DB96-FA34-6FFB2309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652B8-B2D1-953E-3DD9-CD6D22D5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C4103-A63C-CEA3-963E-F383BB58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4380034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C6FA-D99A-94BE-52B2-438A074A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CCC32-C8D5-9FC3-CF6B-6A09E56C9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C4D4-DBD9-E8C9-45EE-26B09B58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9CA52-8064-BFB7-5247-022A1535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CEDAA-DD8A-4FFD-0B8E-6D4E8642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9212639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B013-3F6C-F02B-1E91-3E1FD659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E13C3-F9D6-B20B-273C-B2361DA2D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05B19-DF76-FB33-207C-476896DFA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E39A1-71DA-A2CD-CDAE-D282D80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389AD-8291-15F8-AA9E-D95929A2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ABF5F-DD13-36F5-52C7-E941E470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3129213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BCDB-6BBA-2426-6016-4B29BA93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25E85-BC5F-9B49-1D50-1AD2B502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F69D2-452F-2AC0-D968-A5D87C807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121F4-9BA5-36DD-733E-86DCC5F13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29E78-97DF-2F11-77E7-D436813F7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E8EF1-7DAC-166F-090F-FDC697C3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D5363-02A1-6C67-4203-2B8450BD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6D2F8-6D09-4D06-D81D-A8D38A1A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2889979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FD95-5051-62EF-D3A2-DCEE28BE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6DF40-ACAA-6A61-DD03-7CAFAF16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E5DA0-50F0-7DCD-8ACB-54EBA475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31AC0-D7A0-DE77-B74D-430AA3EB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710980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EAC5C-723D-0F11-2958-346FAA85C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413A4-0185-C2EE-6CC7-7C79C0F9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E873E-BDC5-5411-38CC-0E8BAF88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9995242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7999-B2FC-3964-A2DB-4B9EB79D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E6BD2-D2AF-7302-8880-6B9EEACAB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94224-B253-9EF6-A5FB-7C7B464D8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7D29-62CA-F390-8FCE-5569F094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6227-5145-C69F-17F6-51DF351D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2E410-A1C5-18B6-CDB6-717841B5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2280377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CC65-20B8-1B32-164F-1708567C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BF117-ADB8-3C08-7F3E-FE2ADBD27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018FD-2CBA-1077-2CE5-B83274701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C6DA1-FC0C-56B6-AA7C-7CDB0FB3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17B3-1BF6-3487-789E-924FF49C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407B7-1423-AE25-824A-F338CDF6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181218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945A-6083-BE6F-49F0-54069F0E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C87A9-E291-B6F5-558C-633C6F20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8E16C-5D80-FEB1-1B2B-2BA150D4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094F-0A6A-9F9F-D6B4-233D2ED3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55A20-39B1-CAF8-9DF3-BDEDE8B3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115583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8EECA-E42B-12D3-33C6-E02D065E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74CAF-A1DB-1E4E-A2B7-860E3AC05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B4206-3BF3-8455-64FF-5379420A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1B0B5-C0EF-FFFC-E14B-160BF967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4DB42-A705-E498-73FF-2C6EE9E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692315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8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6" name="Copyright"/>
          <p:cNvSpPr txBox="1"/>
          <p:nvPr/>
        </p:nvSpPr>
        <p:spPr>
          <a:xfrm>
            <a:off x="1600200" y="6429344"/>
            <a:ext cx="7162799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</a:t>
            </a:r>
            <a:r>
              <a:rPr lang="en-IN" sz="1200" b="0" i="0" u="none" strike="noStrike" cap="non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2022, 2018, 2015</a:t>
            </a:r>
            <a:r>
              <a:rPr lang="en-US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Placeholder 21" descr="Pearson Logo">
            <a:extLst>
              <a:ext uri="{FF2B5EF4-FFF2-40B4-BE49-F238E27FC236}">
                <a16:creationId xmlns:a16="http://schemas.microsoft.com/office/drawing/2014/main" id="{9482BDEB-84DF-4344-AD30-389884976DF6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 t="22152" b="22152"/>
          <a:stretch>
            <a:fillRect/>
          </a:stretch>
        </p:blipFill>
        <p:spPr>
          <a:xfrm>
            <a:off x="315677" y="6420639"/>
            <a:ext cx="1176574" cy="29644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82" r:id="rId2"/>
    <p:sldLayoutId id="2147483650" r:id="rId3"/>
    <p:sldLayoutId id="2147483684" r:id="rId4"/>
    <p:sldLayoutId id="2147483683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71" r:id="rId12"/>
    <p:sldLayoutId id="2147483673" r:id="rId13"/>
    <p:sldLayoutId id="2147483670" r:id="rId14"/>
    <p:sldLayoutId id="2147483669" r:id="rId15"/>
    <p:sldLayoutId id="214748365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68983-4E8C-653C-88D8-DFDE9439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3A256-D4E6-CA41-D751-038439B1F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35B66-AEE2-9A89-A209-E90EFC4E6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CF11-EDAC-EEFF-803F-BC6A65F04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EBE5F-360F-D37D-2C48-7425578D8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4713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4.jpg"/><Relationship Id="rId7" Type="http://schemas.openxmlformats.org/officeDocument/2006/relationships/image" Target="../media/image2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B717E13-2DC1-2D7C-F70D-0D5A20A7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59442"/>
            <a:ext cx="7772400" cy="1828800"/>
          </a:xfrm>
        </p:spPr>
        <p:txBody>
          <a:bodyPr>
            <a:normAutofit/>
          </a:bodyPr>
          <a:lstStyle/>
          <a:p>
            <a:r>
              <a:rPr lang="en-US" dirty="0"/>
              <a:t>International Economic Relations</a:t>
            </a:r>
            <a:br>
              <a:rPr lang="en-US" dirty="0"/>
            </a:br>
            <a:r>
              <a:rPr lang="en-US" sz="2800" dirty="0"/>
              <a:t> </a:t>
            </a:r>
            <a:r>
              <a:rPr lang="en-CA" sz="2800" b="0" i="0" dirty="0">
                <a:solidFill>
                  <a:srgbClr val="003E2D"/>
                </a:solidFill>
                <a:effectLst/>
                <a:latin typeface="Museo Sans W01 500"/>
              </a:rPr>
              <a:t>ECON 308</a:t>
            </a:r>
            <a:endParaRPr lang="en-US" sz="2800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ACC0129F-CDA1-6FA5-0D96-CB850EA5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276600"/>
            <a:ext cx="6858000" cy="1981200"/>
          </a:xfrm>
        </p:spPr>
        <p:txBody>
          <a:bodyPr>
            <a:normAutofit/>
          </a:bodyPr>
          <a:lstStyle/>
          <a:p>
            <a:r>
              <a:rPr lang="en-US" dirty="0"/>
              <a:t>Specific Factors and Income Distribution</a:t>
            </a:r>
          </a:p>
          <a:p>
            <a:r>
              <a:rPr lang="en-US" dirty="0"/>
              <a:t> (Chapter 4 Part 1)</a:t>
            </a:r>
          </a:p>
          <a:p>
            <a:endParaRPr lang="en-US" dirty="0"/>
          </a:p>
          <a:p>
            <a:r>
              <a:rPr lang="en-US" dirty="0"/>
              <a:t>Instructor: </a:t>
            </a:r>
            <a:r>
              <a:rPr lang="en-US" dirty="0" err="1"/>
              <a:t>Muhebullah</a:t>
            </a:r>
            <a:r>
              <a:rPr lang="en-US" dirty="0"/>
              <a:t> </a:t>
            </a:r>
            <a:r>
              <a:rPr lang="en-US" dirty="0" err="1"/>
              <a:t>Karimzada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9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Learning Objectives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556326"/>
            <a:ext cx="8229600" cy="46412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4.1</a:t>
            </a:r>
            <a:r>
              <a:rPr lang="en-US" sz="2400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Understand how a mobile factor will respond to price changes by moving across sectors.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4.2 </a:t>
            </a:r>
            <a:r>
              <a:rPr lang="en-US" sz="2400" dirty="0">
                <a:solidFill>
                  <a:schemeClr val="tx1"/>
                </a:solidFill>
              </a:rPr>
              <a:t>Explain why trade will generate both winners and losers in the short run.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4.3 </a:t>
            </a:r>
            <a:r>
              <a:rPr lang="en-US" sz="2400" dirty="0">
                <a:solidFill>
                  <a:schemeClr val="tx1"/>
                </a:solidFill>
              </a:rPr>
              <a:t>Understand the meaning of gains from trade when there are losers.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4.4 </a:t>
            </a:r>
            <a:r>
              <a:rPr lang="en-US" sz="2400" dirty="0">
                <a:solidFill>
                  <a:schemeClr val="tx1"/>
                </a:solidFill>
              </a:rPr>
              <a:t>Discuss the reasons why trade is a politically contentious issue.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4.5 </a:t>
            </a:r>
            <a:r>
              <a:rPr lang="en-US" sz="2400" dirty="0">
                <a:solidFill>
                  <a:schemeClr val="tx1"/>
                </a:solidFill>
              </a:rPr>
              <a:t>Explain the arguments in favor of free trade despite the existence of losers</a:t>
            </a:r>
            <a:r>
              <a:rPr lang="en-US" sz="24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7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88FD5-9E5B-4789-86F3-F452F415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9FC3-BDC2-45F9-9B4B-EA3365D7FC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55600" indent="-255600">
              <a:buSzPct val="100000"/>
            </a:pPr>
            <a:r>
              <a:rPr lang="en-US" altLang="en-US" sz="2400" dirty="0"/>
              <a:t>If trade is so good for the economy, why is there such opposition?</a:t>
            </a:r>
          </a:p>
          <a:p>
            <a:pPr marL="255600" indent="-255600">
              <a:buSzPct val="100000"/>
            </a:pPr>
            <a:r>
              <a:rPr lang="en-US" altLang="en-US" sz="2400" dirty="0"/>
              <a:t>Two main reasons why international trade has strong effects on the distribution of income within a country:</a:t>
            </a:r>
          </a:p>
          <a:p>
            <a:pPr marL="741600" lvl="1"/>
            <a:r>
              <a:rPr lang="en-US" altLang="en-US" sz="2400" dirty="0"/>
              <a:t>Resources cannot move immediately or costlessly from one industry to another.</a:t>
            </a:r>
          </a:p>
          <a:p>
            <a:pPr marL="741600" lvl="1"/>
            <a:r>
              <a:rPr lang="en-US" altLang="en-US" sz="2400" dirty="0"/>
              <a:t>Industries differ in the factors of production they demand.</a:t>
            </a:r>
          </a:p>
        </p:txBody>
      </p:sp>
    </p:spTree>
    <p:extLst>
      <p:ext uri="{BB962C8B-B14F-4D97-AF65-F5344CB8AC3E}">
        <p14:creationId xmlns:p14="http://schemas.microsoft.com/office/powerpoint/2010/main" val="409293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The Specific Factors Model </a:t>
            </a:r>
            <a:r>
              <a:rPr lang="en-US" altLang="en-US" sz="2000" b="0" dirty="0">
                <a:solidFill>
                  <a:schemeClr val="tx1"/>
                </a:solidFill>
              </a:rPr>
              <a:t>(1 of 4)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C068C-4F48-4592-9FB0-CD1959C37F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400" dirty="0"/>
              <a:t>The </a:t>
            </a:r>
            <a:r>
              <a:rPr lang="en-US" altLang="en-US" sz="2400" b="1" dirty="0"/>
              <a:t>specific factors model</a:t>
            </a:r>
            <a:r>
              <a:rPr lang="en-US" altLang="en-US" sz="2400" dirty="0"/>
              <a:t> allows trade to affect income distribution.</a:t>
            </a:r>
          </a:p>
          <a:p>
            <a:r>
              <a:rPr lang="en-US" altLang="en-US" sz="2400" dirty="0"/>
              <a:t>Assumptions of the model:</a:t>
            </a:r>
          </a:p>
          <a:p>
            <a:pPr lvl="1"/>
            <a:r>
              <a:rPr lang="en-US" altLang="en-US" sz="2400" dirty="0"/>
              <a:t>Two goods, cloth and food.</a:t>
            </a:r>
          </a:p>
          <a:p>
            <a:pPr lvl="1"/>
            <a:r>
              <a:rPr lang="en-US" altLang="en-US" sz="2400" dirty="0"/>
              <a:t>Three factors of production: labor (</a:t>
            </a:r>
            <a:r>
              <a:rPr lang="en-US" altLang="en-US" sz="2400" i="1" dirty="0"/>
              <a:t>L</a:t>
            </a:r>
            <a:r>
              <a:rPr lang="en-US" altLang="en-US" sz="2400" dirty="0"/>
              <a:t>), capital (</a:t>
            </a:r>
            <a:r>
              <a:rPr lang="en-US" altLang="en-US" sz="2400" i="1" dirty="0"/>
              <a:t>K</a:t>
            </a:r>
            <a:r>
              <a:rPr lang="en-US" altLang="en-US" sz="2400" dirty="0"/>
              <a:t>), and land (</a:t>
            </a:r>
            <a:r>
              <a:rPr lang="en-US" altLang="en-US" sz="2400" i="1" dirty="0"/>
              <a:t>T</a:t>
            </a:r>
            <a:r>
              <a:rPr lang="en-US" altLang="en-US" sz="2400" dirty="0"/>
              <a:t> for terrain).</a:t>
            </a:r>
          </a:p>
          <a:p>
            <a:pPr lvl="1"/>
            <a:r>
              <a:rPr lang="en-US" altLang="en-US" sz="2400" dirty="0"/>
              <a:t>Perfect competition prevails in all markets.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4719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The Specific Factors Model </a:t>
            </a:r>
            <a:r>
              <a:rPr lang="en-US" altLang="en-US" sz="2000" b="0" dirty="0">
                <a:solidFill>
                  <a:schemeClr val="tx1"/>
                </a:solidFill>
              </a:rPr>
              <a:t>(2 of 4)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C068C-4F48-4592-9FB0-CD1959C37F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556327"/>
            <a:ext cx="8373291" cy="3094050"/>
          </a:xfrm>
        </p:spPr>
        <p:txBody>
          <a:bodyPr/>
          <a:lstStyle/>
          <a:p>
            <a:pPr lvl="1"/>
            <a:r>
              <a:rPr lang="en-US" altLang="en-US" sz="2400" dirty="0"/>
              <a:t>Cloth produced using capital and labor (but not land).</a:t>
            </a:r>
          </a:p>
          <a:p>
            <a:pPr lvl="1"/>
            <a:r>
              <a:rPr lang="en-US" altLang="en-US" sz="2400" dirty="0"/>
              <a:t>Food produced using land and labor (but not capital). </a:t>
            </a:r>
          </a:p>
          <a:p>
            <a:pPr lvl="1"/>
            <a:r>
              <a:rPr lang="en-US" altLang="en-US" sz="2400" dirty="0"/>
              <a:t>Labor is a mobile factor that can move between sectors.</a:t>
            </a:r>
          </a:p>
          <a:p>
            <a:pPr lvl="1"/>
            <a:r>
              <a:rPr lang="en-US" altLang="en-US" sz="2400" dirty="0"/>
              <a:t>Land and capital are both specific factors used only in the production of one good.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1377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The Specific Factors Model </a:t>
            </a:r>
            <a:r>
              <a:rPr lang="en-US" altLang="en-US" sz="2000" b="0" dirty="0">
                <a:solidFill>
                  <a:schemeClr val="tx1"/>
                </a:solidFill>
              </a:rPr>
              <a:t>(3 of 4)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C068C-4F48-4592-9FB0-CD1959C37F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404578" cy="1491674"/>
          </a:xfrm>
        </p:spPr>
        <p:txBody>
          <a:bodyPr/>
          <a:lstStyle/>
          <a:p>
            <a:pPr marL="255600"/>
            <a:r>
              <a:rPr lang="en-US" altLang="en-US" sz="2400" dirty="0"/>
              <a:t>How much of each good does the economy produce?</a:t>
            </a:r>
          </a:p>
          <a:p>
            <a:pPr marL="255600"/>
            <a:r>
              <a:rPr lang="en-US" altLang="en-US" sz="2400" dirty="0"/>
              <a:t>The production function for cloth gives the quantity of cloth that can be produced given any input of capital and labor:</a:t>
            </a:r>
            <a:endParaRPr lang="en-IN" sz="2400" dirty="0"/>
          </a:p>
        </p:txBody>
      </p:sp>
      <p:graphicFrame>
        <p:nvGraphicFramePr>
          <p:cNvPr id="7" name="Object 6" descr="Q sub C = Q sub C left parenthesis K, L sub C right parenthesis">
            <a:extLst>
              <a:ext uri="{FF2B5EF4-FFF2-40B4-BE49-F238E27FC236}">
                <a16:creationId xmlns:a16="http://schemas.microsoft.com/office/drawing/2014/main" id="{D9D3F823-CCA7-426C-BBD9-DDD874C08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137220"/>
              </p:ext>
            </p:extLst>
          </p:nvPr>
        </p:nvGraphicFramePr>
        <p:xfrm>
          <a:off x="3557304" y="3138528"/>
          <a:ext cx="2029392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253800" progId="Equation.DSMT4">
                  <p:embed/>
                </p:oleObj>
              </mc:Choice>
              <mc:Fallback>
                <p:oleObj name="Equation" r:id="rId3" imgW="1041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7304" y="3138528"/>
                        <a:ext cx="2029392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C745-1267-44A6-8E0F-0BFFA36226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9163" y="3705919"/>
            <a:ext cx="433388" cy="491551"/>
          </a:xfrm>
        </p:spPr>
        <p:txBody>
          <a:bodyPr/>
          <a:lstStyle/>
          <a:p>
            <a:pPr marL="0" lvl="1" indent="0"/>
            <a:r>
              <a:rPr lang="en-US" altLang="en-US" sz="2400" i="1" dirty="0"/>
              <a:t> </a:t>
            </a:r>
            <a:r>
              <a:rPr lang="en-US" altLang="en-US" sz="100" i="1" dirty="0"/>
              <a:t> </a:t>
            </a:r>
            <a:endParaRPr lang="en-US" altLang="en-US" sz="100" dirty="0"/>
          </a:p>
        </p:txBody>
      </p:sp>
      <p:graphicFrame>
        <p:nvGraphicFramePr>
          <p:cNvPr id="9" name="Object 8" descr="Q sub C">
            <a:extLst>
              <a:ext uri="{FF2B5EF4-FFF2-40B4-BE49-F238E27FC236}">
                <a16:creationId xmlns:a16="http://schemas.microsoft.com/office/drawing/2014/main" id="{647AF9E9-4919-49D6-8DE3-5EAC8D990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867782"/>
              </p:ext>
            </p:extLst>
          </p:nvPr>
        </p:nvGraphicFramePr>
        <p:xfrm>
          <a:off x="1404943" y="3794335"/>
          <a:ext cx="398597" cy="421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640" imgH="228600" progId="Equation.DSMT4">
                  <p:embed/>
                </p:oleObj>
              </mc:Choice>
              <mc:Fallback>
                <p:oleObj name="Equation" r:id="rId5" imgW="215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4943" y="3794335"/>
                        <a:ext cx="398597" cy="421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838DE-6717-4930-9174-F2E7FF7AEA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68518" y="3738591"/>
            <a:ext cx="3110459" cy="51334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en-US" sz="2400" dirty="0">
                <a:latin typeface="+mn-lt"/>
              </a:rPr>
              <a:t>is the output of cloth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6B15A1-3118-46D2-9270-BC6558367AA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4355838"/>
            <a:ext cx="8229600" cy="513340"/>
          </a:xfrm>
        </p:spPr>
        <p:txBody>
          <a:bodyPr/>
          <a:lstStyle/>
          <a:p>
            <a:pPr lvl="1" indent="-284400"/>
            <a:r>
              <a:rPr lang="en-US" altLang="en-US" sz="2400" i="1" dirty="0">
                <a:latin typeface="+mn-lt"/>
              </a:rPr>
              <a:t>K</a:t>
            </a:r>
            <a:r>
              <a:rPr lang="en-US" altLang="en-US" sz="2400" dirty="0">
                <a:latin typeface="+mn-lt"/>
              </a:rPr>
              <a:t> is the capital stock</a:t>
            </a:r>
            <a:endParaRPr lang="en-US" sz="2400" dirty="0">
              <a:latin typeface="+mn-lt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0DB96B-6698-4259-92A0-A61447406BA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9164" y="5019423"/>
            <a:ext cx="394402" cy="490441"/>
          </a:xfrm>
        </p:spPr>
        <p:txBody>
          <a:bodyPr/>
          <a:lstStyle/>
          <a:p>
            <a:pPr marL="0" lvl="1" indent="0"/>
            <a:r>
              <a:rPr lang="en-US" sz="2400" i="1" dirty="0">
                <a:latin typeface="+mn-lt"/>
              </a:rPr>
              <a:t> </a:t>
            </a:r>
            <a:r>
              <a:rPr lang="en-US" sz="100" i="1" dirty="0">
                <a:latin typeface="+mn-lt"/>
              </a:rPr>
              <a:t> </a:t>
            </a:r>
          </a:p>
        </p:txBody>
      </p:sp>
      <p:graphicFrame>
        <p:nvGraphicFramePr>
          <p:cNvPr id="5" name="Object 4" descr="L sub C">
            <a:extLst>
              <a:ext uri="{FF2B5EF4-FFF2-40B4-BE49-F238E27FC236}">
                <a16:creationId xmlns:a16="http://schemas.microsoft.com/office/drawing/2014/main" id="{4574F869-B80F-4FF9-9D82-43B97D4A5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466454"/>
              </p:ext>
            </p:extLst>
          </p:nvPr>
        </p:nvGraphicFramePr>
        <p:xfrm>
          <a:off x="1365251" y="5013071"/>
          <a:ext cx="408354" cy="49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228600" progId="Equation.DSMT4">
                  <p:embed/>
                </p:oleObj>
              </mc:Choice>
              <mc:Fallback>
                <p:oleObj name="Equation" r:id="rId7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5251" y="5013071"/>
                        <a:ext cx="408354" cy="49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BF8213C-2AE4-405D-96A0-86507961B83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4145" y="4989445"/>
            <a:ext cx="5076000" cy="537279"/>
          </a:xfrm>
        </p:spPr>
        <p:txBody>
          <a:bodyPr/>
          <a:lstStyle/>
          <a:p>
            <a:pPr marL="0" lvl="1" indent="0">
              <a:buNone/>
            </a:pPr>
            <a:r>
              <a:rPr lang="en-US" altLang="en-US" sz="2400" dirty="0">
                <a:latin typeface="+mn-lt"/>
              </a:rPr>
              <a:t>is the labor force employed in cloth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582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The Specific Factors Model </a:t>
            </a:r>
            <a:r>
              <a:rPr lang="en-US" altLang="en-US" sz="2000" b="0" dirty="0">
                <a:solidFill>
                  <a:schemeClr val="tx1"/>
                </a:solidFill>
              </a:rPr>
              <a:t>(4 of 4)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C068C-4F48-4592-9FB0-CD1959C37F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94914" cy="88454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sz="2400" dirty="0"/>
              <a:t>The production function for food gives the quantity of food that can be produced given any input of land and labor:</a:t>
            </a:r>
          </a:p>
        </p:txBody>
      </p:sp>
      <p:graphicFrame>
        <p:nvGraphicFramePr>
          <p:cNvPr id="8" name="Object 7" descr="Q sub F = Q sub F left parenthesis T, L sub F right parenthesis ">
            <a:extLst>
              <a:ext uri="{FF2B5EF4-FFF2-40B4-BE49-F238E27FC236}">
                <a16:creationId xmlns:a16="http://schemas.microsoft.com/office/drawing/2014/main" id="{054F7483-1C48-4CCB-8193-25181970D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964527"/>
              </p:ext>
            </p:extLst>
          </p:nvPr>
        </p:nvGraphicFramePr>
        <p:xfrm>
          <a:off x="3606800" y="2648817"/>
          <a:ext cx="1930400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253800" progId="Equation.DSMT4">
                  <p:embed/>
                </p:oleObj>
              </mc:Choice>
              <mc:Fallback>
                <p:oleObj name="Equation" r:id="rId2" imgW="990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6800" y="2648817"/>
                        <a:ext cx="1930400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C745-1267-44A6-8E0F-0BFFA36226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0750" y="3301562"/>
            <a:ext cx="406400" cy="491551"/>
          </a:xfrm>
        </p:spPr>
        <p:txBody>
          <a:bodyPr/>
          <a:lstStyle/>
          <a:p>
            <a:pPr marL="0" lvl="1" indent="0"/>
            <a:r>
              <a:rPr lang="en-US" altLang="en-US" i="1" dirty="0"/>
              <a:t> </a:t>
            </a:r>
            <a:r>
              <a:rPr lang="en-US" altLang="en-US" sz="100" i="1" dirty="0"/>
              <a:t>  </a:t>
            </a:r>
            <a:endParaRPr lang="en-US" altLang="en-US" sz="100" dirty="0"/>
          </a:p>
        </p:txBody>
      </p:sp>
      <p:graphicFrame>
        <p:nvGraphicFramePr>
          <p:cNvPr id="9" name="Object 8" descr="Q sub F">
            <a:extLst>
              <a:ext uri="{FF2B5EF4-FFF2-40B4-BE49-F238E27FC236}">
                <a16:creationId xmlns:a16="http://schemas.microsoft.com/office/drawing/2014/main" id="{647AF9E9-4919-49D6-8DE3-5EAC8D990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97126"/>
              </p:ext>
            </p:extLst>
          </p:nvPr>
        </p:nvGraphicFramePr>
        <p:xfrm>
          <a:off x="1390948" y="3371957"/>
          <a:ext cx="398597" cy="421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647AF9E9-4919-49D6-8DE3-5EAC8D990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0948" y="3371957"/>
                        <a:ext cx="398597" cy="421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838DE-6717-4930-9174-F2E7FF7AEA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77523" y="3309974"/>
            <a:ext cx="3110459" cy="513340"/>
          </a:xfrm>
        </p:spPr>
        <p:txBody>
          <a:bodyPr/>
          <a:lstStyle/>
          <a:p>
            <a:pPr marL="486918" lvl="1" indent="-886968">
              <a:buNone/>
            </a:pPr>
            <a:r>
              <a:rPr lang="en-US" altLang="en-US" sz="2400" dirty="0">
                <a:latin typeface="+mn-lt"/>
              </a:rPr>
              <a:t>is the output of food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6B15A1-3118-46D2-9270-BC6558367AA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951481"/>
            <a:ext cx="4114800" cy="513340"/>
          </a:xfrm>
        </p:spPr>
        <p:txBody>
          <a:bodyPr/>
          <a:lstStyle/>
          <a:p>
            <a:pPr lvl="1" indent="-280800">
              <a:spcBef>
                <a:spcPct val="40000"/>
              </a:spcBef>
            </a:pPr>
            <a:r>
              <a:rPr lang="en-US" altLang="en-US" sz="2400" i="1" dirty="0">
                <a:latin typeface="+mn-lt"/>
              </a:rPr>
              <a:t>T</a:t>
            </a:r>
            <a:r>
              <a:rPr lang="en-US" altLang="en-US" sz="2400" dirty="0">
                <a:latin typeface="+mn-lt"/>
              </a:rPr>
              <a:t> is the supply of land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0DB96B-6698-4259-92A0-A61447406BA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0749" y="4653167"/>
            <a:ext cx="392815" cy="507300"/>
          </a:xfrm>
        </p:spPr>
        <p:txBody>
          <a:bodyPr/>
          <a:lstStyle/>
          <a:p>
            <a:pPr marL="0" lvl="1" indent="0">
              <a:spcBef>
                <a:spcPts val="0"/>
              </a:spcBef>
            </a:pPr>
            <a:r>
              <a:rPr lang="en-US" sz="2400" i="1" dirty="0">
                <a:latin typeface="+mn-lt"/>
              </a:rPr>
              <a:t> </a:t>
            </a:r>
            <a:r>
              <a:rPr lang="en-US" sz="100" i="1" dirty="0">
                <a:latin typeface="+mn-lt"/>
              </a:rPr>
              <a:t> </a:t>
            </a:r>
          </a:p>
        </p:txBody>
      </p:sp>
      <p:graphicFrame>
        <p:nvGraphicFramePr>
          <p:cNvPr id="5" name="Object 4" descr="L sub F">
            <a:extLst>
              <a:ext uri="{FF2B5EF4-FFF2-40B4-BE49-F238E27FC236}">
                <a16:creationId xmlns:a16="http://schemas.microsoft.com/office/drawing/2014/main" id="{4574F869-B80F-4FF9-9D82-43B97D4A5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041814"/>
              </p:ext>
            </p:extLst>
          </p:nvPr>
        </p:nvGraphicFramePr>
        <p:xfrm>
          <a:off x="1390948" y="4661804"/>
          <a:ext cx="408354" cy="49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DSMT4">
                  <p:embed/>
                </p:oleObj>
              </mc:Choice>
              <mc:Fallback>
                <p:oleObj name="Equation" r:id="rId6" imgW="19044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574F869-B80F-4FF9-9D82-43B97D4A5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90948" y="4661804"/>
                        <a:ext cx="408354" cy="49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BF8213C-2AE4-405D-96A0-86507961B83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83035" y="4623188"/>
            <a:ext cx="5076000" cy="537279"/>
          </a:xfrm>
        </p:spPr>
        <p:txBody>
          <a:bodyPr/>
          <a:lstStyle/>
          <a:p>
            <a:pPr marL="486918" lvl="1" indent="-486918">
              <a:buNone/>
            </a:pPr>
            <a:r>
              <a:rPr lang="en-US" altLang="en-US" sz="2400" dirty="0">
                <a:latin typeface="+mn-lt"/>
              </a:rPr>
              <a:t>is the labor force employed in food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156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(1 of 6)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C068C-4F48-4592-9FB0-CD1959C37F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400" dirty="0"/>
              <a:t>How does the economy</a:t>
            </a:r>
            <a:r>
              <a:rPr lang="en-US" altLang="ja-JP" sz="2400" dirty="0"/>
              <a:t>’s mix of output change as labor is shifted from one sector to the other?</a:t>
            </a:r>
          </a:p>
          <a:p>
            <a:r>
              <a:rPr lang="en-US" altLang="en-US" sz="2400" dirty="0"/>
              <a:t>When labor moves from food to cloth, food production falls while output of cloth rises.</a:t>
            </a:r>
          </a:p>
        </p:txBody>
      </p:sp>
    </p:spTree>
    <p:extLst>
      <p:ext uri="{BB962C8B-B14F-4D97-AF65-F5344CB8AC3E}">
        <p14:creationId xmlns:p14="http://schemas.microsoft.com/office/powerpoint/2010/main" val="43175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113232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4.1 The Production Function for Cloth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5" name="Content Placeholder 4" descr="A graph plots output, Q sub C, versus labor, L sub C. The graph of Q sub C = Q sub C (K, L sub C), rises from the origin with decreasing steepness.">
            <a:extLst>
              <a:ext uri="{FF2B5EF4-FFF2-40B4-BE49-F238E27FC236}">
                <a16:creationId xmlns:a16="http://schemas.microsoft.com/office/drawing/2014/main" id="{C1320493-D862-4273-9E8F-6DAFF2D634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76306" y="1700765"/>
            <a:ext cx="2991388" cy="278838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533B-D8DF-4127-93D5-4B94003C46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590450"/>
            <a:ext cx="8229600" cy="1671458"/>
          </a:xfrm>
        </p:spPr>
        <p:txBody>
          <a:bodyPr/>
          <a:lstStyle/>
          <a:p>
            <a:pPr marL="432" indent="0">
              <a:buNone/>
            </a:pPr>
            <a:r>
              <a:rPr lang="en-US" sz="2000" dirty="0"/>
              <a:t>The more labor employed in the production of cloth, the larger the output. As a result of diminishing returns, however, each successive person-hour increases output by less than the previous one; this is shown by the fact that the curve relating labor input to output gets flatter at higher levels of employment.</a:t>
            </a:r>
          </a:p>
        </p:txBody>
      </p:sp>
    </p:spTree>
    <p:extLst>
      <p:ext uri="{BB962C8B-B14F-4D97-AF65-F5344CB8AC3E}">
        <p14:creationId xmlns:p14="http://schemas.microsoft.com/office/powerpoint/2010/main" val="282075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(2 of 6)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459D08-06AF-42C8-A223-7D419B1884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6"/>
            <a:ext cx="8229600" cy="4484709"/>
          </a:xfrm>
        </p:spPr>
        <p:txBody>
          <a:bodyPr/>
          <a:lstStyle/>
          <a:p>
            <a:r>
              <a:rPr lang="en-US" altLang="en-US" sz="2400" dirty="0"/>
              <a:t>The shape of the production function reflects the law of </a:t>
            </a:r>
            <a:r>
              <a:rPr lang="en-US" altLang="en-US" sz="2400" b="1" dirty="0"/>
              <a:t>diminishing marginal returns</a:t>
            </a:r>
            <a:r>
              <a:rPr lang="en-US" altLang="en-US" sz="2400" dirty="0"/>
              <a:t>.</a:t>
            </a:r>
          </a:p>
          <a:p>
            <a:pPr lvl="1">
              <a:buFontTx/>
              <a:buChar char="–"/>
            </a:pPr>
            <a:r>
              <a:rPr lang="en-US" altLang="en-US" sz="2400" dirty="0"/>
              <a:t>Adding one worker to the production process (without increasing the amount of capital) means that each worker has less capital to work with.</a:t>
            </a:r>
          </a:p>
          <a:p>
            <a:pPr lvl="1">
              <a:buFontTx/>
              <a:buChar char="–"/>
            </a:pPr>
            <a:r>
              <a:rPr lang="en-US" altLang="en-US" sz="2400" dirty="0"/>
              <a:t>Therefore, each additional unit of labor adds less output than the last.</a:t>
            </a:r>
          </a:p>
          <a:p>
            <a:r>
              <a:rPr lang="en-US" altLang="en-US" sz="2400" dirty="0"/>
              <a:t>Figure 4.2 shows the </a:t>
            </a:r>
            <a:r>
              <a:rPr lang="en-US" altLang="en-US" sz="2400" b="1" dirty="0"/>
              <a:t>marginal product of labor,</a:t>
            </a:r>
            <a:r>
              <a:rPr lang="en-US" altLang="en-US" sz="2400" dirty="0"/>
              <a:t> which is the increase in output that corresponds to an extra unit of labor.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2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113232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4.2 The Marginal Product of Labor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8" name="Content Placeholder 7" descr="A graph plots marginal product of labor, M P L sub C, versus labor input, L sub C. The graph falls with decreasing steepness from an unknown y value.">
            <a:extLst>
              <a:ext uri="{FF2B5EF4-FFF2-40B4-BE49-F238E27FC236}">
                <a16:creationId xmlns:a16="http://schemas.microsoft.com/office/drawing/2014/main" id="{CBF32055-DBF3-41FE-A35B-7C26D06FA32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908119" y="1708867"/>
            <a:ext cx="3327760" cy="334054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533B-D8DF-4127-93D5-4B94003C46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5192236"/>
            <a:ext cx="8229600" cy="111323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marginal product of labor in the cloth sector, equal to the slope of the production function shown in Figure 4.1, is lower the more labor the sector employs.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129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113232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(3 of 6)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08868-5EA6-45EB-8053-F6A0B6E63C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887070"/>
          </a:xfrm>
        </p:spPr>
        <p:txBody>
          <a:bodyPr/>
          <a:lstStyle/>
          <a:p>
            <a:r>
              <a:rPr lang="en-US" altLang="en-US" sz="2400" dirty="0"/>
              <a:t>For the economy as a whole, the total labor employed in cloth and food must equal the total labor supply:</a:t>
            </a:r>
          </a:p>
        </p:txBody>
      </p:sp>
      <p:graphicFrame>
        <p:nvGraphicFramePr>
          <p:cNvPr id="5" name="Object 4" descr="L sub C + L sub F = L ">
            <a:extLst>
              <a:ext uri="{FF2B5EF4-FFF2-40B4-BE49-F238E27FC236}">
                <a16:creationId xmlns:a16="http://schemas.microsoft.com/office/drawing/2014/main" id="{5220BD1C-736E-49B4-ACAE-626FDC1ABF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09642"/>
              </p:ext>
            </p:extLst>
          </p:nvPr>
        </p:nvGraphicFramePr>
        <p:xfrm>
          <a:off x="3704431" y="2656957"/>
          <a:ext cx="17351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5836" imgH="539693" progId="Equation.DSMT4">
                  <p:embed/>
                </p:oleObj>
              </mc:Choice>
              <mc:Fallback>
                <p:oleObj name="Equation" r:id="rId2" imgW="1735836" imgH="53969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04431" y="2656957"/>
                        <a:ext cx="173513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533B-D8DF-4127-93D5-4B94003C46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8885"/>
            <a:ext cx="8229600" cy="887070"/>
          </a:xfrm>
        </p:spPr>
        <p:txBody>
          <a:bodyPr/>
          <a:lstStyle/>
          <a:p>
            <a:r>
              <a:rPr lang="en-US" altLang="en-US" dirty="0"/>
              <a:t>Use these equations to derive the </a:t>
            </a:r>
            <a:r>
              <a:rPr lang="en-US" altLang="en-US" b="1" dirty="0"/>
              <a:t>production possibilities frontier</a:t>
            </a:r>
            <a:r>
              <a:rPr lang="en-US" altLang="en-US" dirty="0"/>
              <a:t> of the economy.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50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(4 of 6)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459D08-06AF-42C8-A223-7D419B1884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6"/>
            <a:ext cx="8229600" cy="3867729"/>
          </a:xfrm>
        </p:spPr>
        <p:txBody>
          <a:bodyPr/>
          <a:lstStyle/>
          <a:p>
            <a:r>
              <a:rPr lang="en-US" altLang="en-US" sz="2400" dirty="0"/>
              <a:t>Use a four-quadrant diagram to construct production possibilities frontier in Figure 4.3.</a:t>
            </a:r>
          </a:p>
          <a:p>
            <a:pPr lvl="1"/>
            <a:r>
              <a:rPr lang="en-US" altLang="en-US" sz="2400" dirty="0"/>
              <a:t>Lower left quadrant indicates the allocation of labor.</a:t>
            </a:r>
          </a:p>
          <a:p>
            <a:pPr lvl="1"/>
            <a:r>
              <a:rPr lang="en-US" altLang="en-US" sz="2400" dirty="0"/>
              <a:t>Lower right quadrant shows the production function for cloth from Figure 4.1.</a:t>
            </a:r>
          </a:p>
          <a:p>
            <a:pPr lvl="1"/>
            <a:r>
              <a:rPr lang="en-US" altLang="en-US" sz="2400" dirty="0"/>
              <a:t>Upper left quadrant shows the corresponding production function for food.</a:t>
            </a:r>
          </a:p>
          <a:p>
            <a:pPr lvl="1"/>
            <a:r>
              <a:rPr lang="en-US" altLang="en-US" sz="2400" dirty="0"/>
              <a:t>Upper right quadrant indicates the combinations of cloth and food that can be produced.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5633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4.3 The Production Possibility Frontier in the Specific Factors Model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11" name="Content Placeholder 10" descr="The graph is divided in 4 quadrants. For long description in Notes pane, press F6.">
            <a:extLst>
              <a:ext uri="{FF2B5EF4-FFF2-40B4-BE49-F238E27FC236}">
                <a16:creationId xmlns:a16="http://schemas.microsoft.com/office/drawing/2014/main" id="{4C13E26B-C8CB-4D25-9635-63F07FB5DBD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349642" y="1702789"/>
            <a:ext cx="4444714" cy="3398681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C52BF-D63F-4EB6-A7EE-10EF54C3AD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5224730"/>
            <a:ext cx="8229601" cy="1120508"/>
          </a:xfrm>
        </p:spPr>
        <p:txBody>
          <a:bodyPr/>
          <a:lstStyle/>
          <a:p>
            <a:pPr marL="432" indent="0">
              <a:buNone/>
            </a:pPr>
            <a:r>
              <a:rPr lang="en-US" sz="2000" i="1" dirty="0"/>
              <a:t>P</a:t>
            </a:r>
            <a:r>
              <a:rPr lang="en-US" sz="100" i="1" dirty="0"/>
              <a:t> </a:t>
            </a:r>
            <a:r>
              <a:rPr lang="en-US" sz="2000" i="1" dirty="0"/>
              <a:t>P </a:t>
            </a:r>
            <a:r>
              <a:rPr lang="en-US" sz="2000" dirty="0"/>
              <a:t>in the upper-right quadrant shows the economy’s production possibilities for given supplies of land, labor, and capital. Due to diminishing returns, </a:t>
            </a:r>
            <a:r>
              <a:rPr lang="en-US" sz="2000" i="1" dirty="0"/>
              <a:t>P</a:t>
            </a:r>
            <a:r>
              <a:rPr lang="en-US" sz="100" i="1" dirty="0"/>
              <a:t> </a:t>
            </a:r>
            <a:r>
              <a:rPr lang="en-US" sz="2000" i="1" dirty="0"/>
              <a:t>P </a:t>
            </a:r>
            <a:r>
              <a:rPr lang="en-US" sz="2000" dirty="0"/>
              <a:t>is a bowed-out curve instead of a straight line.</a:t>
            </a:r>
          </a:p>
        </p:txBody>
      </p:sp>
    </p:spTree>
    <p:extLst>
      <p:ext uri="{BB962C8B-B14F-4D97-AF65-F5344CB8AC3E}">
        <p14:creationId xmlns:p14="http://schemas.microsoft.com/office/powerpoint/2010/main" val="519582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(5 of 6)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15DEE-E860-4244-AF78-8DC1277182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3498752"/>
          </a:xfrm>
        </p:spPr>
        <p:txBody>
          <a:bodyPr/>
          <a:lstStyle/>
          <a:p>
            <a:r>
              <a:rPr lang="en-US" altLang="en-US" sz="2400" dirty="0"/>
              <a:t>Why is the production possibilities frontier curved?</a:t>
            </a:r>
          </a:p>
          <a:p>
            <a:pPr lvl="1"/>
            <a:r>
              <a:rPr lang="en-US" altLang="en-US" sz="2400" dirty="0"/>
              <a:t>Diminishing returns to labor in each sector cause the opportunity cost to rise when an economy produces more of a good.</a:t>
            </a:r>
          </a:p>
          <a:p>
            <a:pPr lvl="1"/>
            <a:r>
              <a:rPr lang="en-US" altLang="en-US" sz="2400" dirty="0"/>
              <a:t>Opportunity cost of cloth in terms of food is the slope of the production possibilities frontier—the slope becomes steeper as an economy produces more cloth.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1063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</a:rPr>
              <a:t>Production Possibilities </a:t>
            </a:r>
            <a:r>
              <a:rPr lang="en-US" altLang="en-US" sz="2000" b="0" dirty="0">
                <a:solidFill>
                  <a:schemeClr val="tx1"/>
                </a:solidFill>
              </a:rPr>
              <a:t>(6 of 6)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76404373-DFA3-4E46-8F8D-6BEBF189C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1" y="1556328"/>
            <a:ext cx="6064370" cy="440308"/>
          </a:xfrm>
        </p:spPr>
        <p:txBody>
          <a:bodyPr/>
          <a:lstStyle/>
          <a:p>
            <a:r>
              <a:rPr lang="en-US" altLang="en-US" sz="1800" dirty="0"/>
              <a:t>Opportunity cost of producing one more yard of cloth is</a:t>
            </a:r>
            <a:endParaRPr lang="en-US" sz="1800" dirty="0"/>
          </a:p>
        </p:txBody>
      </p:sp>
      <p:graphicFrame>
        <p:nvGraphicFramePr>
          <p:cNvPr id="43" name="Object 42" descr="Start fraction M P L sub F over M P L sub C end fraction ">
            <a:extLst>
              <a:ext uri="{FF2B5EF4-FFF2-40B4-BE49-F238E27FC236}">
                <a16:creationId xmlns:a16="http://schemas.microsoft.com/office/drawing/2014/main" id="{B6B473EF-D406-4E6D-A1B7-1376F7A19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162567"/>
              </p:ext>
            </p:extLst>
          </p:nvPr>
        </p:nvGraphicFramePr>
        <p:xfrm>
          <a:off x="6589636" y="1526369"/>
          <a:ext cx="690465" cy="652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09265" imgH="765015" progId="Equation.DSMT4">
                  <p:embed/>
                </p:oleObj>
              </mc:Choice>
              <mc:Fallback>
                <p:oleObj name="Equation" r:id="rId3" imgW="809265" imgH="7650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9636" y="1526369"/>
                        <a:ext cx="690465" cy="652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6B0BD4F-672B-4DE7-A53B-734DE39B8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600" y="2058547"/>
            <a:ext cx="2424023" cy="410333"/>
          </a:xfrm>
        </p:spPr>
        <p:txBody>
          <a:bodyPr/>
          <a:lstStyle/>
          <a:p>
            <a:pPr marL="255600" indent="0">
              <a:buNone/>
            </a:pPr>
            <a:r>
              <a:rPr lang="en-US" altLang="en-US" sz="1800" dirty="0"/>
              <a:t>pounds of food.</a:t>
            </a:r>
            <a:endParaRPr lang="en-IN" sz="1800" dirty="0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D1D2CB3F-6F82-437B-B4F1-B84BE891BA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44066"/>
            <a:ext cx="5549462" cy="432000"/>
          </a:xfrm>
        </p:spPr>
        <p:txBody>
          <a:bodyPr/>
          <a:lstStyle/>
          <a:p>
            <a:pPr lvl="1" indent="-284400"/>
            <a:r>
              <a:rPr lang="en-US" altLang="en-US" sz="1800" dirty="0">
                <a:latin typeface="+mn-lt"/>
              </a:rPr>
              <a:t>To produce one more yard of cloth, you need</a:t>
            </a:r>
          </a:p>
        </p:txBody>
      </p:sp>
      <p:graphicFrame>
        <p:nvGraphicFramePr>
          <p:cNvPr id="44" name="Object 43" descr="Start fraction 1 over M P L sub C end fraction ">
            <a:extLst>
              <a:ext uri="{FF2B5EF4-FFF2-40B4-BE49-F238E27FC236}">
                <a16:creationId xmlns:a16="http://schemas.microsoft.com/office/drawing/2014/main" id="{D1A8370F-5B60-4AA0-8EA3-D6B988E23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38024"/>
              </p:ext>
            </p:extLst>
          </p:nvPr>
        </p:nvGraphicFramePr>
        <p:xfrm>
          <a:off x="6069386" y="2445317"/>
          <a:ext cx="750781" cy="6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1064" imgH="765015" progId="Equation.DSMT4">
                  <p:embed/>
                </p:oleObj>
              </mc:Choice>
              <mc:Fallback>
                <p:oleObj name="Equation" r:id="rId5" imgW="811064" imgH="7650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9386" y="2445317"/>
                        <a:ext cx="750781" cy="6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D184976A-36FA-48C7-93FC-01D23AB83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13371" y="2522078"/>
            <a:ext cx="1693728" cy="43200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en-US" sz="1800" dirty="0">
                <a:latin typeface="+mn-lt"/>
              </a:rPr>
              <a:t>hours of labor.</a:t>
            </a:r>
            <a:endParaRPr lang="en-IN" sz="1800" dirty="0">
              <a:latin typeface="+mn-lt"/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B25C58B-B2AB-470E-A592-C60445DAFC3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3146074"/>
            <a:ext cx="7362497" cy="442946"/>
          </a:xfrm>
        </p:spPr>
        <p:txBody>
          <a:bodyPr/>
          <a:lstStyle/>
          <a:p>
            <a:pPr lvl="1" indent="-284400"/>
            <a:r>
              <a:rPr lang="en-US" altLang="en-US" sz="1800" dirty="0">
                <a:latin typeface="+mn-lt"/>
              </a:rPr>
              <a:t>To free up one hour of labor, you must reduce output of food by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45" name="Object 44" descr="M P L sub F ">
            <a:extLst>
              <a:ext uri="{FF2B5EF4-FFF2-40B4-BE49-F238E27FC236}">
                <a16:creationId xmlns:a16="http://schemas.microsoft.com/office/drawing/2014/main" id="{98446168-631B-4D1F-8ECD-6A2A3B8E94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418242"/>
              </p:ext>
            </p:extLst>
          </p:nvPr>
        </p:nvGraphicFramePr>
        <p:xfrm>
          <a:off x="1306438" y="3666215"/>
          <a:ext cx="725545" cy="394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6822" imgH="445237" progId="Equation.DSMT4">
                  <p:embed/>
                </p:oleObj>
              </mc:Choice>
              <mc:Fallback>
                <p:oleObj name="Equation" r:id="rId7" imgW="816822" imgH="4452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6438" y="3666215"/>
                        <a:ext cx="725545" cy="394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5F348152-129B-428F-A82F-8B6A41D8B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124999" y="3686575"/>
            <a:ext cx="1015492" cy="347414"/>
          </a:xfrm>
        </p:spPr>
        <p:txBody>
          <a:bodyPr tIns="0"/>
          <a:lstStyle/>
          <a:p>
            <a:pPr marL="0" lvl="1" indent="0">
              <a:buNone/>
            </a:pPr>
            <a:r>
              <a:rPr lang="en-US" altLang="en-US" sz="1800" dirty="0">
                <a:latin typeface="+mn-lt"/>
              </a:rPr>
              <a:t>pounds.</a:t>
            </a:r>
            <a:endParaRPr lang="en-US" sz="1800" dirty="0">
              <a:latin typeface="+mn-lt"/>
            </a:endParaRP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3AE9CC8D-DAF6-442D-91FB-BFC0EE67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4147812"/>
            <a:ext cx="8229600" cy="1044000"/>
          </a:xfrm>
        </p:spPr>
        <p:txBody>
          <a:bodyPr/>
          <a:lstStyle/>
          <a:p>
            <a:pPr lvl="1" indent="-284400"/>
            <a:r>
              <a:rPr lang="en-US" altLang="en-US" sz="1800" dirty="0">
                <a:latin typeface="+mn-lt"/>
              </a:rPr>
              <a:t>To produce less food and more cloth, employ less in food and more in cloth.</a:t>
            </a:r>
          </a:p>
          <a:p>
            <a:pPr lvl="1" indent="-284400"/>
            <a:r>
              <a:rPr lang="en-US" altLang="en-US" sz="1800" dirty="0">
                <a:latin typeface="+mn-lt"/>
              </a:rPr>
              <a:t>The marginal product of labor in food rises and the marginal product of</a:t>
            </a:r>
            <a:endParaRPr lang="en-US" sz="1800" dirty="0">
              <a:latin typeface="+mn-lt"/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9B6D7561-E245-46E8-990C-45DD309D4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193800" y="5258423"/>
            <a:ext cx="2359400" cy="405659"/>
          </a:xfrm>
        </p:spPr>
        <p:txBody>
          <a:bodyPr/>
          <a:lstStyle/>
          <a:p>
            <a:pPr marL="0" lvl="1" indent="0">
              <a:buNone/>
            </a:pPr>
            <a:r>
              <a:rPr lang="en-US" altLang="en-US" sz="1800" dirty="0">
                <a:latin typeface="+mn-lt"/>
              </a:rPr>
              <a:t>labor in cloth falls, so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46" name="Object 45" descr="Start fraction M P L sub F over M P L sub C end fraction">
            <a:extLst>
              <a:ext uri="{FF2B5EF4-FFF2-40B4-BE49-F238E27FC236}">
                <a16:creationId xmlns:a16="http://schemas.microsoft.com/office/drawing/2014/main" id="{FF2E9D44-B30B-4A4C-8FE7-F6297C5A5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118399"/>
              </p:ext>
            </p:extLst>
          </p:nvPr>
        </p:nvGraphicFramePr>
        <p:xfrm>
          <a:off x="3610352" y="5258423"/>
          <a:ext cx="608284" cy="5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09265" imgH="765015" progId="Equation.DSMT4">
                  <p:embed/>
                </p:oleObj>
              </mc:Choice>
              <mc:Fallback>
                <p:oleObj name="Equation" r:id="rId9" imgW="809265" imgH="7650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10352" y="5258423"/>
                        <a:ext cx="608284" cy="57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F8DFA1F7-B22C-4BEC-B0D0-CA73B23731D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97185" y="5258423"/>
            <a:ext cx="851340" cy="39600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en-US" sz="1800" dirty="0">
                <a:latin typeface="+mn-lt"/>
              </a:rPr>
              <a:t>rises.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780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(1 of 10)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15DEE-E860-4244-AF78-8DC1277182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3498752"/>
          </a:xfrm>
        </p:spPr>
        <p:txBody>
          <a:bodyPr/>
          <a:lstStyle/>
          <a:p>
            <a:r>
              <a:rPr lang="en-US" altLang="en-US" sz="2400" dirty="0"/>
              <a:t>How much labor is employed in each sector?</a:t>
            </a:r>
          </a:p>
          <a:p>
            <a:pPr lvl="1"/>
            <a:r>
              <a:rPr lang="en-US" altLang="en-US" sz="2400" dirty="0"/>
              <a:t>Need to look at supply and demand in the labor market.</a:t>
            </a:r>
          </a:p>
          <a:p>
            <a:r>
              <a:rPr lang="en-US" altLang="en-US" sz="2400" dirty="0"/>
              <a:t>Demand for labor:</a:t>
            </a:r>
          </a:p>
          <a:p>
            <a:pPr lvl="1"/>
            <a:r>
              <a:rPr lang="en-US" altLang="en-US" sz="2400" dirty="0"/>
              <a:t>In each sector, employers will maximize profits by demanding labor up to the point where the value produced by an additional hour equals the marginal cost of employing a worker for that hour.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4234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(2 of 10)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AC151B-93D1-4AA2-8C85-935C1C0829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504000"/>
          </a:xfrm>
        </p:spPr>
        <p:txBody>
          <a:bodyPr/>
          <a:lstStyle/>
          <a:p>
            <a:r>
              <a:rPr lang="en-US" altLang="en-US" sz="2400" dirty="0"/>
              <a:t>The demand curve for labor in the cloth sector:</a:t>
            </a:r>
            <a:endParaRPr lang="en-IN" sz="2400" dirty="0"/>
          </a:p>
        </p:txBody>
      </p:sp>
      <p:graphicFrame>
        <p:nvGraphicFramePr>
          <p:cNvPr id="8" name="Object 7" descr="M P L sub C times P sub C = W ">
            <a:extLst>
              <a:ext uri="{FF2B5EF4-FFF2-40B4-BE49-F238E27FC236}">
                <a16:creationId xmlns:a16="http://schemas.microsoft.com/office/drawing/2014/main" id="{9A94AB26-B05C-491E-8308-E134A10DD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476258"/>
              </p:ext>
            </p:extLst>
          </p:nvPr>
        </p:nvGraphicFramePr>
        <p:xfrm>
          <a:off x="3569493" y="2251751"/>
          <a:ext cx="20050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4272" imgH="445237" progId="Equation.DSMT4">
                  <p:embed/>
                </p:oleObj>
              </mc:Choice>
              <mc:Fallback>
                <p:oleObj name="Equation" r:id="rId3" imgW="2004272" imgH="4452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9493" y="2251751"/>
                        <a:ext cx="2005013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ED2F-FA1B-4FEF-BF48-EA61FA20C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806523"/>
            <a:ext cx="8229600" cy="882074"/>
          </a:xfrm>
        </p:spPr>
        <p:txBody>
          <a:bodyPr/>
          <a:lstStyle/>
          <a:p>
            <a:pPr lvl="1"/>
            <a:r>
              <a:rPr lang="en-US" altLang="en-US" dirty="0"/>
              <a:t>The wage equals the value of the marginal product of labor in manufacturing.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3432CC-2109-4745-9708-F3574D3568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3817795"/>
            <a:ext cx="8229600" cy="504498"/>
          </a:xfrm>
        </p:spPr>
        <p:txBody>
          <a:bodyPr/>
          <a:lstStyle/>
          <a:p>
            <a:pPr indent="-255600"/>
            <a:r>
              <a:rPr lang="en-US" altLang="en-US" sz="2400" dirty="0">
                <a:latin typeface="+mn-lt"/>
              </a:rPr>
              <a:t>The demand curve for labor in the food sector:</a:t>
            </a:r>
            <a:endParaRPr lang="en-US" sz="2400" dirty="0">
              <a:latin typeface="+mn-lt"/>
            </a:endParaRPr>
          </a:p>
        </p:txBody>
      </p:sp>
      <p:graphicFrame>
        <p:nvGraphicFramePr>
          <p:cNvPr id="9" name="Object 8" descr="M P L sub F times P sub F = W">
            <a:extLst>
              <a:ext uri="{FF2B5EF4-FFF2-40B4-BE49-F238E27FC236}">
                <a16:creationId xmlns:a16="http://schemas.microsoft.com/office/drawing/2014/main" id="{EDF1E3C6-04AF-4474-B1DF-939782AEF6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32625"/>
              </p:ext>
            </p:extLst>
          </p:nvPr>
        </p:nvGraphicFramePr>
        <p:xfrm>
          <a:off x="3569494" y="4430626"/>
          <a:ext cx="20050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4272" imgH="445237" progId="Equation.DSMT4">
                  <p:embed/>
                </p:oleObj>
              </mc:Choice>
              <mc:Fallback>
                <p:oleObj name="Equation" r:id="rId5" imgW="2004272" imgH="4452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9494" y="4430626"/>
                        <a:ext cx="2005013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3A06DF-608B-4B43-A068-395AC58B039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4976885"/>
            <a:ext cx="8229600" cy="864000"/>
          </a:xfrm>
        </p:spPr>
        <p:txBody>
          <a:bodyPr/>
          <a:lstStyle/>
          <a:p>
            <a:pPr lvl="1" indent="-284400"/>
            <a:r>
              <a:rPr lang="en-US" altLang="en-US" sz="2400" dirty="0">
                <a:latin typeface="+mn-lt"/>
              </a:rPr>
              <a:t>The wage equals the value of the marginal product of labor in food.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6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(3 of 10)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AC151B-93D1-4AA2-8C85-935C1C0829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504000"/>
          </a:xfrm>
        </p:spPr>
        <p:txBody>
          <a:bodyPr/>
          <a:lstStyle/>
          <a:p>
            <a:r>
              <a:rPr lang="en-US" altLang="en-US" sz="2400" dirty="0"/>
              <a:t>Figure 4.4 represents labor demand in the two sectors.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ED2F-FA1B-4FEF-BF48-EA61FA20C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275275"/>
            <a:ext cx="6148552" cy="504000"/>
          </a:xfrm>
        </p:spPr>
        <p:txBody>
          <a:bodyPr/>
          <a:lstStyle/>
          <a:p>
            <a:r>
              <a:rPr lang="en-US" altLang="en-US" sz="2400" dirty="0"/>
              <a:t>The demand for labor in the cloth sector is</a:t>
            </a:r>
            <a:endParaRPr lang="en-IN" sz="2400" i="1" baseline="-25000" dirty="0"/>
          </a:p>
        </p:txBody>
      </p:sp>
      <p:graphicFrame>
        <p:nvGraphicFramePr>
          <p:cNvPr id="4" name="Object 3" descr="M P L sub C">
            <a:extLst>
              <a:ext uri="{FF2B5EF4-FFF2-40B4-BE49-F238E27FC236}">
                <a16:creationId xmlns:a16="http://schemas.microsoft.com/office/drawing/2014/main" id="{7D16A474-3BE9-4204-B26E-B30A239D5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139029"/>
              </p:ext>
            </p:extLst>
          </p:nvPr>
        </p:nvGraphicFramePr>
        <p:xfrm>
          <a:off x="6728575" y="2388362"/>
          <a:ext cx="797394" cy="43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99224" imgH="487778" progId="Equation.DSMT4">
                  <p:embed/>
                </p:oleObj>
              </mc:Choice>
              <mc:Fallback>
                <p:oleObj name="Equation" r:id="rId3" imgW="899224" imgH="4877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28575" y="2388362"/>
                        <a:ext cx="797394" cy="432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3432CC-2109-4745-9708-F3574D3568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1066" y="2847180"/>
            <a:ext cx="4320000" cy="503999"/>
          </a:xfrm>
        </p:spPr>
        <p:txBody>
          <a:bodyPr/>
          <a:lstStyle/>
          <a:p>
            <a:pPr marL="255600" indent="0">
              <a:buNone/>
            </a:pPr>
            <a:r>
              <a:rPr lang="en-US" altLang="en-US" sz="2400" dirty="0"/>
              <a:t>from Figure 4.2 multiplied by</a:t>
            </a:r>
            <a:endParaRPr lang="en-US" sz="2400" dirty="0">
              <a:latin typeface="+mn-lt"/>
            </a:endParaRPr>
          </a:p>
        </p:txBody>
      </p:sp>
      <p:graphicFrame>
        <p:nvGraphicFramePr>
          <p:cNvPr id="10" name="Object 9" descr="P sub C ">
            <a:extLst>
              <a:ext uri="{FF2B5EF4-FFF2-40B4-BE49-F238E27FC236}">
                <a16:creationId xmlns:a16="http://schemas.microsoft.com/office/drawing/2014/main" id="{1FA008FD-E53E-4D95-8B61-51D9A333B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611427"/>
              </p:ext>
            </p:extLst>
          </p:nvPr>
        </p:nvGraphicFramePr>
        <p:xfrm>
          <a:off x="4964896" y="2945548"/>
          <a:ext cx="369381" cy="44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4068" imgH="652534" progId="Equation.DSMT4">
                  <p:embed/>
                </p:oleObj>
              </mc:Choice>
              <mc:Fallback>
                <p:oleObj name="Equation" r:id="rId5" imgW="544068" imgH="65253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4896" y="2945548"/>
                        <a:ext cx="369381" cy="44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3A06DF-608B-4B43-A068-395AC58B039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552899"/>
            <a:ext cx="8229600" cy="1441364"/>
          </a:xfrm>
        </p:spPr>
        <p:txBody>
          <a:bodyPr/>
          <a:lstStyle/>
          <a:p>
            <a:pPr indent="-255600"/>
            <a:r>
              <a:rPr lang="en-US" altLang="en-US" sz="2400" dirty="0"/>
              <a:t>The demand for labor in the food sector is measured from the right.</a:t>
            </a:r>
          </a:p>
          <a:p>
            <a:pPr indent="-255600"/>
            <a:r>
              <a:rPr lang="en-US" altLang="en-US" sz="2400" dirty="0"/>
              <a:t>The horizontal axis represents the total labor supply </a:t>
            </a:r>
            <a:r>
              <a:rPr lang="en-US" altLang="en-US" sz="2400" i="1" dirty="0"/>
              <a:t>L</a:t>
            </a:r>
            <a:r>
              <a:rPr lang="en-US" alt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3271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(4 of 10)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15DEE-E860-4244-AF78-8DC1277182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6"/>
            <a:ext cx="8229600" cy="4466101"/>
          </a:xfrm>
        </p:spPr>
        <p:txBody>
          <a:bodyPr/>
          <a:lstStyle/>
          <a:p>
            <a:r>
              <a:rPr lang="en-US" altLang="en-US" sz="2400" dirty="0"/>
              <a:t>The two sectors must pay the same wage because labor can move between sectors.</a:t>
            </a:r>
          </a:p>
          <a:p>
            <a:r>
              <a:rPr lang="en-US" altLang="en-US" sz="2400" dirty="0"/>
              <a:t>If the wage were higher in the cloth sector, workers would move from making food to making cloth until the wages become equal.</a:t>
            </a:r>
          </a:p>
          <a:p>
            <a:pPr lvl="1"/>
            <a:r>
              <a:rPr lang="en-US" altLang="en-US" sz="2400" dirty="0"/>
              <a:t>Or if the wage were higher in the food sector, workers would move in the other direction.</a:t>
            </a:r>
          </a:p>
          <a:p>
            <a:r>
              <a:rPr lang="en-US" altLang="en-US" sz="2400" dirty="0"/>
              <a:t>Where the labor demand curves intersect gives the equilibrium wage and allocation of labor between the two sectors.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351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Figure 4.4 The Allocation of Labor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Content Placeholder 10" descr="A graph plots the value of labor’s marginal product, wage rate, versus total labor supply, L. For long description in Notes pane, press F6.">
            <a:extLst>
              <a:ext uri="{FF2B5EF4-FFF2-40B4-BE49-F238E27FC236}">
                <a16:creationId xmlns:a16="http://schemas.microsoft.com/office/drawing/2014/main" id="{16D75FC2-7B43-4F67-888C-DDDF193143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864278" y="1702412"/>
            <a:ext cx="3415444" cy="3346525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630E4-72DC-47EE-8A9D-0327F26896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5171712"/>
            <a:ext cx="6696000" cy="360000"/>
          </a:xfrm>
        </p:spPr>
        <p:txBody>
          <a:bodyPr tIns="0"/>
          <a:lstStyle/>
          <a:p>
            <a:pPr marL="432" indent="0">
              <a:buNone/>
            </a:pPr>
            <a:r>
              <a:rPr lang="en-US" sz="2000" dirty="0"/>
              <a:t>Labor is allocated so that the value of its marginal product</a:t>
            </a:r>
          </a:p>
        </p:txBody>
      </p:sp>
      <p:graphicFrame>
        <p:nvGraphicFramePr>
          <p:cNvPr id="9" name="Object 8" descr="left parenthesis P times M P L right parenthesis ">
            <a:extLst>
              <a:ext uri="{FF2B5EF4-FFF2-40B4-BE49-F238E27FC236}">
                <a16:creationId xmlns:a16="http://schemas.microsoft.com/office/drawing/2014/main" id="{D9342F50-EB11-4E28-9A38-64BF0AA47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487023"/>
              </p:ext>
            </p:extLst>
          </p:nvPr>
        </p:nvGraphicFramePr>
        <p:xfrm>
          <a:off x="7246314" y="5177484"/>
          <a:ext cx="1138256" cy="344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46631" imgH="527435" progId="Equation.DSMT4">
                  <p:embed/>
                </p:oleObj>
              </mc:Choice>
              <mc:Fallback>
                <p:oleObj name="Equation" r:id="rId4" imgW="1746631" imgH="5274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46314" y="5177484"/>
                        <a:ext cx="1138256" cy="344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1602D5-3B7F-497B-8434-1CCDD51404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198" y="5626832"/>
            <a:ext cx="8229601" cy="674179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/>
              <a:t>is the same in the cloth and food sectors. In equilibrium, the wage rate is equal to the value of labor’s marginal product.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8829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(5 of 10)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15DEE-E860-4244-AF78-8DC1277182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119241" cy="1872674"/>
          </a:xfrm>
        </p:spPr>
        <p:txBody>
          <a:bodyPr/>
          <a:lstStyle/>
          <a:p>
            <a:r>
              <a:rPr lang="en-US" altLang="en-US" sz="2400" dirty="0"/>
              <a:t>At the production point, the production possibility frontier must be tangent to a line whose slope is minus the price of cloth divided by that of food.</a:t>
            </a:r>
          </a:p>
          <a:p>
            <a:r>
              <a:rPr lang="en-US" altLang="en-US" sz="2400" dirty="0"/>
              <a:t>Relationship between relative prices and output:</a:t>
            </a:r>
          </a:p>
        </p:txBody>
      </p:sp>
      <p:graphicFrame>
        <p:nvGraphicFramePr>
          <p:cNvPr id="2" name="Object 1" descr="negative start fraction M P L sub F over M P L sub C end fraction = negative start fraction P sub C over P sub F end fraction">
            <a:extLst>
              <a:ext uri="{FF2B5EF4-FFF2-40B4-BE49-F238E27FC236}">
                <a16:creationId xmlns:a16="http://schemas.microsoft.com/office/drawing/2014/main" id="{9AFA0AD3-C91A-4361-92A1-5F60EBEC2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855448"/>
              </p:ext>
            </p:extLst>
          </p:nvPr>
        </p:nvGraphicFramePr>
        <p:xfrm>
          <a:off x="3569494" y="3810275"/>
          <a:ext cx="2005013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4272" imgH="842887" progId="Equation.DSMT4">
                  <p:embed/>
                </p:oleObj>
              </mc:Choice>
              <mc:Fallback>
                <p:oleObj name="Equation" r:id="rId3" imgW="2004272" imgH="84288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9494" y="3810275"/>
                        <a:ext cx="2005013" cy="842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1322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4.5 Production in the Specific Factors Model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10" name="Content Placeholder 9" descr="A graph of the production possibility frontier plots the output of food, Q sub F, versus the output of cloth, Q sub C. For long description in Notes pane, press F6.">
            <a:extLst>
              <a:ext uri="{FF2B5EF4-FFF2-40B4-BE49-F238E27FC236}">
                <a16:creationId xmlns:a16="http://schemas.microsoft.com/office/drawing/2014/main" id="{4BF05B26-4C94-4442-AF70-5D9E280136D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983912" y="1735583"/>
            <a:ext cx="3176176" cy="317617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5015229"/>
            <a:ext cx="8229600" cy="1283709"/>
          </a:xfrm>
        </p:spPr>
        <p:txBody>
          <a:bodyPr/>
          <a:lstStyle/>
          <a:p>
            <a:pPr marL="432" indent="0">
              <a:buNone/>
            </a:pPr>
            <a:r>
              <a:rPr lang="en-US" sz="2400" dirty="0"/>
              <a:t>The economy produces at the point on its production possibility frontier (</a:t>
            </a:r>
            <a:r>
              <a:rPr lang="en-US" sz="2400" i="1" dirty="0"/>
              <a:t>P</a:t>
            </a:r>
            <a:r>
              <a:rPr lang="en-US" sz="100" i="1" dirty="0"/>
              <a:t> </a:t>
            </a:r>
            <a:r>
              <a:rPr lang="en-US" sz="2400" i="1" dirty="0"/>
              <a:t>P</a:t>
            </a:r>
            <a:r>
              <a:rPr lang="en-US" sz="2400" dirty="0"/>
              <a:t>) where the slope of that frontier equals minus the relative price of cloth.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34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(6 of 10)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427156" cy="1435229"/>
          </a:xfrm>
        </p:spPr>
        <p:txBody>
          <a:bodyPr/>
          <a:lstStyle/>
          <a:p>
            <a:pPr marL="255600" indent="-255600"/>
            <a:r>
              <a:rPr lang="en-US" altLang="en-US" sz="2400" dirty="0"/>
              <a:t>What happens to the allocation of labor and the distribution of income when the prices of food and cloth change?</a:t>
            </a:r>
          </a:p>
          <a:p>
            <a:pPr marL="255600" indent="-255600"/>
            <a:r>
              <a:rPr lang="en-US" altLang="en-US" sz="2400" dirty="0"/>
              <a:t>Two cases:</a:t>
            </a:r>
            <a:endParaRPr lang="en-IN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C1AAC8-9485-48F7-B3C4-81380CC65A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094708"/>
            <a:ext cx="8229600" cy="1097280"/>
          </a:xfrm>
        </p:spPr>
        <p:txBody>
          <a:bodyPr/>
          <a:lstStyle/>
          <a:p>
            <a:pPr marL="741600" lvl="1" indent="-429768">
              <a:buFont typeface="Times" pitchFamily="-1" charset="0"/>
              <a:buAutoNum type="arabicPeriod"/>
            </a:pPr>
            <a:r>
              <a:rPr lang="en-US" altLang="en-US" dirty="0"/>
              <a:t>An equal proportional change in prices</a:t>
            </a:r>
          </a:p>
          <a:p>
            <a:pPr marL="741600" lvl="1" indent="-429768">
              <a:buFont typeface="Times" pitchFamily="-1" charset="0"/>
              <a:buAutoNum type="arabicPeriod"/>
            </a:pPr>
            <a:r>
              <a:rPr lang="en-US" altLang="en-US" sz="2400" dirty="0"/>
              <a:t>A change in relative prices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26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(7 of 10)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47968"/>
            <a:ext cx="8229600" cy="3068690"/>
          </a:xfrm>
        </p:spPr>
        <p:txBody>
          <a:bodyPr/>
          <a:lstStyle/>
          <a:p>
            <a:r>
              <a:rPr lang="en-US" altLang="en-US" sz="2400" dirty="0"/>
              <a:t>When both prices change in the same proportion, no real changes occur.</a:t>
            </a:r>
          </a:p>
          <a:p>
            <a:pPr lvl="1"/>
            <a:r>
              <a:rPr lang="en-US" altLang="en-US" sz="2400" dirty="0"/>
              <a:t>The wage rate (</a:t>
            </a:r>
            <a:r>
              <a:rPr lang="en-US" altLang="en-US" sz="2400" i="1" dirty="0"/>
              <a:t>w</a:t>
            </a:r>
            <a:r>
              <a:rPr lang="en-US" altLang="en-US" sz="2400" dirty="0"/>
              <a:t>) rises in the same proportion as the prices, so real wages (i.e., the ratios of the wage rate to the prices of goods) are unaffected. </a:t>
            </a:r>
          </a:p>
          <a:p>
            <a:pPr lvl="1"/>
            <a:r>
              <a:rPr lang="en-US" altLang="en-US" sz="2400" dirty="0"/>
              <a:t>The real incomes of capital owners and landowners also remain the same.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65173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4.6 An Equal-Proportional Increase in the Prices of Cloth and Food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17" name="Content Placeholder 16" descr="The labor demand curves for both cloth and food are plotted at two different wage rates. For long description in Notes pane, press F6.">
            <a:extLst>
              <a:ext uri="{FF2B5EF4-FFF2-40B4-BE49-F238E27FC236}">
                <a16:creationId xmlns:a16="http://schemas.microsoft.com/office/drawing/2014/main" id="{86421E3A-F1AB-4610-B9C9-16E328E3D0D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075034" y="1604288"/>
            <a:ext cx="2993933" cy="2858529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33" y="4566736"/>
            <a:ext cx="8229600" cy="348164"/>
          </a:xfrm>
        </p:spPr>
        <p:txBody>
          <a:bodyPr tIns="0"/>
          <a:lstStyle/>
          <a:p>
            <a:pPr marL="432" indent="0">
              <a:buNone/>
            </a:pPr>
            <a:r>
              <a:rPr lang="en-US" sz="2000" dirty="0"/>
              <a:t>The labor demand curves in cloth and food both shift up in proportion to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0322-6399-4917-879F-C71C17239E1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199" y="4970230"/>
            <a:ext cx="1332000" cy="432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the rise in</a:t>
            </a:r>
          </a:p>
        </p:txBody>
      </p:sp>
      <p:graphicFrame>
        <p:nvGraphicFramePr>
          <p:cNvPr id="15" name="Object 14" descr="P sub C from P to the first power sub C to P squared sub C ">
            <a:extLst>
              <a:ext uri="{FF2B5EF4-FFF2-40B4-BE49-F238E27FC236}">
                <a16:creationId xmlns:a16="http://schemas.microsoft.com/office/drawing/2014/main" id="{63EB5D65-226F-492E-99D5-2BDAD43DC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69340"/>
              </p:ext>
            </p:extLst>
          </p:nvPr>
        </p:nvGraphicFramePr>
        <p:xfrm>
          <a:off x="1878761" y="5035541"/>
          <a:ext cx="2015792" cy="39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2389" imgH="426851" progId="Equation.DSMT4">
                  <p:embed/>
                </p:oleObj>
              </mc:Choice>
              <mc:Fallback>
                <p:oleObj name="Equation" r:id="rId4" imgW="2182389" imgH="426851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73EF8C8-67A8-4DA6-8739-70B5725A4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78761" y="5035541"/>
                        <a:ext cx="2015792" cy="3943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1AE04-1AE3-4F85-AFB8-5D6EBABFA8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26019" y="5051336"/>
            <a:ext cx="1800000" cy="358864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and the rise in</a:t>
            </a:r>
          </a:p>
        </p:txBody>
      </p:sp>
      <p:graphicFrame>
        <p:nvGraphicFramePr>
          <p:cNvPr id="14" name="Object 13" descr="P sub F from P to the first power sub F to P squared sub F.">
            <a:extLst>
              <a:ext uri="{FF2B5EF4-FFF2-40B4-BE49-F238E27FC236}">
                <a16:creationId xmlns:a16="http://schemas.microsoft.com/office/drawing/2014/main" id="{473EF8C8-67A8-4DA6-8739-70B5725A4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331271"/>
              </p:ext>
            </p:extLst>
          </p:nvPr>
        </p:nvGraphicFramePr>
        <p:xfrm>
          <a:off x="5931501" y="5048943"/>
          <a:ext cx="1859407" cy="35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41200" progId="Equation.DSMT4">
                  <p:embed/>
                </p:oleObj>
              </mc:Choice>
              <mc:Fallback>
                <p:oleObj name="Equation" r:id="rId6" imgW="1269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31501" y="5048943"/>
                        <a:ext cx="1859407" cy="353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F61FF-918B-4D4E-9F92-2B3B13C22EA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198" y="5515395"/>
            <a:ext cx="5676901" cy="360000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The wage rate rises in the same proportion, from</a:t>
            </a:r>
            <a:endParaRPr lang="en-IN" sz="2000" dirty="0">
              <a:latin typeface="+mn-lt"/>
            </a:endParaRPr>
          </a:p>
        </p:txBody>
      </p:sp>
      <p:graphicFrame>
        <p:nvGraphicFramePr>
          <p:cNvPr id="13" name="Object 12" descr="W to the first power to W squared ">
            <a:extLst>
              <a:ext uri="{FF2B5EF4-FFF2-40B4-BE49-F238E27FC236}">
                <a16:creationId xmlns:a16="http://schemas.microsoft.com/office/drawing/2014/main" id="{21F42683-4CCB-4704-86F6-E4B04D724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724861"/>
              </p:ext>
            </p:extLst>
          </p:nvPr>
        </p:nvGraphicFramePr>
        <p:xfrm>
          <a:off x="6239311" y="5490220"/>
          <a:ext cx="1086589" cy="39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542" imgH="491023" progId="Equation.DSMT4">
                  <p:embed/>
                </p:oleObj>
              </mc:Choice>
              <mc:Fallback>
                <p:oleObj name="Equation" r:id="rId8" imgW="1333542" imgH="4910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39311" y="5490220"/>
                        <a:ext cx="1086589" cy="399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B2677B-E12B-4CC8-A0C2-D499D75C7F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5955864"/>
            <a:ext cx="8100000" cy="360000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but the allocation of labor between the two sectors does not change.</a:t>
            </a:r>
          </a:p>
        </p:txBody>
      </p:sp>
    </p:spTree>
    <p:extLst>
      <p:ext uri="{BB962C8B-B14F-4D97-AF65-F5344CB8AC3E}">
        <p14:creationId xmlns:p14="http://schemas.microsoft.com/office/powerpoint/2010/main" val="195829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(8 of 10)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4D47A9-799D-4C50-908F-4C85C69F04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74722"/>
            <a:ext cx="1919288" cy="504000"/>
          </a:xfrm>
        </p:spPr>
        <p:txBody>
          <a:bodyPr/>
          <a:lstStyle/>
          <a:p>
            <a:r>
              <a:rPr lang="en-US" altLang="en-US" sz="2400" dirty="0"/>
              <a:t>When only</a:t>
            </a:r>
            <a:endParaRPr lang="en-US" dirty="0"/>
          </a:p>
        </p:txBody>
      </p:sp>
      <p:graphicFrame>
        <p:nvGraphicFramePr>
          <p:cNvPr id="11" name="Object 10" descr="P sub C ">
            <a:extLst>
              <a:ext uri="{FF2B5EF4-FFF2-40B4-BE49-F238E27FC236}">
                <a16:creationId xmlns:a16="http://schemas.microsoft.com/office/drawing/2014/main" id="{FA3CD77D-C93F-4129-8997-BC5518F17B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220012"/>
              </p:ext>
            </p:extLst>
          </p:nvPr>
        </p:nvGraphicFramePr>
        <p:xfrm>
          <a:off x="2444150" y="1652832"/>
          <a:ext cx="384689" cy="461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4150" y="1652832"/>
                        <a:ext cx="384689" cy="461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56430" y="1677574"/>
            <a:ext cx="5328248" cy="427037"/>
          </a:xfrm>
        </p:spPr>
        <p:txBody>
          <a:bodyPr tIns="0"/>
          <a:lstStyle/>
          <a:p>
            <a:pPr marL="432" indent="0">
              <a:buNone/>
            </a:pPr>
            <a:r>
              <a:rPr lang="en-US" altLang="en-US" dirty="0"/>
              <a:t>rises, labor shifts from the food sector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0322-6399-4917-879F-C71C17239E1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193256"/>
            <a:ext cx="8229603" cy="797594"/>
          </a:xfrm>
        </p:spPr>
        <p:txBody>
          <a:bodyPr tIns="0"/>
          <a:lstStyle/>
          <a:p>
            <a:pPr marL="255600" indent="0">
              <a:buNone/>
            </a:pPr>
            <a:r>
              <a:rPr lang="en-US" altLang="en-US" sz="2400" dirty="0">
                <a:latin typeface="+mn-lt"/>
              </a:rPr>
              <a:t>to the cloth sector and the output of cloth rises while that of food falls.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1AE04-1AE3-4F85-AFB8-5D6EBABFA8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048208"/>
            <a:ext cx="6400802" cy="415942"/>
          </a:xfrm>
        </p:spPr>
        <p:txBody>
          <a:bodyPr tIns="0"/>
          <a:lstStyle/>
          <a:p>
            <a:pPr indent="-255600"/>
            <a:r>
              <a:rPr lang="en-US" altLang="en-US" sz="2400" dirty="0">
                <a:latin typeface="+mn-lt"/>
              </a:rPr>
              <a:t>The wage rate (</a:t>
            </a:r>
            <a:r>
              <a:rPr lang="en-US" altLang="en-US" sz="2400" i="1" dirty="0">
                <a:latin typeface="+mn-lt"/>
              </a:rPr>
              <a:t>w</a:t>
            </a:r>
            <a:r>
              <a:rPr lang="en-US" altLang="en-US" sz="2400" dirty="0">
                <a:latin typeface="+mn-lt"/>
              </a:rPr>
              <a:t>) does not rise as much as</a:t>
            </a:r>
          </a:p>
        </p:txBody>
      </p:sp>
      <p:graphicFrame>
        <p:nvGraphicFramePr>
          <p:cNvPr id="15" name="Object 14" descr="P sub C ">
            <a:extLst>
              <a:ext uri="{FF2B5EF4-FFF2-40B4-BE49-F238E27FC236}">
                <a16:creationId xmlns:a16="http://schemas.microsoft.com/office/drawing/2014/main" id="{63EB5D65-226F-492E-99D5-2BDAD43DC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572262"/>
              </p:ext>
            </p:extLst>
          </p:nvPr>
        </p:nvGraphicFramePr>
        <p:xfrm>
          <a:off x="6972089" y="3044322"/>
          <a:ext cx="367555" cy="441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63EB5D65-226F-492E-99D5-2BDAD43DC0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72089" y="3044322"/>
                        <a:ext cx="367555" cy="441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F61FF-918B-4D4E-9F92-2B3B13C22EA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4292" y="3069240"/>
            <a:ext cx="938508" cy="391509"/>
          </a:xfrm>
        </p:spPr>
        <p:txBody>
          <a:bodyPr tIns="0"/>
          <a:lstStyle/>
          <a:p>
            <a:pPr marL="0" indent="0">
              <a:buNone/>
            </a:pPr>
            <a:r>
              <a:rPr lang="en-US" altLang="en-US" sz="2400" dirty="0">
                <a:latin typeface="+mn-lt"/>
              </a:rPr>
              <a:t>since</a:t>
            </a:r>
            <a:endParaRPr lang="en-IN" sz="2400" dirty="0"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B2677B-E12B-4CC8-A0C2-D499D75C7F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3557539"/>
            <a:ext cx="8229603" cy="808681"/>
          </a:xfrm>
        </p:spPr>
        <p:txBody>
          <a:bodyPr tIns="0"/>
          <a:lstStyle/>
          <a:p>
            <a:pPr marL="255600" indent="0">
              <a:buNone/>
            </a:pPr>
            <a:r>
              <a:rPr lang="en-US" altLang="en-US" sz="2400" dirty="0">
                <a:latin typeface="+mn-lt"/>
              </a:rPr>
              <a:t>cloth employment increases and thus the marginal product of labor in that sector falls.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208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Figure 4.7 A Rise in the Price of Cloth</a:t>
            </a:r>
            <a:endParaRPr lang="en-IN" sz="3400" dirty="0">
              <a:solidFill>
                <a:schemeClr val="tx1"/>
              </a:solidFill>
            </a:endParaRPr>
          </a:p>
        </p:txBody>
      </p:sp>
      <p:pic>
        <p:nvPicPr>
          <p:cNvPr id="13" name="Content Placeholder 12" descr="A graph plots wage rate, w, versus labor, which divides into 2 equal parts, labor used in cloth or L sub C, and labor used in food or L sub F. For long description in Notes pane, press F6.">
            <a:extLst>
              <a:ext uri="{FF2B5EF4-FFF2-40B4-BE49-F238E27FC236}">
                <a16:creationId xmlns:a16="http://schemas.microsoft.com/office/drawing/2014/main" id="{7EBB5D0F-4095-4D3E-B6ED-8337BD05AC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102835" y="1662338"/>
            <a:ext cx="4952730" cy="298132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759507"/>
            <a:ext cx="8229600" cy="360000"/>
          </a:xfrm>
        </p:spPr>
        <p:txBody>
          <a:bodyPr tIns="0"/>
          <a:lstStyle/>
          <a:p>
            <a:pPr marL="432" indent="0">
              <a:buNone/>
            </a:pPr>
            <a:r>
              <a:rPr lang="en-US" sz="2000" dirty="0"/>
              <a:t>The cloth labor demand curve rises in proportion to the 7 percent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DC74-5A29-4A35-B6DB-5CC6D93790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5213339"/>
            <a:ext cx="1440000" cy="360000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increase in</a:t>
            </a:r>
          </a:p>
        </p:txBody>
      </p:sp>
      <p:graphicFrame>
        <p:nvGraphicFramePr>
          <p:cNvPr id="9" name="Object 8" descr="P sub C,">
            <a:extLst>
              <a:ext uri="{FF2B5EF4-FFF2-40B4-BE49-F238E27FC236}">
                <a16:creationId xmlns:a16="http://schemas.microsoft.com/office/drawing/2014/main" id="{C553718A-FBAB-46DC-98E7-7B45F51535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917243"/>
              </p:ext>
            </p:extLst>
          </p:nvPr>
        </p:nvGraphicFramePr>
        <p:xfrm>
          <a:off x="2011363" y="5201173"/>
          <a:ext cx="4222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28600" progId="Equation.DSMT4">
                  <p:embed/>
                </p:oleObj>
              </mc:Choice>
              <mc:Fallback>
                <p:oleObj name="Equation" r:id="rId4" imgW="241200" imgH="2286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63EB5D65-226F-492E-99D5-2BDAD43DC0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1363" y="5201173"/>
                        <a:ext cx="42227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ABB66-4B72-403E-A91A-A6476F59DB8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46562" y="5233878"/>
            <a:ext cx="5652000" cy="339461"/>
          </a:xfrm>
        </p:spPr>
        <p:txBody>
          <a:bodyPr lIns="0"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but the wage rate rises less than proportionately.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FC5644-0EC5-412D-A7A0-B31E478B96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5710637"/>
            <a:ext cx="7741362" cy="648000"/>
          </a:xfrm>
        </p:spPr>
        <p:txBody>
          <a:bodyPr lIns="90000"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Labor moves from the food sector to the cloth sector. Output of cloth rises; output of food falls.</a:t>
            </a:r>
          </a:p>
        </p:txBody>
      </p:sp>
    </p:spTree>
    <p:extLst>
      <p:ext uri="{BB962C8B-B14F-4D97-AF65-F5344CB8AC3E}">
        <p14:creationId xmlns:p14="http://schemas.microsoft.com/office/powerpoint/2010/main" val="1677840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4.8 The Response of Output to a Change in the Relative Price of Cloth</a:t>
            </a:r>
            <a:endParaRPr lang="en-IN" sz="3400" dirty="0">
              <a:solidFill>
                <a:schemeClr val="tx1"/>
              </a:solidFill>
            </a:endParaRPr>
          </a:p>
        </p:txBody>
      </p:sp>
      <p:pic>
        <p:nvPicPr>
          <p:cNvPr id="11" name="Content Placeholder 10" descr="A graph plots output of food versus the output of cloth. For long description in Notes pane, press F6.">
            <a:extLst>
              <a:ext uri="{FF2B5EF4-FFF2-40B4-BE49-F238E27FC236}">
                <a16:creationId xmlns:a16="http://schemas.microsoft.com/office/drawing/2014/main" id="{E6ACB501-A1FA-4733-9F17-8B76218AAE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142419" y="1711644"/>
            <a:ext cx="2873449" cy="2609067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444807"/>
            <a:ext cx="8244000" cy="647999"/>
          </a:xfrm>
        </p:spPr>
        <p:txBody>
          <a:bodyPr tIns="0"/>
          <a:lstStyle/>
          <a:p>
            <a:pPr marL="432" indent="0">
              <a:buNone/>
            </a:pPr>
            <a:r>
              <a:rPr lang="en-US" sz="2000" dirty="0"/>
              <a:t>The economy always produces at the point on its production possibility frontier (</a:t>
            </a:r>
            <a:r>
              <a:rPr lang="en-US" sz="2000" i="1" dirty="0"/>
              <a:t>P</a:t>
            </a:r>
            <a:r>
              <a:rPr lang="en-US" sz="100" i="1" dirty="0"/>
              <a:t> </a:t>
            </a:r>
            <a:r>
              <a:rPr lang="en-US" sz="2000" i="1" dirty="0"/>
              <a:t>P</a:t>
            </a:r>
            <a:r>
              <a:rPr lang="en-US" sz="2000" dirty="0"/>
              <a:t>) where the slope of </a:t>
            </a:r>
            <a:r>
              <a:rPr lang="en-US" sz="2000" i="1" dirty="0"/>
              <a:t>P</a:t>
            </a:r>
            <a:r>
              <a:rPr lang="en-US" sz="100" i="1" dirty="0"/>
              <a:t> </a:t>
            </a:r>
            <a:r>
              <a:rPr lang="en-US" sz="2000" i="1" dirty="0"/>
              <a:t>P </a:t>
            </a:r>
            <a:r>
              <a:rPr lang="en-US" sz="2000" dirty="0"/>
              <a:t>equals minus the relative price of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DC74-5A29-4A35-B6DB-5CC6D93790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5169905"/>
            <a:ext cx="3174840" cy="360000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cloth. Thus, an increase in</a:t>
            </a:r>
          </a:p>
        </p:txBody>
      </p:sp>
      <p:graphicFrame>
        <p:nvGraphicFramePr>
          <p:cNvPr id="12" name="Object 11" descr="P sub C is greater than P sub F ">
            <a:extLst>
              <a:ext uri="{FF2B5EF4-FFF2-40B4-BE49-F238E27FC236}">
                <a16:creationId xmlns:a16="http://schemas.microsoft.com/office/drawing/2014/main" id="{3182025F-186B-4249-954E-CB48B7781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534054"/>
              </p:ext>
            </p:extLst>
          </p:nvPr>
        </p:nvGraphicFramePr>
        <p:xfrm>
          <a:off x="3722382" y="5184790"/>
          <a:ext cx="791891" cy="375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5801" imgH="368808" progId="Equation.DSMT4">
                  <p:embed/>
                </p:oleObj>
              </mc:Choice>
              <mc:Fallback>
                <p:oleObj name="Equation" r:id="rId4" imgW="775801" imgH="3688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2382" y="5184790"/>
                        <a:ext cx="791891" cy="375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ABB66-4B72-403E-A91A-A6476F59DB8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23667" y="5176961"/>
            <a:ext cx="3825008" cy="351992"/>
          </a:xfrm>
        </p:spPr>
        <p:txBody>
          <a:bodyPr lIns="0"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causes production to move down</a:t>
            </a:r>
            <a:endParaRPr lang="en-IN" sz="2000" dirty="0">
              <a:latin typeface="+mn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FC5644-0EC5-412D-A7A0-B31E478B96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5613337"/>
            <a:ext cx="8229600" cy="648000"/>
          </a:xfrm>
        </p:spPr>
        <p:txBody>
          <a:bodyPr lIns="90000" tIns="0"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and to the right along the production possibility frontier corresponding to higher output of cloth and lower output of food.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5210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199" y="215371"/>
            <a:ext cx="8516319" cy="1097279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Figure 4.9 Determination of Relative Prices</a:t>
            </a:r>
            <a:endParaRPr lang="en-IN" sz="3400" dirty="0">
              <a:solidFill>
                <a:schemeClr val="tx1"/>
              </a:solidFill>
            </a:endParaRPr>
          </a:p>
        </p:txBody>
      </p:sp>
      <p:pic>
        <p:nvPicPr>
          <p:cNvPr id="10" name="Content Placeholder 9" descr="The graph plots relative price of cloth to food, P sub C over P sub F, versus the relative quantity of cloth to food, Q sub C over Q sub F. For long description in Notes pane, press F6.">
            <a:extLst>
              <a:ext uri="{FF2B5EF4-FFF2-40B4-BE49-F238E27FC236}">
                <a16:creationId xmlns:a16="http://schemas.microsoft.com/office/drawing/2014/main" id="{A17614B4-E122-4951-9358-DDF8997965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965986" y="1539649"/>
            <a:ext cx="3212029" cy="3059863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764152"/>
            <a:ext cx="7950200" cy="1598547"/>
          </a:xfrm>
        </p:spPr>
        <p:txBody>
          <a:bodyPr tIns="0"/>
          <a:lstStyle/>
          <a:p>
            <a:pPr marL="0" indent="0">
              <a:buNone/>
            </a:pPr>
            <a:r>
              <a:rPr lang="en-US" sz="2000" dirty="0"/>
              <a:t>In the specific factors model, a higher relative price of cloth will lead to an increase in the output of cloth relative to that of food. Thus, the relative supply curve </a:t>
            </a:r>
            <a:r>
              <a:rPr lang="en-US" sz="2000" i="1" dirty="0"/>
              <a:t>R</a:t>
            </a:r>
            <a:r>
              <a:rPr lang="en-US" sz="100" i="1" dirty="0"/>
              <a:t> </a:t>
            </a:r>
            <a:r>
              <a:rPr lang="en-US" sz="2000" i="1" dirty="0"/>
              <a:t>S </a:t>
            </a:r>
            <a:r>
              <a:rPr lang="en-US" sz="2000" dirty="0"/>
              <a:t>is upward sloping. Equilibrium relative quantities and prices are determined by the intersection of </a:t>
            </a:r>
            <a:r>
              <a:rPr lang="en-US" sz="2000" i="1" dirty="0"/>
              <a:t>R</a:t>
            </a:r>
            <a:r>
              <a:rPr lang="en-US" sz="100" i="1" dirty="0"/>
              <a:t> </a:t>
            </a:r>
            <a:r>
              <a:rPr lang="en-US" sz="2000" i="1" dirty="0"/>
              <a:t>S </a:t>
            </a:r>
            <a:r>
              <a:rPr lang="en-US" sz="2000" dirty="0"/>
              <a:t>with the relative demand curve </a:t>
            </a:r>
            <a:r>
              <a:rPr lang="en-US" sz="2000" i="1" dirty="0"/>
              <a:t>R</a:t>
            </a:r>
            <a:r>
              <a:rPr lang="en-US" sz="100" i="1" dirty="0"/>
              <a:t> </a:t>
            </a:r>
            <a:r>
              <a:rPr lang="en-US" sz="2000" i="1" dirty="0"/>
              <a:t>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3178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(9 of 10)</a:t>
            </a:r>
            <a:endParaRPr lang="en-IN" sz="34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E9B-A175-423F-A4A7-70A138F823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6638"/>
            <a:ext cx="8229600" cy="396000"/>
          </a:xfrm>
        </p:spPr>
        <p:txBody>
          <a:bodyPr tIns="0"/>
          <a:lstStyle/>
          <a:p>
            <a:r>
              <a:rPr lang="en-US" altLang="en-US" sz="2400" dirty="0"/>
              <a:t>Relative Prices and the Distribution of Income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4A4590-439A-46FA-8664-2E3EEC4953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158014"/>
            <a:ext cx="2752725" cy="396000"/>
          </a:xfrm>
        </p:spPr>
        <p:txBody>
          <a:bodyPr tIns="0"/>
          <a:lstStyle/>
          <a:p>
            <a:pPr lvl="1"/>
            <a:r>
              <a:rPr lang="en-US" altLang="en-US" sz="2400" dirty="0"/>
              <a:t>Suppose that</a:t>
            </a:r>
            <a:endParaRPr lang="en-US" dirty="0"/>
          </a:p>
        </p:txBody>
      </p:sp>
      <p:graphicFrame>
        <p:nvGraphicFramePr>
          <p:cNvPr id="12" name="Object 11" descr="P sub C">
            <a:extLst>
              <a:ext uri="{FF2B5EF4-FFF2-40B4-BE49-F238E27FC236}">
                <a16:creationId xmlns:a16="http://schemas.microsoft.com/office/drawing/2014/main" id="{6D185366-A2ED-4E80-B51F-AEBCDCD1C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109214"/>
              </p:ext>
            </p:extLst>
          </p:nvPr>
        </p:nvGraphicFramePr>
        <p:xfrm>
          <a:off x="3271072" y="2170640"/>
          <a:ext cx="355255" cy="426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553718A-FBAB-46DC-98E7-7B45F515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1072" y="2170640"/>
                        <a:ext cx="355255" cy="426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F544E0-A114-4D0E-974F-9A13DE00FDF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711302" y="2170643"/>
            <a:ext cx="4769758" cy="407245"/>
          </a:xfrm>
        </p:spPr>
        <p:txBody>
          <a:bodyPr tIns="0"/>
          <a:lstStyle/>
          <a:p>
            <a:pPr marL="0" lvl="1" indent="0">
              <a:buNone/>
            </a:pPr>
            <a:r>
              <a:rPr lang="en-US" altLang="en-US" sz="2400" dirty="0">
                <a:latin typeface="+mn-lt"/>
              </a:rPr>
              <a:t>increases by 10%. Then, the</a:t>
            </a:r>
            <a:endParaRPr lang="en-US" sz="2400" dirty="0"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CBAE87-6C23-452F-9A49-F23A63EC3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670590"/>
            <a:ext cx="8229600" cy="2303252"/>
          </a:xfrm>
        </p:spPr>
        <p:txBody>
          <a:bodyPr/>
          <a:lstStyle/>
          <a:p>
            <a:pPr marL="741600" lvl="1" indent="0">
              <a:buNone/>
            </a:pPr>
            <a:r>
              <a:rPr lang="en-US" altLang="en-US" sz="2400" dirty="0">
                <a:latin typeface="+mn-lt"/>
              </a:rPr>
              <a:t>wage would rise by less than 10%.</a:t>
            </a:r>
          </a:p>
          <a:p>
            <a:pPr indent="-255600"/>
            <a:r>
              <a:rPr lang="en-US" altLang="en-US" sz="2400" dirty="0">
                <a:latin typeface="+mn-lt"/>
              </a:rPr>
              <a:t>What is the economic effect of this price increase on the incomes of the following three groups?</a:t>
            </a:r>
          </a:p>
          <a:p>
            <a:pPr lvl="1" indent="-284400"/>
            <a:r>
              <a:rPr lang="en-US" altLang="en-US" sz="2400" dirty="0">
                <a:latin typeface="+mn-lt"/>
              </a:rPr>
              <a:t>Workers, owners of capital, and owners of land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304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199" y="215371"/>
            <a:ext cx="8339959" cy="1097279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Prices, Wages, and Labor Allocation </a:t>
            </a:r>
            <a:r>
              <a:rPr lang="en-US" altLang="en-US" sz="1800" b="0" dirty="0">
                <a:solidFill>
                  <a:schemeClr val="tx1"/>
                </a:solidFill>
              </a:rPr>
              <a:t>(10 of 10)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53EF8-BC60-4D9B-9FA2-282F969E79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8127"/>
            <a:ext cx="8229600" cy="3068690"/>
          </a:xfrm>
        </p:spPr>
        <p:txBody>
          <a:bodyPr/>
          <a:lstStyle/>
          <a:p>
            <a:r>
              <a:rPr lang="en-US" altLang="en-US" sz="2400" dirty="0"/>
              <a:t>Owners of capital are definitely better off.</a:t>
            </a:r>
          </a:p>
          <a:p>
            <a:r>
              <a:rPr lang="en-US" altLang="en-US" sz="2400" dirty="0"/>
              <a:t>Landowners are definitely worse off.</a:t>
            </a:r>
          </a:p>
          <a:p>
            <a:r>
              <a:rPr lang="en-US" altLang="en-US" sz="2400" dirty="0"/>
              <a:t>Workers: cannot say whether workers are better or worse off: </a:t>
            </a:r>
          </a:p>
          <a:p>
            <a:pPr lvl="1"/>
            <a:r>
              <a:rPr lang="en-US" altLang="en-US" sz="2400" dirty="0"/>
              <a:t>Depends on the relative importance of cloth and food in workers</a:t>
            </a:r>
            <a:r>
              <a:rPr lang="en-US" altLang="ja-JP" sz="2400" dirty="0"/>
              <a:t>’ consumption.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7369147"/>
      </p:ext>
    </p:extLst>
  </p:cSld>
  <p:clrMapOvr>
    <a:masterClrMapping/>
  </p:clrMapOvr>
</p:sld>
</file>

<file path=ppt/theme/theme1.xml><?xml version="1.0" encoding="utf-8"?>
<a:theme xmlns:a="http://schemas.openxmlformats.org/drawingml/2006/main" name="USH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HE_slide options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149723</TotalTime>
  <Words>3221</Words>
  <Application>Microsoft Macintosh PowerPoint</Application>
  <PresentationFormat>On-screen Show (4:3)</PresentationFormat>
  <Paragraphs>187</Paragraphs>
  <Slides>32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Verdana</vt:lpstr>
      <vt:lpstr>Aptos Display</vt:lpstr>
      <vt:lpstr>Aptos</vt:lpstr>
      <vt:lpstr>Museo Sans W01 500</vt:lpstr>
      <vt:lpstr>Arial</vt:lpstr>
      <vt:lpstr>Times New Roman</vt:lpstr>
      <vt:lpstr>Noto Sans Symbols</vt:lpstr>
      <vt:lpstr>Times</vt:lpstr>
      <vt:lpstr>USHE</vt:lpstr>
      <vt:lpstr>USHE_slide options</vt:lpstr>
      <vt:lpstr>Office Theme</vt:lpstr>
      <vt:lpstr>Equation</vt:lpstr>
      <vt:lpstr>International Economic Relations  ECON 308</vt:lpstr>
      <vt:lpstr>Learning Objectives</vt:lpstr>
      <vt:lpstr>Introduction</vt:lpstr>
      <vt:lpstr>The Specific Factors Model (1 of 4)</vt:lpstr>
      <vt:lpstr>The Specific Factors Model (2 of 4)</vt:lpstr>
      <vt:lpstr>The Specific Factors Model (3 of 4)</vt:lpstr>
      <vt:lpstr>The Specific Factors Model (4 of 4)</vt:lpstr>
      <vt:lpstr>Production Possibilities (1 of 6)</vt:lpstr>
      <vt:lpstr>Figure 4.1 The Production Function for Cloth</vt:lpstr>
      <vt:lpstr>Production Possibilities (2 of 6)</vt:lpstr>
      <vt:lpstr>Figure 4.2 The Marginal Product of Labor</vt:lpstr>
      <vt:lpstr>Production Possibilities (3 of 6)</vt:lpstr>
      <vt:lpstr>Production Possibilities (4 of 6)</vt:lpstr>
      <vt:lpstr>Figure 4.3 The Production Possibility Frontier in the Specific Factors Model</vt:lpstr>
      <vt:lpstr>Production Possibilities (5 of 6)</vt:lpstr>
      <vt:lpstr>Production Possibilities (6 of 6)</vt:lpstr>
      <vt:lpstr>Prices, Wages, and Labor Allocation (1 of 10)</vt:lpstr>
      <vt:lpstr>Prices, Wages, and Labor Allocation (2 of 10)</vt:lpstr>
      <vt:lpstr>Prices, Wages, and Labor Allocation (3 of 10)</vt:lpstr>
      <vt:lpstr>Prices, Wages, and Labor Allocation (4 of 10)</vt:lpstr>
      <vt:lpstr>Figure 4.4 The Allocation of Labor</vt:lpstr>
      <vt:lpstr>Prices, Wages, and Labor Allocation (5 of 10)</vt:lpstr>
      <vt:lpstr>Figure 4.5 Production in the Specific Factors Model</vt:lpstr>
      <vt:lpstr>Prices, Wages, and Labor Allocation (6 of 10)</vt:lpstr>
      <vt:lpstr>Prices, Wages, and Labor Allocation (7 of 10)</vt:lpstr>
      <vt:lpstr>Figure 4.6 An Equal-Proportional Increase in the Prices of Cloth and Food</vt:lpstr>
      <vt:lpstr>Prices, Wages, and Labor Allocation (8 of 10)</vt:lpstr>
      <vt:lpstr>Figure 4.7 A Rise in the Price of Cloth</vt:lpstr>
      <vt:lpstr>Figure 4.8 The Response of Output to a Change in the Relative Price of Cloth</vt:lpstr>
      <vt:lpstr>Figure 4.9 Determination of Relative Prices</vt:lpstr>
      <vt:lpstr>Prices, Wages, and Labor Allocation (9 of 10)</vt:lpstr>
      <vt:lpstr>Prices, Wages, and Labor Allocation (10 of 10)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Economics: Theory and Policy, Twelfth Edition, Chapter 4, Specific Factors and Income Distribution</dc:title>
  <dc:subject>Business</dc:subject>
  <dc:creator>Krugman/Obstfeld/Melitz</dc:creator>
  <cp:keywords>International Economics</cp:keywords>
  <dc:description>Long description alt-text is inserted in the notes pane; Alt text for math equations within the title have been placed behind the title intentionally to provide a better screen reader user experience. </dc:description>
  <cp:lastModifiedBy>Muhebullah Karimzada</cp:lastModifiedBy>
  <cp:revision>1776</cp:revision>
  <dcterms:modified xsi:type="dcterms:W3CDTF">2025-09-18T20:39:56Z</dcterms:modified>
</cp:coreProperties>
</file>